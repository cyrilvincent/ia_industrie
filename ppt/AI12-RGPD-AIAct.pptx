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6"/>
  </p:notesMasterIdLst>
  <p:handoutMasterIdLst>
    <p:handoutMasterId r:id="rId47"/>
  </p:handoutMasterIdLst>
  <p:sldIdLst>
    <p:sldId id="264" r:id="rId2"/>
    <p:sldId id="353" r:id="rId3"/>
    <p:sldId id="550" r:id="rId4"/>
    <p:sldId id="552" r:id="rId5"/>
    <p:sldId id="257" r:id="rId6"/>
    <p:sldId id="258" r:id="rId7"/>
    <p:sldId id="259" r:id="rId8"/>
    <p:sldId id="263" r:id="rId9"/>
    <p:sldId id="265" r:id="rId10"/>
    <p:sldId id="269" r:id="rId11"/>
    <p:sldId id="275" r:id="rId12"/>
    <p:sldId id="281" r:id="rId13"/>
    <p:sldId id="287" r:id="rId14"/>
    <p:sldId id="293" r:id="rId15"/>
    <p:sldId id="299" r:id="rId16"/>
    <p:sldId id="305" r:id="rId17"/>
    <p:sldId id="256" r:id="rId18"/>
    <p:sldId id="553" r:id="rId19"/>
    <p:sldId id="554" r:id="rId20"/>
    <p:sldId id="260" r:id="rId21"/>
    <p:sldId id="556" r:id="rId22"/>
    <p:sldId id="558" r:id="rId23"/>
    <p:sldId id="266" r:id="rId24"/>
    <p:sldId id="559" r:id="rId25"/>
    <p:sldId id="271" r:id="rId26"/>
    <p:sldId id="272" r:id="rId27"/>
    <p:sldId id="274" r:id="rId28"/>
    <p:sldId id="560" r:id="rId29"/>
    <p:sldId id="276" r:id="rId30"/>
    <p:sldId id="277" r:id="rId31"/>
    <p:sldId id="278" r:id="rId32"/>
    <p:sldId id="280" r:id="rId33"/>
    <p:sldId id="561" r:id="rId34"/>
    <p:sldId id="282" r:id="rId35"/>
    <p:sldId id="283" r:id="rId36"/>
    <p:sldId id="284" r:id="rId37"/>
    <p:sldId id="286" r:id="rId38"/>
    <p:sldId id="562" r:id="rId39"/>
    <p:sldId id="288" r:id="rId40"/>
    <p:sldId id="289" r:id="rId41"/>
    <p:sldId id="290" r:id="rId42"/>
    <p:sldId id="563" r:id="rId43"/>
    <p:sldId id="300" r:id="rId44"/>
    <p:sldId id="301" r:id="rId4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Le droit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4422179" y="1196752"/>
            <a:ext cx="6206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IA</a:t>
            </a:r>
          </a:p>
          <a:p>
            <a:pPr algn="ctr"/>
            <a:endParaRPr lang="fr-FR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droit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 niveau mondial</a:t>
            </a:r>
          </a:p>
          <a:p>
            <a:pPr lvl="1"/>
            <a:r>
              <a:rPr lang="fr-FR" dirty="0"/>
              <a:t>Les droits de l'homme</a:t>
            </a:r>
          </a:p>
          <a:p>
            <a:pPr lvl="1"/>
            <a:r>
              <a:rPr lang="fr-FR" dirty="0"/>
              <a:t>Les droits d'auteurs</a:t>
            </a:r>
          </a:p>
          <a:p>
            <a:r>
              <a:rPr lang="fr-FR" dirty="0"/>
              <a:t>Au niveau européen</a:t>
            </a:r>
          </a:p>
          <a:p>
            <a:pPr lvl="1"/>
            <a:r>
              <a:rPr lang="fr-FR" dirty="0"/>
              <a:t>RGPD, AI </a:t>
            </a:r>
            <a:r>
              <a:rPr lang="fr-FR" dirty="0" err="1"/>
              <a:t>Act</a:t>
            </a:r>
            <a:endParaRPr lang="fr-FR" dirty="0"/>
          </a:p>
          <a:p>
            <a:r>
              <a:rPr lang="fr-FR" dirty="0"/>
              <a:t>Au niveau français</a:t>
            </a:r>
          </a:p>
          <a:p>
            <a:pPr lvl="1"/>
            <a:r>
              <a:rPr lang="fr-FR" dirty="0"/>
              <a:t>CNIL</a:t>
            </a:r>
          </a:p>
          <a:p>
            <a:pPr lvl="1"/>
            <a:r>
              <a:rPr lang="fr-FR" dirty="0"/>
              <a:t>Tous le droit français</a:t>
            </a:r>
          </a:p>
        </p:txBody>
      </p:sp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BA8AF-0817-FA34-B864-295B99E2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CNIL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38BC4C-EDE8-9592-E25E-9FD654C1D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Commission nationale de l'informatique et des libertés</a:t>
            </a:r>
          </a:p>
          <a:p>
            <a:pPr lvl="1"/>
            <a:r>
              <a:rPr lang="fr-FR" dirty="0"/>
              <a:t>Plus vieille institution liée à l'informatique au monde</a:t>
            </a:r>
          </a:p>
        </p:txBody>
      </p:sp>
    </p:spTree>
    <p:extLst>
      <p:ext uri="{BB962C8B-B14F-4D97-AF65-F5344CB8AC3E}">
        <p14:creationId xmlns:p14="http://schemas.microsoft.com/office/powerpoint/2010/main" val="165480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CFDF1-2EA0-AB6E-EF5E-40C060A3F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RGPD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326F16-00FD-8E95-79D9-3F177DE81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Règlement général sur la protection des données</a:t>
            </a:r>
          </a:p>
          <a:p>
            <a:pPr lvl="1"/>
            <a:r>
              <a:rPr lang="fr-FR" dirty="0"/>
              <a:t>Officiellement appelé règlement UE 2016/679 du Parlement européen et du Conseil du 27 avril 2016 relatif à la protection des personnes physiques à l'égard du traitement des données à caractère personnel et à la libre circulation de ces données est un règlement de l'Union européenne qui constitue le texte de référence en matière de protection des données à caractère personnel</a:t>
            </a:r>
          </a:p>
          <a:p>
            <a:pPr lvl="1"/>
            <a:r>
              <a:rPr lang="fr-FR" dirty="0"/>
              <a:t>Il renforce et unifie la protection des données pour les individus au sein de l'Union européenne.</a:t>
            </a:r>
          </a:p>
        </p:txBody>
      </p:sp>
    </p:spTree>
    <p:extLst>
      <p:ext uri="{BB962C8B-B14F-4D97-AF65-F5344CB8AC3E}">
        <p14:creationId xmlns:p14="http://schemas.microsoft.com/office/powerpoint/2010/main" val="194459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Cadre </a:t>
            </a:r>
            <a:r>
              <a:rPr sz="2400" dirty="0" err="1"/>
              <a:t>juridique</a:t>
            </a:r>
            <a:r>
              <a:rPr sz="2400" dirty="0"/>
              <a:t> </a:t>
            </a:r>
            <a:r>
              <a:rPr sz="2400" dirty="0" err="1"/>
              <a:t>européen</a:t>
            </a:r>
            <a:r>
              <a:rPr sz="2400" dirty="0"/>
              <a:t> pour la protection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Applicable à </a:t>
            </a:r>
            <a:r>
              <a:rPr sz="2400" dirty="0" err="1"/>
              <a:t>toutes</a:t>
            </a:r>
            <a:r>
              <a:rPr sz="2400" dirty="0"/>
              <a:t> les </a:t>
            </a:r>
            <a:r>
              <a:rPr sz="2400" dirty="0" err="1"/>
              <a:t>organisations</a:t>
            </a:r>
            <a:r>
              <a:rPr sz="2400" dirty="0"/>
              <a:t> </a:t>
            </a:r>
            <a:r>
              <a:rPr sz="2400" dirty="0" err="1"/>
              <a:t>traitant</a:t>
            </a:r>
            <a:r>
              <a:rPr sz="2400" dirty="0"/>
              <a:t> des données de </a:t>
            </a:r>
            <a:r>
              <a:rPr sz="2400" dirty="0" err="1"/>
              <a:t>résidents</a:t>
            </a:r>
            <a:r>
              <a:rPr sz="2400" dirty="0"/>
              <a:t> de </a:t>
            </a:r>
            <a:r>
              <a:rPr sz="2400" dirty="0" err="1"/>
              <a:t>l'UE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Objectifs</a:t>
            </a:r>
            <a:r>
              <a:rPr sz="2400" dirty="0"/>
              <a:t> : Transparence, </a:t>
            </a:r>
            <a:r>
              <a:rPr sz="2400" dirty="0" err="1"/>
              <a:t>sécurité</a:t>
            </a:r>
            <a:r>
              <a:rPr sz="2400" dirty="0"/>
              <a:t>, droits des </a:t>
            </a:r>
            <a:r>
              <a:rPr sz="2400" dirty="0" err="1"/>
              <a:t>individus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19672" y="2420888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Cycle : Collecte → Traitement → Protection → Droits des individus.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Sites web demandant </a:t>
            </a:r>
            <a:r>
              <a:rPr sz="2400" dirty="0" err="1"/>
              <a:t>consentement</a:t>
            </a:r>
            <a:r>
              <a:rPr sz="2400" dirty="0"/>
              <a:t> pour cookies.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Applications mobiles avec politique de </a:t>
            </a:r>
            <a:r>
              <a:rPr sz="2400" dirty="0" err="1"/>
              <a:t>confidentialité</a:t>
            </a:r>
            <a:r>
              <a:rPr sz="2400" dirty="0"/>
              <a:t> </a:t>
            </a:r>
            <a:r>
              <a:rPr sz="2400" dirty="0" err="1"/>
              <a:t>claire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Licéité</a:t>
            </a:r>
            <a:r>
              <a:rPr sz="2400" dirty="0"/>
              <a:t>, </a:t>
            </a:r>
            <a:r>
              <a:rPr sz="2400" dirty="0" err="1"/>
              <a:t>loyauté</a:t>
            </a:r>
            <a:r>
              <a:rPr sz="2400" dirty="0"/>
              <a:t> et transparence</a:t>
            </a:r>
            <a:r>
              <a:rPr lang="fr-FR" sz="2400" dirty="0"/>
              <a:t> (Licéité : caractère de ce qui est licite)</a:t>
            </a:r>
            <a:endParaRPr sz="24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Limitation des </a:t>
            </a:r>
            <a:r>
              <a:rPr sz="2400" dirty="0" err="1"/>
              <a:t>finalités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Minimisation</a:t>
            </a:r>
            <a:r>
              <a:rPr sz="2400" dirty="0"/>
              <a:t>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Exactitude.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Limitation de la conservation.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Intégrité</a:t>
            </a:r>
            <a:r>
              <a:rPr sz="2400" dirty="0"/>
              <a:t> et </a:t>
            </a:r>
            <a:r>
              <a:rPr sz="2400" dirty="0" err="1"/>
              <a:t>confidentialité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Collecte</a:t>
            </a:r>
            <a:r>
              <a:rPr sz="2400" dirty="0"/>
              <a:t> </a:t>
            </a:r>
            <a:r>
              <a:rPr sz="2400" dirty="0" err="1"/>
              <a:t>uniquement</a:t>
            </a:r>
            <a:r>
              <a:rPr sz="2400" dirty="0"/>
              <a:t> des données </a:t>
            </a:r>
            <a:r>
              <a:rPr sz="2400" dirty="0" err="1"/>
              <a:t>nécessaires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Suppression des données après usage.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</a:t>
            </a:r>
            <a:r>
              <a:rPr sz="2400" dirty="0" err="1"/>
              <a:t>d'accès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de rectification.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</a:t>
            </a:r>
            <a:r>
              <a:rPr sz="2400" dirty="0" err="1"/>
              <a:t>l'effacement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la </a:t>
            </a:r>
            <a:r>
              <a:rPr sz="2400" dirty="0" err="1"/>
              <a:t>portabilité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</a:t>
            </a:r>
            <a:r>
              <a:rPr sz="2400" dirty="0" err="1"/>
              <a:t>d'opposition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Droit à la limitation du </a:t>
            </a:r>
            <a:r>
              <a:rPr sz="2400" dirty="0" err="1"/>
              <a:t>traitement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Tenue d'un </a:t>
            </a:r>
            <a:r>
              <a:rPr sz="2400" dirty="0" err="1"/>
              <a:t>registre</a:t>
            </a:r>
            <a:r>
              <a:rPr sz="2400" dirty="0"/>
              <a:t> des </a:t>
            </a:r>
            <a:r>
              <a:rPr sz="2400" dirty="0" err="1"/>
              <a:t>traitements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Analyse</a:t>
            </a:r>
            <a:r>
              <a:rPr sz="2400" dirty="0"/>
              <a:t> </a:t>
            </a:r>
            <a:r>
              <a:rPr sz="2400" dirty="0" err="1"/>
              <a:t>d'impact</a:t>
            </a:r>
            <a:r>
              <a:rPr sz="2400" dirty="0"/>
              <a:t> (PIA) pour </a:t>
            </a:r>
            <a:r>
              <a:rPr sz="2400" dirty="0" err="1"/>
              <a:t>traitements</a:t>
            </a:r>
            <a:r>
              <a:rPr sz="2400" dirty="0"/>
              <a:t> </a:t>
            </a:r>
            <a:r>
              <a:rPr sz="2400" dirty="0" err="1"/>
              <a:t>sensibles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Sécurité</a:t>
            </a:r>
            <a:r>
              <a:rPr sz="2400" dirty="0"/>
              <a:t>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Notification des violations.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Consentement</a:t>
            </a:r>
            <a:r>
              <a:rPr sz="2400" dirty="0"/>
              <a:t> libre, </a:t>
            </a:r>
            <a:r>
              <a:rPr sz="2400" dirty="0" err="1"/>
              <a:t>éclairé</a:t>
            </a:r>
            <a:r>
              <a:rPr sz="2400" dirty="0"/>
              <a:t> et </a:t>
            </a:r>
            <a:r>
              <a:rPr sz="2400" dirty="0" err="1"/>
              <a:t>explicite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Bases </a:t>
            </a:r>
            <a:r>
              <a:rPr sz="2400" dirty="0" err="1"/>
              <a:t>légales</a:t>
            </a:r>
            <a:r>
              <a:rPr sz="2400" dirty="0"/>
              <a:t> : </a:t>
            </a:r>
            <a:r>
              <a:rPr sz="2400" dirty="0" err="1"/>
              <a:t>contrat</a:t>
            </a:r>
            <a:r>
              <a:rPr sz="2400" dirty="0"/>
              <a:t>, obligation </a:t>
            </a:r>
            <a:r>
              <a:rPr sz="2400" dirty="0" err="1"/>
              <a:t>légale</a:t>
            </a:r>
            <a:r>
              <a:rPr sz="2400" dirty="0"/>
              <a:t>, </a:t>
            </a:r>
            <a:r>
              <a:rPr sz="2400" dirty="0" err="1"/>
              <a:t>intérêt</a:t>
            </a:r>
            <a:r>
              <a:rPr sz="2400" dirty="0"/>
              <a:t> </a:t>
            </a:r>
            <a:r>
              <a:rPr sz="2400" dirty="0" err="1"/>
              <a:t>légitime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Conseiller</a:t>
            </a:r>
            <a:r>
              <a:rPr sz="2400" dirty="0"/>
              <a:t> et </a:t>
            </a:r>
            <a:r>
              <a:rPr sz="2400" dirty="0" err="1"/>
              <a:t>contrôler</a:t>
            </a:r>
            <a:r>
              <a:rPr sz="2400" dirty="0"/>
              <a:t> la </a:t>
            </a:r>
            <a:r>
              <a:rPr sz="2400" dirty="0" err="1"/>
              <a:t>conformité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Point de contact avec </a:t>
            </a:r>
            <a:r>
              <a:rPr sz="2400" dirty="0" err="1"/>
              <a:t>l'autorité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Formation et </a:t>
            </a:r>
            <a:r>
              <a:rPr sz="2400" dirty="0" err="1"/>
              <a:t>sensibilisation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Notification à </a:t>
            </a:r>
            <a:r>
              <a:rPr sz="2400" dirty="0" err="1"/>
              <a:t>l'autorité</a:t>
            </a:r>
            <a:r>
              <a:rPr sz="2400" dirty="0"/>
              <a:t> sous 72h.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Information des </a:t>
            </a:r>
            <a:r>
              <a:rPr sz="2400" dirty="0" err="1"/>
              <a:t>personnes</a:t>
            </a:r>
            <a:r>
              <a:rPr sz="2400" dirty="0"/>
              <a:t> </a:t>
            </a:r>
            <a:r>
              <a:rPr sz="2400" dirty="0" err="1"/>
              <a:t>concernées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Plan de </a:t>
            </a:r>
            <a:r>
              <a:rPr sz="2400" dirty="0" err="1"/>
              <a:t>réponse</a:t>
            </a:r>
            <a:r>
              <a:rPr sz="2400" dirty="0"/>
              <a:t> aux incidents.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Amendes</a:t>
            </a:r>
            <a:r>
              <a:rPr sz="2400" dirty="0"/>
              <a:t> </a:t>
            </a:r>
            <a:r>
              <a:rPr sz="2400" dirty="0" err="1"/>
              <a:t>jusqu'à</a:t>
            </a:r>
            <a:r>
              <a:rPr sz="2400" dirty="0"/>
              <a:t> 20 M€ </a:t>
            </a:r>
            <a:r>
              <a:rPr sz="2400" dirty="0" err="1"/>
              <a:t>ou</a:t>
            </a:r>
            <a:r>
              <a:rPr sz="2400" dirty="0"/>
              <a:t> 4% du CA </a:t>
            </a:r>
            <a:r>
              <a:rPr sz="2400" dirty="0" err="1"/>
              <a:t>mondial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Sanctions </a:t>
            </a:r>
            <a:r>
              <a:rPr sz="2400" dirty="0" err="1"/>
              <a:t>graduées</a:t>
            </a:r>
            <a:r>
              <a:rPr sz="2400" dirty="0"/>
              <a:t> </a:t>
            </a:r>
            <a:r>
              <a:rPr sz="2400" dirty="0" err="1"/>
              <a:t>selon</a:t>
            </a:r>
            <a:r>
              <a:rPr sz="2400" dirty="0"/>
              <a:t> </a:t>
            </a:r>
            <a:r>
              <a:rPr sz="2400" dirty="0" err="1"/>
              <a:t>gravité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sz="3600" dirty="0"/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Adaptation des processus.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/>
              <a:t>Investissements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conformité</a:t>
            </a:r>
            <a:r>
              <a:rPr sz="2400" dirty="0"/>
              <a:t>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rPr sz="2400" dirty="0" err="1"/>
              <a:t>Opportunités</a:t>
            </a:r>
            <a:r>
              <a:rPr sz="2400" dirty="0"/>
              <a:t> de </a:t>
            </a:r>
            <a:r>
              <a:rPr sz="2400" dirty="0" err="1"/>
              <a:t>marché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à l’IA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Encadrer l’utilisation de l’IA dans l’UE pour garantir sécurité, transparence et respect des droits fondamentaux.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Adopté en 2024 par l’Union européenne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Première réglementation mondiale dédiée à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Approche basée sur le risque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L’IA Act vise à créer un cadre juridique harmonisé pour l’IA.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Cycle de conformité (Développement → Évaluation → Certification → Surveillance)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anticiper les audits, former leurs équipes et intégrer la conformité dès la conception.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S’applique aux fournisseurs, importateurs, distributeurs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Couvre IA dans produits et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Exclut usages militaires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Le champ d’application est large et inclut les systèmes intégrés.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dans santé, finance, transport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secteurs sont fortement impactés par la réglementation.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identifier leurs systèmes IA et vérifier leur classification.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fr-FR" dirty="0"/>
              <a:t>Les risques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minimal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limité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élevé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interdit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Chaque niveau impose des obligations différentes.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Minimal : IA pour jeux vidéo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Élevé : IA pour recrutement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Interdit : Surveillance biométrique en temps réel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classification détermine les obligations légales et les contrôles à mettre en place.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Obligations pour systèmes à haut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Garantir sécurité et conformité des IA à haut risque.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Évaluation de conformité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Documentation technique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Gestion des données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endParaRPr/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obligations sont strictes et détaillées.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Processus (Audit → Certification → Surveillance)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médicale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pour crédit bancaire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mettre en place des processus robustes et des audits réguliers.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Transparence et information des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Informer clairement les utilisateurs.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Indiquer qu’ils interagissent avec une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Expliquer la logique des décisions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Fournir des instructions d’usage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Interaction → Information → Consentement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Chatbot qui annonce son statut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générative avec avertissement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transparence renforce la confiance et réduit les risques juridiques.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Gouvernance et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Mettre en place un cadre de contrôle.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Autorités nationales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Comité européen de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Audits réguliers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Organigramme (UE → États membres → Entreprises)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Contrôles annuels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Rapports de conformité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coopérer avec les autorités et préparer des rapports détaillés.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fr-FR" dirty="0"/>
              <a:t>Sanctions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Amendes jusqu’à 30 M€ ou 6 % CA mondial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Sanctions graduées selon gravité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Flux (Analyse → Mise en conformité → Avantage compétitif)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Entreprises tech → audits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PME → solutions externalisées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</TotalTime>
  <Words>970</Words>
  <Application>Microsoft Office PowerPoint</Application>
  <PresentationFormat>Affichage à l'écran (4:3)</PresentationFormat>
  <Paragraphs>183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48" baseType="lpstr">
      <vt:lpstr>Arial</vt:lpstr>
      <vt:lpstr>Monotype Sorts</vt:lpstr>
      <vt:lpstr>Times New Roman</vt:lpstr>
      <vt:lpstr>cvc</vt:lpstr>
      <vt:lpstr>Présentation PowerPoint</vt:lpstr>
      <vt:lpstr>Le droit</vt:lpstr>
      <vt:lpstr>CNIL</vt:lpstr>
      <vt:lpstr>RGPD</vt:lpstr>
      <vt:lpstr>Introduction au RGPD - Points clés</vt:lpstr>
      <vt:lpstr>Introduction au RGPD - Schéma explicatif</vt:lpstr>
      <vt:lpstr>Introduction au RGPD - Exemples</vt:lpstr>
      <vt:lpstr>Principes fondamentaux - Points clés</vt:lpstr>
      <vt:lpstr>Principes fondamentaux - Exemples</vt:lpstr>
      <vt:lpstr>Droits des personnes - Points clés</vt:lpstr>
      <vt:lpstr>Obligations des responsables de traitement - Points clés</vt:lpstr>
      <vt:lpstr>Consentement et bases légales - Points clés</vt:lpstr>
      <vt:lpstr>Délégué à la protection des données (DPO) - Points clés</vt:lpstr>
      <vt:lpstr>Violations de données et notifications - Points clés</vt:lpstr>
      <vt:lpstr>Sanctions et pénalités - Points clés</vt:lpstr>
      <vt:lpstr>Impact sur les entreprises - Points clés</vt:lpstr>
      <vt:lpstr>Introduction à l’IA Act</vt:lpstr>
      <vt:lpstr>Points clés</vt:lpstr>
      <vt:lpstr>Présentation PowerPoint</vt:lpstr>
      <vt:lpstr>Implications pratiques</vt:lpstr>
      <vt:lpstr>Points clés</vt:lpstr>
      <vt:lpstr>Exemples concrets</vt:lpstr>
      <vt:lpstr>Implications pratiques</vt:lpstr>
      <vt:lpstr>Les risques</vt:lpstr>
      <vt:lpstr>Exemples concrets</vt:lpstr>
      <vt:lpstr>Implications pratiques</vt:lpstr>
      <vt:lpstr>Obligations pour systèmes à haut risque</vt:lpstr>
      <vt:lpstr>Points clés</vt:lpstr>
      <vt:lpstr>Présentation PowerPoint</vt:lpstr>
      <vt:lpstr>Exemples concrets</vt:lpstr>
      <vt:lpstr>Implications pratiques</vt:lpstr>
      <vt:lpstr>Transparence et information des utilisateurs</vt:lpstr>
      <vt:lpstr>Points clés</vt:lpstr>
      <vt:lpstr>Présentation PowerPoint</vt:lpstr>
      <vt:lpstr>Exemples concrets</vt:lpstr>
      <vt:lpstr>Implications pratiques</vt:lpstr>
      <vt:lpstr>Gouvernance et surveillance</vt:lpstr>
      <vt:lpstr>Points clés</vt:lpstr>
      <vt:lpstr>Présentation PowerPoint</vt:lpstr>
      <vt:lpstr>Exemples concrets</vt:lpstr>
      <vt:lpstr>Implications pratiques</vt:lpstr>
      <vt:lpstr>Sanctions</vt:lpstr>
      <vt:lpstr>Présentation PowerPoint</vt:lpstr>
      <vt:lpstr>Exemples concrets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249</cp:revision>
  <dcterms:created xsi:type="dcterms:W3CDTF">2000-04-10T19:33:12Z</dcterms:created>
  <dcterms:modified xsi:type="dcterms:W3CDTF">2025-11-19T10:01:33Z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