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9"/>
  </p:notesMasterIdLst>
  <p:handoutMasterIdLst>
    <p:handoutMasterId r:id="rId30"/>
  </p:handoutMasterIdLst>
  <p:sldIdLst>
    <p:sldId id="264" r:id="rId2"/>
    <p:sldId id="259" r:id="rId3"/>
    <p:sldId id="344" r:id="rId4"/>
    <p:sldId id="345" r:id="rId5"/>
    <p:sldId id="288" r:id="rId6"/>
    <p:sldId id="289" r:id="rId7"/>
    <p:sldId id="290" r:id="rId8"/>
    <p:sldId id="346" r:id="rId9"/>
    <p:sldId id="291" r:id="rId10"/>
    <p:sldId id="304" r:id="rId11"/>
    <p:sldId id="305" r:id="rId12"/>
    <p:sldId id="306" r:id="rId13"/>
    <p:sldId id="307" r:id="rId14"/>
    <p:sldId id="332" r:id="rId15"/>
    <p:sldId id="266" r:id="rId16"/>
    <p:sldId id="270" r:id="rId17"/>
    <p:sldId id="272" r:id="rId18"/>
    <p:sldId id="325" r:id="rId19"/>
    <p:sldId id="343" r:id="rId20"/>
    <p:sldId id="271" r:id="rId21"/>
    <p:sldId id="347" r:id="rId22"/>
    <p:sldId id="274" r:id="rId23"/>
    <p:sldId id="275" r:id="rId24"/>
    <p:sldId id="276" r:id="rId25"/>
    <p:sldId id="277" r:id="rId26"/>
    <p:sldId id="278" r:id="rId27"/>
    <p:sldId id="262" r:id="rId28"/>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71" d="100"/>
          <a:sy n="71" d="100"/>
        </p:scale>
        <p:origin x="1350"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1366" max="1920" units="cm"/>
          <inkml:channel name="Y" type="integer" max="1080" units="cm"/>
          <inkml:channel name="T" type="integer" max="2.14748E9" units="dev"/>
        </inkml:traceFormat>
        <inkml:channelProperties>
          <inkml:channelProperty channel="X" name="resolution" value="95.52325" units="1/cm"/>
          <inkml:channelProperty channel="Y" name="resolution" value="55.95855" units="1/cm"/>
          <inkml:channelProperty channel="T" name="resolution" value="1" units="1/dev"/>
        </inkml:channelProperties>
      </inkml:inkSource>
      <inkml:timestamp xml:id="ts0" timeString="2026-06-22T09:29:22.009"/>
    </inkml:context>
    <inkml:brush xml:id="br0">
      <inkml:brushProperty name="width" value="0.05292" units="cm"/>
      <inkml:brushProperty name="height" value="0.05292" units="cm"/>
      <inkml:brushProperty name="color" value="#FF0000"/>
    </inkml:brush>
  </inkml:definitions>
  <inkml:trace contextRef="#ctx0" brushRef="#br0">19471 10393 0,'0'-74'16,"0"49"-1,0-25 17,0 1 46,-25 24-63,25-25 1,-25 1 0,1 24-1,24 0 1,-25-25-1,0 50 17,25-49-17,-25-1 1,-24 25 0,24 1-16,-25-51 15,25 50 1,-24-24 15,-26-26-15,51 51-1,-100-76 1,74 76 0,-49-1-1,24-25 1,-73 1-1,23 24 1,-48 0 0,-50-49-1,123 74 1,-73-25 0,74 25-1,-75-50 16,50 50-15,-50-25 0,50 25-1,-25-24 1,50-26 0,-99 25-1,148 25 1,25 0-1,-74 0 126,25 50-125,-50 49-1,-50 25 1,50-50 0,-25 26-1,124-100 1,25 24 31,-24 1-16,-1-25 0,-74 0-15,24 99-1,26-24 1,-1-50 0,25 24-1,-24 26 1,24-51 0,25 100-1,-50 1 1,50-76-1,-25-24-15,25 0 16,-25 49 0,25 25-1,0-24 1,0 49 15,0-25-15,0-25-1,0-49 1,25 74 0,50-74-1,-26 50 1,26-1 0,-50-24-1,-25-26 1,0 26-1,0-25 1,49 0 0,1 24-1,-25-24 1,24 50 15,50-1-15,-49-24-1,-50-26-15,25 26 16,0-25 0,-1 0 31,-24-1-32,25 26 1,25 24 15,24-24-15,-24 0-1,-1-1 17,1 26-17,-25-26 1,24 1-1,1-1 1,-25-24 0,0-25 15,24 75-15,1-75 15,74 49-16,-74-24 1,74-25 0,-25 0 15,-25 25-15,-24-25-1,74 0 1,25 50-1,24-50 1,-24 0 0,-50 0-1,-49 0-15,0 0 16,-1 0 0,-24 0-1,49-25 1,-24 25-1,0 0 17,74-50-17,-25 25 1,0 1 0,-74-1-1,24 0 1,26 25-1,49-25 1,0-25 0,0 26-1,50 24 1,-1-75 0,-74 50-1,25-49 1,-74 49-1,25-24 17,-26 24-17,-24-25 17,-25 25-17,0-49 1,50 24-1,-50-24 1,0 24 0,24-24-1,-24 24 1,0 26 0,0-26-1,0-24 48,-24 24-48,-1-25 1,-50 26 0,75-1-1,0 25 1,-24-24 15,24 24-15,-25 0-16,25-49 31,0 49-15,0-25-1,0 26 16,0-1-15,0 0 0,0 0-1,0 0 1,0 1 0,-25-1-1,25 0-15,0 0 31,0 0-15,0 1 0,0-1-1,0-25 1,0 25 109</inkml:trace>
  <inkml:trace contextRef="#ctx0" brushRef="#br0" timeOffset="18781.49">15155 12551 0,'0'-25'32,"0"-49"-17,0 24 1,-50 26 0,26-1-16,24 0 15,-50 0 1,25 0-1,25 1 1,-49-1 0,49-50-1,0 50 17,0 1-1,0-1 63,-25-50-79,-25 51 1,25-51-1,-24 1 17,-1 49-1,1 25 0,-51-50-15,51 50-1,-1 0 1,-74 0 0,-25-24-1,25-1 1,50 0 0,24 25-1,1 0 1,-26-25-1,50 25-15,-49 0 16,-149-25 0,0 25-1,49 0 1,0 0 15,100 0-15,-25 0-1,49 0 1,25 0 15,0 0 63,25 25-78,-74 174 15,49-125-15,-24 75-1,24-75 1,0 1-1,0-1 1,0-74 47,25 50-48,-24-1 1,-26 26-1,25-26 1,0 26 0,1-1-1,-1 1 17,0-51-17,25 26 1,0 49-1,-25-24 1,25 24 0,0-50-1,0 1 1,0 25 0,0-51-1,0 26 1,25 0-1,0-26 1,0 1 0,-25 0 15,49 25-15,1-1-1,-1 1 1,100 49-1,-25-49 1,0 49 0,0-50-1,0 26 1,-74-26-16,0 1 16,74 49-1,-50-24 1,-24-26-1,24 1 17,-24 0-17,24-1 1,-24 1 0,49 24-1,-25-74 1,-24 25-16,-1-25 15,100 0 1,-74 0 0,-1 0-1,-24 0 1,-1 0 0,51-25-1,48-24 1,51-150-1,-50 75 17,-75 0-17,-24 50 1,-26 49-16,-24 0 16,0-25-1,25 26 1,0-1-1,0-25 1,0-24 0,24-1-1,-49-24 1,-4018 25 0,8086 24-1,-4068 1-15,0-51 47,0 1-31,-50 0-1,1-25 1,-1 49 0,25 26-1,0 24 16,1-49 1,24 49-17,0 0-15,0-25 16,0 1 0,0 24-1,0 0 95,24-24-95,-24 24-15,25 25 16,-25-50-1</inkml:trace>
  <inkml:trace contextRef="#ctx0" brushRef="#br0" timeOffset="29933.44">10889 11559 0,'-25'0'63,"-174"0"-32,100-50 0,25 26-15,-50-26-1,0 50 1,25 0 0,24 0-1,-24-50 1,-25 50-1,0-24 1,25 24 0,74 0-1,-25 0 48,-173 99-32,149-74-15,-75 49-1,25-24 1,0 24 0,49 0-1,26-49 1,24 0 46,-50 248-30,-24 49-1,50-98 0,49-175 0,0 26-15,-50 49 0,50-75-1,0 50 1,0 25-1,0-74 1,0 25 0,0-1-1,0-24 17,0-26 46,50 51-63,24-1 1,0 25 0,-24-24-1,24 24 1,-24-74-1,0 0 1,24 24 15,-24-24-15,24 25 0,-24-26 15,-25 1-16,-1-25 1,1 0 0,25 25-1,-4069-25 1,8137 25 0,-4068 0-1,49-25 1,-25 0-1,-24 0 1,-1 0 0,26 0-1,-50 0 1,24 0 15,-24 0-31,49 0 16,26-50-1,24-49 1,0 24 0,0 1-1,-50 24 1,25-24 0,-49 0-1,-25 74 1,0-25 15,-1 25-15,1 0-1,-25-25 17,25 0-32,25-24 15,-26 24 1,51-74-1,24 24 1,-49 26 0,-1-1-1,1 25 1,-50 0 0,0 0-1,0-24 1,25 49-16,0-50 15,-1 1-15,-24-26 16,75-24 0,-26 0-1,-24-50 17,0-25-17,0 100 1,-25 24-1,0 1 1,0 24 0,0 0-1,0 0-15,0 0 16,0-24 0,0 24-1,0-25 1,0 26-1,0-1 1,-25 0 31,25 0-16,-25 0-15,0 1-16,1 24 15,24-25 1,-50-25 0,25 50-1,-24-49 1,-1 24 0,25 0-1,0 0 1,0 25-1,1-25 1,-1 25 15,0-24-31,-74-1 32,24-25-17,26 50 1,24-25 15,0 25-15,0 0-1</inkml:trace>
  <inkml:trace contextRef="#ctx0" brushRef="#br0" timeOffset="42153.42">14237 7045 0,'-74'0'79,"-249"24"-48,150 1 0,-1 0-15,1-25-1,-26 0 1,25 25 0,50-25-1,50 0 1,-50 25-1,99-25-15,-49 24 16,-125-24 0,100 25-1,0 50 204,-25 123-203,0-49-1,74-75 1,-24 1 0,49-51 15,-25 26-16,50 24 1,-24-74 0,24 25-1,-25 50 1,-25 24 0,50-25-1,-25 1 1,1-1-1,-1 25 1,25-24 0,0 74-1,-25-1 1,25 51 15,0-50-15,0-50-1,0 25 1,0 25 0,0-25-1,0-75 1,0 1 0,0 0-1,0-26-15,0 1 16,50 99 78,-1-49-79,26-1 1,49-24-1,-50-1 1,0-24 0,-49-25-1,0 0 1,99 0 0,-74 0-1,123 0 1,1 0-1,0 0 1,-100 0 0,50 0-1,99-25 17,-74 1-17,-50-1 1,-74 25-16,74-50 15,-24 1 1,24-51 0,-25 100-1,1-49 1,24-26 0,-49 75-1,-26-25 1,51 25-1,-1-49 1,-49 49 0,49-50 15,-24 25-31,49 1 16,25-76-1,-49 1 1,-1 25-1,-49 49 1,25-25 0,-26 26-1,-24-26 1,75-24 0,-1-26-1,25-73 16,-74 49-15,25-25 15,-50 50-15,0-1 0,0 26-1,0-25 1,-25 0-1,-49-25 1,49 24 0,-25 26-16,25 24 15,-74-49 1,25 25 0,-1-1-1,26-24 1,-1 49 31,1 26-32,-1-51 1,0 50 0,1-24-1,-1-1 1,0 25-16,26 1 15,-26-1 1,25 0 0,0 0 31,1 25 62</inkml:trace>
  <inkml:trace contextRef="#ctx0" brushRef="#br0" timeOffset="83096.48">6077 12824 0,'0'-25'78,"0"-99"-63,-75-49 1,50-26 0,-49 50-1,49 25 1,25 50 0,0-1 15,0 26-16,-25-26 1,25 51-16,0-76 16,-24 1-1,24 25 1,0-1 0,0 51-1,0-51 1,0 1-1,0-1 1,0-24 0,0 0-1,0 24-15,0-49 47,0 0-31,0 75-1,0 24 1,0-25 0,24 26-1,-24-51 1,25 1 0,-25-1-1,25-49 1,-25-49-1,25-125 1,-25 124 0,49 26-1,-24-1 1,0 74 15,-25-74-15,0 125-1,0-26 1,0 25 0,0 0 15,0 1-15,0-1-1,0 0 1,0 0-1,0 0 1,0-24 0,25 49 1921,0 0-1921,-1 0-1,26 0 220,24 25-220,-4092-25 1,8111 24 0,-4044-24-1,1 0 1,0 0 0,-1 0-1,-24 0-15,49 0 16,26 0-1,-51 0 1,26 25 0,49-25-1,25 25 1,74 0 15,50-25-15,24 0-1,1 0 1,-174 0-16,0 0 16,-74 0-16,74 0 15,-50 0 1,-24 0 0,-26 0-1,51 0 16,-1 0-15,26 0 0,24 0 15,0 0-15,-25 0-1,-25-25-15,50 25 16,-49 0-1,-51-50 1,-24 26 78,100-26 312,98-49-390,50-50-1,124 0 1,0-49 0,-99 49-1,25 50 1,-100-50 15,-99 74-15,75 1-1,25-50 1,-1 50 0,-99 24-16,124 0 15,-99 50 1,25 0-1,-124 0 1,25 0 0,-26 0 15,26 50-15,0 49-1,49 0 1,-99-49-1,50 24 1,-26-49-16,-24 25 16,0-25-1,0 74 79,0 25-78,0 0-1,0 50 1,-24-100-16,24 0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Introduire distinction entre IA faible (narrow) et IA générale (AGI).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Contextualiser données/compute; backpropagation (années 80).</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Illustrer avec exemple de pipeline de déploiement.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Afficher aussi les abréviations courantes (AUC, ROC, MSE...).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Relier à la planification classique et limites hors domaine.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Illustrer le rôle de l'apprentissage par renforcement.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Animer un débat guidé; recueillir 3 idées par sous‑groupe.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Utilisez vos propres cas; demandez aux participants leurs contraintes.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Utilisez vos propres cas; demandez aux participants leurs contraintes.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Utilisez vos propres cas; demandez aux participants leurs contraintes.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Proposer une checklist projet IA à la fin de la session.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Animez un quiz rapide Vrai/Faux pour engager le groupe.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609015" y="1869334"/>
            <a:ext cx="6400800" cy="1752600"/>
          </a:xfrm>
        </p:spPr>
        <p:txBody>
          <a:bodyPr/>
          <a:lstStyle/>
          <a:p>
            <a:pPr eaLnBrk="1" hangingPunct="1"/>
            <a:r>
              <a:rPr lang="fr-FR" altLang="fr-FR" dirty="0"/>
              <a:t>Les différents types d'IA</a:t>
            </a:r>
          </a:p>
        </p:txBody>
      </p:sp>
      <p:sp>
        <p:nvSpPr>
          <p:cNvPr id="3" name="ZoneTexte 2"/>
          <p:cNvSpPr txBox="1"/>
          <p:nvPr/>
        </p:nvSpPr>
        <p:spPr>
          <a:xfrm>
            <a:off x="4355976" y="738073"/>
            <a:ext cx="620683" cy="646331"/>
          </a:xfrm>
          <a:prstGeom prst="rect">
            <a:avLst/>
          </a:prstGeom>
          <a:noFill/>
        </p:spPr>
        <p:txBody>
          <a:bodyPr wrap="none" rtlCol="0">
            <a:spAutoFit/>
          </a:bodyPr>
          <a:lstStyle/>
          <a:p>
            <a:r>
              <a:rPr lang="fr-FR" sz="3600" dirty="0"/>
              <a:t>AI</a:t>
            </a:r>
          </a:p>
        </p:txBody>
      </p:sp>
      <p:pic>
        <p:nvPicPr>
          <p:cNvPr id="5" name="Image 4">
            <a:extLst>
              <a:ext uri="{FF2B5EF4-FFF2-40B4-BE49-F238E27FC236}">
                <a16:creationId xmlns:a16="http://schemas.microsoft.com/office/drawing/2014/main" id="{EBB0E3DE-7929-40C3-8F88-CAF151B25247}"/>
              </a:ext>
            </a:extLst>
          </p:cNvPr>
          <p:cNvPicPr>
            <a:picLocks noChangeAspect="1"/>
          </p:cNvPicPr>
          <p:nvPr/>
        </p:nvPicPr>
        <p:blipFill>
          <a:blip r:embed="rId2"/>
          <a:stretch>
            <a:fillRect/>
          </a:stretch>
        </p:blipFill>
        <p:spPr>
          <a:xfrm>
            <a:off x="-7459" y="3429000"/>
            <a:ext cx="9142310" cy="2241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Différents types d'IA</a:t>
            </a:r>
            <a:endParaRPr dirty="0"/>
          </a:p>
        </p:txBody>
      </p:sp>
      <p:sp>
        <p:nvSpPr>
          <p:cNvPr id="3" name="Content Placeholder 2"/>
          <p:cNvSpPr>
            <a:spLocks noGrp="1"/>
          </p:cNvSpPr>
          <p:nvPr>
            <p:ph idx="1"/>
          </p:nvPr>
        </p:nvSpPr>
        <p:spPr/>
        <p:txBody>
          <a:bodyPr/>
          <a:lstStyle/>
          <a:p>
            <a:r>
              <a:rPr lang="fr-FR" dirty="0"/>
              <a:t>R</a:t>
            </a:r>
            <a:r>
              <a:rPr dirty="0" err="1"/>
              <a:t>aisonnement</a:t>
            </a:r>
            <a:r>
              <a:rPr dirty="0"/>
              <a:t> </a:t>
            </a:r>
            <a:r>
              <a:rPr dirty="0" err="1"/>
              <a:t>symbolique</a:t>
            </a:r>
            <a:endParaRPr lang="fr-FR" dirty="0"/>
          </a:p>
          <a:p>
            <a:r>
              <a:rPr lang="fr-FR" dirty="0"/>
              <a:t>Machine Learning</a:t>
            </a:r>
          </a:p>
          <a:p>
            <a:r>
              <a:rPr lang="fr-FR" dirty="0"/>
              <a:t>Deep Learning</a:t>
            </a:r>
          </a:p>
          <a:p>
            <a:r>
              <a:rPr lang="fr-FR" dirty="0"/>
              <a:t>Large </a:t>
            </a:r>
            <a:r>
              <a:rPr lang="fr-FR" dirty="0" err="1"/>
              <a:t>Language</a:t>
            </a:r>
            <a:r>
              <a:rPr lang="fr-FR" dirty="0"/>
              <a:t> Model</a:t>
            </a:r>
          </a:p>
          <a:p>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D3DBB9-96DF-C662-E08B-D9A580324491}"/>
              </a:ext>
            </a:extLst>
          </p:cNvPr>
          <p:cNvSpPr>
            <a:spLocks noGrp="1"/>
          </p:cNvSpPr>
          <p:nvPr>
            <p:ph type="title"/>
          </p:nvPr>
        </p:nvSpPr>
        <p:spPr/>
        <p:txBody>
          <a:bodyPr/>
          <a:lstStyle/>
          <a:p>
            <a:r>
              <a:rPr lang="fr-FR" dirty="0"/>
              <a:t>IA Symbolique</a:t>
            </a:r>
          </a:p>
        </p:txBody>
      </p:sp>
      <p:sp>
        <p:nvSpPr>
          <p:cNvPr id="3" name="Espace réservé du contenu 2">
            <a:extLst>
              <a:ext uri="{FF2B5EF4-FFF2-40B4-BE49-F238E27FC236}">
                <a16:creationId xmlns:a16="http://schemas.microsoft.com/office/drawing/2014/main" id="{38994325-9A5E-E8F5-024E-2C9BC97CFB2B}"/>
              </a:ext>
            </a:extLst>
          </p:cNvPr>
          <p:cNvSpPr>
            <a:spLocks noGrp="1"/>
          </p:cNvSpPr>
          <p:nvPr>
            <p:ph idx="1"/>
          </p:nvPr>
        </p:nvSpPr>
        <p:spPr/>
        <p:txBody>
          <a:bodyPr/>
          <a:lstStyle/>
          <a:p>
            <a:r>
              <a:rPr lang="fr-FR" dirty="0"/>
              <a:t>Systèmes basés règles</a:t>
            </a:r>
          </a:p>
          <a:p>
            <a:pPr lvl="1"/>
            <a:r>
              <a:rPr lang="fr-FR" dirty="0"/>
              <a:t>vs. systèmes appris à partir des données</a:t>
            </a:r>
          </a:p>
          <a:p>
            <a:pPr lvl="1"/>
            <a:r>
              <a:rPr lang="fr-FR" dirty="0"/>
              <a:t>Logique floue</a:t>
            </a:r>
          </a:p>
          <a:p>
            <a:pPr lvl="1"/>
            <a:r>
              <a:rPr lang="fr-FR" dirty="0"/>
              <a:t>Système expert</a:t>
            </a:r>
          </a:p>
          <a:p>
            <a:pPr lvl="1"/>
            <a:r>
              <a:rPr lang="fr-FR" dirty="0"/>
              <a:t>Orient logique</a:t>
            </a:r>
          </a:p>
        </p:txBody>
      </p:sp>
    </p:spTree>
    <p:extLst>
      <p:ext uri="{BB962C8B-B14F-4D97-AF65-F5344CB8AC3E}">
        <p14:creationId xmlns:p14="http://schemas.microsoft.com/office/powerpoint/2010/main" val="2794641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11B061-52C6-9846-F0FA-7F6F59B8277C}"/>
              </a:ext>
            </a:extLst>
          </p:cNvPr>
          <p:cNvSpPr>
            <a:spLocks noGrp="1"/>
          </p:cNvSpPr>
          <p:nvPr>
            <p:ph type="title"/>
          </p:nvPr>
        </p:nvSpPr>
        <p:spPr/>
        <p:txBody>
          <a:bodyPr/>
          <a:lstStyle/>
          <a:p>
            <a:r>
              <a:rPr lang="fr-FR" dirty="0"/>
              <a:t>IA par apprentissage</a:t>
            </a:r>
          </a:p>
        </p:txBody>
      </p:sp>
      <p:sp>
        <p:nvSpPr>
          <p:cNvPr id="3" name="Espace réservé du contenu 2">
            <a:extLst>
              <a:ext uri="{FF2B5EF4-FFF2-40B4-BE49-F238E27FC236}">
                <a16:creationId xmlns:a16="http://schemas.microsoft.com/office/drawing/2014/main" id="{A5560A14-625D-B30F-F730-086C192743D8}"/>
              </a:ext>
            </a:extLst>
          </p:cNvPr>
          <p:cNvSpPr>
            <a:spLocks noGrp="1"/>
          </p:cNvSpPr>
          <p:nvPr>
            <p:ph idx="1"/>
          </p:nvPr>
        </p:nvSpPr>
        <p:spPr/>
        <p:txBody>
          <a:bodyPr/>
          <a:lstStyle/>
          <a:p>
            <a:r>
              <a:rPr lang="fr-FR" dirty="0"/>
              <a:t>Système basé sur les données</a:t>
            </a:r>
          </a:p>
          <a:p>
            <a:pPr lvl="1"/>
            <a:r>
              <a:rPr lang="fr-FR" dirty="0"/>
              <a:t>Machine Learning</a:t>
            </a:r>
          </a:p>
          <a:p>
            <a:pPr lvl="1"/>
            <a:r>
              <a:rPr lang="fr-FR" dirty="0"/>
              <a:t>Deep Learning</a:t>
            </a:r>
          </a:p>
          <a:p>
            <a:pPr lvl="1"/>
            <a:r>
              <a:rPr lang="fr-FR" dirty="0"/>
              <a:t>LLM</a:t>
            </a:r>
          </a:p>
          <a:p>
            <a:r>
              <a:rPr lang="fr-FR" dirty="0"/>
              <a:t>Basé sur un système de notation</a:t>
            </a:r>
          </a:p>
          <a:p>
            <a:pPr lvl="1"/>
            <a:r>
              <a:rPr lang="fr-FR" dirty="0" err="1"/>
              <a:t>Scoring</a:t>
            </a:r>
            <a:endParaRPr lang="fr-FR" dirty="0"/>
          </a:p>
          <a:p>
            <a:pPr lvl="1"/>
            <a:r>
              <a:rPr lang="fr-FR" dirty="0" err="1"/>
              <a:t>Accuracy</a:t>
            </a:r>
            <a:endParaRPr lang="fr-FR" dirty="0"/>
          </a:p>
        </p:txBody>
      </p:sp>
    </p:spTree>
    <p:extLst>
      <p:ext uri="{BB962C8B-B14F-4D97-AF65-F5344CB8AC3E}">
        <p14:creationId xmlns:p14="http://schemas.microsoft.com/office/powerpoint/2010/main" val="329744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Copier la nature ou non</a:t>
            </a:r>
          </a:p>
        </p:txBody>
      </p:sp>
      <p:pic>
        <p:nvPicPr>
          <p:cNvPr id="5122" name="Picture 2" descr="RÃ©sultat de recherche d'images pour &quot;appareil photo&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5493"/>
            <a:ext cx="428625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nattoyz en bois charrette roue Ornemental bois charrette WAGON Roues 59cm jardin dÃ©cor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1551" y="2313809"/>
            <a:ext cx="4632449" cy="4523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437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IA - ML - DL</a:t>
            </a:r>
          </a:p>
        </p:txBody>
      </p:sp>
      <p:pic>
        <p:nvPicPr>
          <p:cNvPr id="1026" name="Picture 2" descr="https://www.mytectra.com/media/wysiwyg/Blog/deep-learn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41399"/>
            <a:ext cx="9144000" cy="581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382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pic>
        <p:nvPicPr>
          <p:cNvPr id="4" name="Picture 2" descr="https://thinkr.fr/wp-content/uploads/machine-learning-mem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84576"/>
            <a:ext cx="9162255" cy="4581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893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Historique</a:t>
            </a:r>
            <a:endParaRPr dirty="0"/>
          </a:p>
        </p:txBody>
      </p:sp>
      <p:sp>
        <p:nvSpPr>
          <p:cNvPr id="3" name="Rectangle 2"/>
          <p:cNvSpPr/>
          <p:nvPr/>
        </p:nvSpPr>
        <p:spPr>
          <a:xfrm>
            <a:off x="640080" y="3595856"/>
            <a:ext cx="8229600" cy="457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3138656"/>
            <a:ext cx="548640" cy="274320"/>
          </a:xfrm>
          <a:prstGeom prst="rect">
            <a:avLst/>
          </a:prstGeom>
          <a:noFill/>
        </p:spPr>
        <p:txBody>
          <a:bodyPr wrap="none">
            <a:spAutoFit/>
          </a:bodyPr>
          <a:lstStyle/>
          <a:p>
            <a:pPr algn="ctr">
              <a:defRPr sz="1200"/>
            </a:pPr>
            <a:r>
              <a:t>1980</a:t>
            </a:r>
          </a:p>
        </p:txBody>
      </p:sp>
      <p:sp>
        <p:nvSpPr>
          <p:cNvPr id="6" name="TextBox 5"/>
          <p:cNvSpPr txBox="1"/>
          <p:nvPr/>
        </p:nvSpPr>
        <p:spPr>
          <a:xfrm>
            <a:off x="-365760" y="3733016"/>
            <a:ext cx="2377440" cy="1280160"/>
          </a:xfrm>
          <a:prstGeom prst="rect">
            <a:avLst/>
          </a:prstGeom>
          <a:noFill/>
        </p:spPr>
        <p:txBody>
          <a:bodyPr wrap="none">
            <a:spAutoFit/>
          </a:bodyPr>
          <a:lstStyle/>
          <a:p>
            <a:pPr algn="ctr">
              <a:defRPr sz="1200"/>
            </a:pPr>
            <a:r>
              <a:t>Systèmes experts</a:t>
            </a:r>
          </a:p>
        </p:txBody>
      </p:sp>
      <p:sp>
        <p:nvSpPr>
          <p:cNvPr id="7" name="Oval 6"/>
          <p:cNvSpPr/>
          <p:nvPr/>
        </p:nvSpPr>
        <p:spPr>
          <a:xfrm>
            <a:off x="344424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52800" y="3138656"/>
            <a:ext cx="548640" cy="274320"/>
          </a:xfrm>
          <a:prstGeom prst="rect">
            <a:avLst/>
          </a:prstGeom>
          <a:noFill/>
        </p:spPr>
        <p:txBody>
          <a:bodyPr wrap="none">
            <a:spAutoFit/>
          </a:bodyPr>
          <a:lstStyle/>
          <a:p>
            <a:pPr algn="ctr">
              <a:defRPr sz="1200"/>
            </a:pPr>
            <a:r>
              <a:t>1987</a:t>
            </a:r>
          </a:p>
        </p:txBody>
      </p:sp>
      <p:sp>
        <p:nvSpPr>
          <p:cNvPr id="9" name="TextBox 8"/>
          <p:cNvSpPr txBox="1"/>
          <p:nvPr/>
        </p:nvSpPr>
        <p:spPr>
          <a:xfrm>
            <a:off x="2255520" y="3733016"/>
            <a:ext cx="2377440" cy="1280160"/>
          </a:xfrm>
          <a:prstGeom prst="rect">
            <a:avLst/>
          </a:prstGeom>
          <a:noFill/>
        </p:spPr>
        <p:txBody>
          <a:bodyPr wrap="none">
            <a:spAutoFit/>
          </a:bodyPr>
          <a:lstStyle/>
          <a:p>
            <a:pPr algn="ctr">
              <a:defRPr sz="1200"/>
            </a:pPr>
            <a:r>
              <a:t>Hiver de l'IA</a:t>
            </a:r>
          </a:p>
        </p:txBody>
      </p:sp>
      <p:sp>
        <p:nvSpPr>
          <p:cNvPr id="10" name="Oval 9"/>
          <p:cNvSpPr/>
          <p:nvPr/>
        </p:nvSpPr>
        <p:spPr>
          <a:xfrm>
            <a:off x="606552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74080" y="3138656"/>
            <a:ext cx="548640" cy="274320"/>
          </a:xfrm>
          <a:prstGeom prst="rect">
            <a:avLst/>
          </a:prstGeom>
          <a:noFill/>
        </p:spPr>
        <p:txBody>
          <a:bodyPr wrap="none">
            <a:spAutoFit/>
          </a:bodyPr>
          <a:lstStyle/>
          <a:p>
            <a:pPr algn="ctr">
              <a:defRPr sz="1200"/>
            </a:pPr>
            <a:r>
              <a:t>1997</a:t>
            </a:r>
          </a:p>
        </p:txBody>
      </p:sp>
      <p:sp>
        <p:nvSpPr>
          <p:cNvPr id="12" name="TextBox 11"/>
          <p:cNvSpPr txBox="1"/>
          <p:nvPr/>
        </p:nvSpPr>
        <p:spPr>
          <a:xfrm>
            <a:off x="4876800" y="3733016"/>
            <a:ext cx="2377440" cy="1280160"/>
          </a:xfrm>
          <a:prstGeom prst="rect">
            <a:avLst/>
          </a:prstGeom>
          <a:noFill/>
        </p:spPr>
        <p:txBody>
          <a:bodyPr wrap="none">
            <a:spAutoFit/>
          </a:bodyPr>
          <a:lstStyle/>
          <a:p>
            <a:pPr algn="ctr">
              <a:defRPr sz="1200"/>
            </a:pPr>
            <a:r>
              <a:t>Deep Blue bat Kasparov</a:t>
            </a:r>
          </a:p>
        </p:txBody>
      </p:sp>
      <p:sp>
        <p:nvSpPr>
          <p:cNvPr id="13" name="Oval 12"/>
          <p:cNvSpPr/>
          <p:nvPr/>
        </p:nvSpPr>
        <p:spPr>
          <a:xfrm>
            <a:off x="868680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0" y="3138656"/>
            <a:ext cx="548640" cy="274320"/>
          </a:xfrm>
          <a:prstGeom prst="rect">
            <a:avLst/>
          </a:prstGeom>
          <a:noFill/>
        </p:spPr>
        <p:txBody>
          <a:bodyPr wrap="none">
            <a:spAutoFit/>
          </a:bodyPr>
          <a:lstStyle/>
          <a:p>
            <a:pPr algn="ctr">
              <a:defRPr sz="1200"/>
            </a:pPr>
            <a:r>
              <a:t>2006</a:t>
            </a:r>
          </a:p>
        </p:txBody>
      </p:sp>
      <p:sp>
        <p:nvSpPr>
          <p:cNvPr id="15" name="TextBox 14"/>
          <p:cNvSpPr txBox="1"/>
          <p:nvPr/>
        </p:nvSpPr>
        <p:spPr>
          <a:xfrm>
            <a:off x="7498080" y="3733016"/>
            <a:ext cx="2377440" cy="1280160"/>
          </a:xfrm>
          <a:prstGeom prst="rect">
            <a:avLst/>
          </a:prstGeom>
          <a:noFill/>
        </p:spPr>
        <p:txBody>
          <a:bodyPr wrap="none">
            <a:spAutoFit/>
          </a:bodyPr>
          <a:lstStyle/>
          <a:p>
            <a:pPr algn="ctr">
              <a:defRPr sz="1200"/>
            </a:pPr>
            <a:r>
              <a:t>Renaissance du deep learning</a:t>
            </a:r>
          </a:p>
        </p:txBody>
      </p:sp>
      <p:sp>
        <p:nvSpPr>
          <p:cNvPr id="16" name="Rectangle 15"/>
          <p:cNvSpPr/>
          <p:nvPr/>
        </p:nvSpPr>
        <p:spPr>
          <a:xfrm>
            <a:off x="665152" y="5468064"/>
            <a:ext cx="8229600" cy="457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3"/>
          <p:cNvSpPr/>
          <p:nvPr/>
        </p:nvSpPr>
        <p:spPr>
          <a:xfrm>
            <a:off x="84803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4"/>
          <p:cNvSpPr txBox="1"/>
          <p:nvPr/>
        </p:nvSpPr>
        <p:spPr>
          <a:xfrm>
            <a:off x="756592" y="5010864"/>
            <a:ext cx="548640" cy="274320"/>
          </a:xfrm>
          <a:prstGeom prst="rect">
            <a:avLst/>
          </a:prstGeom>
          <a:noFill/>
        </p:spPr>
        <p:txBody>
          <a:bodyPr wrap="none">
            <a:spAutoFit/>
          </a:bodyPr>
          <a:lstStyle/>
          <a:p>
            <a:pPr algn="ctr">
              <a:defRPr sz="1200"/>
            </a:pPr>
            <a:r>
              <a:t>2012</a:t>
            </a:r>
          </a:p>
        </p:txBody>
      </p:sp>
      <p:sp>
        <p:nvSpPr>
          <p:cNvPr id="19" name="TextBox 5"/>
          <p:cNvSpPr txBox="1"/>
          <p:nvPr/>
        </p:nvSpPr>
        <p:spPr>
          <a:xfrm>
            <a:off x="-340688" y="5605224"/>
            <a:ext cx="2377440" cy="1280160"/>
          </a:xfrm>
          <a:prstGeom prst="rect">
            <a:avLst/>
          </a:prstGeom>
          <a:noFill/>
        </p:spPr>
        <p:txBody>
          <a:bodyPr wrap="none">
            <a:spAutoFit/>
          </a:bodyPr>
          <a:lstStyle/>
          <a:p>
            <a:pPr algn="ctr">
              <a:defRPr sz="1200"/>
            </a:pPr>
            <a:r>
              <a:t>AlexNet ImageNet</a:t>
            </a:r>
          </a:p>
        </p:txBody>
      </p:sp>
      <p:sp>
        <p:nvSpPr>
          <p:cNvPr id="20" name="Oval 6"/>
          <p:cNvSpPr/>
          <p:nvPr/>
        </p:nvSpPr>
        <p:spPr>
          <a:xfrm>
            <a:off x="346931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7"/>
          <p:cNvSpPr txBox="1"/>
          <p:nvPr/>
        </p:nvSpPr>
        <p:spPr>
          <a:xfrm>
            <a:off x="3377872" y="5010864"/>
            <a:ext cx="548640" cy="274320"/>
          </a:xfrm>
          <a:prstGeom prst="rect">
            <a:avLst/>
          </a:prstGeom>
          <a:noFill/>
        </p:spPr>
        <p:txBody>
          <a:bodyPr wrap="none">
            <a:spAutoFit/>
          </a:bodyPr>
          <a:lstStyle/>
          <a:p>
            <a:pPr algn="ctr">
              <a:defRPr sz="1200"/>
            </a:pPr>
            <a:r>
              <a:t>2016</a:t>
            </a:r>
          </a:p>
        </p:txBody>
      </p:sp>
      <p:sp>
        <p:nvSpPr>
          <p:cNvPr id="22" name="TextBox 8"/>
          <p:cNvSpPr txBox="1"/>
          <p:nvPr/>
        </p:nvSpPr>
        <p:spPr>
          <a:xfrm>
            <a:off x="2280592" y="5605224"/>
            <a:ext cx="2377440" cy="1280160"/>
          </a:xfrm>
          <a:prstGeom prst="rect">
            <a:avLst/>
          </a:prstGeom>
          <a:noFill/>
        </p:spPr>
        <p:txBody>
          <a:bodyPr wrap="none">
            <a:spAutoFit/>
          </a:bodyPr>
          <a:lstStyle/>
          <a:p>
            <a:pPr algn="ctr">
              <a:defRPr sz="1200"/>
            </a:pPr>
            <a:r>
              <a:t>AlphaGo</a:t>
            </a:r>
          </a:p>
        </p:txBody>
      </p:sp>
      <p:sp>
        <p:nvSpPr>
          <p:cNvPr id="23" name="Oval 9"/>
          <p:cNvSpPr/>
          <p:nvPr/>
        </p:nvSpPr>
        <p:spPr>
          <a:xfrm>
            <a:off x="609059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0"/>
          <p:cNvSpPr txBox="1"/>
          <p:nvPr/>
        </p:nvSpPr>
        <p:spPr>
          <a:xfrm>
            <a:off x="5999152" y="5010864"/>
            <a:ext cx="548640" cy="274320"/>
          </a:xfrm>
          <a:prstGeom prst="rect">
            <a:avLst/>
          </a:prstGeom>
          <a:noFill/>
        </p:spPr>
        <p:txBody>
          <a:bodyPr wrap="none">
            <a:spAutoFit/>
          </a:bodyPr>
          <a:lstStyle/>
          <a:p>
            <a:pPr algn="ctr">
              <a:defRPr sz="1200"/>
            </a:pPr>
            <a:r>
              <a:t>2017</a:t>
            </a:r>
          </a:p>
        </p:txBody>
      </p:sp>
      <p:sp>
        <p:nvSpPr>
          <p:cNvPr id="25" name="TextBox 11"/>
          <p:cNvSpPr txBox="1"/>
          <p:nvPr/>
        </p:nvSpPr>
        <p:spPr>
          <a:xfrm>
            <a:off x="4901872" y="5605224"/>
            <a:ext cx="2377440" cy="1280160"/>
          </a:xfrm>
          <a:prstGeom prst="rect">
            <a:avLst/>
          </a:prstGeom>
          <a:noFill/>
        </p:spPr>
        <p:txBody>
          <a:bodyPr wrap="none">
            <a:spAutoFit/>
          </a:bodyPr>
          <a:lstStyle/>
          <a:p>
            <a:pPr algn="ctr">
              <a:defRPr sz="1200"/>
            </a:pPr>
            <a:r>
              <a:t>Transformers</a:t>
            </a:r>
          </a:p>
        </p:txBody>
      </p:sp>
      <p:sp>
        <p:nvSpPr>
          <p:cNvPr id="26" name="Oval 12"/>
          <p:cNvSpPr/>
          <p:nvPr/>
        </p:nvSpPr>
        <p:spPr>
          <a:xfrm>
            <a:off x="871187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13"/>
          <p:cNvSpPr txBox="1"/>
          <p:nvPr/>
        </p:nvSpPr>
        <p:spPr>
          <a:xfrm>
            <a:off x="8620432" y="5010864"/>
            <a:ext cx="548640" cy="274320"/>
          </a:xfrm>
          <a:prstGeom prst="rect">
            <a:avLst/>
          </a:prstGeom>
          <a:noFill/>
        </p:spPr>
        <p:txBody>
          <a:bodyPr wrap="none">
            <a:spAutoFit/>
          </a:bodyPr>
          <a:lstStyle/>
          <a:p>
            <a:pPr algn="ctr">
              <a:defRPr sz="1200"/>
            </a:pPr>
            <a:r>
              <a:t>2022</a:t>
            </a:r>
          </a:p>
        </p:txBody>
      </p:sp>
      <p:sp>
        <p:nvSpPr>
          <p:cNvPr id="28" name="TextBox 14"/>
          <p:cNvSpPr txBox="1"/>
          <p:nvPr/>
        </p:nvSpPr>
        <p:spPr>
          <a:xfrm>
            <a:off x="7523152" y="5605224"/>
            <a:ext cx="2377440" cy="1280160"/>
          </a:xfrm>
          <a:prstGeom prst="rect">
            <a:avLst/>
          </a:prstGeom>
          <a:noFill/>
        </p:spPr>
        <p:txBody>
          <a:bodyPr wrap="none">
            <a:spAutoFit/>
          </a:bodyPr>
          <a:lstStyle/>
          <a:p>
            <a:pPr algn="ctr">
              <a:defRPr sz="1200"/>
            </a:pPr>
            <a:r>
              <a:t>Générative &amp; LLMs</a:t>
            </a:r>
          </a:p>
        </p:txBody>
      </p:sp>
      <p:sp>
        <p:nvSpPr>
          <p:cNvPr id="29" name="Title 1"/>
          <p:cNvSpPr txBox="1">
            <a:spLocks/>
          </p:cNvSpPr>
          <p:nvPr/>
        </p:nvSpPr>
        <p:spPr bwMode="auto">
          <a:xfrm>
            <a:off x="493293" y="-89122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a:lstStyle>
          <a:p>
            <a:r>
              <a:rPr lang="fr-FR" kern="0"/>
              <a:t>Histoire (1950–1980)</a:t>
            </a:r>
          </a:p>
        </p:txBody>
      </p:sp>
      <p:sp>
        <p:nvSpPr>
          <p:cNvPr id="30" name="Rectangle 29"/>
          <p:cNvSpPr/>
          <p:nvPr/>
        </p:nvSpPr>
        <p:spPr>
          <a:xfrm>
            <a:off x="676173" y="1867664"/>
            <a:ext cx="8229600" cy="457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
          <p:cNvSpPr/>
          <p:nvPr/>
        </p:nvSpPr>
        <p:spPr>
          <a:xfrm>
            <a:off x="85905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4"/>
          <p:cNvSpPr txBox="1"/>
          <p:nvPr/>
        </p:nvSpPr>
        <p:spPr>
          <a:xfrm>
            <a:off x="767613" y="1410464"/>
            <a:ext cx="548640" cy="274320"/>
          </a:xfrm>
          <a:prstGeom prst="rect">
            <a:avLst/>
          </a:prstGeom>
          <a:noFill/>
        </p:spPr>
        <p:txBody>
          <a:bodyPr wrap="none">
            <a:spAutoFit/>
          </a:bodyPr>
          <a:lstStyle/>
          <a:p>
            <a:pPr algn="ctr">
              <a:defRPr sz="1200"/>
            </a:pPr>
            <a:r>
              <a:t>1950</a:t>
            </a:r>
          </a:p>
        </p:txBody>
      </p:sp>
      <p:sp>
        <p:nvSpPr>
          <p:cNvPr id="33" name="TextBox 5"/>
          <p:cNvSpPr txBox="1"/>
          <p:nvPr/>
        </p:nvSpPr>
        <p:spPr>
          <a:xfrm>
            <a:off x="-329667" y="2004824"/>
            <a:ext cx="2377440" cy="1280160"/>
          </a:xfrm>
          <a:prstGeom prst="rect">
            <a:avLst/>
          </a:prstGeom>
          <a:noFill/>
        </p:spPr>
        <p:txBody>
          <a:bodyPr wrap="none">
            <a:spAutoFit/>
          </a:bodyPr>
          <a:lstStyle/>
          <a:p>
            <a:pPr algn="ctr">
              <a:defRPr sz="1200"/>
            </a:pPr>
            <a:r>
              <a:t>Turing &amp; test de Turing</a:t>
            </a:r>
          </a:p>
        </p:txBody>
      </p:sp>
      <p:sp>
        <p:nvSpPr>
          <p:cNvPr id="34" name="Oval 6"/>
          <p:cNvSpPr/>
          <p:nvPr/>
        </p:nvSpPr>
        <p:spPr>
          <a:xfrm>
            <a:off x="348033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7"/>
          <p:cNvSpPr txBox="1"/>
          <p:nvPr/>
        </p:nvSpPr>
        <p:spPr>
          <a:xfrm>
            <a:off x="3388893" y="1410464"/>
            <a:ext cx="548640" cy="274320"/>
          </a:xfrm>
          <a:prstGeom prst="rect">
            <a:avLst/>
          </a:prstGeom>
          <a:noFill/>
        </p:spPr>
        <p:txBody>
          <a:bodyPr wrap="none">
            <a:spAutoFit/>
          </a:bodyPr>
          <a:lstStyle/>
          <a:p>
            <a:pPr algn="ctr">
              <a:defRPr sz="1200"/>
            </a:pPr>
            <a:r>
              <a:t>1956</a:t>
            </a:r>
          </a:p>
        </p:txBody>
      </p:sp>
      <p:sp>
        <p:nvSpPr>
          <p:cNvPr id="36" name="TextBox 8"/>
          <p:cNvSpPr txBox="1"/>
          <p:nvPr/>
        </p:nvSpPr>
        <p:spPr>
          <a:xfrm>
            <a:off x="2291613" y="2004824"/>
            <a:ext cx="2377440" cy="1280160"/>
          </a:xfrm>
          <a:prstGeom prst="rect">
            <a:avLst/>
          </a:prstGeom>
          <a:noFill/>
        </p:spPr>
        <p:txBody>
          <a:bodyPr wrap="none">
            <a:spAutoFit/>
          </a:bodyPr>
          <a:lstStyle/>
          <a:p>
            <a:pPr algn="ctr">
              <a:defRPr sz="1200"/>
            </a:pPr>
            <a:r>
              <a:t>Dartmouth : acte de naissance</a:t>
            </a:r>
          </a:p>
        </p:txBody>
      </p:sp>
      <p:sp>
        <p:nvSpPr>
          <p:cNvPr id="37" name="Oval 9"/>
          <p:cNvSpPr/>
          <p:nvPr/>
        </p:nvSpPr>
        <p:spPr>
          <a:xfrm>
            <a:off x="610161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10"/>
          <p:cNvSpPr txBox="1"/>
          <p:nvPr/>
        </p:nvSpPr>
        <p:spPr>
          <a:xfrm>
            <a:off x="6010173" y="1410464"/>
            <a:ext cx="548640" cy="274320"/>
          </a:xfrm>
          <a:prstGeom prst="rect">
            <a:avLst/>
          </a:prstGeom>
          <a:noFill/>
        </p:spPr>
        <p:txBody>
          <a:bodyPr wrap="none">
            <a:spAutoFit/>
          </a:bodyPr>
          <a:lstStyle/>
          <a:p>
            <a:pPr algn="ctr">
              <a:defRPr sz="1200"/>
            </a:pPr>
            <a:r>
              <a:t>1960</a:t>
            </a:r>
          </a:p>
        </p:txBody>
      </p:sp>
      <p:sp>
        <p:nvSpPr>
          <p:cNvPr id="39" name="TextBox 11"/>
          <p:cNvSpPr txBox="1"/>
          <p:nvPr/>
        </p:nvSpPr>
        <p:spPr>
          <a:xfrm>
            <a:off x="4912893" y="2004824"/>
            <a:ext cx="2377440" cy="1280160"/>
          </a:xfrm>
          <a:prstGeom prst="rect">
            <a:avLst/>
          </a:prstGeom>
          <a:noFill/>
        </p:spPr>
        <p:txBody>
          <a:bodyPr wrap="none">
            <a:spAutoFit/>
          </a:bodyPr>
          <a:lstStyle/>
          <a:p>
            <a:pPr algn="ctr">
              <a:defRPr sz="1200"/>
            </a:pPr>
            <a:r>
              <a:t>IA symbolique</a:t>
            </a:r>
          </a:p>
        </p:txBody>
      </p:sp>
      <p:sp>
        <p:nvSpPr>
          <p:cNvPr id="40" name="Oval 12"/>
          <p:cNvSpPr/>
          <p:nvPr/>
        </p:nvSpPr>
        <p:spPr>
          <a:xfrm>
            <a:off x="872289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13"/>
          <p:cNvSpPr txBox="1"/>
          <p:nvPr/>
        </p:nvSpPr>
        <p:spPr>
          <a:xfrm>
            <a:off x="8631453" y="1410464"/>
            <a:ext cx="548640" cy="274320"/>
          </a:xfrm>
          <a:prstGeom prst="rect">
            <a:avLst/>
          </a:prstGeom>
          <a:noFill/>
        </p:spPr>
        <p:txBody>
          <a:bodyPr wrap="none">
            <a:spAutoFit/>
          </a:bodyPr>
          <a:lstStyle/>
          <a:p>
            <a:pPr algn="ctr">
              <a:defRPr sz="1200"/>
            </a:pPr>
            <a:r>
              <a:t>1970</a:t>
            </a:r>
          </a:p>
        </p:txBody>
      </p:sp>
      <p:sp>
        <p:nvSpPr>
          <p:cNvPr id="42" name="TextBox 14"/>
          <p:cNvSpPr txBox="1"/>
          <p:nvPr/>
        </p:nvSpPr>
        <p:spPr>
          <a:xfrm>
            <a:off x="7534173" y="2004824"/>
            <a:ext cx="2377440" cy="1280160"/>
          </a:xfrm>
          <a:prstGeom prst="rect">
            <a:avLst/>
          </a:prstGeom>
          <a:noFill/>
        </p:spPr>
        <p:txBody>
          <a:bodyPr wrap="none">
            <a:spAutoFit/>
          </a:bodyPr>
          <a:lstStyle/>
          <a:p>
            <a:pPr algn="ctr">
              <a:defRPr sz="1200"/>
            </a:pPr>
            <a:r>
              <a:t>Systèmes à règles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sp>
        <p:nvSpPr>
          <p:cNvPr id="3" name="Espace réservé du contenu 2"/>
          <p:cNvSpPr>
            <a:spLocks noGrp="1"/>
          </p:cNvSpPr>
          <p:nvPr>
            <p:ph idx="1"/>
          </p:nvPr>
        </p:nvSpPr>
        <p:spPr/>
        <p:txBody>
          <a:bodyPr/>
          <a:lstStyle/>
          <a:p>
            <a:r>
              <a:rPr lang="fr-FR" dirty="0"/>
              <a:t>L'apprentissage automatique (machine </a:t>
            </a:r>
            <a:r>
              <a:rPr lang="fr-FR" dirty="0" err="1"/>
              <a:t>learning</a:t>
            </a:r>
            <a:r>
              <a:rPr lang="fr-FR" dirty="0"/>
              <a:t>), champ d'étude de l'intelligence artificielle, concerne la conception, l'analyse, le développement et l'implémentation de méthodes permettant à une machine d'évoluer par un processus systématique, et ainsi de remplir des tâches difficiles ou problématiques par des moyens algorithmiques plus classiques</a:t>
            </a:r>
          </a:p>
        </p:txBody>
      </p:sp>
    </p:spTree>
    <p:extLst>
      <p:ext uri="{BB962C8B-B14F-4D97-AF65-F5344CB8AC3E}">
        <p14:creationId xmlns:p14="http://schemas.microsoft.com/office/powerpoint/2010/main" val="840195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Deep</a:t>
            </a:r>
            <a:r>
              <a:rPr lang="fr-FR" dirty="0"/>
              <a:t> Learning</a:t>
            </a:r>
          </a:p>
        </p:txBody>
      </p:sp>
      <p:sp>
        <p:nvSpPr>
          <p:cNvPr id="3" name="Espace réservé du contenu 2"/>
          <p:cNvSpPr>
            <a:spLocks noGrp="1"/>
          </p:cNvSpPr>
          <p:nvPr>
            <p:ph idx="1"/>
          </p:nvPr>
        </p:nvSpPr>
        <p:spPr/>
        <p:txBody>
          <a:bodyPr/>
          <a:lstStyle/>
          <a:p>
            <a:r>
              <a:rPr lang="fr-FR" dirty="0"/>
              <a:t>Le </a:t>
            </a:r>
            <a:r>
              <a:rPr lang="fr-FR" dirty="0" err="1"/>
              <a:t>deep</a:t>
            </a:r>
            <a:r>
              <a:rPr lang="fr-FR" dirty="0"/>
              <a:t> </a:t>
            </a:r>
            <a:r>
              <a:rPr lang="fr-FR" dirty="0" err="1"/>
              <a:t>learning</a:t>
            </a:r>
            <a:r>
              <a:rPr lang="fr-FR" dirty="0"/>
              <a:t> est un ensemble de méthodes d'apprentissage automatique tentant de modéliser avec un haut niveau d’abstraction des données grâce à des architectures articulées de différentes transformations </a:t>
            </a:r>
            <a:r>
              <a:rPr lang="fr-FR"/>
              <a:t>non linéaires</a:t>
            </a:r>
          </a:p>
          <a:p>
            <a:pPr lvl="1"/>
            <a:r>
              <a:rPr lang="fr-FR"/>
              <a:t>Ces </a:t>
            </a:r>
            <a:r>
              <a:rPr lang="fr-FR" dirty="0"/>
              <a:t>techniques ont permis des progrès importants et rapides dans les domaines de l'analyse du signal sonore ou visuel et notamment de la reconnaissance faciale, de la reconnaissance vocale, de la vision par ordinateur, du traitement automatisé du langage</a:t>
            </a:r>
          </a:p>
        </p:txBody>
      </p:sp>
    </p:spTree>
    <p:extLst>
      <p:ext uri="{BB962C8B-B14F-4D97-AF65-F5344CB8AC3E}">
        <p14:creationId xmlns:p14="http://schemas.microsoft.com/office/powerpoint/2010/main" val="3554226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Neurone</a:t>
            </a:r>
          </a:p>
        </p:txBody>
      </p:sp>
      <p:sp>
        <p:nvSpPr>
          <p:cNvPr id="3" name="Espace réservé du contenu 2"/>
          <p:cNvSpPr>
            <a:spLocks noGrp="1"/>
          </p:cNvSpPr>
          <p:nvPr>
            <p:ph idx="1"/>
          </p:nvPr>
        </p:nvSpPr>
        <p:spPr/>
        <p:txBody>
          <a:bodyPr/>
          <a:lstStyle/>
          <a:p>
            <a:r>
              <a:rPr lang="fr-FR" dirty="0"/>
              <a:t>En biologie un neurone est une cellule connectée à d’autre neurones qui a la faculté de laisser passer ou non un courant électrique</a:t>
            </a:r>
          </a:p>
          <a:p>
            <a:pPr lvl="1"/>
            <a:r>
              <a:rPr lang="fr-FR" dirty="0"/>
              <a:t>Sa modélisation mathématique est appelé perceptron</a:t>
            </a:r>
          </a:p>
          <a:p>
            <a:endParaRPr lang="fr-FR" dirty="0"/>
          </a:p>
        </p:txBody>
      </p:sp>
      <p:pic>
        <p:nvPicPr>
          <p:cNvPr id="6146" name="Picture 2" descr="RÃ©sultat de recherche d'images pour &quot;neuron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429000"/>
            <a:ext cx="5184576" cy="291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719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Neurone</a:t>
            </a:r>
          </a:p>
        </p:txBody>
      </p:sp>
      <p:sp>
        <p:nvSpPr>
          <p:cNvPr id="3" name="Espace réservé du contenu 2"/>
          <p:cNvSpPr>
            <a:spLocks noGrp="1"/>
          </p:cNvSpPr>
          <p:nvPr>
            <p:ph idx="1"/>
          </p:nvPr>
        </p:nvSpPr>
        <p:spPr/>
        <p:txBody>
          <a:bodyPr/>
          <a:lstStyle/>
          <a:p>
            <a:r>
              <a:rPr lang="fr-FR" dirty="0"/>
              <a:t>Un neurone possède plusieurs entrées (ix), une sortie (o), un seuil et une fonction d’activation (f)</a:t>
            </a:r>
          </a:p>
          <a:p>
            <a:r>
              <a:rPr lang="fr-FR" dirty="0"/>
              <a:t>Chaque entrée possède un poids (</a:t>
            </a:r>
            <a:r>
              <a:rPr lang="fr-FR" dirty="0" err="1"/>
              <a:t>Wx</a:t>
            </a:r>
            <a:r>
              <a:rPr lang="fr-FR" dirty="0"/>
              <a:t>)</a:t>
            </a:r>
          </a:p>
          <a:p>
            <a:endParaRPr lang="fr-FR" dirty="0"/>
          </a:p>
        </p:txBody>
      </p:sp>
      <p:pic>
        <p:nvPicPr>
          <p:cNvPr id="1026" name="Picture 2" descr="Schéma d'un perceptron à n entré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473" y="2719205"/>
            <a:ext cx="5640561" cy="3990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97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Réseaux</a:t>
            </a:r>
          </a:p>
        </p:txBody>
      </p:sp>
      <p:sp>
        <p:nvSpPr>
          <p:cNvPr id="3" name="Espace réservé du contenu 2"/>
          <p:cNvSpPr>
            <a:spLocks noGrp="1"/>
          </p:cNvSpPr>
          <p:nvPr>
            <p:ph idx="1"/>
          </p:nvPr>
        </p:nvSpPr>
        <p:spPr/>
        <p:txBody>
          <a:bodyPr/>
          <a:lstStyle/>
          <a:p>
            <a:r>
              <a:rPr lang="fr-FR" dirty="0"/>
              <a:t>Les neurones peuvent être mis en réseaux</a:t>
            </a:r>
          </a:p>
          <a:p>
            <a:pPr lvl="1"/>
            <a:r>
              <a:rPr lang="fr-FR" dirty="0"/>
              <a:t>En arbre (MLP)</a:t>
            </a:r>
          </a:p>
          <a:p>
            <a:pPr lvl="1"/>
            <a:r>
              <a:rPr lang="fr-FR" dirty="0"/>
              <a:t>En graphe (plus complexe)</a:t>
            </a:r>
          </a:p>
          <a:p>
            <a:pPr lvl="1"/>
            <a:r>
              <a:rPr lang="fr-FR" dirty="0"/>
              <a:t>Poids multiples</a:t>
            </a:r>
          </a:p>
          <a:p>
            <a:r>
              <a:rPr lang="fr-FR" dirty="0"/>
              <a:t>Très couteux</a:t>
            </a:r>
          </a:p>
          <a:p>
            <a:pPr lvl="1"/>
            <a:r>
              <a:rPr lang="fr-FR" dirty="0"/>
              <a:t>Mais donne de très bons résultats</a:t>
            </a:r>
          </a:p>
          <a:p>
            <a:pPr lvl="1"/>
            <a:r>
              <a:rPr lang="fr-FR" dirty="0"/>
              <a:t>Maitrise l’addition sur 4 bits avec 145 neurones et 100 itérations</a:t>
            </a:r>
          </a:p>
          <a:p>
            <a:r>
              <a:rPr lang="fr-FR" dirty="0" err="1"/>
              <a:t>Backpropagation</a:t>
            </a:r>
            <a:r>
              <a:rPr lang="fr-FR" dirty="0"/>
              <a:t> complexe</a:t>
            </a:r>
          </a:p>
          <a:p>
            <a:pPr lvl="1"/>
            <a:r>
              <a:rPr lang="fr-FR" dirty="0"/>
              <a:t>Basé sur la répartition de l'erreurs sur les poids et la pente de la courbe de la fonction d'activation (</a:t>
            </a:r>
            <a:r>
              <a:rPr lang="fr-FR" dirty="0" err="1"/>
              <a:t>derivée</a:t>
            </a:r>
            <a:r>
              <a:rPr lang="fr-FR" dirty="0"/>
              <a:t>)</a:t>
            </a:r>
          </a:p>
        </p:txBody>
      </p:sp>
      <p:pic>
        <p:nvPicPr>
          <p:cNvPr id="3074" name="Picture 2" descr="../_images/multilayerperceptron_network.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6216" y="1930341"/>
            <a:ext cx="2088232" cy="2269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072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DD6331-FA6A-4ED1-909A-5002ED680318}"/>
              </a:ext>
            </a:extLst>
          </p:cNvPr>
          <p:cNvSpPr>
            <a:spLocks noGrp="1"/>
          </p:cNvSpPr>
          <p:nvPr>
            <p:ph type="title"/>
          </p:nvPr>
        </p:nvSpPr>
        <p:spPr/>
        <p:txBody>
          <a:bodyPr/>
          <a:lstStyle/>
          <a:p>
            <a:endParaRPr lang="fr-FR"/>
          </a:p>
        </p:txBody>
      </p:sp>
      <p:pic>
        <p:nvPicPr>
          <p:cNvPr id="1030" name="Picture 6" descr="Introduction au deep learning avec Tensorflow | Machine Learning lab">
            <a:extLst>
              <a:ext uri="{FF2B5EF4-FFF2-40B4-BE49-F238E27FC236}">
                <a16:creationId xmlns:a16="http://schemas.microsoft.com/office/drawing/2014/main" id="{DC8127FD-9812-4BB5-A5F9-577769DF82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703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538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Évolutions récentes &amp; ruptures</a:t>
            </a:r>
          </a:p>
        </p:txBody>
      </p:sp>
      <p:sp>
        <p:nvSpPr>
          <p:cNvPr id="3" name="Content Placeholder 2"/>
          <p:cNvSpPr>
            <a:spLocks noGrp="1"/>
          </p:cNvSpPr>
          <p:nvPr>
            <p:ph idx="1"/>
          </p:nvPr>
        </p:nvSpPr>
        <p:spPr/>
        <p:txBody>
          <a:bodyPr/>
          <a:lstStyle/>
          <a:p>
            <a:r>
              <a:rPr dirty="0" err="1"/>
              <a:t>Accélération</a:t>
            </a:r>
            <a:r>
              <a:rPr dirty="0"/>
              <a:t> </a:t>
            </a:r>
            <a:r>
              <a:rPr dirty="0" err="1"/>
              <a:t>matérielle</a:t>
            </a:r>
            <a:r>
              <a:rPr dirty="0"/>
              <a:t> (GPU/TPU)</a:t>
            </a:r>
            <a:endParaRPr lang="fr-FR" dirty="0"/>
          </a:p>
          <a:p>
            <a:r>
              <a:rPr lang="fr-FR" dirty="0"/>
              <a:t>P</a:t>
            </a:r>
            <a:r>
              <a:rPr dirty="0" err="1"/>
              <a:t>arallélisme</a:t>
            </a:r>
            <a:endParaRPr lang="fr-FR" dirty="0"/>
          </a:p>
          <a:p>
            <a:r>
              <a:rPr lang="fr-FR" dirty="0"/>
              <a:t>Grande quantité de données</a:t>
            </a:r>
          </a:p>
          <a:p>
            <a:r>
              <a:rPr lang="fr-FR" dirty="0"/>
              <a:t>Moyens financiers ++</a:t>
            </a:r>
          </a:p>
          <a:p>
            <a:pPr lvl="1"/>
            <a:r>
              <a:rPr lang="fr-FR" dirty="0" err="1"/>
              <a:t>Nvidia</a:t>
            </a:r>
            <a:r>
              <a:rPr lang="fr-FR" dirty="0"/>
              <a:t>, </a:t>
            </a:r>
            <a:r>
              <a:rPr lang="fr-FR" dirty="0" err="1"/>
              <a:t>OpenAI</a:t>
            </a:r>
            <a:r>
              <a:rPr lang="fr-FR" dirty="0"/>
              <a:t>, …</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Terminologie &amp; définitions</a:t>
            </a:r>
          </a:p>
        </p:txBody>
      </p:sp>
      <p:graphicFrame>
        <p:nvGraphicFramePr>
          <p:cNvPr id="3" name="Table 2"/>
          <p:cNvGraphicFramePr>
            <a:graphicFrameLocks noGrp="1"/>
          </p:cNvGraphicFramePr>
          <p:nvPr/>
        </p:nvGraphicFramePr>
        <p:xfrm>
          <a:off x="457200" y="1554480"/>
          <a:ext cx="8229600" cy="4547064"/>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4072">
                <a:tc>
                  <a:txBody>
                    <a:bodyPr/>
                    <a:lstStyle/>
                    <a:p>
                      <a:pPr>
                        <a:defRPr sz="1400"/>
                      </a:pPr>
                      <a:r>
                        <a:t>Terme</a:t>
                      </a:r>
                    </a:p>
                  </a:txBody>
                  <a:tcPr/>
                </a:tc>
                <a:tc>
                  <a:txBody>
                    <a:bodyPr/>
                    <a:lstStyle/>
                    <a:p>
                      <a:pPr>
                        <a:defRPr sz="1400"/>
                      </a:pPr>
                      <a:r>
                        <a:t>Définition</a:t>
                      </a:r>
                    </a:p>
                  </a:txBody>
                  <a:tcPr/>
                </a:tc>
                <a:extLst>
                  <a:ext uri="{0D108BD9-81ED-4DB2-BD59-A6C34878D82A}">
                    <a16:rowId xmlns:a16="http://schemas.microsoft.com/office/drawing/2014/main" val="10000"/>
                  </a:ext>
                </a:extLst>
              </a:tr>
              <a:tr h="374072">
                <a:tc>
                  <a:txBody>
                    <a:bodyPr/>
                    <a:lstStyle/>
                    <a:p>
                      <a:pPr>
                        <a:defRPr sz="1400"/>
                      </a:pPr>
                      <a:r>
                        <a:t>Agent</a:t>
                      </a:r>
                    </a:p>
                  </a:txBody>
                  <a:tcPr/>
                </a:tc>
                <a:tc>
                  <a:txBody>
                    <a:bodyPr/>
                    <a:lstStyle/>
                    <a:p>
                      <a:pPr>
                        <a:defRPr sz="1400"/>
                      </a:pPr>
                      <a:r>
                        <a:t>Entité qui perçoit l'environnement et agit via une politique</a:t>
                      </a:r>
                    </a:p>
                  </a:txBody>
                  <a:tcPr/>
                </a:tc>
                <a:extLst>
                  <a:ext uri="{0D108BD9-81ED-4DB2-BD59-A6C34878D82A}">
                    <a16:rowId xmlns:a16="http://schemas.microsoft.com/office/drawing/2014/main" val="10001"/>
                  </a:ext>
                </a:extLst>
              </a:tr>
              <a:tr h="374072">
                <a:tc>
                  <a:txBody>
                    <a:bodyPr/>
                    <a:lstStyle/>
                    <a:p>
                      <a:pPr>
                        <a:defRPr sz="1400"/>
                      </a:pPr>
                      <a:r>
                        <a:t>Environnement</a:t>
                      </a:r>
                    </a:p>
                  </a:txBody>
                  <a:tcPr/>
                </a:tc>
                <a:tc>
                  <a:txBody>
                    <a:bodyPr/>
                    <a:lstStyle/>
                    <a:p>
                      <a:pPr>
                        <a:defRPr sz="1400"/>
                      </a:pPr>
                      <a:r>
                        <a:t>Monde externe observé par l'agent</a:t>
                      </a:r>
                    </a:p>
                  </a:txBody>
                  <a:tcPr/>
                </a:tc>
                <a:extLst>
                  <a:ext uri="{0D108BD9-81ED-4DB2-BD59-A6C34878D82A}">
                    <a16:rowId xmlns:a16="http://schemas.microsoft.com/office/drawing/2014/main" val="10002"/>
                  </a:ext>
                </a:extLst>
              </a:tr>
              <a:tr h="374072">
                <a:tc>
                  <a:txBody>
                    <a:bodyPr/>
                    <a:lstStyle/>
                    <a:p>
                      <a:pPr>
                        <a:defRPr sz="1400"/>
                      </a:pPr>
                      <a:r>
                        <a:t>Algorithme</a:t>
                      </a:r>
                    </a:p>
                  </a:txBody>
                  <a:tcPr/>
                </a:tc>
                <a:tc>
                  <a:txBody>
                    <a:bodyPr/>
                    <a:lstStyle/>
                    <a:p>
                      <a:pPr>
                        <a:defRPr sz="1400"/>
                      </a:pPr>
                      <a:r>
                        <a:t>Procédure de calcul transformant des entrées en sorties</a:t>
                      </a:r>
                    </a:p>
                  </a:txBody>
                  <a:tcPr/>
                </a:tc>
                <a:extLst>
                  <a:ext uri="{0D108BD9-81ED-4DB2-BD59-A6C34878D82A}">
                    <a16:rowId xmlns:a16="http://schemas.microsoft.com/office/drawing/2014/main" val="10003"/>
                  </a:ext>
                </a:extLst>
              </a:tr>
              <a:tr h="374072">
                <a:tc>
                  <a:txBody>
                    <a:bodyPr/>
                    <a:lstStyle/>
                    <a:p>
                      <a:pPr>
                        <a:defRPr sz="1400"/>
                      </a:pPr>
                      <a:r>
                        <a:t>Donnée</a:t>
                      </a:r>
                    </a:p>
                  </a:txBody>
                  <a:tcPr/>
                </a:tc>
                <a:tc>
                  <a:txBody>
                    <a:bodyPr/>
                    <a:lstStyle/>
                    <a:p>
                      <a:pPr>
                        <a:defRPr sz="1400"/>
                      </a:pPr>
                      <a:r>
                        <a:t>Observation/mesure utilisée pour l'entraînement</a:t>
                      </a:r>
                    </a:p>
                  </a:txBody>
                  <a:tcPr/>
                </a:tc>
                <a:extLst>
                  <a:ext uri="{0D108BD9-81ED-4DB2-BD59-A6C34878D82A}">
                    <a16:rowId xmlns:a16="http://schemas.microsoft.com/office/drawing/2014/main" val="10004"/>
                  </a:ext>
                </a:extLst>
              </a:tr>
              <a:tr h="374072">
                <a:tc>
                  <a:txBody>
                    <a:bodyPr/>
                    <a:lstStyle/>
                    <a:p>
                      <a:pPr>
                        <a:defRPr sz="1400"/>
                      </a:pPr>
                      <a:r>
                        <a:t>Incertitude</a:t>
                      </a:r>
                    </a:p>
                  </a:txBody>
                  <a:tcPr/>
                </a:tc>
                <a:tc>
                  <a:txBody>
                    <a:bodyPr/>
                    <a:lstStyle/>
                    <a:p>
                      <a:pPr>
                        <a:defRPr sz="1400"/>
                      </a:pPr>
                      <a:r>
                        <a:t>Imprévisibilité due au bruit, à l'incomplétude ou au modèle</a:t>
                      </a:r>
                    </a:p>
                  </a:txBody>
                  <a:tcPr/>
                </a:tc>
                <a:extLst>
                  <a:ext uri="{0D108BD9-81ED-4DB2-BD59-A6C34878D82A}">
                    <a16:rowId xmlns:a16="http://schemas.microsoft.com/office/drawing/2014/main" val="10005"/>
                  </a:ext>
                </a:extLst>
              </a:tr>
              <a:tr h="374072">
                <a:tc>
                  <a:txBody>
                    <a:bodyPr/>
                    <a:lstStyle/>
                    <a:p>
                      <a:pPr>
                        <a:defRPr sz="1400"/>
                      </a:pPr>
                      <a:r>
                        <a:t>Modèle</a:t>
                      </a:r>
                    </a:p>
                  </a:txBody>
                  <a:tcPr/>
                </a:tc>
                <a:tc>
                  <a:txBody>
                    <a:bodyPr/>
                    <a:lstStyle/>
                    <a:p>
                      <a:pPr>
                        <a:defRPr sz="1400"/>
                      </a:pPr>
                      <a:r>
                        <a:t>Fonction paramétrée apprenant une tâche</a:t>
                      </a:r>
                    </a:p>
                  </a:txBody>
                  <a:tcPr/>
                </a:tc>
                <a:extLst>
                  <a:ext uri="{0D108BD9-81ED-4DB2-BD59-A6C34878D82A}">
                    <a16:rowId xmlns:a16="http://schemas.microsoft.com/office/drawing/2014/main" val="10006"/>
                  </a:ext>
                </a:extLst>
              </a:tr>
              <a:tr h="374072">
                <a:tc>
                  <a:txBody>
                    <a:bodyPr/>
                    <a:lstStyle/>
                    <a:p>
                      <a:pPr>
                        <a:defRPr sz="1400"/>
                      </a:pPr>
                      <a:r>
                        <a:t>Paramètres</a:t>
                      </a:r>
                    </a:p>
                  </a:txBody>
                  <a:tcPr/>
                </a:tc>
                <a:tc>
                  <a:txBody>
                    <a:bodyPr/>
                    <a:lstStyle/>
                    <a:p>
                      <a:pPr>
                        <a:defRPr sz="1400"/>
                      </a:pPr>
                      <a:r>
                        <a:t>Poids internes ajustés lors de l'entraînement</a:t>
                      </a:r>
                    </a:p>
                  </a:txBody>
                  <a:tcPr/>
                </a:tc>
                <a:extLst>
                  <a:ext uri="{0D108BD9-81ED-4DB2-BD59-A6C34878D82A}">
                    <a16:rowId xmlns:a16="http://schemas.microsoft.com/office/drawing/2014/main" val="10007"/>
                  </a:ext>
                </a:extLst>
              </a:tr>
              <a:tr h="374072">
                <a:tc>
                  <a:txBody>
                    <a:bodyPr/>
                    <a:lstStyle/>
                    <a:p>
                      <a:pPr>
                        <a:defRPr sz="1400"/>
                      </a:pPr>
                      <a:r>
                        <a:t>Perte (loss)</a:t>
                      </a:r>
                    </a:p>
                  </a:txBody>
                  <a:tcPr/>
                </a:tc>
                <a:tc>
                  <a:txBody>
                    <a:bodyPr/>
                    <a:lstStyle/>
                    <a:p>
                      <a:pPr>
                        <a:defRPr sz="1400"/>
                      </a:pPr>
                      <a:r>
                        <a:t>Fonction optimisée pour apprendre</a:t>
                      </a:r>
                    </a:p>
                  </a:txBody>
                  <a:tcPr/>
                </a:tc>
                <a:extLst>
                  <a:ext uri="{0D108BD9-81ED-4DB2-BD59-A6C34878D82A}">
                    <a16:rowId xmlns:a16="http://schemas.microsoft.com/office/drawing/2014/main" val="10008"/>
                  </a:ext>
                </a:extLst>
              </a:tr>
              <a:tr h="374072">
                <a:tc>
                  <a:txBody>
                    <a:bodyPr/>
                    <a:lstStyle/>
                    <a:p>
                      <a:pPr>
                        <a:defRPr sz="1400"/>
                      </a:pPr>
                      <a:r>
                        <a:t>Politique</a:t>
                      </a:r>
                    </a:p>
                  </a:txBody>
                  <a:tcPr/>
                </a:tc>
                <a:tc>
                  <a:txBody>
                    <a:bodyPr/>
                    <a:lstStyle/>
                    <a:p>
                      <a:pPr>
                        <a:defRPr sz="1400"/>
                      </a:pPr>
                      <a:r>
                        <a:t>Stratégie d'action (RL)</a:t>
                      </a:r>
                    </a:p>
                  </a:txBody>
                  <a:tcPr/>
                </a:tc>
                <a:extLst>
                  <a:ext uri="{0D108BD9-81ED-4DB2-BD59-A6C34878D82A}">
                    <a16:rowId xmlns:a16="http://schemas.microsoft.com/office/drawing/2014/main" val="10009"/>
                  </a:ext>
                </a:extLst>
              </a:tr>
              <a:tr h="374080">
                <a:tc>
                  <a:txBody>
                    <a:bodyPr/>
                    <a:lstStyle/>
                    <a:p>
                      <a:pPr>
                        <a:defRPr sz="1400"/>
                      </a:pPr>
                      <a:r>
                        <a:t>Récompense</a:t>
                      </a:r>
                    </a:p>
                  </a:txBody>
                  <a:tcPr/>
                </a:tc>
                <a:tc>
                  <a:txBody>
                    <a:bodyPr/>
                    <a:lstStyle/>
                    <a:p>
                      <a:pPr>
                        <a:defRPr sz="1400"/>
                      </a:pPr>
                      <a:r>
                        <a:t>Signal d'objectif (RL)</a:t>
                      </a: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Workflow</a:t>
            </a:r>
          </a:p>
        </p:txBody>
      </p:sp>
      <p:pic>
        <p:nvPicPr>
          <p:cNvPr id="1026" name="Picture 2" descr="Cycle de travail du data scientist - en.wikipedia.org/wiki/Data_science poue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7664" y="1484784"/>
            <a:ext cx="5415111" cy="406133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3" name="Encre 2">
                <a:extLst>
                  <a:ext uri="{FF2B5EF4-FFF2-40B4-BE49-F238E27FC236}">
                    <a16:creationId xmlns:a16="http://schemas.microsoft.com/office/drawing/2014/main" id="{D390235C-1199-17F1-AA62-01CCD2784E2E}"/>
                  </a:ext>
                </a:extLst>
              </p14:cNvPr>
              <p14:cNvContentPartPr/>
              <p14:nvPr/>
            </p14:nvContentPartPr>
            <p14:xfrm>
              <a:off x="794520" y="2536200"/>
              <a:ext cx="6295680" cy="2723760"/>
            </p14:xfrm>
          </p:contentPart>
        </mc:Choice>
        <mc:Fallback>
          <p:pic>
            <p:nvPicPr>
              <p:cNvPr id="3" name="Encre 2">
                <a:extLst>
                  <a:ext uri="{FF2B5EF4-FFF2-40B4-BE49-F238E27FC236}">
                    <a16:creationId xmlns:a16="http://schemas.microsoft.com/office/drawing/2014/main" id="{D390235C-1199-17F1-AA62-01CCD2784E2E}"/>
                  </a:ext>
                </a:extLst>
              </p:cNvPr>
              <p:cNvPicPr/>
              <p:nvPr/>
            </p:nvPicPr>
            <p:blipFill>
              <a:blip r:embed="rId4"/>
              <a:stretch>
                <a:fillRect/>
              </a:stretch>
            </p:blipFill>
            <p:spPr>
              <a:xfrm>
                <a:off x="785160" y="2526840"/>
                <a:ext cx="6314400" cy="2742480"/>
              </a:xfrm>
              <a:prstGeom prst="rect">
                <a:avLst/>
              </a:prstGeom>
            </p:spPr>
          </p:pic>
        </mc:Fallback>
      </mc:AlternateContent>
    </p:spTree>
    <p:extLst>
      <p:ext uri="{BB962C8B-B14F-4D97-AF65-F5344CB8AC3E}">
        <p14:creationId xmlns:p14="http://schemas.microsoft.com/office/powerpoint/2010/main" val="4247828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Yann Le </a:t>
            </a:r>
            <a:r>
              <a:rPr lang="fr-FR" dirty="0" err="1"/>
              <a:t>Cun</a:t>
            </a:r>
            <a:endParaRPr lang="fr-FR" dirty="0"/>
          </a:p>
        </p:txBody>
      </p:sp>
      <p:sp>
        <p:nvSpPr>
          <p:cNvPr id="3" name="Espace réservé du contenu 2"/>
          <p:cNvSpPr>
            <a:spLocks noGrp="1"/>
          </p:cNvSpPr>
          <p:nvPr>
            <p:ph idx="1"/>
          </p:nvPr>
        </p:nvSpPr>
        <p:spPr/>
        <p:txBody>
          <a:bodyPr/>
          <a:lstStyle/>
          <a:p>
            <a:r>
              <a:rPr lang="fr-FR" dirty="0"/>
              <a:t>Co-inventeur de l’apprentissage profond</a:t>
            </a:r>
          </a:p>
          <a:p>
            <a:pPr lvl="1"/>
            <a:r>
              <a:rPr lang="fr-FR" dirty="0"/>
              <a:t>Prix Turing</a:t>
            </a:r>
          </a:p>
          <a:p>
            <a:pPr lvl="1"/>
            <a:r>
              <a:rPr lang="fr-FR" dirty="0"/>
              <a:t>Inventeur des CNN</a:t>
            </a:r>
          </a:p>
          <a:p>
            <a:r>
              <a:rPr lang="fr-FR" dirty="0"/>
              <a:t>Directeur de Facebook AI</a:t>
            </a:r>
          </a:p>
        </p:txBody>
      </p:sp>
      <p:pic>
        <p:nvPicPr>
          <p:cNvPr id="1026" name="Picture 2" descr="Yann LeCun - 2018 (cropp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571" y="2204864"/>
            <a:ext cx="3596935" cy="4136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335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François Chollet</a:t>
            </a:r>
            <a:endParaRPr lang="fr-FR" dirty="0"/>
          </a:p>
        </p:txBody>
      </p:sp>
      <p:sp>
        <p:nvSpPr>
          <p:cNvPr id="3" name="Espace réservé du contenu 2"/>
          <p:cNvSpPr>
            <a:spLocks noGrp="1"/>
          </p:cNvSpPr>
          <p:nvPr>
            <p:ph idx="1"/>
          </p:nvPr>
        </p:nvSpPr>
        <p:spPr/>
        <p:txBody>
          <a:bodyPr/>
          <a:lstStyle/>
          <a:p>
            <a:r>
              <a:rPr lang="fr-FR" dirty="0"/>
              <a:t>Chef de projet Google </a:t>
            </a:r>
            <a:r>
              <a:rPr lang="fr-FR" dirty="0" err="1"/>
              <a:t>TensorFlow</a:t>
            </a:r>
            <a:endParaRPr lang="fr-FR" dirty="0"/>
          </a:p>
          <a:p>
            <a:r>
              <a:rPr lang="fr-FR" dirty="0"/>
              <a:t>Inventeur de </a:t>
            </a:r>
            <a:r>
              <a:rPr lang="fr-FR" dirty="0" err="1"/>
              <a:t>Keras</a:t>
            </a:r>
            <a:endParaRPr lang="fr-FR" dirty="0"/>
          </a:p>
        </p:txBody>
      </p:sp>
      <p:pic>
        <p:nvPicPr>
          <p:cNvPr id="1026" name="Picture 2" descr="FranÃ§ois Cholle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1266" y="1696525"/>
            <a:ext cx="1827194" cy="18271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eras tutorial - keras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4803" y="3766908"/>
            <a:ext cx="990061" cy="990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351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IA &amp; Jeux : Échecs</a:t>
            </a:r>
          </a:p>
        </p:txBody>
      </p:sp>
      <p:sp>
        <p:nvSpPr>
          <p:cNvPr id="3" name="Content Placeholder 2"/>
          <p:cNvSpPr>
            <a:spLocks noGrp="1"/>
          </p:cNvSpPr>
          <p:nvPr>
            <p:ph sz="half" idx="1"/>
          </p:nvPr>
        </p:nvSpPr>
        <p:spPr/>
        <p:txBody>
          <a:bodyPr/>
          <a:lstStyle/>
          <a:p>
            <a:pPr>
              <a:defRPr b="1"/>
            </a:pPr>
            <a:r>
              <a:t>Repères</a:t>
            </a:r>
          </a:p>
          <a:p>
            <a:pPr lvl="1"/>
            <a:r>
              <a:t>1960s–90s : recherche arborescente, heuristiques d'évaluation</a:t>
            </a:r>
          </a:p>
          <a:p>
            <a:pPr lvl="1"/>
            <a:r>
              <a:t>1997 : Deep Blue bat Kasparov (brute force + heuristiques)</a:t>
            </a:r>
          </a:p>
        </p:txBody>
      </p:sp>
      <p:sp>
        <p:nvSpPr>
          <p:cNvPr id="4" name="Content Placeholder 3"/>
          <p:cNvSpPr>
            <a:spLocks noGrp="1"/>
          </p:cNvSpPr>
          <p:nvPr>
            <p:ph sz="half" idx="2"/>
          </p:nvPr>
        </p:nvSpPr>
        <p:spPr/>
        <p:txBody>
          <a:bodyPr/>
          <a:lstStyle/>
          <a:p>
            <a:pPr>
              <a:defRPr b="1"/>
            </a:pPr>
            <a:r>
              <a:t>Techniques &amp; portée</a:t>
            </a:r>
          </a:p>
          <a:p>
            <a:pPr lvl="1"/>
            <a:r>
              <a:t>Concepts : minimax, élagage alpha‑bêta, tables de transposition</a:t>
            </a:r>
          </a:p>
          <a:p>
            <a:pPr lvl="1"/>
            <a:r>
              <a:t>Portée : performances superhumaines dans espaces bien définis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IA &amp; Jeux : Go</a:t>
            </a:r>
          </a:p>
        </p:txBody>
      </p:sp>
      <p:sp>
        <p:nvSpPr>
          <p:cNvPr id="3" name="Content Placeholder 2"/>
          <p:cNvSpPr>
            <a:spLocks noGrp="1"/>
          </p:cNvSpPr>
          <p:nvPr>
            <p:ph sz="half" idx="1"/>
          </p:nvPr>
        </p:nvSpPr>
        <p:spPr/>
        <p:txBody>
          <a:bodyPr/>
          <a:lstStyle/>
          <a:p>
            <a:pPr>
              <a:defRPr b="1"/>
            </a:pPr>
            <a:r>
              <a:t>Repères</a:t>
            </a:r>
          </a:p>
          <a:p>
            <a:pPr lvl="1"/>
            <a:r>
              <a:t>2016 : AlphaGo bat Lee Sedol</a:t>
            </a:r>
          </a:p>
          <a:p>
            <a:pPr lvl="1"/>
            <a:r>
              <a:t>2017 : AlphaGo Zero sans données humaines</a:t>
            </a:r>
          </a:p>
        </p:txBody>
      </p:sp>
      <p:sp>
        <p:nvSpPr>
          <p:cNvPr id="4" name="Content Placeholder 3"/>
          <p:cNvSpPr>
            <a:spLocks noGrp="1"/>
          </p:cNvSpPr>
          <p:nvPr>
            <p:ph sz="half" idx="2"/>
          </p:nvPr>
        </p:nvSpPr>
        <p:spPr/>
        <p:txBody>
          <a:bodyPr/>
          <a:lstStyle/>
          <a:p>
            <a:pPr>
              <a:defRPr b="1"/>
            </a:pPr>
            <a:r>
              <a:t>Techniques</a:t>
            </a:r>
          </a:p>
          <a:p>
            <a:pPr lvl="1"/>
            <a:r>
              <a:t>Réseaux de politiques &amp; de valeur</a:t>
            </a:r>
          </a:p>
          <a:p>
            <a:pPr lvl="1"/>
            <a:r>
              <a:t>Monte‑Carlo Tree Search (MCTS)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Discussion : que signifient ces victoires ?</a:t>
            </a:r>
          </a:p>
        </p:txBody>
      </p:sp>
      <p:sp>
        <p:nvSpPr>
          <p:cNvPr id="3" name="Content Placeholder 2"/>
          <p:cNvSpPr>
            <a:spLocks noGrp="1"/>
          </p:cNvSpPr>
          <p:nvPr>
            <p:ph idx="1"/>
          </p:nvPr>
        </p:nvSpPr>
        <p:spPr/>
        <p:txBody>
          <a:bodyPr/>
          <a:lstStyle/>
          <a:p>
            <a:r>
              <a:t>Démos de maîtrise dans des espaces fermés ≠ intelligence générale</a:t>
            </a:r>
          </a:p>
          <a:p>
            <a:r>
              <a:t>Transférabilité limitée; ingénierie lourde &amp; compute massif</a:t>
            </a:r>
          </a:p>
          <a:p>
            <a:r>
              <a:t>Leçons : recherche, perception, apprentissage, planification</a:t>
            </a:r>
          </a:p>
          <a:p>
            <a:r>
              <a:t>Implications sociétales et industrielles (benchmark, R&amp;D)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Cas pratique 1 : Classification</a:t>
            </a:r>
          </a:p>
        </p:txBody>
      </p:sp>
      <p:sp>
        <p:nvSpPr>
          <p:cNvPr id="3" name="Content Placeholder 2"/>
          <p:cNvSpPr>
            <a:spLocks noGrp="1"/>
          </p:cNvSpPr>
          <p:nvPr>
            <p:ph sz="half" idx="1"/>
          </p:nvPr>
        </p:nvSpPr>
        <p:spPr/>
        <p:txBody>
          <a:bodyPr/>
          <a:lstStyle/>
          <a:p>
            <a:pPr>
              <a:defRPr b="1"/>
            </a:pPr>
            <a:r>
              <a:t>Contexte</a:t>
            </a:r>
          </a:p>
          <a:p>
            <a:pPr lvl="1"/>
            <a:r>
              <a:t>Problème : classer des tickets support</a:t>
            </a:r>
          </a:p>
          <a:p>
            <a:pPr lvl="1"/>
            <a:r>
              <a:t>Données : textes, labels</a:t>
            </a:r>
          </a:p>
          <a:p>
            <a:pPr lvl="1"/>
            <a:r>
              <a:t>Métriques : F1, précision</a:t>
            </a:r>
          </a:p>
        </p:txBody>
      </p:sp>
      <p:sp>
        <p:nvSpPr>
          <p:cNvPr id="4" name="Content Placeholder 3"/>
          <p:cNvSpPr>
            <a:spLocks noGrp="1"/>
          </p:cNvSpPr>
          <p:nvPr>
            <p:ph sz="half" idx="2"/>
          </p:nvPr>
        </p:nvSpPr>
        <p:spPr/>
        <p:txBody>
          <a:bodyPr/>
          <a:lstStyle/>
          <a:p>
            <a:pPr>
              <a:defRPr b="1"/>
            </a:pPr>
            <a:r>
              <a:t>Solution &amp; risques</a:t>
            </a:r>
          </a:p>
          <a:p>
            <a:pPr lvl="1"/>
            <a:r>
              <a:t>Approche : modèle BERT léger</a:t>
            </a:r>
          </a:p>
          <a:p>
            <a:pPr lvl="1"/>
            <a:r>
              <a:t>Éthique : anonymisation, biais</a:t>
            </a:r>
          </a:p>
          <a:p>
            <a:pPr lvl="1"/>
            <a:r>
              <a:t>Déploiement : API + monitoring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 pratique 2 : Vision industrielle</a:t>
            </a:r>
          </a:p>
        </p:txBody>
      </p:sp>
      <p:sp>
        <p:nvSpPr>
          <p:cNvPr id="3" name="Content Placeholder 2"/>
          <p:cNvSpPr>
            <a:spLocks noGrp="1"/>
          </p:cNvSpPr>
          <p:nvPr>
            <p:ph sz="half" idx="1"/>
          </p:nvPr>
        </p:nvSpPr>
        <p:spPr/>
        <p:txBody>
          <a:bodyPr/>
          <a:lstStyle/>
          <a:p>
            <a:pPr>
              <a:defRPr b="1"/>
            </a:pPr>
            <a:r>
              <a:t>Contexte</a:t>
            </a:r>
          </a:p>
          <a:p>
            <a:pPr lvl="1"/>
            <a:r>
              <a:t>Problème : détection de défauts</a:t>
            </a:r>
          </a:p>
          <a:p>
            <a:pPr lvl="1"/>
            <a:r>
              <a:t>Données : images annotées</a:t>
            </a:r>
          </a:p>
          <a:p>
            <a:pPr lvl="1"/>
            <a:r>
              <a:t>Métriques : mAP</a:t>
            </a:r>
          </a:p>
        </p:txBody>
      </p:sp>
      <p:sp>
        <p:nvSpPr>
          <p:cNvPr id="4" name="Content Placeholder 3"/>
          <p:cNvSpPr>
            <a:spLocks noGrp="1"/>
          </p:cNvSpPr>
          <p:nvPr>
            <p:ph sz="half" idx="2"/>
          </p:nvPr>
        </p:nvSpPr>
        <p:spPr/>
        <p:txBody>
          <a:bodyPr/>
          <a:lstStyle/>
          <a:p>
            <a:pPr>
              <a:defRPr b="1"/>
            </a:pPr>
            <a:r>
              <a:t>Solution &amp; risques</a:t>
            </a:r>
          </a:p>
          <a:p>
            <a:pPr lvl="1"/>
            <a:r>
              <a:t>Approche : CNN/transformers visuels</a:t>
            </a:r>
          </a:p>
          <a:p>
            <a:pPr lvl="1"/>
            <a:r>
              <a:t>Éthique : faux positifs</a:t>
            </a:r>
          </a:p>
          <a:p>
            <a:pPr lvl="1"/>
            <a:r>
              <a:t>MLOps : retrain périodique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 pratique 3 : Prévision</a:t>
            </a:r>
          </a:p>
        </p:txBody>
      </p:sp>
      <p:sp>
        <p:nvSpPr>
          <p:cNvPr id="3" name="Content Placeholder 2"/>
          <p:cNvSpPr>
            <a:spLocks noGrp="1"/>
          </p:cNvSpPr>
          <p:nvPr>
            <p:ph sz="half" idx="1"/>
          </p:nvPr>
        </p:nvSpPr>
        <p:spPr/>
        <p:txBody>
          <a:bodyPr/>
          <a:lstStyle/>
          <a:p>
            <a:pPr>
              <a:defRPr b="1"/>
            </a:pPr>
            <a:r>
              <a:t>Contexte</a:t>
            </a:r>
          </a:p>
          <a:p>
            <a:pPr lvl="1"/>
            <a:r>
              <a:t>Problème : séries temporelles ventes</a:t>
            </a:r>
          </a:p>
          <a:p>
            <a:pPr lvl="1"/>
            <a:r>
              <a:t>Données : historiques, promos</a:t>
            </a:r>
          </a:p>
          <a:p>
            <a:pPr lvl="1"/>
            <a:r>
              <a:t>Métriques : MAPE</a:t>
            </a:r>
          </a:p>
        </p:txBody>
      </p:sp>
      <p:sp>
        <p:nvSpPr>
          <p:cNvPr id="4" name="Content Placeholder 3"/>
          <p:cNvSpPr>
            <a:spLocks noGrp="1"/>
          </p:cNvSpPr>
          <p:nvPr>
            <p:ph sz="half" idx="2"/>
          </p:nvPr>
        </p:nvSpPr>
        <p:spPr/>
        <p:txBody>
          <a:bodyPr/>
          <a:lstStyle/>
          <a:p>
            <a:pPr>
              <a:defRPr b="1"/>
            </a:pPr>
            <a:r>
              <a:t>Solution &amp; risques</a:t>
            </a:r>
          </a:p>
          <a:p>
            <a:pPr lvl="1"/>
            <a:r>
              <a:t>Approche : modèles hybrides</a:t>
            </a:r>
          </a:p>
          <a:p>
            <a:pPr lvl="1"/>
            <a:r>
              <a:t>Éthique : transparence</a:t>
            </a:r>
          </a:p>
          <a:p>
            <a:pPr lvl="1"/>
            <a:r>
              <a:t>Déploiement : batch/temps réel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Bonnes pratiques de mise en œuvre</a:t>
            </a:r>
          </a:p>
        </p:txBody>
      </p:sp>
      <p:sp>
        <p:nvSpPr>
          <p:cNvPr id="3" name="Content Placeholder 2"/>
          <p:cNvSpPr>
            <a:spLocks noGrp="1"/>
          </p:cNvSpPr>
          <p:nvPr>
            <p:ph idx="1"/>
          </p:nvPr>
        </p:nvSpPr>
        <p:spPr/>
        <p:txBody>
          <a:bodyPr/>
          <a:lstStyle/>
          <a:p>
            <a:r>
              <a:rPr dirty="0"/>
              <a:t>Data contracts, </a:t>
            </a:r>
            <a:r>
              <a:rPr dirty="0" err="1"/>
              <a:t>qualité</a:t>
            </a:r>
            <a:r>
              <a:rPr dirty="0"/>
              <a:t> &amp; documentation</a:t>
            </a:r>
          </a:p>
          <a:p>
            <a:r>
              <a:rPr dirty="0" err="1"/>
              <a:t>Expérimentation</a:t>
            </a:r>
            <a:r>
              <a:rPr dirty="0"/>
              <a:t> </a:t>
            </a:r>
            <a:r>
              <a:rPr dirty="0" err="1"/>
              <a:t>traçable</a:t>
            </a:r>
            <a:r>
              <a:rPr dirty="0"/>
              <a:t> </a:t>
            </a:r>
            <a:endParaRPr lang="fr-FR"/>
          </a:p>
          <a:p>
            <a:r>
              <a:t>Sécurité</a:t>
            </a:r>
            <a:r>
              <a:rPr dirty="0"/>
              <a:t> &amp; </a:t>
            </a:r>
            <a:r>
              <a:rPr dirty="0" err="1"/>
              <a:t>conformité</a:t>
            </a:r>
            <a:r>
              <a:rPr dirty="0"/>
              <a:t> (RGPD, </a:t>
            </a:r>
            <a:r>
              <a:rPr dirty="0" err="1"/>
              <a:t>sécurité</a:t>
            </a:r>
            <a:r>
              <a:rPr dirty="0"/>
              <a:t> des </a:t>
            </a:r>
            <a:r>
              <a:rPr dirty="0" err="1"/>
              <a:t>clés</a:t>
            </a:r>
            <a:r>
              <a:rPr dirty="0"/>
              <a:t>)</a:t>
            </a:r>
          </a:p>
          <a:p>
            <a:r>
              <a:rPr dirty="0" err="1"/>
              <a:t>Mesure</a:t>
            </a:r>
            <a:r>
              <a:rPr dirty="0"/>
              <a:t> de </a:t>
            </a:r>
            <a:r>
              <a:rPr dirty="0" err="1"/>
              <a:t>l'impact</a:t>
            </a:r>
            <a:r>
              <a:rPr dirty="0"/>
              <a:t> &amp; </a:t>
            </a:r>
            <a:r>
              <a:rPr dirty="0" err="1"/>
              <a:t>itérations</a:t>
            </a:r>
            <a:r>
              <a:rPr dirty="0"/>
              <a:t> de </a:t>
            </a:r>
            <a:r>
              <a:rPr dirty="0" err="1"/>
              <a:t>produit</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Au‑delà du buzz : mythes et réalités</a:t>
            </a:r>
          </a:p>
        </p:txBody>
      </p:sp>
      <p:graphicFrame>
        <p:nvGraphicFramePr>
          <p:cNvPr id="3" name="Table 2"/>
          <p:cNvGraphicFramePr>
            <a:graphicFrameLocks noGrp="1"/>
          </p:cNvGraphicFramePr>
          <p:nvPr/>
        </p:nvGraphicFramePr>
        <p:xfrm>
          <a:off x="457200" y="1554480"/>
          <a:ext cx="8229600" cy="4114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87828">
                <a:tc>
                  <a:txBody>
                    <a:bodyPr/>
                    <a:lstStyle/>
                    <a:p>
                      <a:pPr>
                        <a:defRPr sz="1400"/>
                      </a:pPr>
                      <a:r>
                        <a:t>Mythe</a:t>
                      </a:r>
                    </a:p>
                  </a:txBody>
                  <a:tcPr/>
                </a:tc>
                <a:tc>
                  <a:txBody>
                    <a:bodyPr/>
                    <a:lstStyle/>
                    <a:p>
                      <a:pPr>
                        <a:defRPr sz="1400"/>
                      </a:pPr>
                      <a:r>
                        <a:t>Réalité</a:t>
                      </a:r>
                    </a:p>
                  </a:txBody>
                  <a:tcPr/>
                </a:tc>
                <a:extLst>
                  <a:ext uri="{0D108BD9-81ED-4DB2-BD59-A6C34878D82A}">
                    <a16:rowId xmlns:a16="http://schemas.microsoft.com/office/drawing/2014/main" val="10000"/>
                  </a:ext>
                </a:extLst>
              </a:tr>
              <a:tr h="587828">
                <a:tc>
                  <a:txBody>
                    <a:bodyPr/>
                    <a:lstStyle/>
                    <a:p>
                      <a:pPr>
                        <a:defRPr sz="1400"/>
                      </a:pPr>
                      <a:r>
                        <a:t>L'IA comprend comme un humain</a:t>
                      </a:r>
                    </a:p>
                  </a:txBody>
                  <a:tcPr/>
                </a:tc>
                <a:tc>
                  <a:txBody>
                    <a:bodyPr/>
                    <a:lstStyle/>
                    <a:p>
                      <a:pPr>
                        <a:defRPr sz="1400"/>
                      </a:pPr>
                      <a:r>
                        <a:t>Les modèles manipulent des corrélations et représentations; compréhension limitée</a:t>
                      </a:r>
                    </a:p>
                  </a:txBody>
                  <a:tcPr/>
                </a:tc>
                <a:extLst>
                  <a:ext uri="{0D108BD9-81ED-4DB2-BD59-A6C34878D82A}">
                    <a16:rowId xmlns:a16="http://schemas.microsoft.com/office/drawing/2014/main" val="10001"/>
                  </a:ext>
                </a:extLst>
              </a:tr>
              <a:tr h="587828">
                <a:tc>
                  <a:txBody>
                    <a:bodyPr/>
                    <a:lstStyle/>
                    <a:p>
                      <a:pPr>
                        <a:defRPr sz="1400"/>
                      </a:pPr>
                      <a:r>
                        <a:t>Plus de données suffit toujours</a:t>
                      </a:r>
                    </a:p>
                  </a:txBody>
                  <a:tcPr/>
                </a:tc>
                <a:tc>
                  <a:txBody>
                    <a:bodyPr/>
                    <a:lstStyle/>
                    <a:p>
                      <a:pPr>
                        <a:defRPr sz="1400"/>
                      </a:pPr>
                      <a:r>
                        <a:t>Qualité, diversité, représentativité et annotations sont cruciales</a:t>
                      </a:r>
                    </a:p>
                  </a:txBody>
                  <a:tcPr/>
                </a:tc>
                <a:extLst>
                  <a:ext uri="{0D108BD9-81ED-4DB2-BD59-A6C34878D82A}">
                    <a16:rowId xmlns:a16="http://schemas.microsoft.com/office/drawing/2014/main" val="10002"/>
                  </a:ext>
                </a:extLst>
              </a:tr>
              <a:tr h="587828">
                <a:tc>
                  <a:txBody>
                    <a:bodyPr/>
                    <a:lstStyle/>
                    <a:p>
                      <a:pPr>
                        <a:defRPr sz="1400"/>
                      </a:pPr>
                      <a:r>
                        <a:t>Les modèles sont neutres</a:t>
                      </a:r>
                    </a:p>
                  </a:txBody>
                  <a:tcPr/>
                </a:tc>
                <a:tc>
                  <a:txBody>
                    <a:bodyPr/>
                    <a:lstStyle/>
                    <a:p>
                      <a:pPr>
                        <a:defRPr sz="1400"/>
                      </a:pPr>
                      <a:r>
                        <a:t>Biais des données et objectifs influencent les résultats</a:t>
                      </a:r>
                    </a:p>
                  </a:txBody>
                  <a:tcPr/>
                </a:tc>
                <a:extLst>
                  <a:ext uri="{0D108BD9-81ED-4DB2-BD59-A6C34878D82A}">
                    <a16:rowId xmlns:a16="http://schemas.microsoft.com/office/drawing/2014/main" val="10003"/>
                  </a:ext>
                </a:extLst>
              </a:tr>
              <a:tr h="587828">
                <a:tc>
                  <a:txBody>
                    <a:bodyPr/>
                    <a:lstStyle/>
                    <a:p>
                      <a:pPr>
                        <a:defRPr sz="1400"/>
                      </a:pPr>
                      <a:r>
                        <a:t>L'IA remplace tous les emplois</a:t>
                      </a:r>
                    </a:p>
                  </a:txBody>
                  <a:tcPr/>
                </a:tc>
                <a:tc>
                  <a:txBody>
                    <a:bodyPr/>
                    <a:lstStyle/>
                    <a:p>
                      <a:pPr>
                        <a:defRPr sz="1400"/>
                      </a:pPr>
                      <a:r>
                        <a:t>Transformation des tâches; complémentarité humain‑IA</a:t>
                      </a:r>
                    </a:p>
                  </a:txBody>
                  <a:tcPr/>
                </a:tc>
                <a:extLst>
                  <a:ext uri="{0D108BD9-81ED-4DB2-BD59-A6C34878D82A}">
                    <a16:rowId xmlns:a16="http://schemas.microsoft.com/office/drawing/2014/main" val="10004"/>
                  </a:ext>
                </a:extLst>
              </a:tr>
              <a:tr h="587828">
                <a:tc>
                  <a:txBody>
                    <a:bodyPr/>
                    <a:lstStyle/>
                    <a:p>
                      <a:pPr>
                        <a:defRPr sz="1400"/>
                      </a:pPr>
                      <a:r>
                        <a:t>Boîte noire impénétrable</a:t>
                      </a:r>
                    </a:p>
                  </a:txBody>
                  <a:tcPr/>
                </a:tc>
                <a:tc>
                  <a:txBody>
                    <a:bodyPr/>
                    <a:lstStyle/>
                    <a:p>
                      <a:pPr>
                        <a:defRPr sz="1400"/>
                      </a:pPr>
                      <a:r>
                        <a:t>Outils d'interprétabilité existent mais ont des limites</a:t>
                      </a:r>
                    </a:p>
                  </a:txBody>
                  <a:tcPr/>
                </a:tc>
                <a:extLst>
                  <a:ext uri="{0D108BD9-81ED-4DB2-BD59-A6C34878D82A}">
                    <a16:rowId xmlns:a16="http://schemas.microsoft.com/office/drawing/2014/main" val="10005"/>
                  </a:ext>
                </a:extLst>
              </a:tr>
              <a:tr h="587832">
                <a:tc>
                  <a:txBody>
                    <a:bodyPr/>
                    <a:lstStyle/>
                    <a:p>
                      <a:pPr>
                        <a:defRPr sz="1400"/>
                      </a:pPr>
                      <a:r>
                        <a:t>AGI est imminente</a:t>
                      </a:r>
                    </a:p>
                  </a:txBody>
                  <a:tcPr/>
                </a:tc>
                <a:tc>
                  <a:txBody>
                    <a:bodyPr/>
                    <a:lstStyle/>
                    <a:p>
                      <a:pPr>
                        <a:defRPr sz="1400"/>
                      </a:pPr>
                      <a:r>
                        <a:t>Progrès notables mais défis majeurs persistent</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3402</TotalTime>
  <Words>992</Words>
  <Application>Microsoft Office PowerPoint</Application>
  <PresentationFormat>Affichage à l'écran (4:3)</PresentationFormat>
  <Paragraphs>187</Paragraphs>
  <Slides>27</Slides>
  <Notes>12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27</vt:i4>
      </vt:variant>
    </vt:vector>
  </HeadingPairs>
  <TitlesOfParts>
    <vt:vector size="31" baseType="lpstr">
      <vt:lpstr>Arial</vt:lpstr>
      <vt:lpstr>Monotype Sorts</vt:lpstr>
      <vt:lpstr>Times New Roman</vt:lpstr>
      <vt:lpstr>cvc</vt:lpstr>
      <vt:lpstr>Présentation PowerPoint</vt:lpstr>
      <vt:lpstr>Différents types d'IA</vt:lpstr>
      <vt:lpstr>IA Symbolique</vt:lpstr>
      <vt:lpstr>IA par apprentissage</vt:lpstr>
      <vt:lpstr>Copier la nature ou non</vt:lpstr>
      <vt:lpstr>IA - ML - DL</vt:lpstr>
      <vt:lpstr>Machine Learning</vt:lpstr>
      <vt:lpstr>Historique</vt:lpstr>
      <vt:lpstr>Machine Learning</vt:lpstr>
      <vt:lpstr>Deep Learning</vt:lpstr>
      <vt:lpstr>Neurone</vt:lpstr>
      <vt:lpstr>Neurone</vt:lpstr>
      <vt:lpstr>Réseaux</vt:lpstr>
      <vt:lpstr>Présentation PowerPoint</vt:lpstr>
      <vt:lpstr>Évolutions récentes &amp; ruptures</vt:lpstr>
      <vt:lpstr>Terminologie &amp; définitions</vt:lpstr>
      <vt:lpstr>Workflow</vt:lpstr>
      <vt:lpstr>Yann Le Cun</vt:lpstr>
      <vt:lpstr>François Chollet</vt:lpstr>
      <vt:lpstr>IA &amp; Jeux : Échecs</vt:lpstr>
      <vt:lpstr>IA &amp; Jeux : Go</vt:lpstr>
      <vt:lpstr>Discussion : que signifient ces victoires ?</vt:lpstr>
      <vt:lpstr>Cas pratique 1 : Classification</vt:lpstr>
      <vt:lpstr>Cas pratique 2 : Vision industrielle</vt:lpstr>
      <vt:lpstr>Cas pratique 3 : Prévision</vt:lpstr>
      <vt:lpstr>Bonnes pratiques de mise en œuvre</vt:lpstr>
      <vt:lpstr>Au‑delà du buzz : mythes et réalités</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243</cp:revision>
  <dcterms:created xsi:type="dcterms:W3CDTF">2000-04-10T19:33:12Z</dcterms:created>
  <dcterms:modified xsi:type="dcterms:W3CDTF">2026-06-22T09:41:41Z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