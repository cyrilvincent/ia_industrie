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5"/>
  </p:notesMasterIdLst>
  <p:handoutMasterIdLst>
    <p:handoutMasterId r:id="rId46"/>
  </p:handoutMasterIdLst>
  <p:sldIdLst>
    <p:sldId id="264" r:id="rId2"/>
    <p:sldId id="323" r:id="rId3"/>
    <p:sldId id="320" r:id="rId4"/>
    <p:sldId id="267" r:id="rId5"/>
    <p:sldId id="270" r:id="rId6"/>
    <p:sldId id="271" r:id="rId7"/>
    <p:sldId id="272" r:id="rId8"/>
    <p:sldId id="287" r:id="rId9"/>
    <p:sldId id="358" r:id="rId10"/>
    <p:sldId id="273" r:id="rId11"/>
    <p:sldId id="274" r:id="rId12"/>
    <p:sldId id="288" r:id="rId13"/>
    <p:sldId id="289" r:id="rId14"/>
    <p:sldId id="290" r:id="rId15"/>
    <p:sldId id="276" r:id="rId16"/>
    <p:sldId id="277" r:id="rId17"/>
    <p:sldId id="319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313" r:id="rId27"/>
    <p:sldId id="322" r:id="rId28"/>
    <p:sldId id="325" r:id="rId29"/>
    <p:sldId id="265" r:id="rId30"/>
    <p:sldId id="266" r:id="rId31"/>
    <p:sldId id="326" r:id="rId32"/>
    <p:sldId id="328" r:id="rId33"/>
    <p:sldId id="332" r:id="rId34"/>
    <p:sldId id="334" r:id="rId35"/>
    <p:sldId id="337" r:id="rId36"/>
    <p:sldId id="338" r:id="rId37"/>
    <p:sldId id="339" r:id="rId38"/>
    <p:sldId id="342" r:id="rId39"/>
    <p:sldId id="348" r:id="rId40"/>
    <p:sldId id="350" r:id="rId41"/>
    <p:sldId id="351" r:id="rId42"/>
    <p:sldId id="353" r:id="rId43"/>
    <p:sldId id="355" r:id="rId4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1742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Machine Learning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4261657" y="2132856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2ED8F-11AB-C149-14DE-0ECEEA2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4126B-6D65-4283-A1F1-8A8BB03C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1_hfyjxxcfingbcyzcgksaiq">
            <a:extLst>
              <a:ext uri="{FF2B5EF4-FFF2-40B4-BE49-F238E27FC236}">
                <a16:creationId xmlns:a16="http://schemas.microsoft.com/office/drawing/2014/main" id="{0248DE54-DD5F-56BD-F121-1923D3F5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8" y="1156208"/>
            <a:ext cx="9123224" cy="52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1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 et en data science plus généralement, l'objectif est de trouver un modèle du phénomène à l'origine des données</a:t>
            </a:r>
          </a:p>
          <a:p>
            <a:r>
              <a:rPr lang="fr-FR" dirty="0"/>
              <a:t>C'est à dire qu'on considère que chaque donnée observée est l'expression d'une variable aléatoire générée par une distribution de probabilité</a:t>
            </a:r>
          </a:p>
          <a:p>
            <a:pPr lvl="1"/>
            <a:r>
              <a:rPr lang="fr-FR"/>
              <a:t>Par exemple les sondages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1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régression est une formule mathématique qui étudie des données réelles d’une manière proche de la réalité mais simplifiée</a:t>
            </a:r>
          </a:p>
          <a:p>
            <a:r>
              <a:rPr lang="fr-FR" dirty="0"/>
              <a:t>Différent type</a:t>
            </a:r>
          </a:p>
          <a:p>
            <a:pPr lvl="1"/>
            <a:r>
              <a:rPr lang="fr-FR" dirty="0"/>
              <a:t>Linéaire</a:t>
            </a:r>
          </a:p>
          <a:p>
            <a:pPr lvl="1"/>
            <a:r>
              <a:rPr lang="fr-FR" dirty="0"/>
              <a:t>Second degré</a:t>
            </a:r>
          </a:p>
          <a:p>
            <a:pPr lvl="1"/>
            <a:r>
              <a:rPr lang="fr-FR" dirty="0"/>
              <a:t>Polynomiale</a:t>
            </a:r>
          </a:p>
          <a:p>
            <a:pPr lvl="1"/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Elliptique</a:t>
            </a:r>
          </a:p>
        </p:txBody>
      </p:sp>
    </p:spTree>
    <p:extLst>
      <p:ext uri="{BB962C8B-B14F-4D97-AF65-F5344CB8AC3E}">
        <p14:creationId xmlns:p14="http://schemas.microsoft.com/office/powerpoint/2010/main" val="4001649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exemple montre une régression linéaire</a:t>
            </a:r>
          </a:p>
          <a:p>
            <a:endParaRPr lang="fr-FR" dirty="0"/>
          </a:p>
        </p:txBody>
      </p:sp>
      <p:pic>
        <p:nvPicPr>
          <p:cNvPr id="2056" name="Picture 8" descr="la droite de régression correspondant à la modélisation statistique du nuage de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20888"/>
            <a:ext cx="5212067" cy="364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3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écart type et un taux de confiance peut être calculé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Exemple : taux de confiance à 90%</a:t>
            </a:r>
          </a:p>
        </p:txBody>
      </p:sp>
      <p:pic>
        <p:nvPicPr>
          <p:cNvPr id="3074" name="Picture 2" descr="l'intervalle de confiance (à 90%) que les point se trouvent dans cette z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76872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92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distinction qui vous aidera dans le choix d'un algorithme de machine </a:t>
            </a:r>
            <a:r>
              <a:rPr lang="fr-FR" dirty="0" err="1"/>
              <a:t>learning</a:t>
            </a:r>
            <a:r>
              <a:rPr lang="fr-FR" dirty="0"/>
              <a:t> est le type de sortie que l'on attend de notre programme</a:t>
            </a:r>
          </a:p>
          <a:p>
            <a:pPr lvl="1"/>
            <a:r>
              <a:rPr lang="fr-FR" dirty="0"/>
              <a:t>Est-ce une valeur continue (un nombre)</a:t>
            </a:r>
          </a:p>
          <a:p>
            <a:pPr lvl="1"/>
            <a:r>
              <a:rPr lang="fr-FR" dirty="0"/>
              <a:t>ou bien une valeur discrète (une catégorie) ?</a:t>
            </a:r>
          </a:p>
          <a:p>
            <a:r>
              <a:rPr lang="fr-FR" dirty="0"/>
              <a:t>Le premier cas est appelé une régression, le second une classification</a:t>
            </a:r>
          </a:p>
        </p:txBody>
      </p:sp>
      <p:pic>
        <p:nvPicPr>
          <p:cNvPr id="1026" name="Picture 2" descr="Illustration de la différence entre régression et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91645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526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79A36-DCA2-04FF-4BD9-ADEA6184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9957CF-3C17-0A94-E370-57CDB034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nombreux principes mathématiques et statistiques régissent le Machine Learning</a:t>
            </a:r>
          </a:p>
          <a:p>
            <a:pPr lvl="1"/>
            <a:r>
              <a:rPr lang="fr-FR" sz="2000" dirty="0"/>
              <a:t>D'avantage pour le </a:t>
            </a:r>
            <a:r>
              <a:rPr lang="fr-FR" sz="2000"/>
              <a:t>Deep Learning</a:t>
            </a:r>
            <a:endParaRPr lang="fr-FR" sz="2000" dirty="0"/>
          </a:p>
          <a:p>
            <a:r>
              <a:rPr lang="fr-FR" dirty="0"/>
              <a:t>Statistiques</a:t>
            </a:r>
          </a:p>
          <a:p>
            <a:pPr lvl="1"/>
            <a:r>
              <a:rPr lang="fr-FR" sz="2000" dirty="0"/>
              <a:t>Distribution, loi normale, échantillonnage</a:t>
            </a:r>
          </a:p>
          <a:p>
            <a:r>
              <a:rPr lang="fr-FR" dirty="0"/>
              <a:t>Algorithmiques</a:t>
            </a:r>
            <a:endParaRPr lang="fr-FR" sz="2000" dirty="0"/>
          </a:p>
          <a:p>
            <a:r>
              <a:rPr lang="fr-FR" dirty="0"/>
              <a:t>MDP</a:t>
            </a:r>
          </a:p>
          <a:p>
            <a:pPr lvl="1"/>
            <a:r>
              <a:rPr lang="fr-FR" sz="2000" dirty="0"/>
              <a:t>Les processus de décision markoviens modélisent des états, actions et </a:t>
            </a:r>
            <a:r>
              <a:rPr lang="fr-FR" sz="1800" dirty="0"/>
              <a:t>récompenses </a:t>
            </a:r>
            <a:r>
              <a:rPr lang="fr-FR" dirty="0"/>
              <a:t>pour la prise de décision séquentielle.​</a:t>
            </a:r>
            <a:endParaRPr lang="fr-FR" sz="2800" dirty="0"/>
          </a:p>
          <a:p>
            <a:r>
              <a:rPr lang="fr-FR" dirty="0"/>
              <a:t>Équations de Bellman​</a:t>
            </a:r>
          </a:p>
          <a:p>
            <a:pPr lvl="1"/>
            <a:r>
              <a:rPr lang="fr-FR" sz="2000" dirty="0"/>
              <a:t>Les équations de Bellman définissent la relation récursive pour calculer les fonctions des valeurs optimales.​</a:t>
            </a:r>
          </a:p>
        </p:txBody>
      </p:sp>
    </p:spTree>
    <p:extLst>
      <p:ext uri="{BB962C8B-B14F-4D97-AF65-F5344CB8AC3E}">
        <p14:creationId xmlns:p14="http://schemas.microsoft.com/office/powerpoint/2010/main" val="244427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Trouver le bon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résumer, le travail de modélisation consiste à trouver le bon modèle statistique qui colle le mieux aux données d'exemple</a:t>
            </a:r>
          </a:p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particulier intervient pour trouver ce modèle de manière automatisée</a:t>
            </a:r>
          </a:p>
          <a:p>
            <a:r>
              <a:rPr lang="fr-FR" dirty="0"/>
              <a:t>Problème du quartet d’</a:t>
            </a:r>
            <a:r>
              <a:rPr lang="fr-FR" dirty="0" err="1"/>
              <a:t>Ascombe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2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Quartet d’</a:t>
            </a:r>
            <a:r>
              <a:rPr lang="fr-FR" dirty="0" err="1"/>
              <a:t>Ascombe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Ces 4 modèles possède la même régression linéaire</a:t>
            </a:r>
          </a:p>
          <a:p>
            <a:pPr lvl="1"/>
            <a:r>
              <a:rPr lang="fr-FR" dirty="0"/>
              <a:t>Trouver les erreurs</a:t>
            </a:r>
          </a:p>
        </p:txBody>
      </p:sp>
      <p:pic>
        <p:nvPicPr>
          <p:cNvPr id="4098" name="Picture 2" descr="Le quartet d'anscom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3" y="2783429"/>
            <a:ext cx="6067407" cy="40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607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Linéaire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ax</a:t>
            </a:r>
            <a:r>
              <a:rPr lang="fr-FR" dirty="0"/>
              <a:t>  + b</a:t>
            </a:r>
          </a:p>
          <a:p>
            <a:pPr lvl="1"/>
            <a:r>
              <a:rPr lang="fr-FR" dirty="0"/>
              <a:t>Moyenne est un cas particulier : f = mx</a:t>
            </a:r>
          </a:p>
          <a:p>
            <a:r>
              <a:rPr lang="fr-FR" dirty="0"/>
              <a:t>Second degré (binomiale)</a:t>
            </a:r>
          </a:p>
          <a:p>
            <a:pPr lvl="1"/>
            <a:r>
              <a:rPr lang="fr-FR" dirty="0"/>
              <a:t>f = ax² + </a:t>
            </a:r>
            <a:r>
              <a:rPr lang="fr-FR" dirty="0" err="1"/>
              <a:t>bx</a:t>
            </a:r>
            <a:r>
              <a:rPr lang="fr-FR" dirty="0"/>
              <a:t> + c</a:t>
            </a:r>
          </a:p>
          <a:p>
            <a:r>
              <a:rPr lang="fr-FR" dirty="0"/>
              <a:t>Troisième degré (</a:t>
            </a:r>
            <a:r>
              <a:rPr lang="fr-FR" dirty="0" err="1"/>
              <a:t>trinomiale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f = ax3 + bx² + cx + 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2842443"/>
            <a:ext cx="2474987" cy="165239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4477190"/>
            <a:ext cx="2415770" cy="158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8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Polynomiale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polynome</a:t>
            </a:r>
            <a:endParaRPr lang="fr-FR" dirty="0"/>
          </a:p>
          <a:p>
            <a:r>
              <a:rPr lang="fr-FR" dirty="0"/>
              <a:t>Exponentielle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exp</a:t>
            </a:r>
            <a:r>
              <a:rPr lang="fr-FR" dirty="0"/>
              <a:t>(x)</a:t>
            </a:r>
          </a:p>
          <a:p>
            <a:r>
              <a:rPr lang="fr-FR" dirty="0"/>
              <a:t>Logarithmique</a:t>
            </a:r>
          </a:p>
          <a:p>
            <a:pPr lvl="1"/>
            <a:r>
              <a:rPr lang="fr-FR" dirty="0"/>
              <a:t>f = log(x)</a:t>
            </a:r>
          </a:p>
          <a:p>
            <a:r>
              <a:rPr lang="fr-FR" dirty="0"/>
              <a:t>Asymptotique</a:t>
            </a:r>
          </a:p>
          <a:p>
            <a:pPr lvl="1"/>
            <a:r>
              <a:rPr lang="fr-FR" dirty="0"/>
              <a:t>F = 1/x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933056"/>
            <a:ext cx="3314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9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f = a sin(x / b)</a:t>
            </a:r>
          </a:p>
          <a:p>
            <a:r>
              <a:rPr lang="fr-FR" dirty="0" err="1"/>
              <a:t>Sinusoidale</a:t>
            </a:r>
            <a:r>
              <a:rPr lang="fr-FR" dirty="0"/>
              <a:t> amortie</a:t>
            </a:r>
          </a:p>
          <a:p>
            <a:pPr lvl="1"/>
            <a:r>
              <a:rPr lang="fr-FR" dirty="0"/>
              <a:t>f = a sin(x / b) </a:t>
            </a:r>
            <a:r>
              <a:rPr lang="fr-FR" dirty="0" err="1"/>
              <a:t>exp</a:t>
            </a:r>
            <a:r>
              <a:rPr lang="fr-FR" dirty="0"/>
              <a:t>(-x / c)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6209"/>
            <a:ext cx="3248025" cy="21621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522" y="3574951"/>
            <a:ext cx="32670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67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êtes un data </a:t>
            </a:r>
            <a:r>
              <a:rPr lang="fr-FR" dirty="0" err="1"/>
              <a:t>scientist</a:t>
            </a:r>
            <a:endParaRPr lang="fr-FR" dirty="0"/>
          </a:p>
          <a:p>
            <a:pPr lvl="1"/>
            <a:r>
              <a:rPr lang="fr-FR" dirty="0"/>
              <a:t>Vous êtes maintenant confortable avec l'ensemble des données récupérées pour vos analyses</a:t>
            </a:r>
          </a:p>
          <a:p>
            <a:pPr lvl="1"/>
            <a:r>
              <a:rPr lang="fr-FR" dirty="0"/>
              <a:t>Vous avez une connaissance des objectifs principaux de l'entreprise, ce qui vous a aidé à synthétiser les différentes variables qui interviennent, ainsi que visualiser les différents comportements et corrélations présents au sein de ces données</a:t>
            </a:r>
          </a:p>
        </p:txBody>
      </p:sp>
    </p:spTree>
    <p:extLst>
      <p:ext uri="{BB962C8B-B14F-4D97-AF65-F5344CB8AC3E}">
        <p14:creationId xmlns:p14="http://schemas.microsoft.com/office/powerpoint/2010/main" val="1213284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, l'idée est que l'algorithme construise une "représentation interne" tout seul afin de pouvoir effectuer la tâche qui lui est demandée (prédiction, identification,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 et s'améliorer, d'où le mot apprentissage</a:t>
            </a:r>
          </a:p>
          <a:p>
            <a:r>
              <a:rPr lang="fr-FR" dirty="0"/>
              <a:t>Ce jeu de données s'appelle le training set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91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/>
              <a:t>vs Programmation</a:t>
            </a:r>
            <a:endParaRPr lang="fr-FR" dirty="0"/>
          </a:p>
        </p:txBody>
      </p:sp>
      <p:pic>
        <p:nvPicPr>
          <p:cNvPr id="1026" name="Picture 2" descr="https://dpzbhybb2pdcj.cloudfront.net/allaire/Figures/01fig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6048672" cy="30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81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Un exemple de jeu de données classique (appelé CIFAR-10) qui permet d'entraîner un modèle de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16" y="1156209"/>
            <a:ext cx="6697627" cy="51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25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7170" name="Picture 2" descr="Un détail de des deux phases du process de machine learn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902073" cy="46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98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travail du data </a:t>
            </a:r>
            <a:r>
              <a:rPr lang="fr-FR" dirty="0" err="1"/>
              <a:t>scientist</a:t>
            </a:r>
            <a:r>
              <a:rPr lang="fr-FR" dirty="0"/>
              <a:t> en machine </a:t>
            </a:r>
            <a:r>
              <a:rPr lang="fr-FR" dirty="0" err="1"/>
              <a:t>learning</a:t>
            </a:r>
            <a:r>
              <a:rPr lang="fr-FR" dirty="0"/>
              <a:t> consiste à sélectionner les bonnes données test, choisir et entraîner le bon algorithme en vérifiant grâce à l'analyse d'erreurs que le modèle devient de plus en plus performant et robuste</a:t>
            </a:r>
          </a:p>
          <a:p>
            <a:r>
              <a:rPr lang="fr-FR" dirty="0"/>
              <a:t>Si les performances s'améliorent lorsqu'on lui fourni les données d'entraînement, on dit alors que la machine "apprend".</a:t>
            </a:r>
          </a:p>
          <a:p>
            <a:r>
              <a:rPr lang="fr-FR" dirty="0"/>
              <a:t>Le data </a:t>
            </a:r>
            <a:r>
              <a:rPr lang="fr-FR" dirty="0" err="1"/>
              <a:t>scientist</a:t>
            </a:r>
            <a:r>
              <a:rPr lang="fr-FR" dirty="0"/>
              <a:t> peut ensuite déployer le modèle afin qu'il traite de nouvelles données, pour accomplir la tâche (prédiction</a:t>
            </a:r>
            <a:r>
              <a:rPr lang="fr-FR"/>
              <a:t>, décision, ...).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5869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L'algorithme d'apprentissage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L'algorithme d'apprentissage constitue la méthode avec laquelle le modèle statistique va se paramétrer à partir des données d'exemple</a:t>
            </a:r>
          </a:p>
          <a:p>
            <a:pPr lvl="1"/>
            <a:r>
              <a:rPr lang="fr-FR" dirty="0"/>
              <a:t>Il existe de nombreux algorithmes différents !</a:t>
            </a:r>
          </a:p>
          <a:p>
            <a:pPr lvl="1"/>
            <a:r>
              <a:rPr lang="fr-FR" dirty="0"/>
              <a:t>On choisira un type d'algorithme particulier en fonction du type de tâche que l'on souhaite accomplir et du type de données dont on dispose</a:t>
            </a:r>
          </a:p>
        </p:txBody>
      </p:sp>
    </p:spTree>
    <p:extLst>
      <p:ext uri="{BB962C8B-B14F-4D97-AF65-F5344CB8AC3E}">
        <p14:creationId xmlns:p14="http://schemas.microsoft.com/office/powerpoint/2010/main" val="1834491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Quelques exemples d'algorithmes de machine </a:t>
            </a:r>
            <a:r>
              <a:rPr lang="fr-FR" dirty="0" err="1"/>
              <a:t>learning</a:t>
            </a:r>
            <a:r>
              <a:rPr lang="fr-FR" dirty="0"/>
              <a:t>, dont vous avez peut-être déjà entendu parler :</a:t>
            </a:r>
          </a:p>
          <a:p>
            <a:pPr lvl="1"/>
            <a:r>
              <a:rPr lang="fr-FR" dirty="0"/>
              <a:t>La régression linéaire</a:t>
            </a:r>
          </a:p>
          <a:p>
            <a:pPr lvl="1"/>
            <a:r>
              <a:rPr lang="fr-FR" dirty="0" err="1"/>
              <a:t>K-nn</a:t>
            </a:r>
            <a:endParaRPr lang="fr-FR" dirty="0"/>
          </a:p>
          <a:p>
            <a:pPr lvl="1"/>
            <a:r>
              <a:rPr lang="fr-FR" dirty="0"/>
              <a:t>Les Support </a:t>
            </a:r>
            <a:r>
              <a:rPr lang="fr-FR" dirty="0" err="1"/>
              <a:t>Vector</a:t>
            </a:r>
            <a:r>
              <a:rPr lang="fr-FR" dirty="0"/>
              <a:t> Machine (SVM)</a:t>
            </a:r>
          </a:p>
          <a:p>
            <a:pPr lvl="1"/>
            <a:r>
              <a:rPr lang="fr-FR" dirty="0"/>
              <a:t>Les réseaux de neurones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forests</a:t>
            </a:r>
            <a:endParaRPr lang="fr-FR" dirty="0"/>
          </a:p>
          <a:p>
            <a:pPr lvl="1"/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2399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de performance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les performances fait partie intégrante du travail de modélisation. Il faut en général déterminer une mesure principale, souvent spécifique à la tâche à accomplir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774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Imaginez que vous voulez créer un algorithme de détection de fraudes bancaires</a:t>
            </a:r>
          </a:p>
          <a:p>
            <a:pPr lvl="1"/>
            <a:r>
              <a:rPr lang="fr-FR" sz="2000" dirty="0"/>
              <a:t>Vous voulez mesurer à quel point votre programme est performant</a:t>
            </a:r>
          </a:p>
          <a:p>
            <a:r>
              <a:rPr lang="fr-FR" sz="2400" dirty="0"/>
              <a:t>Une manière de faire serait de mesurer la proportion totale de transaction détectées comme fraude</a:t>
            </a:r>
          </a:p>
          <a:p>
            <a:pPr lvl="1"/>
            <a:r>
              <a:rPr lang="fr-FR" sz="2000" dirty="0"/>
              <a:t>Cependant, on compte ici les transactions qui ne sont pas des fraudes et qui ont quand même été notées comme en étant (appelé "faux positifs")</a:t>
            </a:r>
          </a:p>
          <a:p>
            <a:pPr lvl="1"/>
            <a:r>
              <a:rPr lang="fr-FR" sz="2000" dirty="0"/>
              <a:t>Donc, avec ce genre de métriques, on est pas exigeant sur ce type d'erreur que produit notre algorithme</a:t>
            </a:r>
          </a:p>
          <a:p>
            <a:r>
              <a:rPr lang="fr-FR" sz="2400" dirty="0"/>
              <a:t>Il faut peut être, utiliser une autre métrique plus pertinente. Par exemple, la précision qui est la proportion de "vraies fraudes" détectées par rapport au total de transactions </a:t>
            </a:r>
            <a:r>
              <a:rPr lang="fr-FR" sz="2400" dirty="0" err="1"/>
              <a:t>flagées</a:t>
            </a:r>
            <a:r>
              <a:rPr lang="fr-FR" sz="2400" dirty="0"/>
              <a:t> comme fraudes</a:t>
            </a:r>
          </a:p>
        </p:txBody>
      </p:sp>
    </p:spTree>
    <p:extLst>
      <p:ext uri="{BB962C8B-B14F-4D97-AF65-F5344CB8AC3E}">
        <p14:creationId xmlns:p14="http://schemas.microsoft.com/office/powerpoint/2010/main" val="1447999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la détection de maladie comme la méningite le nombre de faux positif n’est pas très important</a:t>
            </a:r>
          </a:p>
          <a:p>
            <a:r>
              <a:rPr lang="fr-FR" dirty="0"/>
              <a:t>Alors que le nombre de faux négatif est potentiellement mortel</a:t>
            </a:r>
          </a:p>
        </p:txBody>
      </p:sp>
    </p:spTree>
    <p:extLst>
      <p:ext uri="{BB962C8B-B14F-4D97-AF65-F5344CB8AC3E}">
        <p14:creationId xmlns:p14="http://schemas.microsoft.com/office/powerpoint/2010/main" val="989672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(ou le risque) est l’écart entre les données et le modèle</a:t>
            </a:r>
          </a:p>
          <a:p>
            <a:pPr lvl="1"/>
            <a:r>
              <a:rPr lang="fr-FR" dirty="0"/>
              <a:t>Risque réduit à gauche, important à droite</a:t>
            </a:r>
          </a:p>
        </p:txBody>
      </p:sp>
      <p:pic>
        <p:nvPicPr>
          <p:cNvPr id="6146" name="Picture 2" descr="A gauche, on ne perd pas trop d'information. A droite on est trop éloignée de la réalité représentée par les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87" y="2924944"/>
            <a:ext cx="6667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219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Edmunt</a:t>
            </a:r>
            <a:r>
              <a:rPr lang="fr-FR" dirty="0"/>
              <a:t> Husserl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« Les modèles sont les habits des idées, il y a toujours un modèle qui peut faire croire que votre idée est juste. »</a:t>
            </a:r>
          </a:p>
        </p:txBody>
      </p:sp>
    </p:spTree>
    <p:extLst>
      <p:ext uri="{BB962C8B-B14F-4D97-AF65-F5344CB8AC3E}">
        <p14:creationId xmlns:p14="http://schemas.microsoft.com/office/powerpoint/2010/main" val="3344571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047360" cy="5040560"/>
          </a:xfrm>
        </p:spPr>
        <p:txBody>
          <a:bodyPr/>
          <a:lstStyle/>
          <a:p>
            <a:r>
              <a:rPr lang="fr-FR" sz="2400" dirty="0"/>
              <a:t>Initié et piloté en France par l'INRIA et Télécom </a:t>
            </a:r>
            <a:r>
              <a:rPr lang="fr-FR" sz="2400" dirty="0" err="1"/>
              <a:t>ParisTech</a:t>
            </a:r>
            <a:r>
              <a:rPr lang="fr-FR" sz="2400" dirty="0"/>
              <a:t>, le projet open source </a:t>
            </a:r>
            <a:r>
              <a:rPr lang="fr-FR" sz="2400" dirty="0" err="1"/>
              <a:t>Scikit-learn</a:t>
            </a:r>
            <a:r>
              <a:rPr lang="fr-FR" sz="2400" dirty="0"/>
              <a:t> est devenu une référence dans le monde de l'intelligence artificielle</a:t>
            </a:r>
          </a:p>
          <a:p>
            <a:pPr lvl="1"/>
            <a:r>
              <a:rPr lang="fr-FR" sz="2000" dirty="0"/>
              <a:t>De Paris à San Francisco en passant par Singapour, la bibliothèque de machine </a:t>
            </a:r>
            <a:r>
              <a:rPr lang="fr-FR" sz="2000" dirty="0" err="1"/>
              <a:t>learning</a:t>
            </a:r>
            <a:r>
              <a:rPr lang="fr-FR" sz="2000" dirty="0"/>
              <a:t>, écrite en Python, s'impose aux start-up jusqu'aux grands groupes, </a:t>
            </a:r>
            <a:r>
              <a:rPr lang="fr-FR" sz="2000" dirty="0" err="1"/>
              <a:t>Gafam</a:t>
            </a:r>
            <a:r>
              <a:rPr lang="fr-FR" sz="2000" dirty="0"/>
              <a:t> compris.</a:t>
            </a:r>
          </a:p>
          <a:p>
            <a:r>
              <a:rPr lang="fr-FR" sz="2400" dirty="0" err="1"/>
              <a:t>pip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scikit-learn</a:t>
            </a:r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73" y="1844824"/>
            <a:ext cx="389348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71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Scikit-learn</a:t>
            </a:r>
            <a:r>
              <a:rPr lang="fr-FR" dirty="0"/>
              <a:t> est le package de machine </a:t>
            </a:r>
            <a:r>
              <a:rPr lang="fr-FR" dirty="0" err="1"/>
              <a:t>learning</a:t>
            </a:r>
            <a:r>
              <a:rPr lang="fr-FR" dirty="0"/>
              <a:t> Python</a:t>
            </a:r>
          </a:p>
          <a:p>
            <a:pPr lvl="1"/>
            <a:r>
              <a:rPr lang="fr-FR" dirty="0"/>
              <a:t>Catégorisation</a:t>
            </a:r>
          </a:p>
          <a:p>
            <a:pPr lvl="1"/>
            <a:r>
              <a:rPr lang="fr-FR" dirty="0"/>
              <a:t>Régression</a:t>
            </a:r>
          </a:p>
          <a:p>
            <a:pPr lvl="1"/>
            <a:r>
              <a:rPr lang="fr-FR" dirty="0" err="1"/>
              <a:t>Clusterisation</a:t>
            </a:r>
            <a:r>
              <a:rPr lang="fr-FR" dirty="0"/>
              <a:t> (regroupement)</a:t>
            </a:r>
          </a:p>
          <a:p>
            <a:pPr lvl="1"/>
            <a:r>
              <a:rPr lang="fr-FR" dirty="0"/>
              <a:t>Réduction de dimension</a:t>
            </a:r>
          </a:p>
          <a:p>
            <a:pPr lvl="1"/>
            <a:r>
              <a:rPr lang="fr-FR" dirty="0"/>
              <a:t>Sélection de modèle</a:t>
            </a:r>
          </a:p>
          <a:p>
            <a:pPr lvl="1"/>
            <a:r>
              <a:rPr lang="fr-FR" dirty="0" err="1"/>
              <a:t>Preprocessing</a:t>
            </a:r>
            <a:r>
              <a:rPr lang="fr-FR" dirty="0"/>
              <a:t> (Filtrage, Randomisation)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1026" name="Picture 2" descr="http://scikit-learn.org/stable/_images/sphx_glr_plot_classifier_comparison_001_carous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043336"/>
            <a:ext cx="571500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Commençons par la régression linéaire</a:t>
            </a:r>
          </a:p>
          <a:p>
            <a:r>
              <a:rPr lang="fr-FR" dirty="0"/>
              <a:t>Import </a:t>
            </a:r>
            <a:r>
              <a:rPr lang="fr-FR" dirty="0" err="1"/>
              <a:t>sklearn.linearmodel</a:t>
            </a:r>
            <a:endParaRPr lang="fr-FR" dirty="0"/>
          </a:p>
          <a:p>
            <a:pPr lvl="1"/>
            <a:r>
              <a:rPr lang="fr-FR" dirty="0"/>
              <a:t>Minimisation de l’erreur </a:t>
            </a:r>
            <a:r>
              <a:rPr lang="fr-FR" dirty="0" err="1"/>
              <a:t>quadritique</a:t>
            </a:r>
            <a:endParaRPr lang="fr-FR" dirty="0"/>
          </a:p>
          <a:p>
            <a:r>
              <a:rPr lang="fr-FR" dirty="0"/>
              <a:t>Classe </a:t>
            </a:r>
            <a:r>
              <a:rPr lang="fr-FR" dirty="0" err="1"/>
              <a:t>LinearRegression</a:t>
            </a:r>
            <a:endParaRPr lang="fr-FR" dirty="0"/>
          </a:p>
          <a:p>
            <a:r>
              <a:rPr lang="fr-FR" dirty="0"/>
              <a:t>Fit()</a:t>
            </a:r>
          </a:p>
          <a:p>
            <a:pPr lvl="1"/>
            <a:r>
              <a:rPr lang="fr-FR" dirty="0"/>
              <a:t>Va démarrer l’apprentissage</a:t>
            </a:r>
          </a:p>
          <a:p>
            <a:r>
              <a:rPr lang="fr-FR" dirty="0" err="1"/>
              <a:t>Predict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Joue le modèle</a:t>
            </a:r>
          </a:p>
          <a:p>
            <a:r>
              <a:rPr lang="fr-FR" dirty="0"/>
              <a:t>Résultats identiques à </a:t>
            </a:r>
            <a:r>
              <a:rPr lang="fr-FR" dirty="0" err="1"/>
              <a:t>SciPy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837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pic>
        <p:nvPicPr>
          <p:cNvPr id="1026" name="Picture 2" descr="https://www.guru99.com/images/1/080618_0520_LinearRegr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268759"/>
            <a:ext cx="4464496" cy="533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8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polynomiale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Sklearn</a:t>
            </a:r>
            <a:r>
              <a:rPr lang="fr-FR" dirty="0"/>
              <a:t> effectue des régressions polynomiales</a:t>
            </a:r>
          </a:p>
        </p:txBody>
      </p:sp>
      <p:pic>
        <p:nvPicPr>
          <p:cNvPr id="4098" name="Picture 2" descr="../../_images/sphx_glr_plot_polynomial_interpolation_0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87721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354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Surapprentissage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notion de </a:t>
            </a:r>
            <a:r>
              <a:rPr lang="fr-FR" dirty="0" err="1"/>
              <a:t>surapprentissage</a:t>
            </a:r>
            <a:r>
              <a:rPr lang="fr-FR" dirty="0"/>
              <a:t> désigne le fait que le modèle que vous avez choisi est trop collé aux données d'entraînement</a:t>
            </a:r>
          </a:p>
          <a:p>
            <a:pPr lvl="1"/>
            <a:r>
              <a:rPr lang="fr-FR" dirty="0"/>
              <a:t>C'est un problème classique de data science, lorsqu'on choisi un modèle trop "flexible", c'est à dire avec une complexité trop élevée qui prend aussi en compte le bruit du phénomène</a:t>
            </a:r>
          </a:p>
          <a:p>
            <a:pPr lvl="1"/>
            <a:r>
              <a:rPr lang="fr-FR" dirty="0"/>
              <a:t>Ici modèle simple </a:t>
            </a:r>
          </a:p>
          <a:p>
            <a:pPr lvl="1"/>
            <a:r>
              <a:rPr lang="fr-FR" dirty="0"/>
              <a:t>vs modèle complexe</a:t>
            </a:r>
          </a:p>
          <a:p>
            <a:r>
              <a:rPr lang="fr-FR" dirty="0"/>
              <a:t>D’où l’utiliser d’un </a:t>
            </a:r>
            <a:r>
              <a:rPr lang="fr-FR" dirty="0" err="1"/>
              <a:t>TestSet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Comparaison entre un modèle en overfitting vs une modélisation plus réaliste du phénomè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019384"/>
            <a:ext cx="35909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4773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utiliser le bon échantillon</a:t>
            </a:r>
          </a:p>
          <a:p>
            <a:pPr lvl="1"/>
            <a:r>
              <a:rPr lang="fr-FR" dirty="0"/>
              <a:t>Bien répartis</a:t>
            </a:r>
          </a:p>
          <a:p>
            <a:pPr lvl="1"/>
            <a:r>
              <a:rPr lang="fr-FR" dirty="0"/>
              <a:t>Ne pas introduire de biais</a:t>
            </a:r>
          </a:p>
          <a:p>
            <a:pPr lvl="1"/>
            <a:r>
              <a:rPr lang="fr-FR" dirty="0"/>
              <a:t>Par exemple à Paris les loyers sont plus chers qu’ailleurs</a:t>
            </a:r>
          </a:p>
          <a:p>
            <a:r>
              <a:rPr lang="fr-FR" dirty="0"/>
              <a:t>Il faut ensuite découper l’échantillon avec le</a:t>
            </a:r>
          </a:p>
          <a:p>
            <a:pPr lvl="1"/>
            <a:r>
              <a:rPr lang="fr-FR" dirty="0"/>
              <a:t>Training Set</a:t>
            </a:r>
          </a:p>
          <a:p>
            <a:pPr lvl="1"/>
            <a:r>
              <a:rPr lang="fr-FR" dirty="0" err="1"/>
              <a:t>Testing</a:t>
            </a:r>
            <a:r>
              <a:rPr lang="fr-FR" dirty="0"/>
              <a:t> Set</a:t>
            </a:r>
          </a:p>
          <a:p>
            <a:r>
              <a:rPr lang="fr-FR" dirty="0"/>
              <a:t>L’un sert à l’apprentissage, l’autre au test</a:t>
            </a:r>
          </a:p>
          <a:p>
            <a:pPr lvl="1"/>
            <a:r>
              <a:rPr lang="fr-FR" dirty="0"/>
              <a:t>Souvent 80/20</a:t>
            </a:r>
          </a:p>
        </p:txBody>
      </p:sp>
    </p:spTree>
    <p:extLst>
      <p:ext uri="{BB962C8B-B14F-4D97-AF65-F5344CB8AC3E}">
        <p14:creationId xmlns:p14="http://schemas.microsoft.com/office/powerpoint/2010/main" val="785613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k-NN est le diminutif de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r>
              <a:rPr lang="fr-FR" dirty="0"/>
              <a:t>C’est un algorithme qui peut servir autant pour la classification que la régression</a:t>
            </a:r>
          </a:p>
          <a:p>
            <a:r>
              <a:rPr lang="fr-FR" dirty="0"/>
              <a:t>Son principe est de choisir les k données les plus proches du point étudié afin d’en prédire sa valeur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8849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classe de la nouvelle données (en blanc) ?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1028" name="Picture 4" descr="le point blanc est une nouvelle entr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76872"/>
            <a:ext cx="5112568" cy="350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69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allons regarder la distance avec les k voisins les plus proches</a:t>
            </a:r>
          </a:p>
          <a:p>
            <a:pPr lvl="1"/>
            <a:r>
              <a:rPr lang="fr-FR" dirty="0"/>
              <a:t>Ici 5</a:t>
            </a:r>
          </a:p>
          <a:p>
            <a:pPr lvl="1"/>
            <a:r>
              <a:rPr lang="fr-FR" dirty="0"/>
              <a:t>Rouge</a:t>
            </a:r>
          </a:p>
        </p:txBody>
      </p:sp>
      <p:pic>
        <p:nvPicPr>
          <p:cNvPr id="2050" name="Picture 2" descr="les 5 points les plus proches du point que l'on cherche à clas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64904"/>
            <a:ext cx="5256584" cy="36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754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ainsi aisé de déterminé un zonage pour catégorisé les points</a:t>
            </a:r>
          </a:p>
        </p:txBody>
      </p:sp>
      <p:pic>
        <p:nvPicPr>
          <p:cNvPr id="3074" name="Picture 2" descr="Les deux zones qui séparent l'espace pour la décision à prendre sur la classification de nouvelles entr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7625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3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K = 3</a:t>
            </a:r>
          </a:p>
          <a:p>
            <a:r>
              <a:rPr lang="fr-FR" dirty="0"/>
              <a:t>Erreur = 5%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0" y="2418352"/>
            <a:ext cx="4972050" cy="40195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30" y="2852936"/>
            <a:ext cx="3470551" cy="260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4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modèles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 nombreux autres modèles de classification</a:t>
            </a:r>
          </a:p>
          <a:p>
            <a:pPr lvl="1"/>
            <a:r>
              <a:rPr lang="fr-FR" dirty="0" err="1"/>
              <a:t>RandomForest</a:t>
            </a:r>
            <a:endParaRPr lang="fr-FR" dirty="0"/>
          </a:p>
          <a:p>
            <a:pPr lvl="1"/>
            <a:r>
              <a:rPr lang="fr-FR" dirty="0"/>
              <a:t>SVM</a:t>
            </a:r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89605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forêts d'arbres décisionnels ont été formellement proposées en 2001 par Leo </a:t>
            </a:r>
            <a:r>
              <a:rPr lang="fr-FR" dirty="0" err="1"/>
              <a:t>Breiman</a:t>
            </a:r>
            <a:r>
              <a:rPr lang="fr-FR" dirty="0"/>
              <a:t> et Adèle </a:t>
            </a:r>
            <a:r>
              <a:rPr lang="fr-FR" dirty="0" err="1"/>
              <a:t>Cutler</a:t>
            </a:r>
            <a:endParaRPr lang="fr-FR" dirty="0"/>
          </a:p>
          <a:p>
            <a:r>
              <a:rPr lang="fr-FR" dirty="0"/>
              <a:t>Cet algorithme combine les concepts de sous-espaces aléatoires et de </a:t>
            </a:r>
            <a:r>
              <a:rPr lang="fr-FR" dirty="0" err="1"/>
              <a:t>bagging</a:t>
            </a:r>
            <a:endParaRPr lang="fr-FR" dirty="0"/>
          </a:p>
          <a:p>
            <a:r>
              <a:rPr lang="fr-FR" dirty="0"/>
              <a:t>L'algorithme des forêts d'arbres décisionnels effectue un apprentissage sur de multiples arbres de décision entraînés sur des sous-ensembles de données légèrement différents</a:t>
            </a:r>
          </a:p>
        </p:txBody>
      </p:sp>
    </p:spTree>
    <p:extLst>
      <p:ext uri="{BB962C8B-B14F-4D97-AF65-F5344CB8AC3E}">
        <p14:creationId xmlns:p14="http://schemas.microsoft.com/office/powerpoint/2010/main" val="3428597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est un modèle asymétrique</a:t>
            </a:r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847402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Iris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https://cdn-images-1.medium.com/max/1200/1*IPLwmH-TJRhEWXW7uaetM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6209"/>
            <a:ext cx="536335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17267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</TotalTime>
  <Words>1344</Words>
  <Application>Microsoft Office PowerPoint</Application>
  <PresentationFormat>Affichage à l'écran (4:3)</PresentationFormat>
  <Paragraphs>185</Paragraphs>
  <Slides>43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IA - ML - DL</vt:lpstr>
      <vt:lpstr>But</vt:lpstr>
      <vt:lpstr>Régression</vt:lpstr>
      <vt:lpstr>Régression linéaire</vt:lpstr>
      <vt:lpstr>Erreur</vt:lpstr>
      <vt:lpstr>Classification</vt:lpstr>
      <vt:lpstr>Principes mathématiques</vt:lpstr>
      <vt:lpstr>Trouver le bon modèle</vt:lpstr>
      <vt:lpstr>Quartet d’Ascombe</vt:lpstr>
      <vt:lpstr>Les différents types de régression</vt:lpstr>
      <vt:lpstr>Les différents types de régression</vt:lpstr>
      <vt:lpstr>Les différents types de régression</vt:lpstr>
      <vt:lpstr>Modélisation</vt:lpstr>
      <vt:lpstr>Apprentissage</vt:lpstr>
      <vt:lpstr>Machine Learning vs Programmation</vt:lpstr>
      <vt:lpstr>Exemple</vt:lpstr>
      <vt:lpstr>Workflow</vt:lpstr>
      <vt:lpstr>Notre travail</vt:lpstr>
      <vt:lpstr>L'algorithme d'apprentissage</vt:lpstr>
      <vt:lpstr>Exemples</vt:lpstr>
      <vt:lpstr>Mesure de performance</vt:lpstr>
      <vt:lpstr>Exemple</vt:lpstr>
      <vt:lpstr>Autre exemple</vt:lpstr>
      <vt:lpstr>Erreur</vt:lpstr>
      <vt:lpstr>Edmunt Husserl</vt:lpstr>
      <vt:lpstr>Présentation PowerPoint</vt:lpstr>
      <vt:lpstr>Présentation PowerPoint</vt:lpstr>
      <vt:lpstr>Régression</vt:lpstr>
      <vt:lpstr>Régression</vt:lpstr>
      <vt:lpstr>Régression polynomiale</vt:lpstr>
      <vt:lpstr>Surapprentissage</vt:lpstr>
      <vt:lpstr>Randomisation</vt:lpstr>
      <vt:lpstr>Nearest Neighbors</vt:lpstr>
      <vt:lpstr>Explication</vt:lpstr>
      <vt:lpstr>knn</vt:lpstr>
      <vt:lpstr>Zonage</vt:lpstr>
      <vt:lpstr>Résultats</vt:lpstr>
      <vt:lpstr>Autres modèles</vt:lpstr>
      <vt:lpstr>Random Forest</vt:lpstr>
      <vt:lpstr>Asymétrie</vt:lpstr>
      <vt:lpstr>Exemple Iris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281</cp:revision>
  <dcterms:created xsi:type="dcterms:W3CDTF">2000-04-10T19:33:12Z</dcterms:created>
  <dcterms:modified xsi:type="dcterms:W3CDTF">2026-04-08T11:00:04Z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