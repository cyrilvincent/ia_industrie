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57"/>
  </p:notesMasterIdLst>
  <p:handoutMasterIdLst>
    <p:handoutMasterId r:id="rId58"/>
  </p:handoutMasterIdLst>
  <p:sldIdLst>
    <p:sldId id="264" r:id="rId2"/>
    <p:sldId id="279" r:id="rId3"/>
    <p:sldId id="280" r:id="rId4"/>
    <p:sldId id="281" r:id="rId5"/>
    <p:sldId id="282" r:id="rId6"/>
    <p:sldId id="364" r:id="rId7"/>
    <p:sldId id="283" r:id="rId8"/>
    <p:sldId id="363" r:id="rId9"/>
    <p:sldId id="258" r:id="rId10"/>
    <p:sldId id="284" r:id="rId11"/>
    <p:sldId id="285" r:id="rId12"/>
    <p:sldId id="293" r:id="rId13"/>
    <p:sldId id="345" r:id="rId14"/>
    <p:sldId id="294" r:id="rId15"/>
    <p:sldId id="295" r:id="rId16"/>
    <p:sldId id="296" r:id="rId17"/>
    <p:sldId id="297" r:id="rId18"/>
    <p:sldId id="300" r:id="rId19"/>
    <p:sldId id="336" r:id="rId20"/>
    <p:sldId id="314" r:id="rId21"/>
    <p:sldId id="333" r:id="rId22"/>
    <p:sldId id="322" r:id="rId23"/>
    <p:sldId id="340" r:id="rId24"/>
    <p:sldId id="341" r:id="rId25"/>
    <p:sldId id="346" r:id="rId26"/>
    <p:sldId id="266" r:id="rId27"/>
    <p:sldId id="267" r:id="rId28"/>
    <p:sldId id="271" r:id="rId29"/>
    <p:sldId id="268" r:id="rId30"/>
    <p:sldId id="273" r:id="rId31"/>
    <p:sldId id="269" r:id="rId32"/>
    <p:sldId id="274" r:id="rId33"/>
    <p:sldId id="347" r:id="rId34"/>
    <p:sldId id="270" r:id="rId35"/>
    <p:sldId id="353" r:id="rId36"/>
    <p:sldId id="354" r:id="rId37"/>
    <p:sldId id="355" r:id="rId38"/>
    <p:sldId id="275" r:id="rId39"/>
    <p:sldId id="276" r:id="rId40"/>
    <p:sldId id="277" r:id="rId41"/>
    <p:sldId id="278" r:id="rId42"/>
    <p:sldId id="356" r:id="rId43"/>
    <p:sldId id="357" r:id="rId44"/>
    <p:sldId id="358" r:id="rId45"/>
    <p:sldId id="359" r:id="rId46"/>
    <p:sldId id="360" r:id="rId47"/>
    <p:sldId id="369" r:id="rId48"/>
    <p:sldId id="370" r:id="rId49"/>
    <p:sldId id="365" r:id="rId50"/>
    <p:sldId id="366" r:id="rId51"/>
    <p:sldId id="368" r:id="rId52"/>
    <p:sldId id="367" r:id="rId53"/>
    <p:sldId id="371" r:id="rId54"/>
    <p:sldId id="372" r:id="rId55"/>
    <p:sldId id="373" r:id="rId56"/>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63" d="100"/>
          <a:sy n="63" d="100"/>
        </p:scale>
        <p:origin x="1590" y="2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Chapitre 1</a:t>
            </a:r>
          </a:p>
          <a:p>
            <a:pPr eaLnBrk="1" hangingPunct="1"/>
            <a:r>
              <a:rPr lang="fr-FR" altLang="fr-FR"/>
              <a:t>Data Science</a:t>
            </a:r>
            <a:endParaRPr lang="fr-FR" altLang="fr-FR" dirty="0"/>
          </a:p>
        </p:txBody>
      </p:sp>
      <p:sp>
        <p:nvSpPr>
          <p:cNvPr id="3" name="ZoneTexte 2"/>
          <p:cNvSpPr txBox="1"/>
          <p:nvPr/>
        </p:nvSpPr>
        <p:spPr>
          <a:xfrm>
            <a:off x="4427984" y="738073"/>
            <a:ext cx="620683" cy="646331"/>
          </a:xfrm>
          <a:prstGeom prst="rect">
            <a:avLst/>
          </a:prstGeom>
          <a:noFill/>
        </p:spPr>
        <p:txBody>
          <a:bodyPr wrap="none" rtlCol="0">
            <a:spAutoFit/>
          </a:bodyPr>
          <a:lstStyle/>
          <a:p>
            <a:r>
              <a:rPr lang="fr-FR" sz="3600" dirty="0"/>
              <a:t>AI</a:t>
            </a:r>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616" y="0"/>
            <a:ext cx="7215842" cy="6785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559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Wikipedia</a:t>
            </a:r>
            <a:endParaRPr lang="fr-FR" dirty="0"/>
          </a:p>
        </p:txBody>
      </p:sp>
      <p:sp>
        <p:nvSpPr>
          <p:cNvPr id="3" name="Espace réservé du contenu 2"/>
          <p:cNvSpPr>
            <a:spLocks noGrp="1"/>
          </p:cNvSpPr>
          <p:nvPr>
            <p:ph idx="1"/>
          </p:nvPr>
        </p:nvSpPr>
        <p:spPr/>
        <p:txBody>
          <a:bodyPr/>
          <a:lstStyle/>
          <a:p>
            <a:r>
              <a:rPr lang="fr-FR" dirty="0"/>
              <a:t>La science des données est l'extraction de connaissance d'ensembles de données</a:t>
            </a:r>
          </a:p>
          <a:p>
            <a:r>
              <a:rPr lang="fr-FR" dirty="0"/>
              <a:t>Elle emploie des techniques et des théories tirées de plusieurs autres domaines plus larges :</a:t>
            </a:r>
          </a:p>
          <a:p>
            <a:pPr lvl="1"/>
            <a:r>
              <a:rPr lang="fr-FR" dirty="0"/>
              <a:t>des mathématiques, la statistique principalement, la théorie de l'information et la technologie de l'information, notamment le traitement de signal, des modèles probabilistes, l'apprentissage automatique, l'apprentissage statistique, la programmation informatique, l'ingénierie de données, la reconnaissance de formes et l'apprentissage, la visualisation, l'analytique prophétique, la modélisation d'incertitude, le stockage de données, …</a:t>
            </a:r>
          </a:p>
        </p:txBody>
      </p:sp>
    </p:spTree>
    <p:extLst>
      <p:ext uri="{BB962C8B-B14F-4D97-AF65-F5344CB8AC3E}">
        <p14:creationId xmlns:p14="http://schemas.microsoft.com/office/powerpoint/2010/main" val="1773936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pic>
        <p:nvPicPr>
          <p:cNvPr id="1026" name="Picture 2" descr="https://upload.wikimedia.org/wikipedia/commons/4/44/DataScienceDisciplin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2267" y="1412875"/>
            <a:ext cx="6720417" cy="5040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903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sp>
        <p:nvSpPr>
          <p:cNvPr id="3" name="Espace réservé du contenu 2"/>
          <p:cNvSpPr>
            <a:spLocks noGrp="1"/>
          </p:cNvSpPr>
          <p:nvPr>
            <p:ph idx="1"/>
          </p:nvPr>
        </p:nvSpPr>
        <p:spPr/>
        <p:txBody>
          <a:bodyPr/>
          <a:lstStyle/>
          <a:p>
            <a:r>
              <a:rPr lang="fr-FR" dirty="0"/>
              <a:t>S’appuie sur plusieurs technologies</a:t>
            </a:r>
          </a:p>
          <a:p>
            <a:r>
              <a:rPr lang="fr-FR" dirty="0"/>
              <a:t>Développement</a:t>
            </a:r>
          </a:p>
          <a:p>
            <a:pPr lvl="1"/>
            <a:r>
              <a:rPr lang="fr-FR" dirty="0"/>
              <a:t>Python, R</a:t>
            </a:r>
          </a:p>
          <a:p>
            <a:r>
              <a:rPr lang="fr-FR" dirty="0"/>
              <a:t>Stockage</a:t>
            </a:r>
          </a:p>
          <a:p>
            <a:pPr lvl="1"/>
            <a:r>
              <a:rPr lang="fr-FR" dirty="0"/>
              <a:t>File, Base de données, </a:t>
            </a:r>
            <a:r>
              <a:rPr lang="fr-FR" dirty="0" err="1"/>
              <a:t>Big</a:t>
            </a:r>
            <a:r>
              <a:rPr lang="fr-FR" dirty="0"/>
              <a:t> Data</a:t>
            </a:r>
          </a:p>
          <a:p>
            <a:r>
              <a:rPr lang="fr-FR" dirty="0"/>
              <a:t>Math</a:t>
            </a:r>
          </a:p>
          <a:p>
            <a:pPr lvl="1"/>
            <a:r>
              <a:rPr lang="fr-FR" dirty="0"/>
              <a:t>Régression, </a:t>
            </a:r>
            <a:r>
              <a:rPr lang="fr-FR" dirty="0" err="1"/>
              <a:t>Stats</a:t>
            </a:r>
            <a:r>
              <a:rPr lang="fr-FR" dirty="0"/>
              <a:t>, Algèbre linéaire</a:t>
            </a:r>
          </a:p>
          <a:p>
            <a:r>
              <a:rPr lang="fr-FR" dirty="0"/>
              <a:t>IA</a:t>
            </a:r>
          </a:p>
          <a:p>
            <a:pPr lvl="1"/>
            <a:r>
              <a:rPr lang="fr-FR" dirty="0"/>
              <a:t>Réseaux neuronaux</a:t>
            </a:r>
          </a:p>
        </p:txBody>
      </p:sp>
    </p:spTree>
    <p:extLst>
      <p:ext uri="{BB962C8B-B14F-4D97-AF65-F5344CB8AC3E}">
        <p14:creationId xmlns:p14="http://schemas.microsoft.com/office/powerpoint/2010/main" val="3961684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F4FA3E-7C3F-E888-DD02-8A2AAF4AEC5A}"/>
              </a:ext>
            </a:extLst>
          </p:cNvPr>
          <p:cNvSpPr>
            <a:spLocks noGrp="1"/>
          </p:cNvSpPr>
          <p:nvPr>
            <p:ph type="title"/>
          </p:nvPr>
        </p:nvSpPr>
        <p:spPr/>
        <p:txBody>
          <a:bodyPr/>
          <a:lstStyle/>
          <a:p>
            <a:r>
              <a:rPr lang="fr-FR" dirty="0"/>
              <a:t>Principes clés</a:t>
            </a:r>
          </a:p>
        </p:txBody>
      </p:sp>
      <p:sp>
        <p:nvSpPr>
          <p:cNvPr id="3" name="Espace réservé du contenu 2">
            <a:extLst>
              <a:ext uri="{FF2B5EF4-FFF2-40B4-BE49-F238E27FC236}">
                <a16:creationId xmlns:a16="http://schemas.microsoft.com/office/drawing/2014/main" id="{C341DEB1-4AC9-C261-B8EE-1AE20567A6DE}"/>
              </a:ext>
            </a:extLst>
          </p:cNvPr>
          <p:cNvSpPr>
            <a:spLocks noGrp="1"/>
          </p:cNvSpPr>
          <p:nvPr>
            <p:ph idx="1"/>
          </p:nvPr>
        </p:nvSpPr>
        <p:spPr/>
        <p:txBody>
          <a:bodyPr/>
          <a:lstStyle/>
          <a:p>
            <a:r>
              <a:rPr lang="fr-FR" dirty="0"/>
              <a:t>Définir clairement le problème métier, formuler des hypothèses, sélectionner des variables pertinentes et expérimenter itérativement</a:t>
            </a:r>
          </a:p>
          <a:p>
            <a:r>
              <a:rPr lang="fr-FR" dirty="0"/>
              <a:t>Par exemple, segmenter des clients par comportements d’achat peut guider les campagnes marketing, réduire les coûts et améliorer la satisfaction mesurée après déploiement.</a:t>
            </a:r>
          </a:p>
          <a:p>
            <a:endParaRPr lang="fr-FR" dirty="0"/>
          </a:p>
        </p:txBody>
      </p:sp>
    </p:spTree>
    <p:extLst>
      <p:ext uri="{BB962C8B-B14F-4D97-AF65-F5344CB8AC3E}">
        <p14:creationId xmlns:p14="http://schemas.microsoft.com/office/powerpoint/2010/main" val="2319305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Ã©sultat de recherche d'images pour &quot;nuage de mot langages informatique&quo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8762692" cy="5296979"/>
          </a:xfrm>
          <a:prstGeom prst="rect">
            <a:avLst/>
          </a:prstGeom>
          <a:noFill/>
          <a:extLst>
            <a:ext uri="{909E8E84-426E-40DD-AFC4-6F175D3DCCD1}">
              <a14:hiddenFill xmlns:a14="http://schemas.microsoft.com/office/drawing/2010/main">
                <a:solidFill>
                  <a:srgbClr val="FFFFFF"/>
                </a:solidFill>
              </a14:hiddenFill>
            </a:ext>
          </a:extLst>
        </p:spPr>
      </p:pic>
      <p:sp>
        <p:nvSpPr>
          <p:cNvPr id="4" name="Titre 3"/>
          <p:cNvSpPr>
            <a:spLocks noGrp="1"/>
          </p:cNvSpPr>
          <p:nvPr>
            <p:ph type="title"/>
          </p:nvPr>
        </p:nvSpPr>
        <p:spPr/>
        <p:txBody>
          <a:bodyPr/>
          <a:lstStyle/>
          <a:p>
            <a:endParaRPr lang="fr-FR"/>
          </a:p>
        </p:txBody>
      </p:sp>
    </p:spTree>
    <p:extLst>
      <p:ext uri="{BB962C8B-B14F-4D97-AF65-F5344CB8AC3E}">
        <p14:creationId xmlns:p14="http://schemas.microsoft.com/office/powerpoint/2010/main" val="190864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F4F412-FE86-3C0B-251C-574B341D8744}"/>
              </a:ext>
            </a:extLst>
          </p:cNvPr>
          <p:cNvSpPr>
            <a:spLocks noGrp="1"/>
          </p:cNvSpPr>
          <p:nvPr>
            <p:ph type="title"/>
          </p:nvPr>
        </p:nvSpPr>
        <p:spPr/>
        <p:txBody>
          <a:bodyPr/>
          <a:lstStyle/>
          <a:p>
            <a:r>
              <a:rPr lang="fr-FR" dirty="0"/>
              <a:t>Data Management</a:t>
            </a:r>
          </a:p>
        </p:txBody>
      </p:sp>
      <p:sp>
        <p:nvSpPr>
          <p:cNvPr id="3" name="Espace réservé du contenu 2">
            <a:extLst>
              <a:ext uri="{FF2B5EF4-FFF2-40B4-BE49-F238E27FC236}">
                <a16:creationId xmlns:a16="http://schemas.microsoft.com/office/drawing/2014/main" id="{0FC61D73-0EB1-695C-EB2E-3355859FB794}"/>
              </a:ext>
            </a:extLst>
          </p:cNvPr>
          <p:cNvSpPr>
            <a:spLocks noGrp="1"/>
          </p:cNvSpPr>
          <p:nvPr>
            <p:ph idx="1"/>
          </p:nvPr>
        </p:nvSpPr>
        <p:spPr/>
        <p:txBody>
          <a:bodyPr/>
          <a:lstStyle/>
          <a:p>
            <a:r>
              <a:rPr lang="fr-FR" dirty="0"/>
              <a:t>La gestion des données couvre l’ensemble des activités de collecte, stockage, préparation et utilisation. Une approche structurée permet d’améliorer la décision, renforcer la conformité et industrialiser les usages analytiques et d’intelligence artificielle dans l’entreprise, de façon mesurable.</a:t>
            </a:r>
          </a:p>
          <a:p>
            <a:endParaRPr lang="fr-FR" dirty="0"/>
          </a:p>
        </p:txBody>
      </p:sp>
    </p:spTree>
    <p:extLst>
      <p:ext uri="{BB962C8B-B14F-4D97-AF65-F5344CB8AC3E}">
        <p14:creationId xmlns:p14="http://schemas.microsoft.com/office/powerpoint/2010/main" val="1157520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Pourquoi la donnée est stratégique aujourd’hui ?</a:t>
            </a:r>
          </a:p>
        </p:txBody>
      </p:sp>
      <p:sp>
        <p:nvSpPr>
          <p:cNvPr id="3" name="Content Placeholder 2"/>
          <p:cNvSpPr>
            <a:spLocks noGrp="1"/>
          </p:cNvSpPr>
          <p:nvPr>
            <p:ph idx="1"/>
          </p:nvPr>
        </p:nvSpPr>
        <p:spPr/>
        <p:txBody>
          <a:bodyPr/>
          <a:lstStyle/>
          <a:p>
            <a:pPr>
              <a:defRPr sz="1800">
                <a:solidFill>
                  <a:srgbClr val="373B3F"/>
                </a:solidFill>
                <a:latin typeface="Calibri"/>
              </a:defRPr>
            </a:pPr>
            <a:r>
              <a:rPr sz="2400" dirty="0"/>
              <a:t>La donnée </a:t>
            </a:r>
            <a:r>
              <a:rPr sz="2400" dirty="0" err="1"/>
              <a:t>crée</a:t>
            </a:r>
            <a:r>
              <a:rPr sz="2400" dirty="0"/>
              <a:t> un </a:t>
            </a:r>
            <a:r>
              <a:rPr sz="2400" dirty="0" err="1"/>
              <a:t>avantage</a:t>
            </a:r>
            <a:r>
              <a:rPr sz="2400" dirty="0"/>
              <a:t> </a:t>
            </a:r>
            <a:r>
              <a:rPr sz="2400" dirty="0" err="1"/>
              <a:t>compétitif</a:t>
            </a:r>
            <a:r>
              <a:rPr sz="2400" dirty="0"/>
              <a:t> </a:t>
            </a:r>
            <a:r>
              <a:rPr sz="2400" dirty="0" err="1"/>
              <a:t>en</a:t>
            </a:r>
            <a:r>
              <a:rPr sz="2400" dirty="0"/>
              <a:t> </a:t>
            </a:r>
            <a:r>
              <a:rPr sz="2400" dirty="0" err="1"/>
              <a:t>réduisant</a:t>
            </a:r>
            <a:r>
              <a:rPr sz="2400" dirty="0"/>
              <a:t> le temps </a:t>
            </a:r>
            <a:r>
              <a:rPr sz="2400" dirty="0" err="1"/>
              <a:t>d’accès</a:t>
            </a:r>
            <a:r>
              <a:rPr sz="2400" dirty="0"/>
              <a:t> aux insights, </a:t>
            </a:r>
            <a:r>
              <a:rPr sz="2400" dirty="0" err="1"/>
              <a:t>en</a:t>
            </a:r>
            <a:r>
              <a:rPr sz="2400" dirty="0"/>
              <a:t> </a:t>
            </a:r>
            <a:r>
              <a:rPr sz="2400" dirty="0" err="1"/>
              <a:t>sécurisant</a:t>
            </a:r>
            <a:r>
              <a:rPr sz="2400" dirty="0"/>
              <a:t> les </a:t>
            </a:r>
            <a:r>
              <a:rPr sz="2400" dirty="0" err="1"/>
              <a:t>décisions</a:t>
            </a:r>
            <a:r>
              <a:rPr sz="2400" dirty="0"/>
              <a:t> et </a:t>
            </a:r>
            <a:r>
              <a:rPr sz="2400" dirty="0" err="1"/>
              <a:t>en</a:t>
            </a:r>
            <a:r>
              <a:rPr sz="2400" dirty="0"/>
              <a:t> </a:t>
            </a:r>
            <a:r>
              <a:rPr sz="2400" dirty="0" err="1"/>
              <a:t>favorisant</a:t>
            </a:r>
            <a:r>
              <a:rPr sz="2400" dirty="0"/>
              <a:t> </a:t>
            </a:r>
            <a:r>
              <a:rPr sz="2400" dirty="0" err="1"/>
              <a:t>l’innovation</a:t>
            </a:r>
            <a:endParaRPr lang="fr-FR" sz="2400" dirty="0"/>
          </a:p>
          <a:p>
            <a:pPr>
              <a:defRPr sz="1800">
                <a:solidFill>
                  <a:srgbClr val="373B3F"/>
                </a:solidFill>
                <a:latin typeface="Calibri"/>
              </a:defRPr>
            </a:pPr>
            <a:r>
              <a:rPr sz="2400" dirty="0"/>
              <a:t>Par </a:t>
            </a:r>
            <a:r>
              <a:rPr sz="2400" dirty="0" err="1"/>
              <a:t>exemple</a:t>
            </a:r>
            <a:r>
              <a:rPr sz="2400" dirty="0"/>
              <a:t>, un </a:t>
            </a:r>
            <a:r>
              <a:rPr sz="2400" dirty="0" err="1"/>
              <a:t>suivi</a:t>
            </a:r>
            <a:r>
              <a:rPr sz="2400" dirty="0"/>
              <a:t> </a:t>
            </a:r>
            <a:r>
              <a:rPr sz="2400" dirty="0" err="1"/>
              <a:t>produit</a:t>
            </a:r>
            <a:r>
              <a:rPr sz="2400" dirty="0"/>
              <a:t> </a:t>
            </a:r>
            <a:r>
              <a:rPr sz="2400" dirty="0" err="1"/>
              <a:t>en</a:t>
            </a:r>
            <a:r>
              <a:rPr sz="2400" dirty="0"/>
              <a:t> temps </a:t>
            </a:r>
            <a:r>
              <a:rPr sz="2400" dirty="0" err="1"/>
              <a:t>réel</a:t>
            </a:r>
            <a:r>
              <a:rPr sz="2400" dirty="0"/>
              <a:t> </a:t>
            </a:r>
            <a:r>
              <a:rPr sz="2400" dirty="0" err="1"/>
              <a:t>permet</a:t>
            </a:r>
            <a:r>
              <a:rPr sz="2400" dirty="0"/>
              <a:t> </a:t>
            </a:r>
            <a:r>
              <a:rPr sz="2400" dirty="0" err="1"/>
              <a:t>d’anticiper</a:t>
            </a:r>
            <a:r>
              <a:rPr sz="2400" dirty="0"/>
              <a:t> des ruptures, </a:t>
            </a:r>
            <a:r>
              <a:rPr sz="2400" dirty="0" err="1"/>
              <a:t>d’ajuster</a:t>
            </a:r>
            <a:r>
              <a:rPr sz="2400" dirty="0"/>
              <a:t> les prix et </a:t>
            </a:r>
            <a:r>
              <a:rPr sz="2400" dirty="0" err="1"/>
              <a:t>d’optimiser</a:t>
            </a:r>
            <a:r>
              <a:rPr sz="2400" dirty="0"/>
              <a:t> le service client </a:t>
            </a:r>
            <a:r>
              <a:rPr sz="2400" dirty="0" err="1"/>
              <a:t>localement</a:t>
            </a:r>
            <a:r>
              <a:rPr sz="2400" dirty="0"/>
              <a: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3/30</a:t>
            </a:r>
          </a:p>
        </p:txBody>
      </p:sp>
    </p:spTree>
    <p:extLst>
      <p:ext uri="{BB962C8B-B14F-4D97-AF65-F5344CB8AC3E}">
        <p14:creationId xmlns:p14="http://schemas.microsoft.com/office/powerpoint/2010/main" val="122220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langages</a:t>
            </a:r>
          </a:p>
        </p:txBody>
      </p:sp>
      <p:sp>
        <p:nvSpPr>
          <p:cNvPr id="3" name="Espace réservé du contenu 2"/>
          <p:cNvSpPr>
            <a:spLocks noGrp="1"/>
          </p:cNvSpPr>
          <p:nvPr>
            <p:ph idx="1"/>
          </p:nvPr>
        </p:nvSpPr>
        <p:spPr/>
        <p:txBody>
          <a:bodyPr/>
          <a:lstStyle/>
          <a:p>
            <a:r>
              <a:rPr lang="fr-FR" dirty="0"/>
              <a:t>Les "nouveaux"</a:t>
            </a:r>
          </a:p>
          <a:p>
            <a:pPr lvl="1"/>
            <a:r>
              <a:rPr lang="fr-FR" dirty="0"/>
              <a:t>Python, R, Scala, </a:t>
            </a:r>
            <a:r>
              <a:rPr lang="fr-FR" dirty="0" err="1"/>
              <a:t>Kotlin</a:t>
            </a:r>
            <a:r>
              <a:rPr lang="fr-FR" dirty="0"/>
              <a:t>, Julia, …</a:t>
            </a:r>
          </a:p>
          <a:p>
            <a:r>
              <a:rPr lang="fr-FR" dirty="0"/>
              <a:t>Les "anciens"</a:t>
            </a:r>
          </a:p>
          <a:p>
            <a:pPr lvl="1"/>
            <a:r>
              <a:rPr lang="fr-FR" dirty="0"/>
              <a:t>Java, C#</a:t>
            </a:r>
          </a:p>
        </p:txBody>
      </p:sp>
    </p:spTree>
    <p:extLst>
      <p:ext uri="{BB962C8B-B14F-4D97-AF65-F5344CB8AC3E}">
        <p14:creationId xmlns:p14="http://schemas.microsoft.com/office/powerpoint/2010/main" val="3006852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a:t>
            </a:r>
            <a:r>
              <a:rPr lang="fr-FR" dirty="0" err="1"/>
              <a:t>Scientist</a:t>
            </a:r>
            <a:endParaRPr lang="fr-FR" dirty="0"/>
          </a:p>
        </p:txBody>
      </p:sp>
      <p:sp>
        <p:nvSpPr>
          <p:cNvPr id="3" name="Espace réservé du contenu 2"/>
          <p:cNvSpPr>
            <a:spLocks noGrp="1"/>
          </p:cNvSpPr>
          <p:nvPr>
            <p:ph idx="1"/>
          </p:nvPr>
        </p:nvSpPr>
        <p:spPr/>
        <p:txBody>
          <a:bodyPr/>
          <a:lstStyle/>
          <a:p>
            <a:r>
              <a:rPr lang="fr-FR" dirty="0"/>
              <a:t>Le premier objectif du data </a:t>
            </a:r>
            <a:r>
              <a:rPr lang="fr-FR" dirty="0" err="1"/>
              <a:t>scientist</a:t>
            </a:r>
            <a:r>
              <a:rPr lang="fr-FR" dirty="0"/>
              <a:t> est de produire des méthodes (automatisées, autant que possible) de tri et d'analyse de données de masse et de sources plus ou moins complexes ou disjointes de données, afin d'en extraire des informations utiles ou potentiellement utiles</a:t>
            </a:r>
          </a:p>
          <a:p>
            <a:r>
              <a:rPr lang="fr-FR" dirty="0"/>
              <a:t>Terme inventé en 2001 par William Cleveland</a:t>
            </a:r>
          </a:p>
          <a:p>
            <a:r>
              <a:rPr lang="en-US" dirty="0"/>
              <a:t>Data Scientist (n.): Person who is better at statistics than any software engineer and better at software engineering than any statistician</a:t>
            </a:r>
            <a:endParaRPr lang="fr-FR" dirty="0"/>
          </a:p>
          <a:p>
            <a:endParaRPr lang="fr-FR" dirty="0"/>
          </a:p>
        </p:txBody>
      </p:sp>
    </p:spTree>
    <p:extLst>
      <p:ext uri="{BB962C8B-B14F-4D97-AF65-F5344CB8AC3E}">
        <p14:creationId xmlns:p14="http://schemas.microsoft.com/office/powerpoint/2010/main" val="2049857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But</a:t>
            </a:r>
          </a:p>
        </p:txBody>
      </p:sp>
      <p:sp>
        <p:nvSpPr>
          <p:cNvPr id="3" name="Espace réservé du contenu 2"/>
          <p:cNvSpPr>
            <a:spLocks noGrp="1"/>
          </p:cNvSpPr>
          <p:nvPr>
            <p:ph idx="1"/>
          </p:nvPr>
        </p:nvSpPr>
        <p:spPr>
          <a:xfrm>
            <a:off x="628650" y="2040037"/>
            <a:ext cx="7886700" cy="3263504"/>
          </a:xfrm>
        </p:spPr>
        <p:txBody>
          <a:bodyPr/>
          <a:lstStyle/>
          <a:p>
            <a:r>
              <a:rPr lang="fr-FR" dirty="0"/>
              <a:t>En Machine Learning, l'objectif est de trouver un modèle mathématique du phénomène à l'origine des données par apprentissage</a:t>
            </a:r>
          </a:p>
        </p:txBody>
      </p:sp>
      <p:pic>
        <p:nvPicPr>
          <p:cNvPr id="1026" name="Picture 2" descr="Machine learning en E-commerce : une expérience client optimale - Arkheus">
            <a:extLst>
              <a:ext uri="{FF2B5EF4-FFF2-40B4-BE49-F238E27FC236}">
                <a16:creationId xmlns:a16="http://schemas.microsoft.com/office/drawing/2014/main" id="{AB55968D-DE43-4613-BCDF-B4584C368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3501008"/>
            <a:ext cx="3515592" cy="2487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926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 non supervisé ou semi-supervisé</a:t>
            </a:r>
          </a:p>
        </p:txBody>
      </p:sp>
      <p:sp>
        <p:nvSpPr>
          <p:cNvPr id="3" name="Espace réservé du contenu 2"/>
          <p:cNvSpPr>
            <a:spLocks noGrp="1"/>
          </p:cNvSpPr>
          <p:nvPr>
            <p:ph idx="1"/>
          </p:nvPr>
        </p:nvSpPr>
        <p:spPr/>
        <p:txBody>
          <a:bodyPr/>
          <a:lstStyle/>
          <a:p>
            <a:r>
              <a:rPr lang="fr-FR" dirty="0"/>
              <a:t>Clustering</a:t>
            </a:r>
          </a:p>
          <a:p>
            <a:r>
              <a:rPr lang="fr-FR" dirty="0"/>
              <a:t>Regroupement en mesurant une "distance" entre des données</a:t>
            </a:r>
          </a:p>
          <a:p>
            <a:r>
              <a:rPr lang="fr-FR" dirty="0"/>
              <a:t>Par exemple :</a:t>
            </a:r>
          </a:p>
          <a:p>
            <a:pPr lvl="1"/>
            <a:r>
              <a:rPr lang="fr-FR" dirty="0"/>
              <a:t>"Il fait beau" est plus proche de "le temps est magnifique" que "il est beau"</a:t>
            </a:r>
          </a:p>
          <a:p>
            <a:r>
              <a:rPr lang="fr-FR" dirty="0"/>
              <a:t>Cas d'utilisation</a:t>
            </a:r>
          </a:p>
          <a:p>
            <a:pPr lvl="1"/>
            <a:r>
              <a:rPr lang="fr-FR" dirty="0"/>
              <a:t>Regrouper des images qui se ressemblent</a:t>
            </a:r>
          </a:p>
          <a:p>
            <a:pPr lvl="1"/>
            <a:r>
              <a:rPr lang="fr-FR" dirty="0"/>
              <a:t>Regrouper des signaux électromagnétiques qui se ressemblent</a:t>
            </a:r>
          </a:p>
          <a:p>
            <a:pPr lvl="1"/>
            <a:r>
              <a:rPr lang="fr-FR" dirty="0"/>
              <a:t>Regrouper des textes qui se ressemblent avec gestions des synonymes et des contextes</a:t>
            </a:r>
          </a:p>
        </p:txBody>
      </p:sp>
    </p:spTree>
    <p:extLst>
      <p:ext uri="{BB962C8B-B14F-4D97-AF65-F5344CB8AC3E}">
        <p14:creationId xmlns:p14="http://schemas.microsoft.com/office/powerpoint/2010/main" val="3823895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sp>
        <p:nvSpPr>
          <p:cNvPr id="3" name="Espace réservé du contenu 2"/>
          <p:cNvSpPr>
            <a:spLocks noGrp="1"/>
          </p:cNvSpPr>
          <p:nvPr>
            <p:ph idx="1"/>
          </p:nvPr>
        </p:nvSpPr>
        <p:spPr/>
        <p:txBody>
          <a:bodyPr/>
          <a:lstStyle/>
          <a:p>
            <a:r>
              <a:rPr lang="fr-FR" dirty="0"/>
              <a:t>Imaginez que vous voulez savoir si vous payez trop cher votre loyer</a:t>
            </a:r>
          </a:p>
          <a:p>
            <a:r>
              <a:rPr lang="fr-FR" dirty="0"/>
              <a:t>Vous avez récupéré sur un site de location une trentaine de prix des locations disponibles, ainsi que la surface associée</a:t>
            </a:r>
          </a:p>
        </p:txBody>
      </p:sp>
      <p:pic>
        <p:nvPicPr>
          <p:cNvPr id="4" name="Image 3"/>
          <p:cNvPicPr>
            <a:picLocks noChangeAspect="1"/>
          </p:cNvPicPr>
          <p:nvPr/>
        </p:nvPicPr>
        <p:blipFill>
          <a:blip r:embed="rId2"/>
          <a:stretch>
            <a:fillRect/>
          </a:stretch>
        </p:blipFill>
        <p:spPr>
          <a:xfrm>
            <a:off x="4932040" y="4149080"/>
            <a:ext cx="2809875" cy="2038350"/>
          </a:xfrm>
          <a:prstGeom prst="rect">
            <a:avLst/>
          </a:prstGeom>
        </p:spPr>
      </p:pic>
    </p:spTree>
    <p:extLst>
      <p:ext uri="{BB962C8B-B14F-4D97-AF65-F5344CB8AC3E}">
        <p14:creationId xmlns:p14="http://schemas.microsoft.com/office/powerpoint/2010/main" val="3545487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Graphique</a:t>
            </a:r>
          </a:p>
        </p:txBody>
      </p:sp>
      <p:sp>
        <p:nvSpPr>
          <p:cNvPr id="3" name="Espace réservé du contenu 2"/>
          <p:cNvSpPr>
            <a:spLocks noGrp="1"/>
          </p:cNvSpPr>
          <p:nvPr>
            <p:ph idx="1"/>
          </p:nvPr>
        </p:nvSpPr>
        <p:spPr/>
        <p:txBody>
          <a:bodyPr/>
          <a:lstStyle/>
          <a:p>
            <a:r>
              <a:rPr lang="fr-FR" dirty="0"/>
              <a:t>Surface / Loyer</a:t>
            </a:r>
          </a:p>
        </p:txBody>
      </p:sp>
      <p:pic>
        <p:nvPicPr>
          <p:cNvPr id="1028" name="Picture 4" descr="Le loyer mensuel en fonction de la surface du lo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060848"/>
            <a:ext cx="5688632" cy="393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643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Régression linéaire</a:t>
            </a:r>
          </a:p>
        </p:txBody>
      </p:sp>
      <p:sp>
        <p:nvSpPr>
          <p:cNvPr id="3" name="Espace réservé du contenu 2"/>
          <p:cNvSpPr>
            <a:spLocks noGrp="1"/>
          </p:cNvSpPr>
          <p:nvPr>
            <p:ph idx="1"/>
          </p:nvPr>
        </p:nvSpPr>
        <p:spPr/>
        <p:txBody>
          <a:bodyPr/>
          <a:lstStyle/>
          <a:p>
            <a:r>
              <a:rPr lang="fr-FR" dirty="0"/>
              <a:t>Notre exemple montre une régression linéaire</a:t>
            </a:r>
          </a:p>
          <a:p>
            <a:endParaRPr lang="fr-FR" dirty="0"/>
          </a:p>
        </p:txBody>
      </p:sp>
      <p:pic>
        <p:nvPicPr>
          <p:cNvPr id="2056" name="Picture 8" descr="la droite de régression correspondant à la modélisation statistique du nuage de po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1" y="2420888"/>
            <a:ext cx="5212067" cy="3648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816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Classification</a:t>
            </a:r>
          </a:p>
        </p:txBody>
      </p:sp>
      <p:sp>
        <p:nvSpPr>
          <p:cNvPr id="3" name="Espace réservé du contenu 2"/>
          <p:cNvSpPr>
            <a:spLocks noGrp="1"/>
          </p:cNvSpPr>
          <p:nvPr>
            <p:ph idx="1"/>
          </p:nvPr>
        </p:nvSpPr>
        <p:spPr/>
        <p:txBody>
          <a:bodyPr/>
          <a:lstStyle/>
          <a:p>
            <a:r>
              <a:rPr lang="fr-FR" dirty="0"/>
              <a:t>Une autre distinction qui vous aidera dans le choix d'un algorithme de machine </a:t>
            </a:r>
            <a:r>
              <a:rPr lang="fr-FR" dirty="0" err="1"/>
              <a:t>learning</a:t>
            </a:r>
            <a:r>
              <a:rPr lang="fr-FR" dirty="0"/>
              <a:t> est le type de sortie que l'on attend de notre programme</a:t>
            </a:r>
          </a:p>
          <a:p>
            <a:pPr lvl="1"/>
            <a:r>
              <a:rPr lang="fr-FR" dirty="0"/>
              <a:t>Est-ce une valeur continue (un nombre)</a:t>
            </a:r>
          </a:p>
          <a:p>
            <a:pPr lvl="1"/>
            <a:r>
              <a:rPr lang="fr-FR" dirty="0"/>
              <a:t>ou bien une valeur discrète (une catégorie) ?</a:t>
            </a:r>
          </a:p>
          <a:p>
            <a:r>
              <a:rPr lang="fr-FR" dirty="0"/>
              <a:t>Le premier cas est appelé une régression, le second une classification</a:t>
            </a:r>
          </a:p>
        </p:txBody>
      </p:sp>
      <p:pic>
        <p:nvPicPr>
          <p:cNvPr id="1026" name="Picture 2" descr="Illustration de la différence entre régression et classif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4591645"/>
            <a:ext cx="428625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567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a:t>
            </a:r>
          </a:p>
        </p:txBody>
      </p:sp>
      <p:sp>
        <p:nvSpPr>
          <p:cNvPr id="3" name="Espace réservé du contenu 2"/>
          <p:cNvSpPr>
            <a:spLocks noGrp="1"/>
          </p:cNvSpPr>
          <p:nvPr>
            <p:ph idx="1"/>
          </p:nvPr>
        </p:nvSpPr>
        <p:spPr/>
        <p:txBody>
          <a:bodyPr/>
          <a:lstStyle/>
          <a:p>
            <a:r>
              <a:rPr lang="fr-FR" dirty="0"/>
              <a:t>En machine </a:t>
            </a:r>
            <a:r>
              <a:rPr lang="fr-FR" dirty="0" err="1"/>
              <a:t>learning</a:t>
            </a:r>
            <a:r>
              <a:rPr lang="fr-FR" dirty="0"/>
              <a:t>, l'idée est que l'algorithme construise une "représentation interne" tout seul afin de pouvoir effectuer la tâche qui lui est demandée (prédiction, identification, </a:t>
            </a:r>
            <a:r>
              <a:rPr lang="fr-FR" dirty="0" err="1"/>
              <a:t>etc</a:t>
            </a:r>
            <a:r>
              <a:rPr lang="fr-FR" dirty="0"/>
              <a:t>)</a:t>
            </a:r>
          </a:p>
          <a:p>
            <a:r>
              <a:rPr lang="fr-FR" dirty="0"/>
              <a:t>L’être humain est quasiment incapable d’écrire l’algorithme</a:t>
            </a:r>
          </a:p>
          <a:p>
            <a:r>
              <a:rPr lang="fr-FR" dirty="0"/>
              <a:t>Pour cela, il va d'abord falloir lui entrer un jeu de données d'exemples afin qu'il puisse s'entraîner et s'améliorer, d'où le mot apprentissage</a:t>
            </a:r>
          </a:p>
          <a:p>
            <a:r>
              <a:rPr lang="fr-FR" dirty="0"/>
              <a:t>Ce jeu de données s'appelle le training set</a:t>
            </a:r>
          </a:p>
          <a:p>
            <a:endParaRPr lang="fr-FR" dirty="0"/>
          </a:p>
        </p:txBody>
      </p:sp>
    </p:spTree>
    <p:extLst>
      <p:ext uri="{BB962C8B-B14F-4D97-AF65-F5344CB8AC3E}">
        <p14:creationId xmlns:p14="http://schemas.microsoft.com/office/powerpoint/2010/main" val="3013364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8B347E-A3C6-4FD1-B000-9BF2AD49E8CA}"/>
              </a:ext>
            </a:extLst>
          </p:cNvPr>
          <p:cNvSpPr>
            <a:spLocks noGrp="1"/>
          </p:cNvSpPr>
          <p:nvPr>
            <p:ph type="title"/>
          </p:nvPr>
        </p:nvSpPr>
        <p:spPr/>
        <p:txBody>
          <a:bodyPr/>
          <a:lstStyle/>
          <a:p>
            <a:r>
              <a:rPr lang="fr-FR" dirty="0"/>
              <a:t>Les langages et </a:t>
            </a:r>
            <a:r>
              <a:rPr lang="fr-FR" dirty="0" err="1"/>
              <a:t>Frameworks</a:t>
            </a:r>
            <a:endParaRPr lang="fr-FR" dirty="0"/>
          </a:p>
        </p:txBody>
      </p:sp>
      <p:pic>
        <p:nvPicPr>
          <p:cNvPr id="6" name="Picture 2" descr="Python et intelligence artificielle">
            <a:extLst>
              <a:ext uri="{FF2B5EF4-FFF2-40B4-BE49-F238E27FC236}">
                <a16:creationId xmlns:a16="http://schemas.microsoft.com/office/drawing/2014/main" id="{FB769AA8-F524-42F6-A99C-EBEF407B4F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0680" y="3015391"/>
            <a:ext cx="3671455" cy="19899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TensorFlow — Wikipédia">
            <a:extLst>
              <a:ext uri="{FF2B5EF4-FFF2-40B4-BE49-F238E27FC236}">
                <a16:creationId xmlns:a16="http://schemas.microsoft.com/office/drawing/2014/main" id="{7B92E35F-DA87-4345-A44E-D4B0F9977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7541" y="1873856"/>
            <a:ext cx="1304594" cy="1087161"/>
          </a:xfrm>
          <a:prstGeom prst="rect">
            <a:avLst/>
          </a:prstGeom>
          <a:noFill/>
          <a:extLst>
            <a:ext uri="{909E8E84-426E-40DD-AFC4-6F175D3DCCD1}">
              <a14:hiddenFill xmlns:a14="http://schemas.microsoft.com/office/drawing/2010/main">
                <a:solidFill>
                  <a:srgbClr val="FFFFFF"/>
                </a:solidFill>
              </a14:hiddenFill>
            </a:ext>
          </a:extLst>
        </p:spPr>
      </p:pic>
      <p:sp>
        <p:nvSpPr>
          <p:cNvPr id="9" name="Espace réservé du contenu 2">
            <a:extLst>
              <a:ext uri="{FF2B5EF4-FFF2-40B4-BE49-F238E27FC236}">
                <a16:creationId xmlns:a16="http://schemas.microsoft.com/office/drawing/2014/main" id="{C4E86258-C244-48B5-ADC8-901B50E0DF47}"/>
              </a:ext>
            </a:extLst>
          </p:cNvPr>
          <p:cNvSpPr txBox="1">
            <a:spLocks/>
          </p:cNvSpPr>
          <p:nvPr/>
        </p:nvSpPr>
        <p:spPr>
          <a:xfrm>
            <a:off x="217264" y="1851422"/>
            <a:ext cx="4670318" cy="37804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400" dirty="0"/>
              <a:t>Apprentissage</a:t>
            </a:r>
          </a:p>
          <a:p>
            <a:pPr lvl="1"/>
            <a:r>
              <a:rPr lang="fr-FR" sz="2100" dirty="0"/>
              <a:t>Python</a:t>
            </a:r>
          </a:p>
          <a:p>
            <a:pPr lvl="1"/>
            <a:r>
              <a:rPr lang="fr-FR" sz="2100" dirty="0" err="1"/>
              <a:t>Scikit-learn</a:t>
            </a:r>
            <a:endParaRPr lang="fr-FR" sz="2100" dirty="0"/>
          </a:p>
          <a:p>
            <a:pPr lvl="2"/>
            <a:r>
              <a:rPr lang="fr-FR" sz="1500" dirty="0"/>
              <a:t>INRIA et Télécom ParisTech</a:t>
            </a:r>
          </a:p>
          <a:p>
            <a:pPr lvl="1"/>
            <a:r>
              <a:rPr lang="fr-FR" sz="2100" dirty="0" err="1"/>
              <a:t>TensorFlow</a:t>
            </a:r>
            <a:endParaRPr lang="fr-FR" sz="2100" dirty="0"/>
          </a:p>
          <a:p>
            <a:pPr lvl="2"/>
            <a:r>
              <a:rPr lang="fr-FR" sz="1500" dirty="0"/>
              <a:t>Google</a:t>
            </a:r>
          </a:p>
          <a:p>
            <a:pPr lvl="1"/>
            <a:r>
              <a:rPr lang="fr-FR" sz="2000" dirty="0" err="1"/>
              <a:t>PyTorch</a:t>
            </a:r>
            <a:endParaRPr lang="fr-FR" sz="2000" dirty="0"/>
          </a:p>
          <a:p>
            <a:pPr lvl="2"/>
            <a:r>
              <a:rPr lang="fr-FR" sz="1400" dirty="0"/>
              <a:t>Facebook</a:t>
            </a:r>
          </a:p>
          <a:p>
            <a:r>
              <a:rPr lang="fr-FR" sz="2400" dirty="0"/>
              <a:t>Prédiction</a:t>
            </a:r>
          </a:p>
          <a:p>
            <a:pPr lvl="1"/>
            <a:r>
              <a:rPr lang="fr-FR" sz="1800" dirty="0"/>
              <a:t>N'importe quel langage !</a:t>
            </a:r>
          </a:p>
          <a:p>
            <a:pPr lvl="1"/>
            <a:r>
              <a:rPr lang="fr-FR" sz="1800" dirty="0"/>
              <a:t>Embarqué : C++, JS, …</a:t>
            </a:r>
          </a:p>
          <a:p>
            <a:pPr lvl="1"/>
            <a:endParaRPr lang="fr-FR" sz="1500" dirty="0"/>
          </a:p>
        </p:txBody>
      </p:sp>
      <p:pic>
        <p:nvPicPr>
          <p:cNvPr id="11" name="Image 10">
            <a:extLst>
              <a:ext uri="{FF2B5EF4-FFF2-40B4-BE49-F238E27FC236}">
                <a16:creationId xmlns:a16="http://schemas.microsoft.com/office/drawing/2014/main" id="{E2C0264F-CF05-444C-A3C0-924199BBFEB2}"/>
              </a:ext>
            </a:extLst>
          </p:cNvPr>
          <p:cNvPicPr>
            <a:picLocks noChangeAspect="1"/>
          </p:cNvPicPr>
          <p:nvPr/>
        </p:nvPicPr>
        <p:blipFill>
          <a:blip r:embed="rId4"/>
          <a:stretch>
            <a:fillRect/>
          </a:stretch>
        </p:blipFill>
        <p:spPr>
          <a:xfrm>
            <a:off x="5190679" y="1873856"/>
            <a:ext cx="2300288" cy="571500"/>
          </a:xfrm>
          <a:prstGeom prst="rect">
            <a:avLst/>
          </a:prstGeom>
        </p:spPr>
      </p:pic>
    </p:spTree>
    <p:extLst>
      <p:ext uri="{BB962C8B-B14F-4D97-AF65-F5344CB8AC3E}">
        <p14:creationId xmlns:p14="http://schemas.microsoft.com/office/powerpoint/2010/main" val="3605670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89BEBE-6249-4EE9-A3DE-988A6532E15C}"/>
              </a:ext>
            </a:extLst>
          </p:cNvPr>
          <p:cNvSpPr>
            <a:spLocks noGrp="1"/>
          </p:cNvSpPr>
          <p:nvPr>
            <p:ph type="title"/>
          </p:nvPr>
        </p:nvSpPr>
        <p:spPr/>
        <p:txBody>
          <a:bodyPr/>
          <a:lstStyle/>
          <a:p>
            <a:r>
              <a:rPr lang="fr-FR" dirty="0"/>
              <a:t>Les </a:t>
            </a:r>
            <a:r>
              <a:rPr lang="fr-FR" dirty="0" err="1"/>
              <a:t>Frameworks</a:t>
            </a:r>
            <a:r>
              <a:rPr lang="fr-FR" dirty="0"/>
              <a:t> ML et DL</a:t>
            </a:r>
          </a:p>
        </p:txBody>
      </p:sp>
      <p:pic>
        <p:nvPicPr>
          <p:cNvPr id="1036" name="Picture 12">
            <a:extLst>
              <a:ext uri="{FF2B5EF4-FFF2-40B4-BE49-F238E27FC236}">
                <a16:creationId xmlns:a16="http://schemas.microsoft.com/office/drawing/2014/main" id="{CC81630E-520F-4640-A4D7-4C649ED09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507" y="1851422"/>
            <a:ext cx="5938352" cy="340105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ensorFlow — Wikipédia">
            <a:extLst>
              <a:ext uri="{FF2B5EF4-FFF2-40B4-BE49-F238E27FC236}">
                <a16:creationId xmlns:a16="http://schemas.microsoft.com/office/drawing/2014/main" id="{C4B0032F-A73B-40A0-917F-E14A99B3F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7934" y="2089516"/>
            <a:ext cx="1304594" cy="1087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904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1/3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Constituer et donner accès à de très grands jeux de données de qualité</a:t>
            </a:r>
          </a:p>
          <a:p>
            <a:pPr lvl="1"/>
            <a:r>
              <a:rPr lang="fr-FR" sz="1800" dirty="0"/>
              <a:t>le principal facteur limitant à l’heure actuelle n’est pas la technologie mais l’accès à des données de qualité.</a:t>
            </a:r>
          </a:p>
          <a:p>
            <a:pPr lvl="1"/>
            <a:r>
              <a:rPr lang="fr-FR" sz="1800" dirty="0"/>
              <a:t>L’accès à des données massives, corrélées, complètes, qualifiées, historisées, est une clé technologique majeure de mise au point de technologies d’intelligence artificielle aujourd’hui</a:t>
            </a:r>
          </a:p>
        </p:txBody>
      </p:sp>
    </p:spTree>
    <p:extLst>
      <p:ext uri="{BB962C8B-B14F-4D97-AF65-F5344CB8AC3E}">
        <p14:creationId xmlns:p14="http://schemas.microsoft.com/office/powerpoint/2010/main" val="3326188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nouvelles sources de données</a:t>
            </a:r>
          </a:p>
        </p:txBody>
      </p:sp>
      <p:sp>
        <p:nvSpPr>
          <p:cNvPr id="3" name="Espace réservé du contenu 2"/>
          <p:cNvSpPr>
            <a:spLocks noGrp="1"/>
          </p:cNvSpPr>
          <p:nvPr>
            <p:ph idx="1"/>
          </p:nvPr>
        </p:nvSpPr>
        <p:spPr/>
        <p:txBody>
          <a:bodyPr/>
          <a:lstStyle/>
          <a:p>
            <a:endParaRPr lang="fr-FR" dirty="0"/>
          </a:p>
        </p:txBody>
      </p:sp>
      <p:pic>
        <p:nvPicPr>
          <p:cNvPr id="1026" name="Picture 2" descr="Nouvelles sources de données Big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682" y="2186862"/>
            <a:ext cx="5837663" cy="326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66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2/3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Embaucher, capitaliser et former</a:t>
            </a:r>
          </a:p>
          <a:p>
            <a:r>
              <a:rPr lang="fr-FR" sz="2100" dirty="0">
                <a:solidFill>
                  <a:srgbClr val="111111"/>
                </a:solidFill>
                <a:latin typeface="Arial" panose="020B0604020202020204" pitchFamily="34" charset="0"/>
              </a:rPr>
              <a:t>Créer des équipes autonomes</a:t>
            </a:r>
          </a:p>
          <a:p>
            <a:r>
              <a:rPr lang="en-US" sz="2100" dirty="0"/>
              <a:t>Data Scientist (n.): Person who is better at statistics than any software engineer and better at software engineering than any statistician</a:t>
            </a:r>
            <a:endParaRPr lang="fr-FR" sz="2100" dirty="0"/>
          </a:p>
          <a:p>
            <a:endParaRPr lang="fr-FR" sz="2100" b="1" dirty="0">
              <a:solidFill>
                <a:srgbClr val="111111"/>
              </a:solidFill>
              <a:latin typeface="Arial" panose="020B0604020202020204" pitchFamily="34" charset="0"/>
            </a:endParaRPr>
          </a:p>
        </p:txBody>
      </p:sp>
      <p:pic>
        <p:nvPicPr>
          <p:cNvPr id="4" name="Picture 2" descr="https://upload.wikimedia.org/wikipedia/commons/4/44/DataScienceDisciplines.png">
            <a:extLst>
              <a:ext uri="{FF2B5EF4-FFF2-40B4-BE49-F238E27FC236}">
                <a16:creationId xmlns:a16="http://schemas.microsoft.com/office/drawing/2014/main" id="{55A7E1B0-1946-4E1F-92C7-9D63F94A7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4753" y="3667033"/>
            <a:ext cx="3184055" cy="238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774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3/3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Mettre en pratique et industrialiser</a:t>
            </a:r>
          </a:p>
        </p:txBody>
      </p:sp>
    </p:spTree>
    <p:extLst>
      <p:ext uri="{BB962C8B-B14F-4D97-AF65-F5344CB8AC3E}">
        <p14:creationId xmlns:p14="http://schemas.microsoft.com/office/powerpoint/2010/main" val="2372488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20D17-CF15-E635-3055-AFB7B66633E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CED2F95-5320-B028-1543-B3DD02CEC73B}"/>
              </a:ext>
            </a:extLst>
          </p:cNvPr>
          <p:cNvSpPr>
            <a:spLocks noGrp="1"/>
          </p:cNvSpPr>
          <p:nvPr>
            <p:ph type="title"/>
          </p:nvPr>
        </p:nvSpPr>
        <p:spPr/>
        <p:txBody>
          <a:bodyPr/>
          <a:lstStyle/>
          <a:p>
            <a:r>
              <a:rPr lang="fr-FR" dirty="0"/>
              <a:t>Les jeux de données</a:t>
            </a:r>
          </a:p>
        </p:txBody>
      </p:sp>
      <p:sp>
        <p:nvSpPr>
          <p:cNvPr id="3" name="Espace réservé du contenu 2">
            <a:extLst>
              <a:ext uri="{FF2B5EF4-FFF2-40B4-BE49-F238E27FC236}">
                <a16:creationId xmlns:a16="http://schemas.microsoft.com/office/drawing/2014/main" id="{2BCF7F5F-F477-704E-1832-A3558954501F}"/>
              </a:ext>
            </a:extLst>
          </p:cNvPr>
          <p:cNvSpPr>
            <a:spLocks noGrp="1"/>
          </p:cNvSpPr>
          <p:nvPr>
            <p:ph idx="1"/>
          </p:nvPr>
        </p:nvSpPr>
        <p:spPr/>
        <p:txBody>
          <a:bodyPr/>
          <a:lstStyle/>
          <a:p>
            <a:r>
              <a:rPr lang="fr-FR" dirty="0"/>
              <a:t>Le jeu de données nécessaire à l'entrainement de l'IA est appelé </a:t>
            </a:r>
            <a:r>
              <a:rPr lang="fr-FR" dirty="0" err="1"/>
              <a:t>Dataset</a:t>
            </a:r>
            <a:endParaRPr lang="fr-FR" dirty="0"/>
          </a:p>
          <a:p>
            <a:r>
              <a:rPr lang="fr-FR" dirty="0"/>
              <a:t>Il doit être</a:t>
            </a:r>
          </a:p>
          <a:p>
            <a:pPr lvl="1"/>
            <a:r>
              <a:rPr lang="fr-FR" dirty="0"/>
              <a:t>Exhaustif</a:t>
            </a:r>
          </a:p>
          <a:p>
            <a:pPr lvl="1"/>
            <a:r>
              <a:rPr lang="fr-FR" dirty="0"/>
              <a:t>Volumineux</a:t>
            </a:r>
          </a:p>
          <a:p>
            <a:pPr lvl="1"/>
            <a:r>
              <a:rPr lang="fr-FR" dirty="0"/>
              <a:t>De qualité</a:t>
            </a:r>
          </a:p>
          <a:p>
            <a:r>
              <a:rPr lang="fr-FR" dirty="0"/>
              <a:t>Les données doivent être maitrisées</a:t>
            </a:r>
          </a:p>
          <a:p>
            <a:pPr lvl="1"/>
            <a:r>
              <a:rPr lang="fr-FR" dirty="0"/>
              <a:t>Statistiques</a:t>
            </a:r>
          </a:p>
          <a:p>
            <a:r>
              <a:rPr lang="fr-FR" dirty="0"/>
              <a:t>Exemples de </a:t>
            </a:r>
            <a:r>
              <a:rPr lang="fr-FR" dirty="0" err="1"/>
              <a:t>datasets</a:t>
            </a:r>
            <a:endParaRPr lang="fr-FR" dirty="0"/>
          </a:p>
          <a:p>
            <a:endParaRPr lang="fr-FR" dirty="0"/>
          </a:p>
          <a:p>
            <a:endParaRPr lang="fr-FR" dirty="0"/>
          </a:p>
        </p:txBody>
      </p:sp>
    </p:spTree>
    <p:extLst>
      <p:ext uri="{BB962C8B-B14F-4D97-AF65-F5344CB8AC3E}">
        <p14:creationId xmlns:p14="http://schemas.microsoft.com/office/powerpoint/2010/main" val="3631914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Ecart type</a:t>
            </a:r>
          </a:p>
        </p:txBody>
      </p:sp>
      <p:sp>
        <p:nvSpPr>
          <p:cNvPr id="3" name="Espace réservé du contenu 2"/>
          <p:cNvSpPr>
            <a:spLocks noGrp="1"/>
          </p:cNvSpPr>
          <p:nvPr>
            <p:ph idx="1"/>
          </p:nvPr>
        </p:nvSpPr>
        <p:spPr/>
        <p:txBody>
          <a:bodyPr/>
          <a:lstStyle/>
          <a:p>
            <a:r>
              <a:rPr lang="fr-FR" dirty="0"/>
              <a:t>Mesure la dispersion des variables</a:t>
            </a:r>
          </a:p>
          <a:p>
            <a:pPr lvl="1"/>
            <a:r>
              <a:rPr lang="fr-FR" dirty="0"/>
              <a:t>Racine carrée de la variance</a:t>
            </a:r>
          </a:p>
          <a:p>
            <a:pPr lvl="1"/>
            <a:r>
              <a:rPr lang="fr-FR" dirty="0"/>
              <a:t>Moyenne est écarts par rapport à une moyenne</a:t>
            </a:r>
          </a:p>
          <a:p>
            <a:pPr lvl="1"/>
            <a:r>
              <a:rPr lang="fr-FR" dirty="0"/>
              <a:t>Souvent noté sigma</a:t>
            </a:r>
          </a:p>
          <a:p>
            <a:r>
              <a:rPr lang="fr-FR" dirty="0"/>
              <a:t>Voici 2 échantillons avec la même moyenne mais des écarts types différents</a:t>
            </a:r>
          </a:p>
        </p:txBody>
      </p:sp>
      <p:pic>
        <p:nvPicPr>
          <p:cNvPr id="3074" name="Picture 2" descr="https://upload.wikimedia.org/wikipedia/commons/thumb/f/f9/Comparison_standard_deviations.svg/612px-Comparison_standard_deviations.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6792" y="4149081"/>
            <a:ext cx="3071450" cy="2273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032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Loi normale</a:t>
            </a:r>
          </a:p>
        </p:txBody>
      </p:sp>
      <p:sp>
        <p:nvSpPr>
          <p:cNvPr id="3" name="Espace réservé du contenu 2"/>
          <p:cNvSpPr>
            <a:spLocks noGrp="1"/>
          </p:cNvSpPr>
          <p:nvPr>
            <p:ph idx="1"/>
          </p:nvPr>
        </p:nvSpPr>
        <p:spPr/>
        <p:txBody>
          <a:bodyPr/>
          <a:lstStyle/>
          <a:p>
            <a:r>
              <a:rPr lang="fr-FR" dirty="0"/>
              <a:t>Il est fréquent de considérer que les valeurs se répartissent selon une courbe de Gauss</a:t>
            </a:r>
          </a:p>
          <a:p>
            <a:pPr lvl="1"/>
            <a:r>
              <a:rPr lang="fr-FR" dirty="0"/>
              <a:t>Dans le cas des sciences sociales, par exemple, la moyenne et l'écart type permettent de déterminer un intervalle dans lequel on trouve une majorité de la population</a:t>
            </a:r>
          </a:p>
          <a:p>
            <a:pPr lvl="1"/>
            <a:endParaRPr lang="fr-FR" dirty="0"/>
          </a:p>
        </p:txBody>
      </p:sp>
      <p:pic>
        <p:nvPicPr>
          <p:cNvPr id="4098" name="Picture 2" descr="https://upload.wikimedia.org/wikipedia/commons/thumb/8/8c/Standard_deviation_diagram.svg/400px-Standard_deviation_diagram.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4221088"/>
            <a:ext cx="3810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432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Loi normal</a:t>
            </a:r>
          </a:p>
        </p:txBody>
      </p:sp>
      <p:pic>
        <p:nvPicPr>
          <p:cNvPr id="4" name="Image 3"/>
          <p:cNvPicPr>
            <a:picLocks noChangeAspect="1"/>
          </p:cNvPicPr>
          <p:nvPr/>
        </p:nvPicPr>
        <p:blipFill>
          <a:blip r:embed="rId2"/>
          <a:stretch>
            <a:fillRect/>
          </a:stretch>
        </p:blipFill>
        <p:spPr>
          <a:xfrm>
            <a:off x="33337" y="1809750"/>
            <a:ext cx="9077325" cy="3238500"/>
          </a:xfrm>
          <a:prstGeom prst="rect">
            <a:avLst/>
          </a:prstGeom>
        </p:spPr>
      </p:pic>
    </p:spTree>
    <p:extLst>
      <p:ext uri="{BB962C8B-B14F-4D97-AF65-F5344CB8AC3E}">
        <p14:creationId xmlns:p14="http://schemas.microsoft.com/office/powerpoint/2010/main" val="1557055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Loi normale</a:t>
            </a:r>
          </a:p>
        </p:txBody>
      </p:sp>
      <p:sp>
        <p:nvSpPr>
          <p:cNvPr id="3" name="Espace réservé du contenu 2"/>
          <p:cNvSpPr>
            <a:spLocks noGrp="1"/>
          </p:cNvSpPr>
          <p:nvPr>
            <p:ph idx="1"/>
          </p:nvPr>
        </p:nvSpPr>
        <p:spPr/>
        <p:txBody>
          <a:bodyPr/>
          <a:lstStyle/>
          <a:p>
            <a:r>
              <a:rPr lang="fr-FR" dirty="0"/>
              <a:t>Avec le calcul de la distribution des données il est possible de filtrer les données trop éloignées de la loi normale</a:t>
            </a:r>
          </a:p>
          <a:p>
            <a:pPr lvl="1"/>
            <a:r>
              <a:rPr lang="fr-FR" dirty="0"/>
              <a:t>Possibilité de filtrer les données &gt; 3 * Sigma</a:t>
            </a:r>
          </a:p>
          <a:p>
            <a:r>
              <a:rPr lang="fr-FR" dirty="0"/>
              <a:t>Possibilité de calculer la médiane, quartile, décile, centile</a:t>
            </a:r>
          </a:p>
          <a:p>
            <a:pPr lvl="1"/>
            <a:endParaRPr lang="fr-FR" dirty="0"/>
          </a:p>
        </p:txBody>
      </p:sp>
    </p:spTree>
    <p:extLst>
      <p:ext uri="{BB962C8B-B14F-4D97-AF65-F5344CB8AC3E}">
        <p14:creationId xmlns:p14="http://schemas.microsoft.com/office/powerpoint/2010/main" val="2714182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Théorème centrale limite</a:t>
            </a:r>
          </a:p>
        </p:txBody>
      </p:sp>
      <p:sp>
        <p:nvSpPr>
          <p:cNvPr id="3" name="Espace réservé du contenu 2"/>
          <p:cNvSpPr>
            <a:spLocks noGrp="1"/>
          </p:cNvSpPr>
          <p:nvPr>
            <p:ph idx="1"/>
          </p:nvPr>
        </p:nvSpPr>
        <p:spPr/>
        <p:txBody>
          <a:bodyPr/>
          <a:lstStyle/>
          <a:p>
            <a:r>
              <a:rPr lang="fr-FR" dirty="0"/>
              <a:t>Soit une matrice aléatoire avec des valeurs [-n, n]</a:t>
            </a:r>
          </a:p>
          <a:p>
            <a:pPr lvl="1"/>
            <a:r>
              <a:rPr lang="fr-FR" dirty="0"/>
              <a:t>La moyenne et la somme est 0</a:t>
            </a:r>
          </a:p>
          <a:p>
            <a:pPr lvl="1"/>
            <a:r>
              <a:rPr lang="fr-FR" dirty="0"/>
              <a:t>La distribution des sommes des lignes est gaussienne centrée sur 0</a:t>
            </a:r>
          </a:p>
          <a:p>
            <a:pPr lvl="1"/>
            <a:r>
              <a:rPr lang="fr-FR" dirty="0"/>
              <a:t>Médiane = moyenne</a:t>
            </a:r>
          </a:p>
          <a:p>
            <a:pPr lvl="1"/>
            <a:endParaRPr lang="fr-FR" dirty="0"/>
          </a:p>
          <a:p>
            <a:pPr lvl="1"/>
            <a:endParaRPr lang="fr-FR" dirty="0"/>
          </a:p>
        </p:txBody>
      </p:sp>
    </p:spTree>
    <p:extLst>
      <p:ext uri="{BB962C8B-B14F-4D97-AF65-F5344CB8AC3E}">
        <p14:creationId xmlns:p14="http://schemas.microsoft.com/office/powerpoint/2010/main" val="1041234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Cas non gaussien</a:t>
            </a:r>
          </a:p>
        </p:txBody>
      </p:sp>
      <p:sp>
        <p:nvSpPr>
          <p:cNvPr id="3" name="Espace réservé du contenu 2"/>
          <p:cNvSpPr>
            <a:spLocks noGrp="1"/>
          </p:cNvSpPr>
          <p:nvPr>
            <p:ph idx="1"/>
          </p:nvPr>
        </p:nvSpPr>
        <p:spPr/>
        <p:txBody>
          <a:bodyPr/>
          <a:lstStyle/>
          <a:p>
            <a:r>
              <a:rPr lang="fr-FR" dirty="0"/>
              <a:t>Les distribution des salaire en France ne suit pas une gaussienne</a:t>
            </a:r>
          </a:p>
          <a:p>
            <a:pPr lvl="1"/>
            <a:r>
              <a:rPr lang="fr-FR" dirty="0"/>
              <a:t>C’est une gaussienne asymétrique</a:t>
            </a:r>
          </a:p>
          <a:p>
            <a:r>
              <a:rPr lang="fr-FR" dirty="0"/>
              <a:t>La moyenne et l’écart type n’ont pas de sens</a:t>
            </a:r>
          </a:p>
          <a:p>
            <a:r>
              <a:rPr lang="fr-FR" dirty="0"/>
              <a:t>Il faut utilise la médiane et les *iles</a:t>
            </a:r>
          </a:p>
          <a:p>
            <a:r>
              <a:rPr lang="fr-FR" dirty="0"/>
              <a:t>Exemple</a:t>
            </a:r>
          </a:p>
          <a:p>
            <a:pPr lvl="1"/>
            <a:r>
              <a:rPr lang="fr-FR" dirty="0"/>
              <a:t>Salaire équivalent temps plein net</a:t>
            </a:r>
          </a:p>
          <a:p>
            <a:pPr lvl="1"/>
            <a:r>
              <a:rPr lang="fr-FR" dirty="0"/>
              <a:t>Salaire moyen : 2250 €</a:t>
            </a:r>
          </a:p>
          <a:p>
            <a:pPr lvl="1"/>
            <a:r>
              <a:rPr lang="fr-FR" dirty="0"/>
              <a:t>Salaire médian : 1797 €</a:t>
            </a:r>
          </a:p>
          <a:p>
            <a:pPr lvl="1"/>
            <a:endParaRPr lang="fr-FR" dirty="0"/>
          </a:p>
        </p:txBody>
      </p:sp>
      <p:pic>
        <p:nvPicPr>
          <p:cNvPr id="5122" name="Picture 2" descr="Résultat de recherche d'images pour &quot;distribution des salaires en france&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7864" y="3789040"/>
            <a:ext cx="3367370" cy="2262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0907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Cas non gaussiens</a:t>
            </a:r>
          </a:p>
        </p:txBody>
      </p:sp>
      <p:sp>
        <p:nvSpPr>
          <p:cNvPr id="3" name="Espace réservé du contenu 2"/>
          <p:cNvSpPr>
            <a:spLocks noGrp="1"/>
          </p:cNvSpPr>
          <p:nvPr>
            <p:ph idx="1"/>
          </p:nvPr>
        </p:nvSpPr>
        <p:spPr/>
        <p:txBody>
          <a:bodyPr/>
          <a:lstStyle/>
          <a:p>
            <a:r>
              <a:rPr lang="fr-FR" dirty="0" err="1"/>
              <a:t>Median</a:t>
            </a:r>
            <a:endParaRPr lang="fr-FR" dirty="0"/>
          </a:p>
          <a:p>
            <a:pPr lvl="1"/>
            <a:r>
              <a:rPr lang="fr-FR" dirty="0"/>
              <a:t>Médiane</a:t>
            </a:r>
          </a:p>
          <a:p>
            <a:pPr lvl="1"/>
            <a:r>
              <a:rPr lang="fr-FR" dirty="0"/>
              <a:t>50% des valeurs au dessous et 50% </a:t>
            </a:r>
            <a:r>
              <a:rPr lang="fr-FR"/>
              <a:t>au dessus</a:t>
            </a:r>
            <a:endParaRPr lang="fr-FR" dirty="0"/>
          </a:p>
          <a:p>
            <a:r>
              <a:rPr lang="fr-FR" dirty="0"/>
              <a:t>Quantile</a:t>
            </a:r>
          </a:p>
          <a:p>
            <a:pPr lvl="1"/>
            <a:r>
              <a:rPr lang="fr-FR" dirty="0"/>
              <a:t>Le 2</a:t>
            </a:r>
            <a:r>
              <a:rPr lang="fr-FR" baseline="30000" dirty="0"/>
              <a:t>ème</a:t>
            </a:r>
            <a:r>
              <a:rPr lang="fr-FR" dirty="0"/>
              <a:t> paramètre représente le quantile</a:t>
            </a:r>
          </a:p>
          <a:p>
            <a:pPr lvl="1"/>
            <a:r>
              <a:rPr lang="fr-FR" dirty="0"/>
              <a:t>0.5 = médiane</a:t>
            </a:r>
          </a:p>
          <a:p>
            <a:pPr lvl="1"/>
            <a:r>
              <a:rPr lang="fr-FR" dirty="0"/>
              <a:t>0.25 = quartile</a:t>
            </a:r>
          </a:p>
          <a:p>
            <a:pPr lvl="1"/>
            <a:r>
              <a:rPr lang="fr-FR" dirty="0"/>
              <a:t>0.1 = décile</a:t>
            </a:r>
          </a:p>
        </p:txBody>
      </p:sp>
      <p:pic>
        <p:nvPicPr>
          <p:cNvPr id="2050" name="Picture 2" descr="https://media.geeksforgeeks.org/wp-content/uploads/quanti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1042" y="4437112"/>
            <a:ext cx="3600400" cy="1921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4027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C621C4-271F-BCBF-47DB-1D4B9D67B68E}"/>
              </a:ext>
            </a:extLst>
          </p:cNvPr>
          <p:cNvSpPr>
            <a:spLocks noGrp="1"/>
          </p:cNvSpPr>
          <p:nvPr>
            <p:ph type="title"/>
          </p:nvPr>
        </p:nvSpPr>
        <p:spPr/>
        <p:txBody>
          <a:bodyPr/>
          <a:lstStyle/>
          <a:p>
            <a:r>
              <a:rPr lang="fr-FR" dirty="0"/>
              <a:t>Dataviz</a:t>
            </a:r>
          </a:p>
        </p:txBody>
      </p:sp>
      <p:sp>
        <p:nvSpPr>
          <p:cNvPr id="3" name="Espace réservé du contenu 2">
            <a:extLst>
              <a:ext uri="{FF2B5EF4-FFF2-40B4-BE49-F238E27FC236}">
                <a16:creationId xmlns:a16="http://schemas.microsoft.com/office/drawing/2014/main" id="{71C14DB0-BF73-B644-AD43-D8E0B922D17B}"/>
              </a:ext>
            </a:extLst>
          </p:cNvPr>
          <p:cNvSpPr>
            <a:spLocks noGrp="1"/>
          </p:cNvSpPr>
          <p:nvPr>
            <p:ph idx="1"/>
          </p:nvPr>
        </p:nvSpPr>
        <p:spPr/>
        <p:txBody>
          <a:bodyPr/>
          <a:lstStyle/>
          <a:p>
            <a:r>
              <a:rPr lang="fr-FR" dirty="0"/>
              <a:t>Représenter la donnée graphiquement</a:t>
            </a:r>
          </a:p>
          <a:p>
            <a:r>
              <a:rPr lang="fr-FR" dirty="0"/>
              <a:t>Outils commerciaux</a:t>
            </a:r>
          </a:p>
          <a:p>
            <a:pPr lvl="1"/>
            <a:r>
              <a:rPr lang="fr-FR" dirty="0"/>
              <a:t>Excel</a:t>
            </a:r>
          </a:p>
          <a:p>
            <a:pPr lvl="1"/>
            <a:r>
              <a:rPr lang="fr-FR" dirty="0"/>
              <a:t>Power BI</a:t>
            </a:r>
          </a:p>
          <a:p>
            <a:pPr lvl="1"/>
            <a:r>
              <a:rPr lang="fr-FR" dirty="0"/>
              <a:t>Tableau</a:t>
            </a:r>
          </a:p>
          <a:p>
            <a:pPr lvl="1"/>
            <a:r>
              <a:rPr lang="fr-FR" dirty="0"/>
              <a:t>Qlik</a:t>
            </a:r>
          </a:p>
          <a:p>
            <a:r>
              <a:rPr lang="fr-FR" dirty="0"/>
              <a:t>Outils libres de programmation</a:t>
            </a:r>
          </a:p>
          <a:p>
            <a:pPr lvl="1"/>
            <a:r>
              <a:rPr lang="fr-FR" dirty="0" err="1"/>
              <a:t>Matplotlib</a:t>
            </a:r>
            <a:endParaRPr lang="fr-FR" dirty="0"/>
          </a:p>
          <a:p>
            <a:pPr lvl="1"/>
            <a:r>
              <a:rPr lang="fr-FR" dirty="0" err="1"/>
              <a:t>Seaborn</a:t>
            </a:r>
            <a:endParaRPr lang="fr-FR" dirty="0"/>
          </a:p>
          <a:p>
            <a:r>
              <a:rPr lang="fr-FR" dirty="0"/>
              <a:t>Démonstration</a:t>
            </a:r>
          </a:p>
          <a:p>
            <a:endParaRPr lang="fr-FR" dirty="0"/>
          </a:p>
        </p:txBody>
      </p:sp>
    </p:spTree>
    <p:extLst>
      <p:ext uri="{BB962C8B-B14F-4D97-AF65-F5344CB8AC3E}">
        <p14:creationId xmlns:p14="http://schemas.microsoft.com/office/powerpoint/2010/main" val="35963553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Qualité des données : enjeux et indicateurs</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La qualité se mesure par l’exactitude, la complétude, la cohérence et la fraîcheur. Par exemple, un tableau de bord hebdomadaire de qualité met en évidence des colonnes critiques, déclenche des corrections et sécurise la fiabilité des rapports exécutifs publiés.</a:t>
            </a:r>
          </a:p>
        </p:txBody>
      </p:sp>
      <p:pic>
        <p:nvPicPr>
          <p:cNvPr id="4" name="Picture 3" descr="chart_radar_qualite.png"/>
          <p:cNvPicPr>
            <a:picLocks noChangeAspect="1"/>
          </p:cNvPicPr>
          <p:nvPr/>
        </p:nvPicPr>
        <p:blipFill>
          <a:blip r:embed="rId2"/>
          <a:stretch>
            <a:fillRect/>
          </a:stretch>
        </p:blipFill>
        <p:spPr>
          <a:xfrm>
            <a:off x="5486400" y="1828800"/>
            <a:ext cx="3617280"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15/30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Ensembles d’entraînement, validation et test</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Séparer les ensembles évite la fuite d’information et garantit une estimation honnête de performance. Par exemple, réserver un jeu de test temporel permet de simuler une mise en production future et d’évaluer la robustesse réellement attendue.</a:t>
            </a:r>
          </a:p>
        </p:txBody>
      </p:sp>
      <p:pic>
        <p:nvPicPr>
          <p:cNvPr id="4" name="Picture 3" descr="chart_split.png"/>
          <p:cNvPicPr>
            <a:picLocks noChangeAspect="1"/>
          </p:cNvPicPr>
          <p:nvPr/>
        </p:nvPicPr>
        <p:blipFill>
          <a:blip r:embed="rId2"/>
          <a:stretch>
            <a:fillRect/>
          </a:stretch>
        </p:blipFill>
        <p:spPr>
          <a:xfrm>
            <a:off x="5220072" y="3212976"/>
            <a:ext cx="2916776"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16/30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Outils pour la visualisation (Dataviz)</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La dataviz sert l’exploration, l’explication et la décision. Par exemple, un graphique en barres comparant des canaux marketing révèle immédiatement l’efficacité relative et guide la redistribution budgétaire vers les leviers les plus performants rapidement.</a:t>
            </a:r>
          </a:p>
        </p:txBody>
      </p:sp>
      <p:pic>
        <p:nvPicPr>
          <p:cNvPr id="4" name="Picture 3" descr="chart_histogram.png"/>
          <p:cNvPicPr>
            <a:picLocks noChangeAspect="1"/>
          </p:cNvPicPr>
          <p:nvPr/>
        </p:nvPicPr>
        <p:blipFill>
          <a:blip r:embed="rId2"/>
          <a:stretch>
            <a:fillRect/>
          </a:stretch>
        </p:blipFill>
        <p:spPr>
          <a:xfrm>
            <a:off x="2195736" y="3259994"/>
            <a:ext cx="4311574"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18/30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Principes de la Dataviz efficace</a:t>
            </a:r>
          </a:p>
        </p:txBody>
      </p:sp>
      <p:sp>
        <p:nvSpPr>
          <p:cNvPr id="3" name="Content Placeholder 2"/>
          <p:cNvSpPr>
            <a:spLocks noGrp="1"/>
          </p:cNvSpPr>
          <p:nvPr>
            <p:ph idx="1"/>
          </p:nvPr>
        </p:nvSpPr>
        <p:spPr/>
        <p:txBody>
          <a:bodyPr/>
          <a:lstStyle/>
          <a:p>
            <a:endParaRPr sz="4800" dirty="0"/>
          </a:p>
          <a:p>
            <a:pPr>
              <a:defRPr sz="1800">
                <a:solidFill>
                  <a:srgbClr val="373B3F"/>
                </a:solidFill>
                <a:latin typeface="Calibri"/>
              </a:defRPr>
            </a:pPr>
            <a:r>
              <a:rPr sz="2400" dirty="0" err="1"/>
              <a:t>Privilégier</a:t>
            </a:r>
            <a:r>
              <a:rPr sz="2400" dirty="0"/>
              <a:t> la </a:t>
            </a:r>
            <a:r>
              <a:rPr sz="2400" dirty="0" err="1"/>
              <a:t>simplicité</a:t>
            </a:r>
            <a:r>
              <a:rPr sz="2400" dirty="0"/>
              <a:t>, les </a:t>
            </a:r>
            <a:r>
              <a:rPr sz="2400" dirty="0" err="1"/>
              <a:t>comparaisons</a:t>
            </a:r>
            <a:r>
              <a:rPr sz="2400" dirty="0"/>
              <a:t> </a:t>
            </a:r>
            <a:r>
              <a:rPr sz="2400" dirty="0" err="1"/>
              <a:t>claires</a:t>
            </a:r>
            <a:r>
              <a:rPr sz="2400" dirty="0"/>
              <a:t>, des axes </a:t>
            </a:r>
            <a:r>
              <a:rPr sz="2400" dirty="0" err="1"/>
              <a:t>honnêtes</a:t>
            </a:r>
            <a:r>
              <a:rPr sz="2400" dirty="0"/>
              <a:t> et des annotations </a:t>
            </a:r>
            <a:r>
              <a:rPr sz="2400" dirty="0" err="1"/>
              <a:t>utiles</a:t>
            </a:r>
            <a:endParaRPr lang="fr-FR" sz="2400" dirty="0"/>
          </a:p>
          <a:p>
            <a:pPr>
              <a:defRPr sz="1800">
                <a:solidFill>
                  <a:srgbClr val="373B3F"/>
                </a:solidFill>
                <a:latin typeface="Calibri"/>
              </a:defRPr>
            </a:pPr>
            <a:r>
              <a:rPr sz="2400" dirty="0"/>
              <a:t>Par </a:t>
            </a:r>
            <a:r>
              <a:rPr sz="2400" dirty="0" err="1"/>
              <a:t>exemple</a:t>
            </a:r>
            <a:r>
              <a:rPr sz="2400" dirty="0"/>
              <a:t>, </a:t>
            </a:r>
            <a:r>
              <a:rPr sz="2400" dirty="0" err="1"/>
              <a:t>enlever</a:t>
            </a:r>
            <a:r>
              <a:rPr sz="2400" dirty="0"/>
              <a:t> la 3D </a:t>
            </a:r>
            <a:r>
              <a:rPr sz="2400" dirty="0" err="1"/>
              <a:t>superflue</a:t>
            </a:r>
            <a:r>
              <a:rPr sz="2400" dirty="0"/>
              <a:t> et </a:t>
            </a:r>
            <a:r>
              <a:rPr sz="2400" dirty="0" err="1"/>
              <a:t>ajouter</a:t>
            </a:r>
            <a:r>
              <a:rPr sz="2400" dirty="0"/>
              <a:t> </a:t>
            </a:r>
            <a:r>
              <a:rPr sz="2400" dirty="0" err="1"/>
              <a:t>une</a:t>
            </a:r>
            <a:r>
              <a:rPr sz="2400" dirty="0"/>
              <a:t> </a:t>
            </a:r>
            <a:r>
              <a:rPr sz="2400" dirty="0" err="1"/>
              <a:t>référence</a:t>
            </a:r>
            <a:r>
              <a:rPr sz="2400" dirty="0"/>
              <a:t> </a:t>
            </a:r>
            <a:r>
              <a:rPr sz="2400" dirty="0" err="1"/>
              <a:t>cible</a:t>
            </a:r>
            <a:r>
              <a:rPr sz="2400" dirty="0"/>
              <a:t> </a:t>
            </a:r>
            <a:r>
              <a:rPr sz="2400" dirty="0" err="1"/>
              <a:t>améliore</a:t>
            </a:r>
            <a:r>
              <a:rPr sz="2400" dirty="0"/>
              <a:t> la </a:t>
            </a:r>
            <a:r>
              <a:rPr sz="2400" dirty="0" err="1"/>
              <a:t>compréhension</a:t>
            </a:r>
            <a:r>
              <a:rPr sz="2400" dirty="0"/>
              <a:t> et </a:t>
            </a:r>
            <a:r>
              <a:rPr sz="2400" dirty="0" err="1"/>
              <a:t>accélère</a:t>
            </a:r>
            <a:r>
              <a:rPr sz="2400" dirty="0"/>
              <a:t> la </a:t>
            </a:r>
            <a:r>
              <a:rPr sz="2400" dirty="0" err="1"/>
              <a:t>décision</a:t>
            </a:r>
            <a:r>
              <a:rPr sz="2400" dirty="0"/>
              <a:t> </a:t>
            </a:r>
            <a:r>
              <a:rPr sz="2400" dirty="0" err="1"/>
              <a:t>lors</a:t>
            </a:r>
            <a:r>
              <a:rPr sz="2400" dirty="0"/>
              <a:t> d’un </a:t>
            </a:r>
            <a:r>
              <a:rPr sz="2400" dirty="0" err="1"/>
              <a:t>comité</a:t>
            </a:r>
            <a:r>
              <a:rPr sz="2400" dirty="0"/>
              <a:t> </a:t>
            </a:r>
            <a:r>
              <a:rPr sz="2400" dirty="0" err="1"/>
              <a:t>mensuel</a:t>
            </a:r>
            <a:r>
              <a:rPr sz="2400" dirty="0"/>
              <a:t> </a:t>
            </a:r>
            <a:r>
              <a:rPr sz="2400" dirty="0" err="1"/>
              <a:t>opérationnel</a:t>
            </a:r>
            <a:r>
              <a:rPr sz="2400" dirty="0"/>
              <a:t> </a:t>
            </a:r>
            <a:r>
              <a:rPr sz="2400" dirty="0" err="1"/>
              <a:t>exigeant</a:t>
            </a:r>
            <a:r>
              <a:rPr sz="2400" dirty="0"/>
              <a: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19/30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Exemples d’outils de Dataviz</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Power BI, Tableau et Qlik facilitent la création de tableaux de bord gouvernés, tandis que Python et R offrent flexibilité analytique. Par exemple, prototyper sous notebooks puis industrialiser sous Power BI concilie vitesse d’exploration et gouvernance centralisée robuste.</a:t>
            </a:r>
          </a:p>
        </p:txBody>
      </p:sp>
      <p:pic>
        <p:nvPicPr>
          <p:cNvPr id="4" name="Picture 3" descr="chart_cost_perf.png"/>
          <p:cNvPicPr>
            <a:picLocks noChangeAspect="1"/>
          </p:cNvPicPr>
          <p:nvPr/>
        </p:nvPicPr>
        <p:blipFill>
          <a:blip r:embed="rId2"/>
          <a:stretch>
            <a:fillRect/>
          </a:stretch>
        </p:blipFill>
        <p:spPr>
          <a:xfrm>
            <a:off x="3059832" y="3291840"/>
            <a:ext cx="3846296"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20/30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Focus qualité : processus &amp; rôles</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Les data owners et stewards définissent règles, contrôles et responsabilités. Par exemple, un SLA de fraîcheur sur une table produit déclenche une alerte si la mise à jour dépasse vingt-quatre heures, ce qui sécurise les indicateurs d’activité sensibles ensuite.</a:t>
            </a:r>
          </a:p>
        </p:txBody>
      </p:sp>
      <p:pic>
        <p:nvPicPr>
          <p:cNvPr id="4" name="Picture 3" descr="chart_radar_qualite.png"/>
          <p:cNvPicPr>
            <a:picLocks noChangeAspect="1"/>
          </p:cNvPicPr>
          <p:nvPr/>
        </p:nvPicPr>
        <p:blipFill>
          <a:blip r:embed="rId2"/>
          <a:stretch>
            <a:fillRect/>
          </a:stretch>
        </p:blipFill>
        <p:spPr>
          <a:xfrm>
            <a:off x="5486400" y="1828800"/>
            <a:ext cx="3617280"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21/30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Risques liés à des données de mauvaise qualité</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Une donnée médiocre induit décisions erronées, biais, non-conformité et coûts opérationnels. Par exemple, un doublon client fausse le chiffre d’affaires, déclenche des envois multiples et détériore la satisfaction, avec des impacts financiers immédiats et durables notablement.</a:t>
            </a:r>
          </a:p>
        </p:txBody>
      </p:sp>
      <p:pic>
        <p:nvPicPr>
          <p:cNvPr id="4" name="Picture 3" descr="chart_pipeline_retention.png"/>
          <p:cNvPicPr>
            <a:picLocks noChangeAspect="1"/>
          </p:cNvPicPr>
          <p:nvPr/>
        </p:nvPicPr>
        <p:blipFill>
          <a:blip r:embed="rId2"/>
          <a:stretch>
            <a:fillRect/>
          </a:stretch>
        </p:blipFill>
        <p:spPr>
          <a:xfrm>
            <a:off x="5486400" y="1828800"/>
            <a:ext cx="5326123"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22/30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Bonnes pratiques pour garantir la qualité</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Mettre en place contrats de données, tests automatiques et monitoring des dérives. Par exemple, Great Expectations vérifie des contraintes de schéma, tandis que des alertes de drift signalent un changement de distribution nécessitant une réentraînement planifié utilement.</a:t>
            </a:r>
          </a:p>
        </p:txBody>
      </p:sp>
      <p:pic>
        <p:nvPicPr>
          <p:cNvPr id="4" name="Picture 3" descr="chart_freshness.png"/>
          <p:cNvPicPr>
            <a:picLocks noChangeAspect="1"/>
          </p:cNvPicPr>
          <p:nvPr/>
        </p:nvPicPr>
        <p:blipFill>
          <a:blip r:embed="rId2"/>
          <a:stretch>
            <a:fillRect/>
          </a:stretch>
        </p:blipFill>
        <p:spPr>
          <a:xfrm>
            <a:off x="5486400" y="1828800"/>
            <a:ext cx="4411121"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23/30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Cas pratique 1 : Préparation d’un dataset pour l’IA</a:t>
            </a:r>
          </a:p>
        </p:txBody>
      </p:sp>
      <p:sp>
        <p:nvSpPr>
          <p:cNvPr id="3" name="Content Placeholder 2"/>
          <p:cNvSpPr>
            <a:spLocks noGrp="1"/>
          </p:cNvSpPr>
          <p:nvPr>
            <p:ph idx="1"/>
          </p:nvPr>
        </p:nvSpPr>
        <p:spPr/>
        <p:txBody>
          <a:bodyPr/>
          <a:lstStyle/>
          <a:p>
            <a:endParaRPr sz="3600" dirty="0"/>
          </a:p>
          <a:p>
            <a:pPr>
              <a:defRPr sz="1800">
                <a:solidFill>
                  <a:srgbClr val="373B3F"/>
                </a:solidFill>
                <a:latin typeface="Calibri"/>
              </a:defRPr>
            </a:pPr>
            <a:r>
              <a:rPr sz="2400" dirty="0"/>
              <a:t>À </a:t>
            </a:r>
            <a:r>
              <a:rPr sz="2400" dirty="0" err="1"/>
              <a:t>partir</a:t>
            </a:r>
            <a:r>
              <a:rPr sz="2400" dirty="0"/>
              <a:t> d’un </a:t>
            </a:r>
            <a:r>
              <a:rPr sz="2400" dirty="0" err="1"/>
              <a:t>fichier</a:t>
            </a:r>
            <a:r>
              <a:rPr sz="2400" dirty="0"/>
              <a:t> ventes, nous </a:t>
            </a:r>
            <a:r>
              <a:rPr sz="2400" dirty="0" err="1"/>
              <a:t>profilons</a:t>
            </a:r>
            <a:r>
              <a:rPr sz="2400" dirty="0"/>
              <a:t> les </a:t>
            </a:r>
            <a:r>
              <a:rPr sz="2400" dirty="0" err="1"/>
              <a:t>colonnes</a:t>
            </a:r>
            <a:r>
              <a:rPr sz="2400" dirty="0"/>
              <a:t>, </a:t>
            </a:r>
            <a:r>
              <a:rPr sz="2400" dirty="0" err="1"/>
              <a:t>traitons</a:t>
            </a:r>
            <a:r>
              <a:rPr sz="2400" dirty="0"/>
              <a:t> les </a:t>
            </a:r>
            <a:r>
              <a:rPr sz="2400" dirty="0" err="1"/>
              <a:t>valeurs</a:t>
            </a:r>
            <a:r>
              <a:rPr sz="2400" dirty="0"/>
              <a:t> </a:t>
            </a:r>
            <a:r>
              <a:rPr sz="2400" dirty="0" err="1"/>
              <a:t>manquantes</a:t>
            </a:r>
            <a:r>
              <a:rPr sz="2400" dirty="0"/>
              <a:t> et </a:t>
            </a:r>
            <a:r>
              <a:rPr sz="2400" dirty="0" err="1"/>
              <a:t>créons</a:t>
            </a:r>
            <a:r>
              <a:rPr sz="2400" dirty="0"/>
              <a:t> des variables </a:t>
            </a:r>
            <a:r>
              <a:rPr sz="2400" dirty="0" err="1"/>
              <a:t>dérivées</a:t>
            </a:r>
            <a:r>
              <a:rPr sz="2400" dirty="0"/>
              <a:t>. </a:t>
            </a:r>
            <a:endParaRPr lang="fr-FR" sz="2400" dirty="0"/>
          </a:p>
          <a:p>
            <a:pPr>
              <a:defRPr sz="1800">
                <a:solidFill>
                  <a:srgbClr val="373B3F"/>
                </a:solidFill>
                <a:latin typeface="Calibri"/>
              </a:defRPr>
            </a:pPr>
            <a:r>
              <a:rPr sz="2400" dirty="0"/>
              <a:t>Par </a:t>
            </a:r>
            <a:r>
              <a:rPr sz="2400" dirty="0" err="1"/>
              <a:t>exemple</a:t>
            </a:r>
            <a:r>
              <a:rPr sz="2400" dirty="0"/>
              <a:t>, la </a:t>
            </a:r>
            <a:r>
              <a:rPr sz="2400" dirty="0" err="1"/>
              <a:t>création</a:t>
            </a:r>
            <a:r>
              <a:rPr sz="2400" dirty="0"/>
              <a:t> d’un </a:t>
            </a:r>
            <a:r>
              <a:rPr sz="2400" dirty="0" err="1"/>
              <a:t>indicateur</a:t>
            </a:r>
            <a:r>
              <a:rPr sz="2400" dirty="0"/>
              <a:t> de </a:t>
            </a:r>
            <a:r>
              <a:rPr sz="2400" dirty="0" err="1"/>
              <a:t>récence</a:t>
            </a:r>
            <a:r>
              <a:rPr sz="2400" dirty="0"/>
              <a:t> </a:t>
            </a:r>
            <a:r>
              <a:rPr sz="2400" dirty="0" err="1"/>
              <a:t>améliore</a:t>
            </a:r>
            <a:r>
              <a:rPr sz="2400" dirty="0"/>
              <a:t> un </a:t>
            </a:r>
            <a:r>
              <a:rPr sz="2400" dirty="0" err="1"/>
              <a:t>modèle</a:t>
            </a:r>
            <a:r>
              <a:rPr sz="2400" dirty="0"/>
              <a:t> de churn </a:t>
            </a:r>
            <a:r>
              <a:rPr sz="2400" dirty="0" err="1"/>
              <a:t>en</a:t>
            </a:r>
            <a:r>
              <a:rPr sz="2400" dirty="0"/>
              <a:t> </a:t>
            </a:r>
            <a:r>
              <a:rPr sz="2400" dirty="0" err="1"/>
              <a:t>offrant</a:t>
            </a:r>
            <a:r>
              <a:rPr sz="2400" dirty="0"/>
              <a:t> un signal </a:t>
            </a:r>
            <a:r>
              <a:rPr sz="2400" dirty="0" err="1"/>
              <a:t>comportemental</a:t>
            </a:r>
            <a:r>
              <a:rPr sz="2400" dirty="0"/>
              <a:t> simple et puissant ensemble.</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24/30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Cas pratique 2 : Visualisation et interprétation</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Nous construisons un tableau de bord simple avec ventes, marge et taux de retour. Par exemple, un graphique lignes par semaine révèle une saisonnalité, tandis qu’une carte met en évidence des régions sous-performantes nécessitant un plan d’actions ciblé réactif.</a:t>
            </a:r>
          </a:p>
        </p:txBody>
      </p:sp>
      <p:pic>
        <p:nvPicPr>
          <p:cNvPr id="4" name="Picture 3" descr="chart_drift.png"/>
          <p:cNvPicPr>
            <a:picLocks noChangeAspect="1"/>
          </p:cNvPicPr>
          <p:nvPr/>
        </p:nvPicPr>
        <p:blipFill>
          <a:blip r:embed="rId2"/>
          <a:stretch>
            <a:fillRect/>
          </a:stretch>
        </p:blipFill>
        <p:spPr>
          <a:xfrm>
            <a:off x="2387398" y="3294342"/>
            <a:ext cx="4350278"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25/30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Étude de cas : projet Data Science en entreprise</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Sur un cas de prévision de demande, la consolidation des historiques et promotions a permis d’abaisser les ruptures. Par exemple, une réduction de dix pour cent des stocks dormants a été obtenue grâce à une meilleure allocation par entrepôt géographiquement adaptée efficacement.</a:t>
            </a:r>
          </a:p>
        </p:txBody>
      </p:sp>
      <p:pic>
        <p:nvPicPr>
          <p:cNvPr id="4" name="Picture 3" descr="chart_confusion.png"/>
          <p:cNvPicPr>
            <a:picLocks noChangeAspect="1"/>
          </p:cNvPicPr>
          <p:nvPr/>
        </p:nvPicPr>
        <p:blipFill>
          <a:blip r:embed="rId2"/>
          <a:stretch>
            <a:fillRect/>
          </a:stretch>
        </p:blipFill>
        <p:spPr>
          <a:xfrm>
            <a:off x="4860032" y="3237411"/>
            <a:ext cx="3701601"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26/30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Retour d’expérience : erreurs fréquentes</a:t>
            </a:r>
          </a:p>
        </p:txBody>
      </p:sp>
      <p:sp>
        <p:nvSpPr>
          <p:cNvPr id="3" name="Content Placeholder 2"/>
          <p:cNvSpPr>
            <a:spLocks noGrp="1"/>
          </p:cNvSpPr>
          <p:nvPr>
            <p:ph idx="1"/>
          </p:nvPr>
        </p:nvSpPr>
        <p:spPr/>
        <p:txBody>
          <a:bodyPr/>
          <a:lstStyle/>
          <a:p>
            <a:endParaRPr sz="4800" dirty="0"/>
          </a:p>
          <a:p>
            <a:pPr>
              <a:defRPr sz="1800">
                <a:solidFill>
                  <a:srgbClr val="373B3F"/>
                </a:solidFill>
                <a:latin typeface="Calibri"/>
              </a:defRPr>
            </a:pPr>
            <a:r>
              <a:rPr sz="2400" dirty="0"/>
              <a:t>Les </a:t>
            </a:r>
            <a:r>
              <a:rPr sz="2400" dirty="0" err="1"/>
              <a:t>écueils</a:t>
            </a:r>
            <a:r>
              <a:rPr sz="2400" dirty="0"/>
              <a:t> </a:t>
            </a:r>
            <a:r>
              <a:rPr sz="2400" dirty="0" err="1"/>
              <a:t>récurrents</a:t>
            </a:r>
            <a:r>
              <a:rPr sz="2400" dirty="0"/>
              <a:t> </a:t>
            </a:r>
            <a:r>
              <a:rPr sz="2400" dirty="0" err="1"/>
              <a:t>incluent</a:t>
            </a:r>
            <a:r>
              <a:rPr sz="2400" dirty="0"/>
              <a:t> la </a:t>
            </a:r>
            <a:r>
              <a:rPr sz="2400" dirty="0" err="1"/>
              <a:t>fuite</a:t>
            </a:r>
            <a:r>
              <a:rPr sz="2400" dirty="0"/>
              <a:t> de </a:t>
            </a:r>
            <a:r>
              <a:rPr sz="2400" dirty="0" err="1"/>
              <a:t>cibles</a:t>
            </a:r>
            <a:r>
              <a:rPr sz="2400" dirty="0"/>
              <a:t>, </a:t>
            </a:r>
            <a:r>
              <a:rPr sz="2400" dirty="0" err="1"/>
              <a:t>l’échantillon</a:t>
            </a:r>
            <a:r>
              <a:rPr sz="2400" dirty="0"/>
              <a:t> non </a:t>
            </a:r>
            <a:r>
              <a:rPr sz="2400" dirty="0" err="1"/>
              <a:t>représentatif</a:t>
            </a:r>
            <a:r>
              <a:rPr sz="2400" dirty="0"/>
              <a:t> et la </a:t>
            </a:r>
            <a:r>
              <a:rPr sz="2400" dirty="0" err="1"/>
              <a:t>métrique</a:t>
            </a:r>
            <a:r>
              <a:rPr sz="2400" dirty="0"/>
              <a:t> </a:t>
            </a:r>
            <a:r>
              <a:rPr sz="2400" dirty="0" err="1"/>
              <a:t>inadéquate</a:t>
            </a:r>
            <a:r>
              <a:rPr sz="2400" dirty="0"/>
              <a:t>. </a:t>
            </a:r>
            <a:endParaRPr lang="fr-FR" sz="2400" dirty="0"/>
          </a:p>
          <a:p>
            <a:pPr>
              <a:defRPr sz="1800">
                <a:solidFill>
                  <a:srgbClr val="373B3F"/>
                </a:solidFill>
                <a:latin typeface="Calibri"/>
              </a:defRPr>
            </a:pPr>
            <a:r>
              <a:rPr sz="2400" dirty="0"/>
              <a:t>Par </a:t>
            </a:r>
            <a:r>
              <a:rPr sz="2400" dirty="0" err="1"/>
              <a:t>exemple</a:t>
            </a:r>
            <a:r>
              <a:rPr sz="2400" dirty="0"/>
              <a:t>, </a:t>
            </a:r>
            <a:r>
              <a:rPr sz="2400" dirty="0" err="1"/>
              <a:t>optimiser</a:t>
            </a:r>
            <a:r>
              <a:rPr sz="2400" dirty="0"/>
              <a:t> </a:t>
            </a:r>
            <a:r>
              <a:rPr sz="2400" dirty="0" err="1"/>
              <a:t>une</a:t>
            </a:r>
            <a:r>
              <a:rPr sz="2400" dirty="0"/>
              <a:t> </a:t>
            </a:r>
            <a:r>
              <a:rPr sz="2400" dirty="0" err="1"/>
              <a:t>précision</a:t>
            </a:r>
            <a:r>
              <a:rPr sz="2400" dirty="0"/>
              <a:t> </a:t>
            </a:r>
            <a:r>
              <a:rPr sz="2400" dirty="0" err="1"/>
              <a:t>globale</a:t>
            </a:r>
            <a:r>
              <a:rPr sz="2400" dirty="0"/>
              <a:t> sur données </a:t>
            </a:r>
            <a:r>
              <a:rPr sz="2400" dirty="0" err="1"/>
              <a:t>déséquilibrées</a:t>
            </a:r>
            <a:r>
              <a:rPr sz="2400" dirty="0"/>
              <a:t> masque les faux </a:t>
            </a:r>
            <a:r>
              <a:rPr sz="2400" dirty="0" err="1"/>
              <a:t>négatifs</a:t>
            </a:r>
            <a:r>
              <a:rPr sz="2400" dirty="0"/>
              <a:t> critiques pour </a:t>
            </a:r>
            <a:r>
              <a:rPr sz="2400" dirty="0" err="1"/>
              <a:t>l’activité</a:t>
            </a:r>
            <a:r>
              <a:rPr sz="2400" dirty="0"/>
              <a:t>, </a:t>
            </a:r>
            <a:r>
              <a:rPr sz="2400" dirty="0" err="1"/>
              <a:t>provoquant</a:t>
            </a:r>
            <a:r>
              <a:rPr sz="2400" dirty="0"/>
              <a:t> des </a:t>
            </a:r>
            <a:r>
              <a:rPr sz="2400" dirty="0" err="1"/>
              <a:t>décisions</a:t>
            </a:r>
            <a:r>
              <a:rPr sz="2400" dirty="0"/>
              <a:t> </a:t>
            </a:r>
            <a:r>
              <a:rPr sz="2400" dirty="0" err="1"/>
              <a:t>risquées</a:t>
            </a:r>
            <a:r>
              <a:rPr sz="2400" dirty="0"/>
              <a:t> ensuite.</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27/30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Gouvernance &amp; conformité (RGPD, sécurité)</a:t>
            </a:r>
          </a:p>
        </p:txBody>
      </p:sp>
      <p:sp>
        <p:nvSpPr>
          <p:cNvPr id="3" name="Content Placeholder 2"/>
          <p:cNvSpPr>
            <a:spLocks noGrp="1"/>
          </p:cNvSpPr>
          <p:nvPr>
            <p:ph idx="1"/>
          </p:nvPr>
        </p:nvSpPr>
        <p:spPr/>
        <p:txBody>
          <a:bodyPr/>
          <a:lstStyle/>
          <a:p>
            <a:endParaRPr sz="3600" dirty="0"/>
          </a:p>
          <a:p>
            <a:pPr>
              <a:defRPr sz="1800">
                <a:solidFill>
                  <a:srgbClr val="373B3F"/>
                </a:solidFill>
                <a:latin typeface="Calibri"/>
              </a:defRPr>
            </a:pPr>
            <a:r>
              <a:rPr sz="2400" dirty="0"/>
              <a:t>Assurer base </a:t>
            </a:r>
            <a:r>
              <a:rPr sz="2400" dirty="0" err="1"/>
              <a:t>légale</a:t>
            </a:r>
            <a:r>
              <a:rPr sz="2400" dirty="0"/>
              <a:t>, </a:t>
            </a:r>
            <a:r>
              <a:rPr sz="2400" dirty="0" err="1"/>
              <a:t>minimisation</a:t>
            </a:r>
            <a:r>
              <a:rPr sz="2400" dirty="0"/>
              <a:t> et droits des </a:t>
            </a:r>
            <a:r>
              <a:rPr sz="2400" dirty="0" err="1"/>
              <a:t>personnes</a:t>
            </a:r>
            <a:r>
              <a:rPr sz="2400" dirty="0"/>
              <a:t>, avec </a:t>
            </a:r>
            <a:r>
              <a:rPr sz="2400" dirty="0" err="1"/>
              <a:t>sécurité</a:t>
            </a:r>
            <a:r>
              <a:rPr sz="2400" dirty="0"/>
              <a:t> </a:t>
            </a:r>
            <a:r>
              <a:rPr sz="2400" dirty="0" err="1"/>
              <a:t>d’accès</a:t>
            </a:r>
            <a:r>
              <a:rPr sz="2400" dirty="0"/>
              <a:t> et </a:t>
            </a:r>
            <a:r>
              <a:rPr sz="2400" dirty="0" err="1"/>
              <a:t>journalisation</a:t>
            </a:r>
            <a:r>
              <a:rPr sz="2400" dirty="0"/>
              <a:t>. </a:t>
            </a:r>
            <a:endParaRPr lang="fr-FR" sz="2400" dirty="0"/>
          </a:p>
          <a:p>
            <a:pPr>
              <a:defRPr sz="1800">
                <a:solidFill>
                  <a:srgbClr val="373B3F"/>
                </a:solidFill>
                <a:latin typeface="Calibri"/>
              </a:defRPr>
            </a:pPr>
            <a:r>
              <a:rPr sz="2400" dirty="0"/>
              <a:t>Par </a:t>
            </a:r>
            <a:r>
              <a:rPr sz="2400" dirty="0" err="1"/>
              <a:t>exemple</a:t>
            </a:r>
            <a:r>
              <a:rPr sz="2400" dirty="0"/>
              <a:t>, </a:t>
            </a:r>
            <a:r>
              <a:rPr sz="2400" dirty="0" err="1"/>
              <a:t>pseudonymiser</a:t>
            </a:r>
            <a:r>
              <a:rPr sz="2400" dirty="0"/>
              <a:t> les </a:t>
            </a:r>
            <a:r>
              <a:rPr sz="2400" dirty="0" err="1"/>
              <a:t>identifiants</a:t>
            </a:r>
            <a:r>
              <a:rPr sz="2400" dirty="0"/>
              <a:t> clients </a:t>
            </a:r>
            <a:r>
              <a:rPr sz="2400" dirty="0" err="1"/>
              <a:t>en</a:t>
            </a:r>
            <a:r>
              <a:rPr sz="2400" dirty="0"/>
              <a:t> sandbox </a:t>
            </a:r>
            <a:r>
              <a:rPr sz="2400" dirty="0" err="1"/>
              <a:t>permet</a:t>
            </a:r>
            <a:r>
              <a:rPr sz="2400" dirty="0"/>
              <a:t> </a:t>
            </a:r>
            <a:r>
              <a:rPr sz="2400" dirty="0" err="1"/>
              <a:t>l’exploration</a:t>
            </a:r>
            <a:r>
              <a:rPr sz="2400" dirty="0"/>
              <a:t> des données sans exposition inutile </a:t>
            </a:r>
            <a:r>
              <a:rPr sz="2400" dirty="0" err="1"/>
              <a:t>d’informations</a:t>
            </a:r>
            <a:r>
              <a:rPr sz="2400" dirty="0"/>
              <a:t> </a:t>
            </a:r>
            <a:r>
              <a:rPr sz="2400" dirty="0" err="1"/>
              <a:t>personnelles</a:t>
            </a:r>
            <a:r>
              <a:rPr sz="2400" dirty="0"/>
              <a:t> </a:t>
            </a:r>
            <a:r>
              <a:rPr sz="2400" dirty="0" err="1"/>
              <a:t>sensibles</a:t>
            </a:r>
            <a:r>
              <a:rPr sz="2400" dirty="0"/>
              <a:t> </a:t>
            </a:r>
            <a:r>
              <a:rPr sz="2400" dirty="0" err="1"/>
              <a:t>effectivement</a:t>
            </a:r>
            <a:r>
              <a:rPr sz="2400" dirty="0"/>
              <a: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28/30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1C273C-0472-5821-B898-3CC2CD826084}"/>
              </a:ext>
            </a:extLst>
          </p:cNvPr>
          <p:cNvSpPr>
            <a:spLocks noGrp="1"/>
          </p:cNvSpPr>
          <p:nvPr>
            <p:ph type="title"/>
          </p:nvPr>
        </p:nvSpPr>
        <p:spPr/>
        <p:txBody>
          <a:bodyPr/>
          <a:lstStyle/>
          <a:p>
            <a:r>
              <a:rPr lang="fr-FR" dirty="0"/>
              <a:t>Cycles d'innovations</a:t>
            </a:r>
          </a:p>
        </p:txBody>
      </p:sp>
      <p:sp>
        <p:nvSpPr>
          <p:cNvPr id="3" name="Espace réservé du contenu 2">
            <a:extLst>
              <a:ext uri="{FF2B5EF4-FFF2-40B4-BE49-F238E27FC236}">
                <a16:creationId xmlns:a16="http://schemas.microsoft.com/office/drawing/2014/main" id="{F95BF43C-5FDF-7542-D856-9256ECA3C36E}"/>
              </a:ext>
            </a:extLst>
          </p:cNvPr>
          <p:cNvSpPr>
            <a:spLocks noGrp="1"/>
          </p:cNvSpPr>
          <p:nvPr>
            <p:ph idx="1"/>
          </p:nvPr>
        </p:nvSpPr>
        <p:spPr/>
        <p:txBody>
          <a:bodyPr/>
          <a:lstStyle/>
          <a:p>
            <a:r>
              <a:rPr lang="fr-FR" dirty="0"/>
              <a:t>Raccourcissent des cycles d'évolutions</a:t>
            </a:r>
          </a:p>
        </p:txBody>
      </p:sp>
      <p:pic>
        <p:nvPicPr>
          <p:cNvPr id="3074" name="Picture 2">
            <a:extLst>
              <a:ext uri="{FF2B5EF4-FFF2-40B4-BE49-F238E27FC236}">
                <a16:creationId xmlns:a16="http://schemas.microsoft.com/office/drawing/2014/main" id="{E248877E-8117-AE83-2369-AB6F04BD36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3" y="1873349"/>
            <a:ext cx="914400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6989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9575AA-3F3F-6684-0054-F0346438EC14}"/>
              </a:ext>
            </a:extLst>
          </p:cNvPr>
          <p:cNvSpPr>
            <a:spLocks noGrp="1"/>
          </p:cNvSpPr>
          <p:nvPr>
            <p:ph type="title"/>
          </p:nvPr>
        </p:nvSpPr>
        <p:spPr/>
        <p:txBody>
          <a:bodyPr/>
          <a:lstStyle/>
          <a:p>
            <a:r>
              <a:rPr lang="fr-FR" dirty="0"/>
              <a:t>Dates d'internet</a:t>
            </a:r>
          </a:p>
        </p:txBody>
      </p:sp>
      <p:sp>
        <p:nvSpPr>
          <p:cNvPr id="3" name="Espace réservé du contenu 2">
            <a:extLst>
              <a:ext uri="{FF2B5EF4-FFF2-40B4-BE49-F238E27FC236}">
                <a16:creationId xmlns:a16="http://schemas.microsoft.com/office/drawing/2014/main" id="{8AC13212-CA09-8B49-C8CE-DB32F1013BF2}"/>
              </a:ext>
            </a:extLst>
          </p:cNvPr>
          <p:cNvSpPr>
            <a:spLocks noGrp="1"/>
          </p:cNvSpPr>
          <p:nvPr>
            <p:ph idx="1"/>
          </p:nvPr>
        </p:nvSpPr>
        <p:spPr/>
        <p:txBody>
          <a:bodyPr/>
          <a:lstStyle/>
          <a:p>
            <a:r>
              <a:rPr lang="fr-FR" dirty="0"/>
              <a:t>Internet : 1989</a:t>
            </a:r>
          </a:p>
          <a:p>
            <a:r>
              <a:rPr lang="fr-FR" dirty="0"/>
              <a:t>Google : 1998 (9 ans)</a:t>
            </a:r>
          </a:p>
          <a:p>
            <a:r>
              <a:rPr lang="fr-FR" dirty="0"/>
              <a:t>ADSL pour tous : 2000 (11 ans)</a:t>
            </a:r>
          </a:p>
          <a:p>
            <a:r>
              <a:rPr lang="fr-FR" dirty="0"/>
              <a:t>Eclatement de la bulle internet : 2001</a:t>
            </a:r>
          </a:p>
          <a:p>
            <a:r>
              <a:rPr lang="fr-FR" dirty="0"/>
              <a:t>Facebook pour tous : 2004-2005 (7 ans depuis Google)</a:t>
            </a:r>
          </a:p>
          <a:p>
            <a:r>
              <a:rPr lang="fr-FR" dirty="0"/>
              <a:t>Internet sur </a:t>
            </a:r>
            <a:r>
              <a:rPr lang="fr-FR" dirty="0" err="1"/>
              <a:t>Smarphone</a:t>
            </a:r>
            <a:r>
              <a:rPr lang="fr-FR" dirty="0"/>
              <a:t> généralisé : 2008</a:t>
            </a:r>
          </a:p>
          <a:p>
            <a:r>
              <a:rPr lang="fr-FR" dirty="0"/>
              <a:t>Création d'Amazon : 1994</a:t>
            </a:r>
          </a:p>
          <a:p>
            <a:pPr lvl="1"/>
            <a:r>
              <a:rPr lang="fr-FR" dirty="0"/>
              <a:t>Rentabilité : 2013</a:t>
            </a:r>
          </a:p>
          <a:p>
            <a:endParaRPr lang="fr-FR" dirty="0"/>
          </a:p>
        </p:txBody>
      </p:sp>
    </p:spTree>
    <p:extLst>
      <p:ext uri="{BB962C8B-B14F-4D97-AF65-F5344CB8AC3E}">
        <p14:creationId xmlns:p14="http://schemas.microsoft.com/office/powerpoint/2010/main" val="14034016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9A4570-75A6-8E15-C2D6-DF97B9554C6E}"/>
              </a:ext>
            </a:extLst>
          </p:cNvPr>
          <p:cNvSpPr>
            <a:spLocks noGrp="1"/>
          </p:cNvSpPr>
          <p:nvPr>
            <p:ph type="title"/>
          </p:nvPr>
        </p:nvSpPr>
        <p:spPr/>
        <p:txBody>
          <a:bodyPr/>
          <a:lstStyle/>
          <a:p>
            <a:r>
              <a:rPr lang="fr-FR" dirty="0"/>
              <a:t>Loi de Moore</a:t>
            </a:r>
          </a:p>
        </p:txBody>
      </p:sp>
      <p:sp>
        <p:nvSpPr>
          <p:cNvPr id="3" name="Espace réservé du contenu 2">
            <a:extLst>
              <a:ext uri="{FF2B5EF4-FFF2-40B4-BE49-F238E27FC236}">
                <a16:creationId xmlns:a16="http://schemas.microsoft.com/office/drawing/2014/main" id="{7FD8E8BD-1EDC-883C-8AFE-296DB80FE6CB}"/>
              </a:ext>
            </a:extLst>
          </p:cNvPr>
          <p:cNvSpPr>
            <a:spLocks noGrp="1"/>
          </p:cNvSpPr>
          <p:nvPr>
            <p:ph idx="1"/>
          </p:nvPr>
        </p:nvSpPr>
        <p:spPr/>
        <p:txBody>
          <a:bodyPr/>
          <a:lstStyle/>
          <a:p>
            <a:r>
              <a:rPr lang="fr-FR" dirty="0"/>
              <a:t>Les lois de Moore sont des lois empiriques qui décrivent l'évolution de la puissance de calcul des ordinateurs et de la complexité du matériel informatique</a:t>
            </a:r>
          </a:p>
          <a:p>
            <a:r>
              <a:rPr lang="fr-FR" dirty="0"/>
              <a:t>En 1975 Gordon Moore (Co-fondateur de Intel) prédit un doublement du nombre de transistors présents sur une puce de microprocesseur tous les deux ans</a:t>
            </a:r>
          </a:p>
          <a:p>
            <a:pPr lvl="1"/>
            <a:r>
              <a:rPr lang="fr-FR" dirty="0"/>
              <a:t>Intel 4004 de 1971 était sur 4 bits</a:t>
            </a:r>
          </a:p>
          <a:p>
            <a:pPr lvl="1"/>
            <a:r>
              <a:rPr lang="fr-FR" dirty="0"/>
              <a:t>Cadencée à 108 kHz </a:t>
            </a:r>
          </a:p>
          <a:p>
            <a:pPr lvl="1"/>
            <a:r>
              <a:rPr lang="fr-FR" dirty="0"/>
              <a:t>Intégrant 2 300 transistors.</a:t>
            </a:r>
          </a:p>
        </p:txBody>
      </p:sp>
      <p:pic>
        <p:nvPicPr>
          <p:cNvPr id="5" name="Image 4">
            <a:extLst>
              <a:ext uri="{FF2B5EF4-FFF2-40B4-BE49-F238E27FC236}">
                <a16:creationId xmlns:a16="http://schemas.microsoft.com/office/drawing/2014/main" id="{8715A838-528A-9AE9-CEF0-54652F3EAC20}"/>
              </a:ext>
            </a:extLst>
          </p:cNvPr>
          <p:cNvPicPr>
            <a:picLocks noChangeAspect="1"/>
          </p:cNvPicPr>
          <p:nvPr/>
        </p:nvPicPr>
        <p:blipFill>
          <a:blip r:embed="rId2"/>
          <a:stretch>
            <a:fillRect/>
          </a:stretch>
        </p:blipFill>
        <p:spPr>
          <a:xfrm>
            <a:off x="5559842" y="4635239"/>
            <a:ext cx="3584158" cy="2209552"/>
          </a:xfrm>
          <a:prstGeom prst="rect">
            <a:avLst/>
          </a:prstGeom>
        </p:spPr>
      </p:pic>
    </p:spTree>
    <p:extLst>
      <p:ext uri="{BB962C8B-B14F-4D97-AF65-F5344CB8AC3E}">
        <p14:creationId xmlns:p14="http://schemas.microsoft.com/office/powerpoint/2010/main" val="15459315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CEB5B5-BA69-C8C7-62E1-436F46682164}"/>
              </a:ext>
            </a:extLst>
          </p:cNvPr>
          <p:cNvSpPr>
            <a:spLocks noGrp="1"/>
          </p:cNvSpPr>
          <p:nvPr>
            <p:ph type="title"/>
          </p:nvPr>
        </p:nvSpPr>
        <p:spPr/>
        <p:txBody>
          <a:bodyPr/>
          <a:lstStyle/>
          <a:p>
            <a:r>
              <a:rPr lang="fr-FR" dirty="0"/>
              <a:t>Courbe Gartner</a:t>
            </a:r>
          </a:p>
        </p:txBody>
      </p:sp>
      <p:sp>
        <p:nvSpPr>
          <p:cNvPr id="3" name="Espace réservé du contenu 2">
            <a:extLst>
              <a:ext uri="{FF2B5EF4-FFF2-40B4-BE49-F238E27FC236}">
                <a16:creationId xmlns:a16="http://schemas.microsoft.com/office/drawing/2014/main" id="{22405F89-0760-CDF5-DD3A-4727D1516B5B}"/>
              </a:ext>
            </a:extLst>
          </p:cNvPr>
          <p:cNvSpPr>
            <a:spLocks noGrp="1"/>
          </p:cNvSpPr>
          <p:nvPr>
            <p:ph idx="1"/>
          </p:nvPr>
        </p:nvSpPr>
        <p:spPr/>
        <p:txBody>
          <a:bodyPr/>
          <a:lstStyle/>
          <a:p>
            <a:r>
              <a:rPr lang="fr-FR" dirty="0"/>
              <a:t>Il s'agit de l'acceptation d'une innovation</a:t>
            </a:r>
          </a:p>
        </p:txBody>
      </p:sp>
      <p:pic>
        <p:nvPicPr>
          <p:cNvPr id="5" name="Image 4">
            <a:extLst>
              <a:ext uri="{FF2B5EF4-FFF2-40B4-BE49-F238E27FC236}">
                <a16:creationId xmlns:a16="http://schemas.microsoft.com/office/drawing/2014/main" id="{2A18D78E-E048-A5C2-A430-5B48AB26AE2D}"/>
              </a:ext>
            </a:extLst>
          </p:cNvPr>
          <p:cNvPicPr>
            <a:picLocks noChangeAspect="1"/>
          </p:cNvPicPr>
          <p:nvPr/>
        </p:nvPicPr>
        <p:blipFill>
          <a:blip r:embed="rId2"/>
          <a:stretch>
            <a:fillRect/>
          </a:stretch>
        </p:blipFill>
        <p:spPr>
          <a:xfrm>
            <a:off x="971600" y="2185540"/>
            <a:ext cx="6744641" cy="4267796"/>
          </a:xfrm>
          <a:prstGeom prst="rect">
            <a:avLst/>
          </a:prstGeom>
        </p:spPr>
      </p:pic>
    </p:spTree>
    <p:extLst>
      <p:ext uri="{BB962C8B-B14F-4D97-AF65-F5344CB8AC3E}">
        <p14:creationId xmlns:p14="http://schemas.microsoft.com/office/powerpoint/2010/main" val="37155932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47CBB9-D580-CEB6-062F-438F0F6F4C95}"/>
              </a:ext>
            </a:extLst>
          </p:cNvPr>
          <p:cNvSpPr>
            <a:spLocks noGrp="1"/>
          </p:cNvSpPr>
          <p:nvPr>
            <p:ph type="title"/>
          </p:nvPr>
        </p:nvSpPr>
        <p:spPr/>
        <p:txBody>
          <a:bodyPr/>
          <a:lstStyle/>
          <a:p>
            <a:r>
              <a:rPr lang="fr-FR" dirty="0"/>
              <a:t>Courbe Kubler Ross</a:t>
            </a:r>
          </a:p>
        </p:txBody>
      </p:sp>
      <p:sp>
        <p:nvSpPr>
          <p:cNvPr id="3" name="Espace réservé du contenu 2">
            <a:extLst>
              <a:ext uri="{FF2B5EF4-FFF2-40B4-BE49-F238E27FC236}">
                <a16:creationId xmlns:a16="http://schemas.microsoft.com/office/drawing/2014/main" id="{26B85BE1-5717-4CA6-DAD1-5F14B5AF6E01}"/>
              </a:ext>
            </a:extLst>
          </p:cNvPr>
          <p:cNvSpPr>
            <a:spLocks noGrp="1"/>
          </p:cNvSpPr>
          <p:nvPr>
            <p:ph idx="1"/>
          </p:nvPr>
        </p:nvSpPr>
        <p:spPr/>
        <p:txBody>
          <a:bodyPr/>
          <a:lstStyle/>
          <a:p>
            <a:r>
              <a:rPr lang="fr-FR" dirty="0"/>
              <a:t>Acceptation du changement</a:t>
            </a:r>
          </a:p>
        </p:txBody>
      </p:sp>
      <p:pic>
        <p:nvPicPr>
          <p:cNvPr id="2054" name="Picture 6" descr="Courbe innovation - courbe du changement Kubler Ross">
            <a:extLst>
              <a:ext uri="{FF2B5EF4-FFF2-40B4-BE49-F238E27FC236}">
                <a16:creationId xmlns:a16="http://schemas.microsoft.com/office/drawing/2014/main" id="{7D57FA48-72BD-3951-C399-DB0FB8E66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04864"/>
            <a:ext cx="914400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27147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7C15DF-ED4D-90E5-66C4-D4CE51941029}"/>
              </a:ext>
            </a:extLst>
          </p:cNvPr>
          <p:cNvSpPr>
            <a:spLocks noGrp="1"/>
          </p:cNvSpPr>
          <p:nvPr>
            <p:ph type="title"/>
          </p:nvPr>
        </p:nvSpPr>
        <p:spPr/>
        <p:txBody>
          <a:bodyPr/>
          <a:lstStyle/>
          <a:p>
            <a:r>
              <a:rPr lang="fr-FR" dirty="0"/>
              <a:t>Evolution des LLM</a:t>
            </a:r>
          </a:p>
        </p:txBody>
      </p:sp>
      <p:sp>
        <p:nvSpPr>
          <p:cNvPr id="3" name="Espace réservé du contenu 2">
            <a:extLst>
              <a:ext uri="{FF2B5EF4-FFF2-40B4-BE49-F238E27FC236}">
                <a16:creationId xmlns:a16="http://schemas.microsoft.com/office/drawing/2014/main" id="{7C4F5BCB-AF23-3076-2B3E-D12CFB77D98C}"/>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256070E3-DD28-456B-2E5B-91B93DC3C0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1588"/>
            <a:ext cx="9144000" cy="431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2577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B4984A-4F97-F81F-89AD-A83B12D69F44}"/>
              </a:ext>
            </a:extLst>
          </p:cNvPr>
          <p:cNvSpPr>
            <a:spLocks noGrp="1"/>
          </p:cNvSpPr>
          <p:nvPr>
            <p:ph type="title"/>
          </p:nvPr>
        </p:nvSpPr>
        <p:spPr/>
        <p:txBody>
          <a:bodyPr/>
          <a:lstStyle/>
          <a:p>
            <a:r>
              <a:rPr lang="fr-FR" dirty="0"/>
              <a:t>Coûts LLM</a:t>
            </a:r>
          </a:p>
        </p:txBody>
      </p:sp>
      <p:sp>
        <p:nvSpPr>
          <p:cNvPr id="4" name="Espace réservé du contenu 3">
            <a:extLst>
              <a:ext uri="{FF2B5EF4-FFF2-40B4-BE49-F238E27FC236}">
                <a16:creationId xmlns:a16="http://schemas.microsoft.com/office/drawing/2014/main" id="{D466D7F1-C85A-A0DF-9783-0D20EAF32F95}"/>
              </a:ext>
            </a:extLst>
          </p:cNvPr>
          <p:cNvSpPr>
            <a:spLocks noGrp="1"/>
          </p:cNvSpPr>
          <p:nvPr>
            <p:ph idx="1"/>
          </p:nvPr>
        </p:nvSpPr>
        <p:spPr/>
        <p:txBody>
          <a:bodyPr/>
          <a:lstStyle/>
          <a:p>
            <a:endParaRPr lang="fr-FR"/>
          </a:p>
        </p:txBody>
      </p:sp>
      <p:pic>
        <p:nvPicPr>
          <p:cNvPr id="4098" name="Picture 2" descr="Couts-IA-statista-epoch-ai">
            <a:extLst>
              <a:ext uri="{FF2B5EF4-FFF2-40B4-BE49-F238E27FC236}">
                <a16:creationId xmlns:a16="http://schemas.microsoft.com/office/drawing/2014/main" id="{EA77EC2A-B31C-D963-7FF7-37A7DA9E02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881336"/>
            <a:ext cx="6552728" cy="6552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36485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BC48DB-4917-4000-6ADE-9BDFFAA5C311}"/>
              </a:ext>
            </a:extLst>
          </p:cNvPr>
          <p:cNvSpPr>
            <a:spLocks noGrp="1"/>
          </p:cNvSpPr>
          <p:nvPr>
            <p:ph type="title"/>
          </p:nvPr>
        </p:nvSpPr>
        <p:spPr/>
        <p:txBody>
          <a:bodyPr/>
          <a:lstStyle/>
          <a:p>
            <a:r>
              <a:rPr lang="fr-FR" dirty="0" err="1"/>
              <a:t>ChatGPT</a:t>
            </a:r>
            <a:endParaRPr lang="fr-FR" dirty="0"/>
          </a:p>
        </p:txBody>
      </p:sp>
      <p:sp>
        <p:nvSpPr>
          <p:cNvPr id="3" name="Espace réservé du contenu 2">
            <a:extLst>
              <a:ext uri="{FF2B5EF4-FFF2-40B4-BE49-F238E27FC236}">
                <a16:creationId xmlns:a16="http://schemas.microsoft.com/office/drawing/2014/main" id="{2E9810CD-A28D-E5EA-5316-565B2D1E93BA}"/>
              </a:ext>
            </a:extLst>
          </p:cNvPr>
          <p:cNvSpPr>
            <a:spLocks noGrp="1"/>
          </p:cNvSpPr>
          <p:nvPr>
            <p:ph idx="1"/>
          </p:nvPr>
        </p:nvSpPr>
        <p:spPr/>
        <p:txBody>
          <a:bodyPr/>
          <a:lstStyle/>
          <a:p>
            <a:r>
              <a:rPr lang="fr-FR" dirty="0"/>
              <a:t>Cout de fonctionnement estimé</a:t>
            </a:r>
          </a:p>
          <a:p>
            <a:pPr lvl="1"/>
            <a:r>
              <a:rPr lang="fr-FR" dirty="0"/>
              <a:t>Entre 2 et 5 milliards $ par an</a:t>
            </a:r>
          </a:p>
          <a:p>
            <a:pPr lvl="1"/>
            <a:r>
              <a:rPr lang="fr-FR" dirty="0"/>
              <a:t>Chiffre d'affaires 2024 : Environ  5 milliards $</a:t>
            </a:r>
          </a:p>
          <a:p>
            <a:pPr lvl="1"/>
            <a:r>
              <a:rPr lang="fr-FR" dirty="0"/>
              <a:t>Projection 2025 : 10 Milliards ?</a:t>
            </a:r>
          </a:p>
        </p:txBody>
      </p:sp>
    </p:spTree>
    <p:extLst>
      <p:ext uri="{BB962C8B-B14F-4D97-AF65-F5344CB8AC3E}">
        <p14:creationId xmlns:p14="http://schemas.microsoft.com/office/powerpoint/2010/main" val="33459916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240BD2-CA80-7EC8-9A58-1435C4138B74}"/>
              </a:ext>
            </a:extLst>
          </p:cNvPr>
          <p:cNvSpPr>
            <a:spLocks noGrp="1"/>
          </p:cNvSpPr>
          <p:nvPr>
            <p:ph type="title"/>
          </p:nvPr>
        </p:nvSpPr>
        <p:spPr/>
        <p:txBody>
          <a:bodyPr/>
          <a:lstStyle/>
          <a:p>
            <a:r>
              <a:rPr lang="fr-FR" dirty="0"/>
              <a:t>Coding or not Coding</a:t>
            </a:r>
          </a:p>
        </p:txBody>
      </p:sp>
      <p:sp>
        <p:nvSpPr>
          <p:cNvPr id="3" name="Espace réservé du contenu 2">
            <a:extLst>
              <a:ext uri="{FF2B5EF4-FFF2-40B4-BE49-F238E27FC236}">
                <a16:creationId xmlns:a16="http://schemas.microsoft.com/office/drawing/2014/main" id="{14236FC1-A4C7-5990-49E0-ECDEBF8D745D}"/>
              </a:ext>
            </a:extLst>
          </p:cNvPr>
          <p:cNvSpPr>
            <a:spLocks noGrp="1"/>
          </p:cNvSpPr>
          <p:nvPr>
            <p:ph idx="1"/>
          </p:nvPr>
        </p:nvSpPr>
        <p:spPr/>
        <p:txBody>
          <a:bodyPr/>
          <a:lstStyle/>
          <a:p>
            <a:r>
              <a:rPr lang="fr-FR" sz="2400" dirty="0"/>
              <a:t>Full code</a:t>
            </a:r>
          </a:p>
          <a:p>
            <a:pPr lvl="1"/>
            <a:r>
              <a:rPr lang="fr-FR" sz="2000" dirty="0"/>
              <a:t>Solution de codage de l'IA</a:t>
            </a:r>
          </a:p>
          <a:p>
            <a:pPr lvl="1"/>
            <a:r>
              <a:rPr lang="fr-FR" sz="2000" dirty="0"/>
              <a:t>Basé sur Python</a:t>
            </a:r>
          </a:p>
          <a:p>
            <a:r>
              <a:rPr lang="fr-FR" sz="2400" dirty="0"/>
              <a:t>No code</a:t>
            </a:r>
          </a:p>
          <a:p>
            <a:pPr lvl="1"/>
            <a:r>
              <a:rPr lang="fr-FR" sz="2000" dirty="0"/>
              <a:t>Solution de mise en place d'agents IA sans code</a:t>
            </a:r>
          </a:p>
          <a:p>
            <a:pPr lvl="1"/>
            <a:r>
              <a:rPr lang="fr-FR" sz="2000" dirty="0"/>
              <a:t>Solution SaaS : AWS, Azure, GCP</a:t>
            </a:r>
          </a:p>
          <a:p>
            <a:pPr lvl="1"/>
            <a:r>
              <a:rPr lang="fr-FR" sz="2000" dirty="0"/>
              <a:t>Solution tiers : n8n, make.com, …</a:t>
            </a:r>
          </a:p>
          <a:p>
            <a:r>
              <a:rPr lang="fr-FR" sz="2400" dirty="0"/>
              <a:t>Low code</a:t>
            </a:r>
          </a:p>
          <a:p>
            <a:pPr lvl="1"/>
            <a:r>
              <a:rPr lang="fr-FR" sz="2000" dirty="0"/>
              <a:t>API fournit par les solutions No code pour adapter l'IA</a:t>
            </a:r>
          </a:p>
          <a:p>
            <a:r>
              <a:rPr lang="fr-FR" sz="2400" dirty="0" err="1"/>
              <a:t>Vibe</a:t>
            </a:r>
            <a:r>
              <a:rPr lang="fr-FR" sz="2400" dirty="0"/>
              <a:t> </a:t>
            </a:r>
            <a:r>
              <a:rPr lang="fr-FR" sz="2400" dirty="0" err="1"/>
              <a:t>coding</a:t>
            </a:r>
            <a:endParaRPr lang="fr-FR" sz="2400" dirty="0"/>
          </a:p>
          <a:p>
            <a:pPr lvl="1"/>
            <a:r>
              <a:rPr lang="fr-FR" sz="2000" dirty="0"/>
              <a:t>Full code mais en codant avec de l'IA dédié</a:t>
            </a:r>
          </a:p>
          <a:p>
            <a:pPr lvl="1"/>
            <a:r>
              <a:rPr lang="fr-FR" sz="2000" dirty="0" err="1"/>
              <a:t>Codestral</a:t>
            </a:r>
            <a:r>
              <a:rPr lang="fr-FR" sz="2000" dirty="0"/>
              <a:t>, Claude, </a:t>
            </a:r>
            <a:r>
              <a:rPr lang="fr-FR" sz="2000" dirty="0" err="1"/>
              <a:t>Cursor</a:t>
            </a:r>
            <a:endParaRPr lang="fr-FR" sz="2000" dirty="0"/>
          </a:p>
        </p:txBody>
      </p:sp>
    </p:spTree>
    <p:extLst>
      <p:ext uri="{BB962C8B-B14F-4D97-AF65-F5344CB8AC3E}">
        <p14:creationId xmlns:p14="http://schemas.microsoft.com/office/powerpoint/2010/main" val="69749048"/>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3442</TotalTime>
  <Words>2069</Words>
  <Application>Microsoft Office PowerPoint</Application>
  <PresentationFormat>Affichage à l'écran (4:3)</PresentationFormat>
  <Paragraphs>250</Paragraphs>
  <Slides>55</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55</vt:i4>
      </vt:variant>
    </vt:vector>
  </HeadingPairs>
  <TitlesOfParts>
    <vt:vector size="59" baseType="lpstr">
      <vt:lpstr>Arial</vt:lpstr>
      <vt:lpstr>Monotype Sorts</vt:lpstr>
      <vt:lpstr>Times New Roman</vt:lpstr>
      <vt:lpstr>cvc</vt:lpstr>
      <vt:lpstr>Présentation PowerPoint</vt:lpstr>
      <vt:lpstr>Présentation PowerPoint</vt:lpstr>
      <vt:lpstr>Wikipedia</vt:lpstr>
      <vt:lpstr>Data Science</vt:lpstr>
      <vt:lpstr>Data Science</vt:lpstr>
      <vt:lpstr>Principes clés</vt:lpstr>
      <vt:lpstr>Présentation PowerPoint</vt:lpstr>
      <vt:lpstr>Data Management</vt:lpstr>
      <vt:lpstr>Pourquoi la donnée est stratégique aujourd’hui ?</vt:lpstr>
      <vt:lpstr>Les langages</vt:lpstr>
      <vt:lpstr>Data Scientist</vt:lpstr>
      <vt:lpstr>But</vt:lpstr>
      <vt:lpstr>Apprentissage non supervisé ou semi-supervisé</vt:lpstr>
      <vt:lpstr>Exemple</vt:lpstr>
      <vt:lpstr>Graphique</vt:lpstr>
      <vt:lpstr>Régression linéaire</vt:lpstr>
      <vt:lpstr>Classification</vt:lpstr>
      <vt:lpstr>Apprentissage</vt:lpstr>
      <vt:lpstr>Les langages et Frameworks</vt:lpstr>
      <vt:lpstr>Les Frameworks ML et DL</vt:lpstr>
      <vt:lpstr>Les enjeux 1/3</vt:lpstr>
      <vt:lpstr>Les nouvelles sources de données</vt:lpstr>
      <vt:lpstr>Les enjeux 2/3</vt:lpstr>
      <vt:lpstr>Les enjeux 3/3</vt:lpstr>
      <vt:lpstr>Les jeux de données</vt:lpstr>
      <vt:lpstr>Ecart type</vt:lpstr>
      <vt:lpstr>Loi normale</vt:lpstr>
      <vt:lpstr>Loi normal</vt:lpstr>
      <vt:lpstr>Loi normale</vt:lpstr>
      <vt:lpstr>Théorème centrale limite</vt:lpstr>
      <vt:lpstr>Cas non gaussien</vt:lpstr>
      <vt:lpstr>Cas non gaussiens</vt:lpstr>
      <vt:lpstr>Dataviz</vt:lpstr>
      <vt:lpstr>Qualité des données : enjeux et indicateurs</vt:lpstr>
      <vt:lpstr>Ensembles d’entraînement, validation et test</vt:lpstr>
      <vt:lpstr>Outils pour la visualisation (Dataviz)</vt:lpstr>
      <vt:lpstr>Principes de la Dataviz efficace</vt:lpstr>
      <vt:lpstr>Exemples d’outils de Dataviz</vt:lpstr>
      <vt:lpstr>Focus qualité : processus &amp; rôles</vt:lpstr>
      <vt:lpstr>Risques liés à des données de mauvaise qualité</vt:lpstr>
      <vt:lpstr>Bonnes pratiques pour garantir la qualité</vt:lpstr>
      <vt:lpstr>Cas pratique 1 : Préparation d’un dataset pour l’IA</vt:lpstr>
      <vt:lpstr>Cas pratique 2 : Visualisation et interprétation</vt:lpstr>
      <vt:lpstr>Étude de cas : projet Data Science en entreprise</vt:lpstr>
      <vt:lpstr>Retour d’expérience : erreurs fréquentes</vt:lpstr>
      <vt:lpstr>Gouvernance &amp; conformité (RGPD, sécurité)</vt:lpstr>
      <vt:lpstr>Cycles d'innovations</vt:lpstr>
      <vt:lpstr>Dates d'internet</vt:lpstr>
      <vt:lpstr>Loi de Moore</vt:lpstr>
      <vt:lpstr>Courbe Gartner</vt:lpstr>
      <vt:lpstr>Courbe Kubler Ross</vt:lpstr>
      <vt:lpstr>Evolution des LLM</vt:lpstr>
      <vt:lpstr>Coûts LLM</vt:lpstr>
      <vt:lpstr>ChatGPT</vt:lpstr>
      <vt:lpstr>Coding or not Coding</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245</cp:revision>
  <dcterms:created xsi:type="dcterms:W3CDTF">2000-04-10T19:33:12Z</dcterms:created>
  <dcterms:modified xsi:type="dcterms:W3CDTF">2025-12-15T11:18:25Z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