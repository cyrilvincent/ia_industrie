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5"/>
  </p:notesMasterIdLst>
  <p:handoutMasterIdLst>
    <p:handoutMasterId r:id="rId26"/>
  </p:handoutMasterIdLst>
  <p:sldIdLst>
    <p:sldId id="264" r:id="rId2"/>
    <p:sldId id="2566" r:id="rId3"/>
    <p:sldId id="2567" r:id="rId4"/>
    <p:sldId id="2576" r:id="rId5"/>
    <p:sldId id="536" r:id="rId6"/>
    <p:sldId id="348" r:id="rId7"/>
    <p:sldId id="538" r:id="rId8"/>
    <p:sldId id="539" r:id="rId9"/>
    <p:sldId id="540" r:id="rId10"/>
    <p:sldId id="537" r:id="rId11"/>
    <p:sldId id="541" r:id="rId12"/>
    <p:sldId id="542" r:id="rId13"/>
    <p:sldId id="543" r:id="rId14"/>
    <p:sldId id="2578" r:id="rId15"/>
    <p:sldId id="2568" r:id="rId16"/>
    <p:sldId id="2569" r:id="rId17"/>
    <p:sldId id="2577" r:id="rId18"/>
    <p:sldId id="2579" r:id="rId19"/>
    <p:sldId id="2581" r:id="rId20"/>
    <p:sldId id="2582" r:id="rId21"/>
    <p:sldId id="2571" r:id="rId22"/>
    <p:sldId id="2573" r:id="rId23"/>
    <p:sldId id="2575" r:id="rId24"/>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Section par défaut" id="{1277CF54-C2DF-475F-8EE5-679963CDF3C2}">
          <p14:sldIdLst>
            <p14:sldId id="264"/>
          </p14:sldIdLst>
        </p14:section>
        <p14:section name="Le prompt" id="{E3514188-9CB8-4B9E-A257-B982EF5C14A4}">
          <p14:sldIdLst>
            <p14:sldId id="2566"/>
            <p14:sldId id="2567"/>
            <p14:sldId id="2576"/>
          </p14:sldIdLst>
        </p14:section>
        <p14:section name="Défi – 1 prompt, 3 IA" id="{2553C4E4-1CFC-4F84-8A13-C7217EADF493}">
          <p14:sldIdLst/>
        </p14:section>
        <p14:section name="Débat – Les outils ont-ils une personnalité ?" id="{701853CE-4E18-48FC-BC74-ECE02AFD73F4}">
          <p14:sldIdLst/>
        </p14:section>
        <p14:section name="Conclusion – Apprendre en jouant" id="{09BEB27E-6DA2-43B9-8808-4FB317B40829}">
          <p14:sldIdLst>
            <p14:sldId id="536"/>
            <p14:sldId id="348"/>
            <p14:sldId id="538"/>
            <p14:sldId id="539"/>
            <p14:sldId id="540"/>
            <p14:sldId id="537"/>
            <p14:sldId id="541"/>
            <p14:sldId id="542"/>
            <p14:sldId id="543"/>
            <p14:sldId id="2578"/>
            <p14:sldId id="2568"/>
            <p14:sldId id="2569"/>
            <p14:sldId id="2577"/>
            <p14:sldId id="2579"/>
            <p14:sldId id="2581"/>
            <p14:sldId id="2582"/>
            <p14:sldId id="2571"/>
            <p14:sldId id="2573"/>
            <p14:sldId id="257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0C8FF7-3CC0-4242-BC8F-D80FACD03A9B}"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fr-FR"/>
        </a:p>
      </dgm:t>
    </dgm:pt>
    <dgm:pt modelId="{34081E58-705C-4652-A718-73C893F15A30}">
      <dgm:prSet/>
      <dgm:spPr/>
      <dgm:t>
        <a:bodyPr/>
        <a:lstStyle/>
        <a:p>
          <a:pPr>
            <a:lnSpc>
              <a:spcPct val="100000"/>
            </a:lnSpc>
            <a:defRPr b="1"/>
          </a:pPr>
          <a:r>
            <a:rPr lang="fr-FR"/>
            <a:t>Qu'est-ce qu'un prompt ?</a:t>
          </a:r>
        </a:p>
      </dgm:t>
    </dgm:pt>
    <dgm:pt modelId="{6AE1414A-3AAF-49D7-9B40-264BB287C04F}" type="parTrans" cxnId="{648E7E89-3E88-4DAC-BD3A-BA71354473D5}">
      <dgm:prSet/>
      <dgm:spPr/>
      <dgm:t>
        <a:bodyPr/>
        <a:lstStyle/>
        <a:p>
          <a:endParaRPr lang="fr-FR"/>
        </a:p>
      </dgm:t>
    </dgm:pt>
    <dgm:pt modelId="{B43D019F-EDEA-4928-A7E0-6D2FE1DC0620}" type="sibTrans" cxnId="{648E7E89-3E88-4DAC-BD3A-BA71354473D5}">
      <dgm:prSet/>
      <dgm:spPr/>
      <dgm:t>
        <a:bodyPr/>
        <a:lstStyle/>
        <a:p>
          <a:pPr>
            <a:lnSpc>
              <a:spcPct val="100000"/>
            </a:lnSpc>
            <a:defRPr b="1"/>
          </a:pPr>
          <a:endParaRPr lang="fr-FR"/>
        </a:p>
      </dgm:t>
    </dgm:pt>
    <dgm:pt modelId="{60973A66-721C-47FF-86BF-C351826FAF27}">
      <dgm:prSet/>
      <dgm:spPr/>
      <dgm:t>
        <a:bodyPr/>
        <a:lstStyle/>
        <a:p>
          <a:pPr>
            <a:lnSpc>
              <a:spcPct val="100000"/>
            </a:lnSpc>
          </a:pPr>
          <a:r>
            <a:rPr lang="fr-FR"/>
            <a:t>Un prompt est une instruction ou une question donnée à une IA générative pour initier la génération de contenu.</a:t>
          </a:r>
        </a:p>
      </dgm:t>
    </dgm:pt>
    <dgm:pt modelId="{CDCBEAA4-2B12-423B-B609-31E3B5B1374E}" type="parTrans" cxnId="{8FD746E4-EB33-4EA6-8F21-B7814E384D1A}">
      <dgm:prSet/>
      <dgm:spPr/>
      <dgm:t>
        <a:bodyPr/>
        <a:lstStyle/>
        <a:p>
          <a:endParaRPr lang="fr-FR"/>
        </a:p>
      </dgm:t>
    </dgm:pt>
    <dgm:pt modelId="{DF29966E-F2C1-4F9E-BFC7-7DC938CABF9A}" type="sibTrans" cxnId="{8FD746E4-EB33-4EA6-8F21-B7814E384D1A}">
      <dgm:prSet/>
      <dgm:spPr/>
      <dgm:t>
        <a:bodyPr/>
        <a:lstStyle/>
        <a:p>
          <a:endParaRPr lang="fr-FR"/>
        </a:p>
      </dgm:t>
    </dgm:pt>
    <dgm:pt modelId="{6A82CF41-A347-4F1B-9467-E1DC3477ECCB}">
      <dgm:prSet/>
      <dgm:spPr/>
      <dgm:t>
        <a:bodyPr/>
        <a:lstStyle/>
        <a:p>
          <a:pPr>
            <a:lnSpc>
              <a:spcPct val="100000"/>
            </a:lnSpc>
            <a:defRPr b="1"/>
          </a:pPr>
          <a:r>
            <a:rPr lang="fr-FR"/>
            <a:t>Importance du prompt</a:t>
          </a:r>
        </a:p>
      </dgm:t>
    </dgm:pt>
    <dgm:pt modelId="{39496451-7D7E-45F0-8365-5D15EBF9C539}" type="parTrans" cxnId="{CA1BEE99-A9AF-4357-9005-D4BBB45C5A24}">
      <dgm:prSet/>
      <dgm:spPr/>
      <dgm:t>
        <a:bodyPr/>
        <a:lstStyle/>
        <a:p>
          <a:endParaRPr lang="fr-FR"/>
        </a:p>
      </dgm:t>
    </dgm:pt>
    <dgm:pt modelId="{1F987661-7821-4C1D-9922-12795562E394}" type="sibTrans" cxnId="{CA1BEE99-A9AF-4357-9005-D4BBB45C5A24}">
      <dgm:prSet/>
      <dgm:spPr/>
      <dgm:t>
        <a:bodyPr/>
        <a:lstStyle/>
        <a:p>
          <a:pPr>
            <a:lnSpc>
              <a:spcPct val="100000"/>
            </a:lnSpc>
            <a:defRPr b="1"/>
          </a:pPr>
          <a:endParaRPr lang="fr-FR"/>
        </a:p>
      </dgm:t>
    </dgm:pt>
    <dgm:pt modelId="{EDFD8B50-06D1-4225-9C0E-1A82A6CE353E}">
      <dgm:prSet/>
      <dgm:spPr/>
      <dgm:t>
        <a:bodyPr/>
        <a:lstStyle/>
        <a:p>
          <a:pPr>
            <a:lnSpc>
              <a:spcPct val="100000"/>
            </a:lnSpc>
          </a:pPr>
          <a:r>
            <a:rPr lang="fr-FR"/>
            <a:t>Le prompt est essentiel car il détermine la qualité et la pertinence des résultats générés par l’IA.</a:t>
          </a:r>
        </a:p>
        <a:p>
          <a:pPr>
            <a:lnSpc>
              <a:spcPct val="100000"/>
            </a:lnSpc>
          </a:pPr>
          <a:r>
            <a:rPr lang="fr-FR" b="1"/>
            <a:t>Le dialogue prompting </a:t>
          </a:r>
          <a:r>
            <a:rPr lang="fr-FR"/>
            <a:t>fonctionne aussi.</a:t>
          </a:r>
        </a:p>
      </dgm:t>
    </dgm:pt>
    <dgm:pt modelId="{B8E3DE86-3F6B-4C0C-85D2-DBFD393EC736}" type="parTrans" cxnId="{331DC7D0-776A-4188-942D-C12C6ECA2493}">
      <dgm:prSet/>
      <dgm:spPr/>
      <dgm:t>
        <a:bodyPr/>
        <a:lstStyle/>
        <a:p>
          <a:endParaRPr lang="fr-FR"/>
        </a:p>
      </dgm:t>
    </dgm:pt>
    <dgm:pt modelId="{9DC9AEF3-0E75-402C-8D8B-A6111C7247C5}" type="sibTrans" cxnId="{331DC7D0-776A-4188-942D-C12C6ECA2493}">
      <dgm:prSet/>
      <dgm:spPr/>
      <dgm:t>
        <a:bodyPr/>
        <a:lstStyle/>
        <a:p>
          <a:endParaRPr lang="fr-FR"/>
        </a:p>
      </dgm:t>
    </dgm:pt>
    <dgm:pt modelId="{B8588B30-04AF-46D8-B6B3-7117664C53A0}">
      <dgm:prSet/>
      <dgm:spPr/>
      <dgm:t>
        <a:bodyPr/>
        <a:lstStyle/>
        <a:p>
          <a:pPr>
            <a:lnSpc>
              <a:spcPct val="100000"/>
            </a:lnSpc>
            <a:defRPr b="1"/>
          </a:pPr>
          <a:r>
            <a:rPr lang="fr-FR"/>
            <a:t>Règles pour un bon prompt</a:t>
          </a:r>
        </a:p>
      </dgm:t>
    </dgm:pt>
    <dgm:pt modelId="{F0B55A59-03BD-49D9-8C3C-EC6D2357DEC4}" type="parTrans" cxnId="{B4569E72-7165-4DF6-8CF9-2C41FF15380A}">
      <dgm:prSet/>
      <dgm:spPr/>
      <dgm:t>
        <a:bodyPr/>
        <a:lstStyle/>
        <a:p>
          <a:endParaRPr lang="fr-FR"/>
        </a:p>
      </dgm:t>
    </dgm:pt>
    <dgm:pt modelId="{0E08829F-E0B0-4126-BD33-2836F17C651A}" type="sibTrans" cxnId="{B4569E72-7165-4DF6-8CF9-2C41FF15380A}">
      <dgm:prSet/>
      <dgm:spPr/>
      <dgm:t>
        <a:bodyPr/>
        <a:lstStyle/>
        <a:p>
          <a:endParaRPr lang="fr-FR"/>
        </a:p>
      </dgm:t>
    </dgm:pt>
    <dgm:pt modelId="{BDDB8E1C-6562-43FF-924E-568A5B5663AE}">
      <dgm:prSet/>
      <dgm:spPr/>
      <dgm:t>
        <a:bodyPr/>
        <a:lstStyle/>
        <a:p>
          <a:pPr>
            <a:lnSpc>
              <a:spcPct val="100000"/>
            </a:lnSpc>
          </a:pPr>
          <a:r>
            <a:rPr lang="fr-FR"/>
            <a:t>Un bon prompt doit être clair, spécifique et orienté vers l'objectif pour obtenir des réponses précises de l'IA.</a:t>
          </a:r>
        </a:p>
      </dgm:t>
    </dgm:pt>
    <dgm:pt modelId="{6E0A147D-780A-4F8F-B77A-AD37A15F31EA}" type="parTrans" cxnId="{F18616ED-0984-43CF-A1C4-2797F224554B}">
      <dgm:prSet/>
      <dgm:spPr/>
      <dgm:t>
        <a:bodyPr/>
        <a:lstStyle/>
        <a:p>
          <a:endParaRPr lang="fr-FR"/>
        </a:p>
      </dgm:t>
    </dgm:pt>
    <dgm:pt modelId="{E6609BAF-AF14-4809-93C7-2CABAA38C4F2}" type="sibTrans" cxnId="{F18616ED-0984-43CF-A1C4-2797F224554B}">
      <dgm:prSet/>
      <dgm:spPr/>
      <dgm:t>
        <a:bodyPr/>
        <a:lstStyle/>
        <a:p>
          <a:endParaRPr lang="fr-FR"/>
        </a:p>
      </dgm:t>
    </dgm:pt>
    <dgm:pt modelId="{E2DFA093-B4C4-4DEE-AD0E-783070016328}" type="pres">
      <dgm:prSet presAssocID="{4C0C8FF7-3CC0-4242-BC8F-D80FACD03A9B}" presName="Root" presStyleCnt="0">
        <dgm:presLayoutVars>
          <dgm:dir/>
          <dgm:resizeHandles val="exact"/>
        </dgm:presLayoutVars>
      </dgm:prSet>
      <dgm:spPr/>
    </dgm:pt>
    <dgm:pt modelId="{63E1954D-7CE2-4ABE-981F-36365B87BCAB}" type="pres">
      <dgm:prSet presAssocID="{34081E58-705C-4652-A718-73C893F15A30}" presName="Composite" presStyleCnt="0"/>
      <dgm:spPr/>
    </dgm:pt>
    <dgm:pt modelId="{3B52971E-8C51-4B44-92F9-C5DD27611952}" type="pres">
      <dgm:prSet presAssocID="{34081E58-705C-4652-A718-73C893F15A30}" presName="Pictur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l="39658" r="345" b="5"/>
          <a:stretch/>
        </a:blipFill>
      </dgm:spPr>
      <dgm:extLst>
        <a:ext uri="{E40237B7-FDA0-4F09-8148-C483321AD2D9}">
          <dgm14:cNvPr xmlns:dgm14="http://schemas.microsoft.com/office/drawing/2010/diagram" id="0" name="" descr="Arrière-plan abstrait"/>
        </a:ext>
      </dgm:extLst>
    </dgm:pt>
    <dgm:pt modelId="{1F9DE79A-9276-4A10-9DCC-6BB453A0582C}" type="pres">
      <dgm:prSet presAssocID="{34081E58-705C-4652-A718-73C893F15A30}" presName="Subtitle" presStyleLbl="revTx" presStyleIdx="0" presStyleCnt="6">
        <dgm:presLayoutVars>
          <dgm:chMax val="0"/>
          <dgm:bulletEnabled/>
        </dgm:presLayoutVars>
      </dgm:prSet>
      <dgm:spPr/>
    </dgm:pt>
    <dgm:pt modelId="{6537B536-5FB8-4047-83F2-B0AD12F264F8}" type="pres">
      <dgm:prSet presAssocID="{34081E58-705C-4652-A718-73C893F15A30}" presName="Description" presStyleLbl="revTx" presStyleIdx="1" presStyleCnt="6">
        <dgm:presLayoutVars>
          <dgm:bulletEnabled/>
        </dgm:presLayoutVars>
      </dgm:prSet>
      <dgm:spPr/>
    </dgm:pt>
    <dgm:pt modelId="{8AEE3B48-B9B4-455A-8A03-5DA4A5FD9B98}" type="pres">
      <dgm:prSet presAssocID="{B43D019F-EDEA-4928-A7E0-6D2FE1DC0620}" presName="sibTrans" presStyleLbl="sibTrans2D1" presStyleIdx="0" presStyleCnt="0"/>
      <dgm:spPr/>
    </dgm:pt>
    <dgm:pt modelId="{C1A0ECDA-0F3E-4173-B7ED-CC938F9649EE}" type="pres">
      <dgm:prSet presAssocID="{6A82CF41-A347-4F1B-9467-E1DC3477ECCB}" presName="Composite" presStyleCnt="0"/>
      <dgm:spPr/>
    </dgm:pt>
    <dgm:pt modelId="{EA072420-4E29-4C46-9319-69959CE8C6C5}" type="pres">
      <dgm:prSet presAssocID="{6A82CF41-A347-4F1B-9467-E1DC3477ECCB}" presName="Picture" presStyleLbl="nod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l="5394" r="32108" b="3"/>
          <a:stretch/>
        </a:blipFill>
      </dgm:spPr>
      <dgm:extLst>
        <a:ext uri="{E40237B7-FDA0-4F09-8148-C483321AD2D9}">
          <dgm14:cNvPr xmlns:dgm14="http://schemas.microsoft.com/office/drawing/2010/diagram" id="0" name="" descr="Des post-it jaunes et roses se tiennent sur un fond bleu vif. Contactez-nous écrit sur le post-it. Concept de rappel. Composition horizontale avec espace de copie."/>
        </a:ext>
      </dgm:extLst>
    </dgm:pt>
    <dgm:pt modelId="{EE72D00D-36B3-4BC5-BEDD-F0FC38A5B666}" type="pres">
      <dgm:prSet presAssocID="{6A82CF41-A347-4F1B-9467-E1DC3477ECCB}" presName="Subtitle" presStyleLbl="revTx" presStyleIdx="2" presStyleCnt="6">
        <dgm:presLayoutVars>
          <dgm:chMax val="0"/>
          <dgm:bulletEnabled/>
        </dgm:presLayoutVars>
      </dgm:prSet>
      <dgm:spPr/>
    </dgm:pt>
    <dgm:pt modelId="{A5FA9821-3743-4E94-B2BE-3111A5E1B25D}" type="pres">
      <dgm:prSet presAssocID="{6A82CF41-A347-4F1B-9467-E1DC3477ECCB}" presName="Description" presStyleLbl="revTx" presStyleIdx="3" presStyleCnt="6">
        <dgm:presLayoutVars>
          <dgm:bulletEnabled/>
        </dgm:presLayoutVars>
      </dgm:prSet>
      <dgm:spPr/>
    </dgm:pt>
    <dgm:pt modelId="{40730653-3774-4B7D-8CEF-292083EC7FCD}" type="pres">
      <dgm:prSet presAssocID="{1F987661-7821-4C1D-9922-12795562E394}" presName="sibTrans" presStyleLbl="sibTrans2D1" presStyleIdx="0" presStyleCnt="0"/>
      <dgm:spPr/>
    </dgm:pt>
    <dgm:pt modelId="{BDD6A8D4-2F71-4AC9-966B-3B516340543E}" type="pres">
      <dgm:prSet presAssocID="{B8588B30-04AF-46D8-B6B3-7117664C53A0}" presName="Composite" presStyleCnt="0"/>
      <dgm:spPr/>
    </dgm:pt>
    <dgm:pt modelId="{99907383-E18F-4CEA-A363-5F8A31C1062D}" type="pres">
      <dgm:prSet presAssocID="{B8588B30-04AF-46D8-B6B3-7117664C53A0}" presName="Picture" presStyleLbl="nod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r="28001" b="1"/>
          <a:stretch/>
        </a:blipFill>
      </dgm:spPr>
      <dgm:extLst>
        <a:ext uri="{E40237B7-FDA0-4F09-8148-C483321AD2D9}">
          <dgm14:cNvPr xmlns:dgm14="http://schemas.microsoft.com/office/drawing/2010/diagram" id="0" name="" descr="sur tableau noir"/>
        </a:ext>
      </dgm:extLst>
    </dgm:pt>
    <dgm:pt modelId="{512E9FD3-76AE-4A57-8202-2F7221C32B81}" type="pres">
      <dgm:prSet presAssocID="{B8588B30-04AF-46D8-B6B3-7117664C53A0}" presName="Subtitle" presStyleLbl="revTx" presStyleIdx="4" presStyleCnt="6">
        <dgm:presLayoutVars>
          <dgm:chMax val="0"/>
          <dgm:bulletEnabled/>
        </dgm:presLayoutVars>
      </dgm:prSet>
      <dgm:spPr/>
    </dgm:pt>
    <dgm:pt modelId="{F56C6BF1-EB8F-4A7F-956A-092ABD3210E5}" type="pres">
      <dgm:prSet presAssocID="{B8588B30-04AF-46D8-B6B3-7117664C53A0}" presName="Description" presStyleLbl="revTx" presStyleIdx="5" presStyleCnt="6">
        <dgm:presLayoutVars>
          <dgm:bulletEnabled/>
        </dgm:presLayoutVars>
      </dgm:prSet>
      <dgm:spPr/>
    </dgm:pt>
  </dgm:ptLst>
  <dgm:cxnLst>
    <dgm:cxn modelId="{F5291306-1F18-4266-A5AD-029C301C9628}" type="presOf" srcId="{34081E58-705C-4652-A718-73C893F15A30}" destId="{1F9DE79A-9276-4A10-9DCC-6BB453A0582C}" srcOrd="0" destOrd="0" presId="urn:microsoft.com/office/officeart/2024/3/layout/verticalVisualTextBlock1"/>
    <dgm:cxn modelId="{CCA26F2E-6F73-4A3F-A39F-1C72C935126E}" type="presOf" srcId="{4C0C8FF7-3CC0-4242-BC8F-D80FACD03A9B}" destId="{E2DFA093-B4C4-4DEE-AD0E-783070016328}" srcOrd="0" destOrd="0" presId="urn:microsoft.com/office/officeart/2024/3/layout/verticalVisualTextBlock1"/>
    <dgm:cxn modelId="{6D80A53F-A418-49C4-B564-6A62A6FABF55}" type="presOf" srcId="{B43D019F-EDEA-4928-A7E0-6D2FE1DC0620}" destId="{8AEE3B48-B9B4-455A-8A03-5DA4A5FD9B98}" srcOrd="0" destOrd="0" presId="urn:microsoft.com/office/officeart/2024/3/layout/verticalVisualTextBlock1"/>
    <dgm:cxn modelId="{8C49E944-7B15-4FC9-8608-BC2B461E7E51}" type="presOf" srcId="{60973A66-721C-47FF-86BF-C351826FAF27}" destId="{6537B536-5FB8-4047-83F2-B0AD12F264F8}" srcOrd="0" destOrd="0" presId="urn:microsoft.com/office/officeart/2024/3/layout/verticalVisualTextBlock1"/>
    <dgm:cxn modelId="{9541F965-CD37-43B3-9256-0376773F65FC}" type="presOf" srcId="{B8588B30-04AF-46D8-B6B3-7117664C53A0}" destId="{512E9FD3-76AE-4A57-8202-2F7221C32B81}" srcOrd="0" destOrd="0" presId="urn:microsoft.com/office/officeart/2024/3/layout/verticalVisualTextBlock1"/>
    <dgm:cxn modelId="{1C4F5369-2BA8-4EFC-930E-D2218748C1D2}" type="presOf" srcId="{BDDB8E1C-6562-43FF-924E-568A5B5663AE}" destId="{F56C6BF1-EB8F-4A7F-956A-092ABD3210E5}" srcOrd="0" destOrd="0" presId="urn:microsoft.com/office/officeart/2024/3/layout/verticalVisualTextBlock1"/>
    <dgm:cxn modelId="{B4569E72-7165-4DF6-8CF9-2C41FF15380A}" srcId="{4C0C8FF7-3CC0-4242-BC8F-D80FACD03A9B}" destId="{B8588B30-04AF-46D8-B6B3-7117664C53A0}" srcOrd="2" destOrd="0" parTransId="{F0B55A59-03BD-49D9-8C3C-EC6D2357DEC4}" sibTransId="{0E08829F-E0B0-4126-BD33-2836F17C651A}"/>
    <dgm:cxn modelId="{4472AB73-265C-4225-90BB-5E51768F7620}" type="presOf" srcId="{1F987661-7821-4C1D-9922-12795562E394}" destId="{40730653-3774-4B7D-8CEF-292083EC7FCD}" srcOrd="0" destOrd="0" presId="urn:microsoft.com/office/officeart/2024/3/layout/verticalVisualTextBlock1"/>
    <dgm:cxn modelId="{07414174-5CC6-4652-8A02-E55C7B84D45C}" type="presOf" srcId="{EDFD8B50-06D1-4225-9C0E-1A82A6CE353E}" destId="{A5FA9821-3743-4E94-B2BE-3111A5E1B25D}" srcOrd="0" destOrd="0" presId="urn:microsoft.com/office/officeart/2024/3/layout/verticalVisualTextBlock1"/>
    <dgm:cxn modelId="{648E7E89-3E88-4DAC-BD3A-BA71354473D5}" srcId="{4C0C8FF7-3CC0-4242-BC8F-D80FACD03A9B}" destId="{34081E58-705C-4652-A718-73C893F15A30}" srcOrd="0" destOrd="0" parTransId="{6AE1414A-3AAF-49D7-9B40-264BB287C04F}" sibTransId="{B43D019F-EDEA-4928-A7E0-6D2FE1DC0620}"/>
    <dgm:cxn modelId="{BCB24093-5D17-4F97-918E-7F426350CFA1}" type="presOf" srcId="{6A82CF41-A347-4F1B-9467-E1DC3477ECCB}" destId="{EE72D00D-36B3-4BC5-BEDD-F0FC38A5B666}" srcOrd="0" destOrd="0" presId="urn:microsoft.com/office/officeart/2024/3/layout/verticalVisualTextBlock1"/>
    <dgm:cxn modelId="{CA1BEE99-A9AF-4357-9005-D4BBB45C5A24}" srcId="{4C0C8FF7-3CC0-4242-BC8F-D80FACD03A9B}" destId="{6A82CF41-A347-4F1B-9467-E1DC3477ECCB}" srcOrd="1" destOrd="0" parTransId="{39496451-7D7E-45F0-8365-5D15EBF9C539}" sibTransId="{1F987661-7821-4C1D-9922-12795562E394}"/>
    <dgm:cxn modelId="{331DC7D0-776A-4188-942D-C12C6ECA2493}" srcId="{6A82CF41-A347-4F1B-9467-E1DC3477ECCB}" destId="{EDFD8B50-06D1-4225-9C0E-1A82A6CE353E}" srcOrd="0" destOrd="0" parTransId="{B8E3DE86-3F6B-4C0C-85D2-DBFD393EC736}" sibTransId="{9DC9AEF3-0E75-402C-8D8B-A6111C7247C5}"/>
    <dgm:cxn modelId="{8FD746E4-EB33-4EA6-8F21-B7814E384D1A}" srcId="{34081E58-705C-4652-A718-73C893F15A30}" destId="{60973A66-721C-47FF-86BF-C351826FAF27}" srcOrd="0" destOrd="0" parTransId="{CDCBEAA4-2B12-423B-B609-31E3B5B1374E}" sibTransId="{DF29966E-F2C1-4F9E-BFC7-7DC938CABF9A}"/>
    <dgm:cxn modelId="{F18616ED-0984-43CF-A1C4-2797F224554B}" srcId="{B8588B30-04AF-46D8-B6B3-7117664C53A0}" destId="{BDDB8E1C-6562-43FF-924E-568A5B5663AE}" srcOrd="0" destOrd="0" parTransId="{6E0A147D-780A-4F8F-B77A-AD37A15F31EA}" sibTransId="{E6609BAF-AF14-4809-93C7-2CABAA38C4F2}"/>
    <dgm:cxn modelId="{63C84A89-4A36-44BA-AA4E-2A40F0298C3D}" type="presParOf" srcId="{E2DFA093-B4C4-4DEE-AD0E-783070016328}" destId="{63E1954D-7CE2-4ABE-981F-36365B87BCAB}" srcOrd="0" destOrd="0" presId="urn:microsoft.com/office/officeart/2024/3/layout/verticalVisualTextBlock1"/>
    <dgm:cxn modelId="{74D0C7D2-3EC6-468D-9F8A-6834BAB48E66}" type="presParOf" srcId="{63E1954D-7CE2-4ABE-981F-36365B87BCAB}" destId="{3B52971E-8C51-4B44-92F9-C5DD27611952}" srcOrd="0" destOrd="0" presId="urn:microsoft.com/office/officeart/2024/3/layout/verticalVisualTextBlock1"/>
    <dgm:cxn modelId="{3717DA1D-B4B8-4745-904E-F1A5613DCDC6}" type="presParOf" srcId="{63E1954D-7CE2-4ABE-981F-36365B87BCAB}" destId="{1F9DE79A-9276-4A10-9DCC-6BB453A0582C}" srcOrd="1" destOrd="0" presId="urn:microsoft.com/office/officeart/2024/3/layout/verticalVisualTextBlock1"/>
    <dgm:cxn modelId="{15E81FF9-BA02-4AB9-BA8F-856BACDB748E}" type="presParOf" srcId="{63E1954D-7CE2-4ABE-981F-36365B87BCAB}" destId="{6537B536-5FB8-4047-83F2-B0AD12F264F8}" srcOrd="2" destOrd="0" presId="urn:microsoft.com/office/officeart/2024/3/layout/verticalVisualTextBlock1"/>
    <dgm:cxn modelId="{47FFC23C-5CF8-49DF-BCB4-D69DB9DA60A7}" type="presParOf" srcId="{E2DFA093-B4C4-4DEE-AD0E-783070016328}" destId="{8AEE3B48-B9B4-455A-8A03-5DA4A5FD9B98}" srcOrd="1" destOrd="0" presId="urn:microsoft.com/office/officeart/2024/3/layout/verticalVisualTextBlock1"/>
    <dgm:cxn modelId="{11756200-B9BC-45F2-BB55-3B8A2A17CC21}" type="presParOf" srcId="{E2DFA093-B4C4-4DEE-AD0E-783070016328}" destId="{C1A0ECDA-0F3E-4173-B7ED-CC938F9649EE}" srcOrd="2" destOrd="0" presId="urn:microsoft.com/office/officeart/2024/3/layout/verticalVisualTextBlock1"/>
    <dgm:cxn modelId="{CC74BD5B-DCB5-49A6-89FA-C79D8E6EF797}" type="presParOf" srcId="{C1A0ECDA-0F3E-4173-B7ED-CC938F9649EE}" destId="{EA072420-4E29-4C46-9319-69959CE8C6C5}" srcOrd="0" destOrd="0" presId="urn:microsoft.com/office/officeart/2024/3/layout/verticalVisualTextBlock1"/>
    <dgm:cxn modelId="{14A47B26-2F0D-442A-AAA0-A0499018C8F3}" type="presParOf" srcId="{C1A0ECDA-0F3E-4173-B7ED-CC938F9649EE}" destId="{EE72D00D-36B3-4BC5-BEDD-F0FC38A5B666}" srcOrd="1" destOrd="0" presId="urn:microsoft.com/office/officeart/2024/3/layout/verticalVisualTextBlock1"/>
    <dgm:cxn modelId="{0B5F4858-01EE-40E0-B7F1-890EFAB4093F}" type="presParOf" srcId="{C1A0ECDA-0F3E-4173-B7ED-CC938F9649EE}" destId="{A5FA9821-3743-4E94-B2BE-3111A5E1B25D}" srcOrd="2" destOrd="0" presId="urn:microsoft.com/office/officeart/2024/3/layout/verticalVisualTextBlock1"/>
    <dgm:cxn modelId="{B4E91821-9143-4339-AADE-02FAB11AC5E3}" type="presParOf" srcId="{E2DFA093-B4C4-4DEE-AD0E-783070016328}" destId="{40730653-3774-4B7D-8CEF-292083EC7FCD}" srcOrd="3" destOrd="0" presId="urn:microsoft.com/office/officeart/2024/3/layout/verticalVisualTextBlock1"/>
    <dgm:cxn modelId="{08F172E6-23F3-4222-9157-551D722F08D5}" type="presParOf" srcId="{E2DFA093-B4C4-4DEE-AD0E-783070016328}" destId="{BDD6A8D4-2F71-4AC9-966B-3B516340543E}" srcOrd="4" destOrd="0" presId="urn:microsoft.com/office/officeart/2024/3/layout/verticalVisualTextBlock1"/>
    <dgm:cxn modelId="{2EF9ED79-92BD-4273-BC57-508E80D7DB04}" type="presParOf" srcId="{BDD6A8D4-2F71-4AC9-966B-3B516340543E}" destId="{99907383-E18F-4CEA-A363-5F8A31C1062D}" srcOrd="0" destOrd="0" presId="urn:microsoft.com/office/officeart/2024/3/layout/verticalVisualTextBlock1"/>
    <dgm:cxn modelId="{0A54C419-BCDA-4354-BA1D-D60C07D4C2A2}" type="presParOf" srcId="{BDD6A8D4-2F71-4AC9-966B-3B516340543E}" destId="{512E9FD3-76AE-4A57-8202-2F7221C32B81}" srcOrd="1" destOrd="0" presId="urn:microsoft.com/office/officeart/2024/3/layout/verticalVisualTextBlock1"/>
    <dgm:cxn modelId="{798F5810-D6A6-4447-880F-77D50FD43B72}" type="presParOf" srcId="{BDD6A8D4-2F71-4AC9-966B-3B516340543E}" destId="{F56C6BF1-EB8F-4A7F-956A-092ABD3210E5}"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8EA8A4-B1FE-444E-84F2-712276A1F88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13D6BFB1-6DED-45F2-B34C-C002D4EC04E3}">
      <dgm:prSet/>
      <dgm:spPr/>
      <dgm:t>
        <a:bodyPr/>
        <a:lstStyle/>
        <a:p>
          <a:r>
            <a:rPr lang="fr-FR"/>
            <a:t>Faire sa biographie</a:t>
          </a:r>
          <a:endParaRPr lang="en-US"/>
        </a:p>
      </dgm:t>
    </dgm:pt>
    <dgm:pt modelId="{B0CC5108-4083-44F9-BF42-28D86A4EB33B}" type="parTrans" cxnId="{525A9830-9888-44AE-8910-CAEB021FCDCD}">
      <dgm:prSet/>
      <dgm:spPr/>
      <dgm:t>
        <a:bodyPr/>
        <a:lstStyle/>
        <a:p>
          <a:endParaRPr lang="en-US"/>
        </a:p>
      </dgm:t>
    </dgm:pt>
    <dgm:pt modelId="{501BACFD-0AF0-4AFF-B7DB-189A51FDE0D9}" type="sibTrans" cxnId="{525A9830-9888-44AE-8910-CAEB021FCDCD}">
      <dgm:prSet/>
      <dgm:spPr/>
      <dgm:t>
        <a:bodyPr/>
        <a:lstStyle/>
        <a:p>
          <a:endParaRPr lang="en-US"/>
        </a:p>
      </dgm:t>
    </dgm:pt>
    <dgm:pt modelId="{67D61F57-9B8A-4781-BC78-94A771F34517}">
      <dgm:prSet/>
      <dgm:spPr/>
      <dgm:t>
        <a:bodyPr/>
        <a:lstStyle/>
        <a:p>
          <a:r>
            <a:rPr lang="fr-FR"/>
            <a:t>Donne 3 idées originales de cadeau pour… (à vous de choisir)</a:t>
          </a:r>
          <a:endParaRPr lang="en-US"/>
        </a:p>
      </dgm:t>
    </dgm:pt>
    <dgm:pt modelId="{6242CAF1-E139-4589-B18E-E5CC6C3235B2}" type="parTrans" cxnId="{5A18D708-D904-4B5F-AA36-9D272DEB067C}">
      <dgm:prSet/>
      <dgm:spPr/>
      <dgm:t>
        <a:bodyPr/>
        <a:lstStyle/>
        <a:p>
          <a:endParaRPr lang="en-US"/>
        </a:p>
      </dgm:t>
    </dgm:pt>
    <dgm:pt modelId="{0C2054EC-2E63-4900-9BE5-8EE22AE24A1E}" type="sibTrans" cxnId="{5A18D708-D904-4B5F-AA36-9D272DEB067C}">
      <dgm:prSet/>
      <dgm:spPr/>
      <dgm:t>
        <a:bodyPr/>
        <a:lstStyle/>
        <a:p>
          <a:endParaRPr lang="en-US"/>
        </a:p>
      </dgm:t>
    </dgm:pt>
    <dgm:pt modelId="{855497B2-CB56-4D7F-9088-1DD91369D25B}">
      <dgm:prSet/>
      <dgm:spPr/>
      <dgm:t>
        <a:bodyPr/>
        <a:lstStyle/>
        <a:p>
          <a:r>
            <a:rPr lang="fr-FR"/>
            <a:t>Rédige une lettre de motivation pour devenir super héros </a:t>
          </a:r>
          <a:endParaRPr lang="en-US"/>
        </a:p>
      </dgm:t>
    </dgm:pt>
    <dgm:pt modelId="{5B20EEC0-388D-416D-AE73-F889359D0026}" type="parTrans" cxnId="{8CEC894F-A5C7-4949-B3F2-78563F48C159}">
      <dgm:prSet/>
      <dgm:spPr/>
      <dgm:t>
        <a:bodyPr/>
        <a:lstStyle/>
        <a:p>
          <a:endParaRPr lang="en-US"/>
        </a:p>
      </dgm:t>
    </dgm:pt>
    <dgm:pt modelId="{853EF1BB-75FC-4BED-82D3-76CFA3DE5E27}" type="sibTrans" cxnId="{8CEC894F-A5C7-4949-B3F2-78563F48C159}">
      <dgm:prSet/>
      <dgm:spPr/>
      <dgm:t>
        <a:bodyPr/>
        <a:lstStyle/>
        <a:p>
          <a:endParaRPr lang="en-US"/>
        </a:p>
      </dgm:t>
    </dgm:pt>
    <dgm:pt modelId="{FBCA75F5-4A8D-4AB8-83F6-06BA4C54F6F4}" type="pres">
      <dgm:prSet presAssocID="{328EA8A4-B1FE-444E-84F2-712276A1F889}" presName="root" presStyleCnt="0">
        <dgm:presLayoutVars>
          <dgm:dir/>
          <dgm:resizeHandles val="exact"/>
        </dgm:presLayoutVars>
      </dgm:prSet>
      <dgm:spPr/>
    </dgm:pt>
    <dgm:pt modelId="{2BB7C180-06CA-414D-B389-6C8468BB5C4F}" type="pres">
      <dgm:prSet presAssocID="{13D6BFB1-6DED-45F2-B34C-C002D4EC04E3}" presName="compNode" presStyleCnt="0"/>
      <dgm:spPr/>
    </dgm:pt>
    <dgm:pt modelId="{6750538F-F9D1-4B20-B695-D0C716B73BCE}" type="pres">
      <dgm:prSet presAssocID="{13D6BFB1-6DED-45F2-B34C-C002D4EC04E3}" presName="bgRect" presStyleLbl="bgShp" presStyleIdx="0" presStyleCnt="3"/>
      <dgm:spPr/>
    </dgm:pt>
    <dgm:pt modelId="{470F6813-254D-4F9E-B903-B96999189A58}" type="pres">
      <dgm:prSet presAssocID="{13D6BFB1-6DED-45F2-B34C-C002D4EC04E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che"/>
        </a:ext>
      </dgm:extLst>
    </dgm:pt>
    <dgm:pt modelId="{3D48D562-9641-47F0-A96A-4CEB96A8ACAE}" type="pres">
      <dgm:prSet presAssocID="{13D6BFB1-6DED-45F2-B34C-C002D4EC04E3}" presName="spaceRect" presStyleCnt="0"/>
      <dgm:spPr/>
    </dgm:pt>
    <dgm:pt modelId="{AEB4F0B3-6F04-4D01-B3E4-57024FDED9CA}" type="pres">
      <dgm:prSet presAssocID="{13D6BFB1-6DED-45F2-B34C-C002D4EC04E3}" presName="parTx" presStyleLbl="revTx" presStyleIdx="0" presStyleCnt="3">
        <dgm:presLayoutVars>
          <dgm:chMax val="0"/>
          <dgm:chPref val="0"/>
        </dgm:presLayoutVars>
      </dgm:prSet>
      <dgm:spPr/>
    </dgm:pt>
    <dgm:pt modelId="{DEA1C9A7-7569-4DB1-B7FA-A64356EFB3F8}" type="pres">
      <dgm:prSet presAssocID="{501BACFD-0AF0-4AFF-B7DB-189A51FDE0D9}" presName="sibTrans" presStyleCnt="0"/>
      <dgm:spPr/>
    </dgm:pt>
    <dgm:pt modelId="{4376D81E-13FA-43A5-984F-B65E07C17AF6}" type="pres">
      <dgm:prSet presAssocID="{67D61F57-9B8A-4781-BC78-94A771F34517}" presName="compNode" presStyleCnt="0"/>
      <dgm:spPr/>
    </dgm:pt>
    <dgm:pt modelId="{A7855F56-4925-4B82-B8E2-D2F063693AFC}" type="pres">
      <dgm:prSet presAssocID="{67D61F57-9B8A-4781-BC78-94A771F34517}" presName="bgRect" presStyleLbl="bgShp" presStyleIdx="1" presStyleCnt="3"/>
      <dgm:spPr/>
    </dgm:pt>
    <dgm:pt modelId="{35C7678A-93E8-4A52-A9DF-A8400E437CB8}" type="pres">
      <dgm:prSet presAssocID="{67D61F57-9B8A-4781-BC78-94A771F3451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deau"/>
        </a:ext>
      </dgm:extLst>
    </dgm:pt>
    <dgm:pt modelId="{0513A9E6-02EA-4C7E-AB73-4A7BF50425F7}" type="pres">
      <dgm:prSet presAssocID="{67D61F57-9B8A-4781-BC78-94A771F34517}" presName="spaceRect" presStyleCnt="0"/>
      <dgm:spPr/>
    </dgm:pt>
    <dgm:pt modelId="{97E0131B-E225-4618-AE89-93A07E71EDB2}" type="pres">
      <dgm:prSet presAssocID="{67D61F57-9B8A-4781-BC78-94A771F34517}" presName="parTx" presStyleLbl="revTx" presStyleIdx="1" presStyleCnt="3">
        <dgm:presLayoutVars>
          <dgm:chMax val="0"/>
          <dgm:chPref val="0"/>
        </dgm:presLayoutVars>
      </dgm:prSet>
      <dgm:spPr/>
    </dgm:pt>
    <dgm:pt modelId="{CD93C505-86BF-4B51-AD8D-B2AD9A972484}" type="pres">
      <dgm:prSet presAssocID="{0C2054EC-2E63-4900-9BE5-8EE22AE24A1E}" presName="sibTrans" presStyleCnt="0"/>
      <dgm:spPr/>
    </dgm:pt>
    <dgm:pt modelId="{292150A8-0A55-49B7-9C3E-EBB82C5BE109}" type="pres">
      <dgm:prSet presAssocID="{855497B2-CB56-4D7F-9088-1DD91369D25B}" presName="compNode" presStyleCnt="0"/>
      <dgm:spPr/>
    </dgm:pt>
    <dgm:pt modelId="{F3D48EBD-96D3-454D-BCB3-DF5BD836B40D}" type="pres">
      <dgm:prSet presAssocID="{855497B2-CB56-4D7F-9088-1DD91369D25B}" presName="bgRect" presStyleLbl="bgShp" presStyleIdx="2" presStyleCnt="3"/>
      <dgm:spPr/>
    </dgm:pt>
    <dgm:pt modelId="{DCF550AA-4AAF-4BAD-975B-47F7AA3D60A3}" type="pres">
      <dgm:prSet presAssocID="{855497B2-CB56-4D7F-9088-1DD91369D25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ooting star"/>
        </a:ext>
      </dgm:extLst>
    </dgm:pt>
    <dgm:pt modelId="{A0CFDACF-A53F-43CD-9D23-A0FEF94F920E}" type="pres">
      <dgm:prSet presAssocID="{855497B2-CB56-4D7F-9088-1DD91369D25B}" presName="spaceRect" presStyleCnt="0"/>
      <dgm:spPr/>
    </dgm:pt>
    <dgm:pt modelId="{9C93109A-64C0-424E-8EB9-8C02178E91E5}" type="pres">
      <dgm:prSet presAssocID="{855497B2-CB56-4D7F-9088-1DD91369D25B}" presName="parTx" presStyleLbl="revTx" presStyleIdx="2" presStyleCnt="3">
        <dgm:presLayoutVars>
          <dgm:chMax val="0"/>
          <dgm:chPref val="0"/>
        </dgm:presLayoutVars>
      </dgm:prSet>
      <dgm:spPr/>
    </dgm:pt>
  </dgm:ptLst>
  <dgm:cxnLst>
    <dgm:cxn modelId="{5A18D708-D904-4B5F-AA36-9D272DEB067C}" srcId="{328EA8A4-B1FE-444E-84F2-712276A1F889}" destId="{67D61F57-9B8A-4781-BC78-94A771F34517}" srcOrd="1" destOrd="0" parTransId="{6242CAF1-E139-4589-B18E-E5CC6C3235B2}" sibTransId="{0C2054EC-2E63-4900-9BE5-8EE22AE24A1E}"/>
    <dgm:cxn modelId="{525A9830-9888-44AE-8910-CAEB021FCDCD}" srcId="{328EA8A4-B1FE-444E-84F2-712276A1F889}" destId="{13D6BFB1-6DED-45F2-B34C-C002D4EC04E3}" srcOrd="0" destOrd="0" parTransId="{B0CC5108-4083-44F9-BF42-28D86A4EB33B}" sibTransId="{501BACFD-0AF0-4AFF-B7DB-189A51FDE0D9}"/>
    <dgm:cxn modelId="{8CEC894F-A5C7-4949-B3F2-78563F48C159}" srcId="{328EA8A4-B1FE-444E-84F2-712276A1F889}" destId="{855497B2-CB56-4D7F-9088-1DD91369D25B}" srcOrd="2" destOrd="0" parTransId="{5B20EEC0-388D-416D-AE73-F889359D0026}" sibTransId="{853EF1BB-75FC-4BED-82D3-76CFA3DE5E27}"/>
    <dgm:cxn modelId="{9197E855-23A3-401E-A9E4-4A1FC3431E45}" type="presOf" srcId="{13D6BFB1-6DED-45F2-B34C-C002D4EC04E3}" destId="{AEB4F0B3-6F04-4D01-B3E4-57024FDED9CA}" srcOrd="0" destOrd="0" presId="urn:microsoft.com/office/officeart/2018/2/layout/IconVerticalSolidList"/>
    <dgm:cxn modelId="{57EC5E80-6367-49E9-BCE3-0AA08DC457EE}" type="presOf" srcId="{328EA8A4-B1FE-444E-84F2-712276A1F889}" destId="{FBCA75F5-4A8D-4AB8-83F6-06BA4C54F6F4}" srcOrd="0" destOrd="0" presId="urn:microsoft.com/office/officeart/2018/2/layout/IconVerticalSolidList"/>
    <dgm:cxn modelId="{AF947CCC-6F43-46EE-8DBA-DCAED864C8AB}" type="presOf" srcId="{855497B2-CB56-4D7F-9088-1DD91369D25B}" destId="{9C93109A-64C0-424E-8EB9-8C02178E91E5}" srcOrd="0" destOrd="0" presId="urn:microsoft.com/office/officeart/2018/2/layout/IconVerticalSolidList"/>
    <dgm:cxn modelId="{FFDD9EE0-27E7-4133-9FA9-FCA29000E034}" type="presOf" srcId="{67D61F57-9B8A-4781-BC78-94A771F34517}" destId="{97E0131B-E225-4618-AE89-93A07E71EDB2}" srcOrd="0" destOrd="0" presId="urn:microsoft.com/office/officeart/2018/2/layout/IconVerticalSolidList"/>
    <dgm:cxn modelId="{2FA9AC90-4EA9-47C5-B11E-3335D28B11F3}" type="presParOf" srcId="{FBCA75F5-4A8D-4AB8-83F6-06BA4C54F6F4}" destId="{2BB7C180-06CA-414D-B389-6C8468BB5C4F}" srcOrd="0" destOrd="0" presId="urn:microsoft.com/office/officeart/2018/2/layout/IconVerticalSolidList"/>
    <dgm:cxn modelId="{945185C5-E87F-4284-B380-FF11C9303E1B}" type="presParOf" srcId="{2BB7C180-06CA-414D-B389-6C8468BB5C4F}" destId="{6750538F-F9D1-4B20-B695-D0C716B73BCE}" srcOrd="0" destOrd="0" presId="urn:microsoft.com/office/officeart/2018/2/layout/IconVerticalSolidList"/>
    <dgm:cxn modelId="{FC6774A7-E808-4480-B1B2-BCDB3CA814EE}" type="presParOf" srcId="{2BB7C180-06CA-414D-B389-6C8468BB5C4F}" destId="{470F6813-254D-4F9E-B903-B96999189A58}" srcOrd="1" destOrd="0" presId="urn:microsoft.com/office/officeart/2018/2/layout/IconVerticalSolidList"/>
    <dgm:cxn modelId="{78D3905E-6D33-4752-8262-D206B3DD7C72}" type="presParOf" srcId="{2BB7C180-06CA-414D-B389-6C8468BB5C4F}" destId="{3D48D562-9641-47F0-A96A-4CEB96A8ACAE}" srcOrd="2" destOrd="0" presId="urn:microsoft.com/office/officeart/2018/2/layout/IconVerticalSolidList"/>
    <dgm:cxn modelId="{E2C7B91C-F87B-45C6-AF37-EBD010ED98B2}" type="presParOf" srcId="{2BB7C180-06CA-414D-B389-6C8468BB5C4F}" destId="{AEB4F0B3-6F04-4D01-B3E4-57024FDED9CA}" srcOrd="3" destOrd="0" presId="urn:microsoft.com/office/officeart/2018/2/layout/IconVerticalSolidList"/>
    <dgm:cxn modelId="{E90362F7-5A06-4936-880A-B0F80B42B156}" type="presParOf" srcId="{FBCA75F5-4A8D-4AB8-83F6-06BA4C54F6F4}" destId="{DEA1C9A7-7569-4DB1-B7FA-A64356EFB3F8}" srcOrd="1" destOrd="0" presId="urn:microsoft.com/office/officeart/2018/2/layout/IconVerticalSolidList"/>
    <dgm:cxn modelId="{25CA90BB-50B0-475B-A633-5BDFC35E6C33}" type="presParOf" srcId="{FBCA75F5-4A8D-4AB8-83F6-06BA4C54F6F4}" destId="{4376D81E-13FA-43A5-984F-B65E07C17AF6}" srcOrd="2" destOrd="0" presId="urn:microsoft.com/office/officeart/2018/2/layout/IconVerticalSolidList"/>
    <dgm:cxn modelId="{5A178C59-7AD8-4D8B-870F-E7848B78EDC3}" type="presParOf" srcId="{4376D81E-13FA-43A5-984F-B65E07C17AF6}" destId="{A7855F56-4925-4B82-B8E2-D2F063693AFC}" srcOrd="0" destOrd="0" presId="urn:microsoft.com/office/officeart/2018/2/layout/IconVerticalSolidList"/>
    <dgm:cxn modelId="{072109DE-5572-4248-8B77-E609B8F3117A}" type="presParOf" srcId="{4376D81E-13FA-43A5-984F-B65E07C17AF6}" destId="{35C7678A-93E8-4A52-A9DF-A8400E437CB8}" srcOrd="1" destOrd="0" presId="urn:microsoft.com/office/officeart/2018/2/layout/IconVerticalSolidList"/>
    <dgm:cxn modelId="{AC412431-2E39-4A58-BFE4-166FF1EA4182}" type="presParOf" srcId="{4376D81E-13FA-43A5-984F-B65E07C17AF6}" destId="{0513A9E6-02EA-4C7E-AB73-4A7BF50425F7}" srcOrd="2" destOrd="0" presId="urn:microsoft.com/office/officeart/2018/2/layout/IconVerticalSolidList"/>
    <dgm:cxn modelId="{4CCCB35A-6892-40FE-A96A-B2F7A9A94620}" type="presParOf" srcId="{4376D81E-13FA-43A5-984F-B65E07C17AF6}" destId="{97E0131B-E225-4618-AE89-93A07E71EDB2}" srcOrd="3" destOrd="0" presId="urn:microsoft.com/office/officeart/2018/2/layout/IconVerticalSolidList"/>
    <dgm:cxn modelId="{F3E7D19E-BB02-4D1E-A025-D4F7C15A8573}" type="presParOf" srcId="{FBCA75F5-4A8D-4AB8-83F6-06BA4C54F6F4}" destId="{CD93C505-86BF-4B51-AD8D-B2AD9A972484}" srcOrd="3" destOrd="0" presId="urn:microsoft.com/office/officeart/2018/2/layout/IconVerticalSolidList"/>
    <dgm:cxn modelId="{758A7324-A9D4-4CE9-8814-AA2521EF3144}" type="presParOf" srcId="{FBCA75F5-4A8D-4AB8-83F6-06BA4C54F6F4}" destId="{292150A8-0A55-49B7-9C3E-EBB82C5BE109}" srcOrd="4" destOrd="0" presId="urn:microsoft.com/office/officeart/2018/2/layout/IconVerticalSolidList"/>
    <dgm:cxn modelId="{1385BE87-37A0-4A28-BE4C-3EF5DEBD4EAD}" type="presParOf" srcId="{292150A8-0A55-49B7-9C3E-EBB82C5BE109}" destId="{F3D48EBD-96D3-454D-BCB3-DF5BD836B40D}" srcOrd="0" destOrd="0" presId="urn:microsoft.com/office/officeart/2018/2/layout/IconVerticalSolidList"/>
    <dgm:cxn modelId="{CF01D6F7-3222-4F5B-A676-08B177E7FDE2}" type="presParOf" srcId="{292150A8-0A55-49B7-9C3E-EBB82C5BE109}" destId="{DCF550AA-4AAF-4BAD-975B-47F7AA3D60A3}" srcOrd="1" destOrd="0" presId="urn:microsoft.com/office/officeart/2018/2/layout/IconVerticalSolidList"/>
    <dgm:cxn modelId="{F426652A-93DA-4944-A921-D1ADFD3F5BD3}" type="presParOf" srcId="{292150A8-0A55-49B7-9C3E-EBB82C5BE109}" destId="{A0CFDACF-A53F-43CD-9D23-A0FEF94F920E}" srcOrd="2" destOrd="0" presId="urn:microsoft.com/office/officeart/2018/2/layout/IconVerticalSolidList"/>
    <dgm:cxn modelId="{3CDDA10B-4D23-46DE-9993-74B788E380D4}" type="presParOf" srcId="{292150A8-0A55-49B7-9C3E-EBB82C5BE109}" destId="{9C93109A-64C0-424E-8EB9-8C02178E91E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52971E-8C51-4B44-92F9-C5DD27611952}">
      <dsp:nvSpPr>
        <dsp:cNvPr id="0" name=""/>
        <dsp:cNvSpPr/>
      </dsp:nvSpPr>
      <dsp:spPr>
        <a:xfrm>
          <a:off x="0" y="0"/>
          <a:ext cx="1111088" cy="1111088"/>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l="39658" r="345" b="5"/>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F9DE79A-9276-4A10-9DCC-6BB453A0582C}">
      <dsp:nvSpPr>
        <dsp:cNvPr id="0" name=""/>
        <dsp:cNvSpPr/>
      </dsp:nvSpPr>
      <dsp:spPr>
        <a:xfrm>
          <a:off x="1291088" y="0"/>
          <a:ext cx="6595611" cy="348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Qu'est-ce qu'un prompt ?</a:t>
          </a:r>
        </a:p>
      </dsp:txBody>
      <dsp:txXfrm>
        <a:off x="1291088" y="0"/>
        <a:ext cx="6595611" cy="348027"/>
      </dsp:txXfrm>
    </dsp:sp>
    <dsp:sp modelId="{6537B536-5FB8-4047-83F2-B0AD12F264F8}">
      <dsp:nvSpPr>
        <dsp:cNvPr id="0" name=""/>
        <dsp:cNvSpPr/>
      </dsp:nvSpPr>
      <dsp:spPr>
        <a:xfrm>
          <a:off x="1291088" y="348027"/>
          <a:ext cx="6595611" cy="763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Un prompt est une instruction ou une question donnée à une IA générative pour initier la génération de contenu.</a:t>
          </a:r>
        </a:p>
      </dsp:txBody>
      <dsp:txXfrm>
        <a:off x="1291088" y="348027"/>
        <a:ext cx="6595611" cy="763060"/>
      </dsp:txXfrm>
    </dsp:sp>
    <dsp:sp modelId="{EA072420-4E29-4C46-9319-69959CE8C6C5}">
      <dsp:nvSpPr>
        <dsp:cNvPr id="0" name=""/>
        <dsp:cNvSpPr/>
      </dsp:nvSpPr>
      <dsp:spPr>
        <a:xfrm>
          <a:off x="0" y="1199975"/>
          <a:ext cx="1111088" cy="1111088"/>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l="5394" r="32108" b="3"/>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E72D00D-36B3-4BC5-BEDD-F0FC38A5B666}">
      <dsp:nvSpPr>
        <dsp:cNvPr id="0" name=""/>
        <dsp:cNvSpPr/>
      </dsp:nvSpPr>
      <dsp:spPr>
        <a:xfrm>
          <a:off x="1291088" y="1199975"/>
          <a:ext cx="6595611" cy="348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Importance du prompt</a:t>
          </a:r>
        </a:p>
      </dsp:txBody>
      <dsp:txXfrm>
        <a:off x="1291088" y="1199975"/>
        <a:ext cx="6595611" cy="348027"/>
      </dsp:txXfrm>
    </dsp:sp>
    <dsp:sp modelId="{A5FA9821-3743-4E94-B2BE-3111A5E1B25D}">
      <dsp:nvSpPr>
        <dsp:cNvPr id="0" name=""/>
        <dsp:cNvSpPr/>
      </dsp:nvSpPr>
      <dsp:spPr>
        <a:xfrm>
          <a:off x="1291088" y="1548003"/>
          <a:ext cx="6595611" cy="763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Le prompt est essentiel car il détermine la qualité et la pertinence des résultats générés par l’IA.</a:t>
          </a:r>
        </a:p>
        <a:p>
          <a:pPr marL="0" lvl="0" indent="0" algn="l" defTabSz="622300">
            <a:lnSpc>
              <a:spcPct val="100000"/>
            </a:lnSpc>
            <a:spcBef>
              <a:spcPct val="0"/>
            </a:spcBef>
            <a:spcAft>
              <a:spcPct val="35000"/>
            </a:spcAft>
            <a:buNone/>
          </a:pPr>
          <a:r>
            <a:rPr lang="fr-FR" sz="1400" b="1" kern="1200"/>
            <a:t>Le dialogue prompting </a:t>
          </a:r>
          <a:r>
            <a:rPr lang="fr-FR" sz="1400" kern="1200"/>
            <a:t>fonctionne aussi.</a:t>
          </a:r>
        </a:p>
      </dsp:txBody>
      <dsp:txXfrm>
        <a:off x="1291088" y="1548003"/>
        <a:ext cx="6595611" cy="763060"/>
      </dsp:txXfrm>
    </dsp:sp>
    <dsp:sp modelId="{99907383-E18F-4CEA-A363-5F8A31C1062D}">
      <dsp:nvSpPr>
        <dsp:cNvPr id="0" name=""/>
        <dsp:cNvSpPr/>
      </dsp:nvSpPr>
      <dsp:spPr>
        <a:xfrm>
          <a:off x="0" y="2399951"/>
          <a:ext cx="1111088" cy="1111088"/>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r="28001" b="1"/>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12E9FD3-76AE-4A57-8202-2F7221C32B81}">
      <dsp:nvSpPr>
        <dsp:cNvPr id="0" name=""/>
        <dsp:cNvSpPr/>
      </dsp:nvSpPr>
      <dsp:spPr>
        <a:xfrm>
          <a:off x="1291088" y="2399951"/>
          <a:ext cx="6595611" cy="348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Règles pour un bon prompt</a:t>
          </a:r>
        </a:p>
      </dsp:txBody>
      <dsp:txXfrm>
        <a:off x="1291088" y="2399951"/>
        <a:ext cx="6595611" cy="348027"/>
      </dsp:txXfrm>
    </dsp:sp>
    <dsp:sp modelId="{F56C6BF1-EB8F-4A7F-956A-092ABD3210E5}">
      <dsp:nvSpPr>
        <dsp:cNvPr id="0" name=""/>
        <dsp:cNvSpPr/>
      </dsp:nvSpPr>
      <dsp:spPr>
        <a:xfrm>
          <a:off x="1291088" y="2747979"/>
          <a:ext cx="6595611" cy="763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Un bon prompt doit être clair, spécifique et orienté vers l'objectif pour obtenir des réponses précises de l'IA.</a:t>
          </a:r>
        </a:p>
      </dsp:txBody>
      <dsp:txXfrm>
        <a:off x="1291088" y="2747979"/>
        <a:ext cx="6595611" cy="7630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0538F-F9D1-4B20-B695-D0C716B73BCE}">
      <dsp:nvSpPr>
        <dsp:cNvPr id="0" name=""/>
        <dsp:cNvSpPr/>
      </dsp:nvSpPr>
      <dsp:spPr>
        <a:xfrm>
          <a:off x="0" y="428"/>
          <a:ext cx="7886700" cy="100306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0F6813-254D-4F9E-B903-B96999189A58}">
      <dsp:nvSpPr>
        <dsp:cNvPr id="0" name=""/>
        <dsp:cNvSpPr/>
      </dsp:nvSpPr>
      <dsp:spPr>
        <a:xfrm>
          <a:off x="303427" y="226118"/>
          <a:ext cx="551686" cy="5516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B4F0B3-6F04-4D01-B3E4-57024FDED9CA}">
      <dsp:nvSpPr>
        <dsp:cNvPr id="0" name=""/>
        <dsp:cNvSpPr/>
      </dsp:nvSpPr>
      <dsp:spPr>
        <a:xfrm>
          <a:off x="1158541" y="428"/>
          <a:ext cx="6728158" cy="1003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158" tIns="106158" rIns="106158" bIns="106158" numCol="1" spcCol="1270" anchor="ctr" anchorCtr="0">
          <a:noAutofit/>
        </a:bodyPr>
        <a:lstStyle/>
        <a:p>
          <a:pPr marL="0" lvl="0" indent="0" algn="l" defTabSz="1111250">
            <a:lnSpc>
              <a:spcPct val="90000"/>
            </a:lnSpc>
            <a:spcBef>
              <a:spcPct val="0"/>
            </a:spcBef>
            <a:spcAft>
              <a:spcPct val="35000"/>
            </a:spcAft>
            <a:buNone/>
          </a:pPr>
          <a:r>
            <a:rPr lang="fr-FR" sz="2500" kern="1200"/>
            <a:t>Faire sa biographie</a:t>
          </a:r>
          <a:endParaRPr lang="en-US" sz="2500" kern="1200"/>
        </a:p>
      </dsp:txBody>
      <dsp:txXfrm>
        <a:off x="1158541" y="428"/>
        <a:ext cx="6728158" cy="1003066"/>
      </dsp:txXfrm>
    </dsp:sp>
    <dsp:sp modelId="{A7855F56-4925-4B82-B8E2-D2F063693AFC}">
      <dsp:nvSpPr>
        <dsp:cNvPr id="0" name=""/>
        <dsp:cNvSpPr/>
      </dsp:nvSpPr>
      <dsp:spPr>
        <a:xfrm>
          <a:off x="0" y="1254261"/>
          <a:ext cx="7886700" cy="100306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C7678A-93E8-4A52-A9DF-A8400E437CB8}">
      <dsp:nvSpPr>
        <dsp:cNvPr id="0" name=""/>
        <dsp:cNvSpPr/>
      </dsp:nvSpPr>
      <dsp:spPr>
        <a:xfrm>
          <a:off x="303427" y="1479951"/>
          <a:ext cx="551686" cy="5516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E0131B-E225-4618-AE89-93A07E71EDB2}">
      <dsp:nvSpPr>
        <dsp:cNvPr id="0" name=""/>
        <dsp:cNvSpPr/>
      </dsp:nvSpPr>
      <dsp:spPr>
        <a:xfrm>
          <a:off x="1158541" y="1254261"/>
          <a:ext cx="6728158" cy="1003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158" tIns="106158" rIns="106158" bIns="106158" numCol="1" spcCol="1270" anchor="ctr" anchorCtr="0">
          <a:noAutofit/>
        </a:bodyPr>
        <a:lstStyle/>
        <a:p>
          <a:pPr marL="0" lvl="0" indent="0" algn="l" defTabSz="1111250">
            <a:lnSpc>
              <a:spcPct val="90000"/>
            </a:lnSpc>
            <a:spcBef>
              <a:spcPct val="0"/>
            </a:spcBef>
            <a:spcAft>
              <a:spcPct val="35000"/>
            </a:spcAft>
            <a:buNone/>
          </a:pPr>
          <a:r>
            <a:rPr lang="fr-FR" sz="2500" kern="1200"/>
            <a:t>Donne 3 idées originales de cadeau pour… (à vous de choisir)</a:t>
          </a:r>
          <a:endParaRPr lang="en-US" sz="2500" kern="1200"/>
        </a:p>
      </dsp:txBody>
      <dsp:txXfrm>
        <a:off x="1158541" y="1254261"/>
        <a:ext cx="6728158" cy="1003066"/>
      </dsp:txXfrm>
    </dsp:sp>
    <dsp:sp modelId="{F3D48EBD-96D3-454D-BCB3-DF5BD836B40D}">
      <dsp:nvSpPr>
        <dsp:cNvPr id="0" name=""/>
        <dsp:cNvSpPr/>
      </dsp:nvSpPr>
      <dsp:spPr>
        <a:xfrm>
          <a:off x="0" y="2508094"/>
          <a:ext cx="7886700" cy="100306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F550AA-4AAF-4BAD-975B-47F7AA3D60A3}">
      <dsp:nvSpPr>
        <dsp:cNvPr id="0" name=""/>
        <dsp:cNvSpPr/>
      </dsp:nvSpPr>
      <dsp:spPr>
        <a:xfrm>
          <a:off x="303427" y="2733784"/>
          <a:ext cx="551686" cy="5516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93109A-64C0-424E-8EB9-8C02178E91E5}">
      <dsp:nvSpPr>
        <dsp:cNvPr id="0" name=""/>
        <dsp:cNvSpPr/>
      </dsp:nvSpPr>
      <dsp:spPr>
        <a:xfrm>
          <a:off x="1158541" y="2508094"/>
          <a:ext cx="6728158" cy="1003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158" tIns="106158" rIns="106158" bIns="106158" numCol="1" spcCol="1270" anchor="ctr" anchorCtr="0">
          <a:noAutofit/>
        </a:bodyPr>
        <a:lstStyle/>
        <a:p>
          <a:pPr marL="0" lvl="0" indent="0" algn="l" defTabSz="1111250">
            <a:lnSpc>
              <a:spcPct val="90000"/>
            </a:lnSpc>
            <a:spcBef>
              <a:spcPct val="0"/>
            </a:spcBef>
            <a:spcAft>
              <a:spcPct val="35000"/>
            </a:spcAft>
            <a:buNone/>
          </a:pPr>
          <a:r>
            <a:rPr lang="fr-FR" sz="2500" kern="1200"/>
            <a:t>Rédige une lettre de motivation pour devenir super héros </a:t>
          </a:r>
          <a:endParaRPr lang="en-US" sz="2500" kern="1200"/>
        </a:p>
      </dsp:txBody>
      <dsp:txXfrm>
        <a:off x="1158541" y="2508094"/>
        <a:ext cx="6728158" cy="1003066"/>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
---
LE PROMPT
Qui connait ce mot ?
📌 Définition :
Un prompt, c’est l’instruction ou la question que vous donnez à une IA générative (comme ChatGPT, Copilot, Gemini…).
C’est le point de départ de la génération de texte, d’image, de code ou d’analyse.
A votre avis, quelles sont les règles pour faire un bon prompt ?
Source de l’image : bibliothèque de contenu Microsoft 365
</a:t>
            </a:r>
          </a:p>
        </p:txBody>
      </p:sp>
      <p:sp>
        <p:nvSpPr>
          <p:cNvPr id="4" name="Espace réservé du numéro de diapositive 3"/>
          <p:cNvSpPr>
            <a:spLocks noGrp="1"/>
          </p:cNvSpPr>
          <p:nvPr>
            <p:ph type="sldNum" sz="quarter" idx="5"/>
          </p:nvPr>
        </p:nvSpPr>
        <p:spPr/>
        <p:txBody>
          <a:bodyPr/>
          <a:lstStyle/>
          <a:p>
            <a:fld id="{3F0C775E-6503-4048-81A4-7EB6D651962E}" type="slidenum">
              <a:t>2</a:t>
            </a:fld>
            <a:endParaRPr lang="fr-FR"/>
          </a:p>
        </p:txBody>
      </p:sp>
    </p:spTree>
    <p:extLst>
      <p:ext uri="{BB962C8B-B14F-4D97-AF65-F5344CB8AC3E}">
        <p14:creationId xmlns:p14="http://schemas.microsoft.com/office/powerpoint/2010/main" val="145385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 Un bon prompt, c’est…
✅ Clair → sans ambiguïté
✅ Contextualisé → je donne les infos utiles pour bien   comprendre ma demande
✅ Orienté vers un objectif → je dis ce que je veux obtenir
✅ Spécifique → j’indique un format ou un niveau de détail   attendu
✍️ 5 conseils clés pour bien formuler vos prompts</a:t>
            </a:r>
          </a:p>
        </p:txBody>
      </p:sp>
      <p:sp>
        <p:nvSpPr>
          <p:cNvPr id="4" name="Espace réservé du numéro de diapositive 3"/>
          <p:cNvSpPr>
            <a:spLocks noGrp="1"/>
          </p:cNvSpPr>
          <p:nvPr>
            <p:ph type="sldNum" sz="quarter" idx="5"/>
          </p:nvPr>
        </p:nvSpPr>
        <p:spPr/>
        <p:txBody>
          <a:bodyPr/>
          <a:lstStyle/>
          <a:p>
            <a:fld id="{3F0C775E-6503-4048-81A4-7EB6D651962E}" type="slidenum">
              <a:t>3</a:t>
            </a:fld>
            <a:endParaRPr lang="fr-FR"/>
          </a:p>
        </p:txBody>
      </p:sp>
    </p:spTree>
    <p:extLst>
      <p:ext uri="{BB962C8B-B14F-4D97-AF65-F5344CB8AC3E}">
        <p14:creationId xmlns:p14="http://schemas.microsoft.com/office/powerpoint/2010/main" val="1992585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Objectifs du défi, Consignes et exemples de prompts</a:t>
            </a:r>
          </a:p>
        </p:txBody>
      </p:sp>
      <p:sp>
        <p:nvSpPr>
          <p:cNvPr id="4" name="Espace réservé du numéro de diapositive 3"/>
          <p:cNvSpPr>
            <a:spLocks noGrp="1"/>
          </p:cNvSpPr>
          <p:nvPr>
            <p:ph type="sldNum" sz="quarter" idx="5"/>
          </p:nvPr>
        </p:nvSpPr>
        <p:spPr/>
        <p:txBody>
          <a:bodyPr/>
          <a:lstStyle/>
          <a:p>
            <a:fld id="{3F0C775E-6503-4048-81A4-7EB6D651962E}" type="slidenum">
              <a:t>15</a:t>
            </a:fld>
            <a:endParaRPr lang="fr-FR"/>
          </a:p>
        </p:txBody>
      </p:sp>
    </p:spTree>
    <p:extLst>
      <p:ext uri="{BB962C8B-B14F-4D97-AF65-F5344CB8AC3E}">
        <p14:creationId xmlns:p14="http://schemas.microsoft.com/office/powerpoint/2010/main" val="1508819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Objectifs :
Observer les différences de ton, structure, pertinence
Initier la réflexion : quelle IA pour quel usage ?
Source de l’image : bibliothèque de contenu Microsoft 365
</a:t>
            </a:r>
          </a:p>
        </p:txBody>
      </p:sp>
      <p:sp>
        <p:nvSpPr>
          <p:cNvPr id="4" name="Espace réservé du numéro de diapositive 3"/>
          <p:cNvSpPr>
            <a:spLocks noGrp="1"/>
          </p:cNvSpPr>
          <p:nvPr>
            <p:ph type="sldNum" sz="quarter" idx="5"/>
          </p:nvPr>
        </p:nvSpPr>
        <p:spPr/>
        <p:txBody>
          <a:bodyPr/>
          <a:lstStyle/>
          <a:p>
            <a:fld id="{3F0C775E-6503-4048-81A4-7EB6D651962E}" type="slidenum">
              <a:t>16</a:t>
            </a:fld>
            <a:endParaRPr lang="fr-FR"/>
          </a:p>
        </p:txBody>
      </p:sp>
    </p:spTree>
    <p:extLst>
      <p:ext uri="{BB962C8B-B14F-4D97-AF65-F5344CB8AC3E}">
        <p14:creationId xmlns:p14="http://schemas.microsoft.com/office/powerpoint/2010/main" val="397720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Objectifs du débat, Discussion guidée</a:t>
            </a:r>
          </a:p>
        </p:txBody>
      </p:sp>
      <p:sp>
        <p:nvSpPr>
          <p:cNvPr id="4" name="Espace réservé du numéro de diapositive 3"/>
          <p:cNvSpPr>
            <a:spLocks noGrp="1"/>
          </p:cNvSpPr>
          <p:nvPr>
            <p:ph type="sldNum" sz="quarter" idx="5"/>
          </p:nvPr>
        </p:nvSpPr>
        <p:spPr/>
        <p:txBody>
          <a:bodyPr/>
          <a:lstStyle/>
          <a:p>
            <a:fld id="{3F0C775E-6503-4048-81A4-7EB6D651962E}" type="slidenum">
              <a:t>21</a:t>
            </a:fld>
            <a:endParaRPr lang="fr-FR"/>
          </a:p>
        </p:txBody>
      </p:sp>
    </p:spTree>
    <p:extLst>
      <p:ext uri="{BB962C8B-B14F-4D97-AF65-F5344CB8AC3E}">
        <p14:creationId xmlns:p14="http://schemas.microsoft.com/office/powerpoint/2010/main" val="3735700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Discussion guidée :
Qui a préféré quelle IA      ? Pourquoi ?
Certaines IA vous      paraissent-elles plus fiables, plus “sympas” ou plus efficaces ?
Peut-on dire qu’une IA a      un style ?
En synthèse présentation du tableau suivant :
🧠 Comparatif des Chatbots – Points forts &amp; limites observables en Prompt Battle</a:t>
            </a:r>
          </a:p>
        </p:txBody>
      </p:sp>
      <p:sp>
        <p:nvSpPr>
          <p:cNvPr id="4" name="Espace réservé du numéro de diapositive 3"/>
          <p:cNvSpPr>
            <a:spLocks noGrp="1"/>
          </p:cNvSpPr>
          <p:nvPr>
            <p:ph type="sldNum" sz="quarter" idx="5"/>
          </p:nvPr>
        </p:nvSpPr>
        <p:spPr/>
        <p:txBody>
          <a:bodyPr/>
          <a:lstStyle/>
          <a:p>
            <a:fld id="{3F0C775E-6503-4048-81A4-7EB6D651962E}" type="slidenum">
              <a:t>22</a:t>
            </a:fld>
            <a:endParaRPr lang="fr-FR"/>
          </a:p>
        </p:txBody>
      </p:sp>
    </p:spTree>
    <p:extLst>
      <p:ext uri="{BB962C8B-B14F-4D97-AF65-F5344CB8AC3E}">
        <p14:creationId xmlns:p14="http://schemas.microsoft.com/office/powerpoint/2010/main" val="1942075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Synthèse :
Il n’y a pas une IA meilleure, mais des IA différentes
Le bon outil dépend du contexte, de l’usage, et de votre      objectif
Tester plusieurs IA est un bon réflexe pour rester lucide
Source de l’image : bibliothèque de contenu Microsoft 365
</a:t>
            </a:r>
          </a:p>
        </p:txBody>
      </p:sp>
      <p:sp>
        <p:nvSpPr>
          <p:cNvPr id="4" name="Espace réservé du numéro de diapositive 3"/>
          <p:cNvSpPr>
            <a:spLocks noGrp="1"/>
          </p:cNvSpPr>
          <p:nvPr>
            <p:ph type="sldNum" sz="quarter" idx="5"/>
          </p:nvPr>
        </p:nvSpPr>
        <p:spPr/>
        <p:txBody>
          <a:bodyPr/>
          <a:lstStyle/>
          <a:p>
            <a:fld id="{3F0C775E-6503-4048-81A4-7EB6D651962E}" type="slidenum">
              <a:t>23</a:t>
            </a:fld>
            <a:endParaRPr lang="fr-FR"/>
          </a:p>
        </p:txBody>
      </p:sp>
    </p:spTree>
    <p:extLst>
      <p:ext uri="{BB962C8B-B14F-4D97-AF65-F5344CB8AC3E}">
        <p14:creationId xmlns:p14="http://schemas.microsoft.com/office/powerpoint/2010/main" val="211207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re de section Bleu Clai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B2066-22E0-5691-6A3A-77F8BD101D06}"/>
              </a:ext>
            </a:extLst>
          </p:cNvPr>
          <p:cNvSpPr>
            <a:spLocks noGrp="1"/>
          </p:cNvSpPr>
          <p:nvPr>
            <p:ph type="title"/>
          </p:nvPr>
        </p:nvSpPr>
        <p:spPr>
          <a:xfrm>
            <a:off x="623888" y="1709739"/>
            <a:ext cx="7886700" cy="2852737"/>
          </a:xfrm>
          <a:solidFill>
            <a:schemeClr val="accent3"/>
          </a:solidFill>
        </p:spPr>
        <p:txBody>
          <a:bodyPr anchor="ctr"/>
          <a:lstStyle>
            <a:lvl1pPr algn="ctr">
              <a:defRPr sz="4500">
                <a:solidFill>
                  <a:schemeClr val="accent1"/>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FE3EAFC6-53D7-6D85-F9FD-DAAB42BA89F2}"/>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428E3C9-816E-7EAE-F0D7-C88A30F00F07}"/>
              </a:ext>
            </a:extLst>
          </p:cNvPr>
          <p:cNvSpPr>
            <a:spLocks noGrp="1"/>
          </p:cNvSpPr>
          <p:nvPr>
            <p:ph type="dt" sz="half" idx="10"/>
          </p:nvPr>
        </p:nvSpPr>
        <p:spPr/>
        <p:txBody>
          <a:bodyPr/>
          <a:lstStyle/>
          <a:p>
            <a:fld id="{ECA158B7-8507-4363-B068-E4BAF1FF403D}" type="datetimeFigureOut">
              <a:rPr lang="fr-FR" smtClean="0"/>
              <a:t>09/04/2026</a:t>
            </a:fld>
            <a:endParaRPr lang="fr-FR"/>
          </a:p>
        </p:txBody>
      </p:sp>
      <p:sp>
        <p:nvSpPr>
          <p:cNvPr id="5" name="Espace réservé du pied de page 4">
            <a:extLst>
              <a:ext uri="{FF2B5EF4-FFF2-40B4-BE49-F238E27FC236}">
                <a16:creationId xmlns:a16="http://schemas.microsoft.com/office/drawing/2014/main" id="{7A3216CC-67F6-136B-EC09-103A9BE54B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4C6675-DAD0-95AD-8CC1-0F64EC9A93E2}"/>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7" name="Rectangle 6">
            <a:extLst>
              <a:ext uri="{FF2B5EF4-FFF2-40B4-BE49-F238E27FC236}">
                <a16:creationId xmlns:a16="http://schemas.microsoft.com/office/drawing/2014/main" id="{6A63E6CF-35F4-E4D6-59CC-8AE4DE558D15}"/>
              </a:ext>
            </a:extLst>
          </p:cNvPr>
          <p:cNvSpPr/>
          <p:nvPr userDrawn="1"/>
        </p:nvSpPr>
        <p:spPr>
          <a:xfrm>
            <a:off x="381663" y="286248"/>
            <a:ext cx="242225" cy="898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 name="Espace réservé du texte 8">
            <a:extLst>
              <a:ext uri="{FF2B5EF4-FFF2-40B4-BE49-F238E27FC236}">
                <a16:creationId xmlns:a16="http://schemas.microsoft.com/office/drawing/2014/main" id="{99C43EA1-30EF-B705-73DC-75804CAE7E79}"/>
              </a:ext>
            </a:extLst>
          </p:cNvPr>
          <p:cNvSpPr>
            <a:spLocks noGrp="1"/>
          </p:cNvSpPr>
          <p:nvPr>
            <p:ph type="body" sz="quarter" idx="13"/>
          </p:nvPr>
        </p:nvSpPr>
        <p:spPr>
          <a:xfrm>
            <a:off x="623888" y="1276350"/>
            <a:ext cx="1970485" cy="433388"/>
          </a:xfrm>
          <a:solidFill>
            <a:schemeClr val="tx2"/>
          </a:solidFill>
        </p:spPr>
        <p:txBody>
          <a:bodyPr anchor="ctr"/>
          <a:lstStyle>
            <a:lvl1pPr marL="0" indent="0" algn="ctr">
              <a:buNone/>
              <a:defRPr>
                <a:solidFill>
                  <a:schemeClr val="bg1"/>
                </a:solidFill>
              </a:defRPr>
            </a:lvl1pPr>
            <a:lvl2pPr marL="342900" indent="0" algn="ctr">
              <a:buNone/>
              <a:defRPr>
                <a:solidFill>
                  <a:schemeClr val="bg1"/>
                </a:solidFill>
              </a:defRPr>
            </a:lvl2pPr>
            <a:lvl3pPr marL="685800" indent="0" algn="ctr">
              <a:buNone/>
              <a:defRPr>
                <a:solidFill>
                  <a:schemeClr val="bg1"/>
                </a:solidFill>
              </a:defRPr>
            </a:lvl3pPr>
            <a:lvl4pPr marL="1028700" indent="0" algn="ctr">
              <a:buNone/>
              <a:defRPr>
                <a:solidFill>
                  <a:schemeClr val="bg1"/>
                </a:solidFill>
              </a:defRPr>
            </a:lvl4pPr>
            <a:lvl5pPr marL="1371600" indent="0" algn="ctr">
              <a:buNone/>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498734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re de section Ros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B2066-22E0-5691-6A3A-77F8BD101D06}"/>
              </a:ext>
            </a:extLst>
          </p:cNvPr>
          <p:cNvSpPr>
            <a:spLocks noGrp="1"/>
          </p:cNvSpPr>
          <p:nvPr>
            <p:ph type="title"/>
          </p:nvPr>
        </p:nvSpPr>
        <p:spPr>
          <a:xfrm>
            <a:off x="623888" y="1709739"/>
            <a:ext cx="7886700" cy="2852737"/>
          </a:xfrm>
          <a:solidFill>
            <a:schemeClr val="accent2"/>
          </a:solidFill>
        </p:spPr>
        <p:txBody>
          <a:bodyPr anchor="ctr"/>
          <a:lstStyle>
            <a:lvl1pPr algn="ctr">
              <a:defRPr sz="4500">
                <a:solidFill>
                  <a:schemeClr val="bg1"/>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FE3EAFC6-53D7-6D85-F9FD-DAAB42BA89F2}"/>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428E3C9-816E-7EAE-F0D7-C88A30F00F07}"/>
              </a:ext>
            </a:extLst>
          </p:cNvPr>
          <p:cNvSpPr>
            <a:spLocks noGrp="1"/>
          </p:cNvSpPr>
          <p:nvPr>
            <p:ph type="dt" sz="half" idx="10"/>
          </p:nvPr>
        </p:nvSpPr>
        <p:spPr/>
        <p:txBody>
          <a:bodyPr/>
          <a:lstStyle/>
          <a:p>
            <a:fld id="{ECA158B7-8507-4363-B068-E4BAF1FF403D}" type="datetimeFigureOut">
              <a:rPr lang="fr-FR" smtClean="0"/>
              <a:t>09/04/2026</a:t>
            </a:fld>
            <a:endParaRPr lang="fr-FR"/>
          </a:p>
        </p:txBody>
      </p:sp>
      <p:sp>
        <p:nvSpPr>
          <p:cNvPr id="5" name="Espace réservé du pied de page 4">
            <a:extLst>
              <a:ext uri="{FF2B5EF4-FFF2-40B4-BE49-F238E27FC236}">
                <a16:creationId xmlns:a16="http://schemas.microsoft.com/office/drawing/2014/main" id="{7A3216CC-67F6-136B-EC09-103A9BE54B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4C6675-DAD0-95AD-8CC1-0F64EC9A93E2}"/>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7" name="Rectangle 6">
            <a:extLst>
              <a:ext uri="{FF2B5EF4-FFF2-40B4-BE49-F238E27FC236}">
                <a16:creationId xmlns:a16="http://schemas.microsoft.com/office/drawing/2014/main" id="{6A63E6CF-35F4-E4D6-59CC-8AE4DE558D15}"/>
              </a:ext>
            </a:extLst>
          </p:cNvPr>
          <p:cNvSpPr/>
          <p:nvPr userDrawn="1"/>
        </p:nvSpPr>
        <p:spPr>
          <a:xfrm>
            <a:off x="381663" y="286248"/>
            <a:ext cx="242225" cy="898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 name="Espace réservé du texte 8">
            <a:extLst>
              <a:ext uri="{FF2B5EF4-FFF2-40B4-BE49-F238E27FC236}">
                <a16:creationId xmlns:a16="http://schemas.microsoft.com/office/drawing/2014/main" id="{E6450C9A-C453-BE2D-7F6E-766AA3D0269C}"/>
              </a:ext>
            </a:extLst>
          </p:cNvPr>
          <p:cNvSpPr>
            <a:spLocks noGrp="1"/>
          </p:cNvSpPr>
          <p:nvPr>
            <p:ph type="body" sz="quarter" idx="13"/>
          </p:nvPr>
        </p:nvSpPr>
        <p:spPr>
          <a:xfrm>
            <a:off x="623888" y="1276350"/>
            <a:ext cx="1970485" cy="433388"/>
          </a:xfrm>
          <a:solidFill>
            <a:schemeClr val="tx2"/>
          </a:solidFill>
        </p:spPr>
        <p:txBody>
          <a:bodyPr anchor="ctr"/>
          <a:lstStyle>
            <a:lvl1pPr marL="0" indent="0" algn="ctr">
              <a:buNone/>
              <a:defRPr>
                <a:solidFill>
                  <a:schemeClr val="bg1"/>
                </a:solidFill>
              </a:defRPr>
            </a:lvl1pPr>
            <a:lvl2pPr marL="342900" indent="0" algn="ctr">
              <a:buNone/>
              <a:defRPr>
                <a:solidFill>
                  <a:schemeClr val="bg1"/>
                </a:solidFill>
              </a:defRPr>
            </a:lvl2pPr>
            <a:lvl3pPr marL="685800" indent="0" algn="ctr">
              <a:buNone/>
              <a:defRPr>
                <a:solidFill>
                  <a:schemeClr val="bg1"/>
                </a:solidFill>
              </a:defRPr>
            </a:lvl3pPr>
            <a:lvl4pPr marL="1028700" indent="0" algn="ctr">
              <a:buNone/>
              <a:defRPr>
                <a:solidFill>
                  <a:schemeClr val="bg1"/>
                </a:solidFill>
              </a:defRPr>
            </a:lvl4pPr>
            <a:lvl5pPr marL="1371600" indent="0" algn="ctr">
              <a:buNone/>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3643338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Prompt</a:t>
            </a:r>
          </a:p>
        </p:txBody>
      </p:sp>
      <p:sp>
        <p:nvSpPr>
          <p:cNvPr id="3" name="ZoneTexte 2"/>
          <p:cNvSpPr txBox="1"/>
          <p:nvPr/>
        </p:nvSpPr>
        <p:spPr>
          <a:xfrm>
            <a:off x="2771800" y="544153"/>
            <a:ext cx="4211409" cy="646331"/>
          </a:xfrm>
          <a:prstGeom prst="rect">
            <a:avLst/>
          </a:prstGeom>
          <a:noFill/>
        </p:spPr>
        <p:txBody>
          <a:bodyPr wrap="none" rtlCol="0">
            <a:spAutoFit/>
          </a:bodyPr>
          <a:lstStyle/>
          <a:p>
            <a:r>
              <a:rPr lang="fr-FR" sz="3600" dirty="0"/>
              <a:t>Prompt engineering</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18E05A-8F43-E199-B2F9-8A783E1437D6}"/>
              </a:ext>
            </a:extLst>
          </p:cNvPr>
          <p:cNvSpPr>
            <a:spLocks noGrp="1"/>
          </p:cNvSpPr>
          <p:nvPr>
            <p:ph type="title"/>
          </p:nvPr>
        </p:nvSpPr>
        <p:spPr>
          <a:xfrm>
            <a:off x="628650" y="922375"/>
            <a:ext cx="7886700" cy="994172"/>
          </a:xfrm>
        </p:spPr>
        <p:txBody>
          <a:bodyPr anchor="ctr">
            <a:normAutofit/>
          </a:bodyPr>
          <a:lstStyle/>
          <a:p>
            <a:r>
              <a:rPr lang="fr-FR"/>
              <a:t>Définition et importance du prompt</a:t>
            </a:r>
          </a:p>
        </p:txBody>
      </p:sp>
      <p:graphicFrame>
        <p:nvGraphicFramePr>
          <p:cNvPr id="4" name="Espace réservé du contenu 3">
            <a:extLst>
              <a:ext uri="{FF2B5EF4-FFF2-40B4-BE49-F238E27FC236}">
                <a16:creationId xmlns:a16="http://schemas.microsoft.com/office/drawing/2014/main" id="{120777C5-4248-4C6E-8436-45E80463EEBB}"/>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28650" y="1978384"/>
          <a:ext cx="7886700" cy="35115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7487016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5F6D84-DE31-3D1F-D550-FBA6B38929B7}"/>
              </a:ext>
            </a:extLst>
          </p:cNvPr>
          <p:cNvSpPr>
            <a:spLocks noGrp="1"/>
          </p:cNvSpPr>
          <p:nvPr>
            <p:ph type="title"/>
          </p:nvPr>
        </p:nvSpPr>
        <p:spPr>
          <a:xfrm>
            <a:off x="628650" y="922376"/>
            <a:ext cx="7886700" cy="827709"/>
          </a:xfrm>
        </p:spPr>
        <p:txBody>
          <a:bodyPr anchor="ctr">
            <a:normAutofit/>
          </a:bodyPr>
          <a:lstStyle/>
          <a:p>
            <a:r>
              <a:rPr lang="fr-FR"/>
              <a:t>Conseils pour bien formuler un prompt</a:t>
            </a:r>
          </a:p>
        </p:txBody>
      </p:sp>
      <p:graphicFrame>
        <p:nvGraphicFramePr>
          <p:cNvPr id="5" name="Espace réservé du contenu 4">
            <a:extLst>
              <a:ext uri="{FF2B5EF4-FFF2-40B4-BE49-F238E27FC236}">
                <a16:creationId xmlns:a16="http://schemas.microsoft.com/office/drawing/2014/main" id="{FBBA179B-0FBA-444E-9746-2A1A4A86B41C}"/>
              </a:ext>
            </a:extLst>
          </p:cNvPr>
          <p:cNvGraphicFramePr>
            <a:graphicFrameLocks noGrp="1"/>
          </p:cNvGraphicFramePr>
          <p:nvPr>
            <p:ph idx="1"/>
          </p:nvPr>
        </p:nvGraphicFramePr>
        <p:xfrm>
          <a:off x="553288" y="1750084"/>
          <a:ext cx="6560946" cy="3883406"/>
        </p:xfrm>
        <a:graphic>
          <a:graphicData uri="http://schemas.openxmlformats.org/drawingml/2006/table">
            <a:tbl>
              <a:tblPr firstRow="1" firstCol="1" bandRow="1">
                <a:noFill/>
                <a:tableStyleId>{5C22544A-7EE6-4342-B048-85BDC9FD1C3A}</a:tableStyleId>
              </a:tblPr>
              <a:tblGrid>
                <a:gridCol w="2571955">
                  <a:extLst>
                    <a:ext uri="{9D8B030D-6E8A-4147-A177-3AD203B41FA5}">
                      <a16:colId xmlns:a16="http://schemas.microsoft.com/office/drawing/2014/main" val="3047533419"/>
                    </a:ext>
                  </a:extLst>
                </a:gridCol>
                <a:gridCol w="3988991">
                  <a:extLst>
                    <a:ext uri="{9D8B030D-6E8A-4147-A177-3AD203B41FA5}">
                      <a16:colId xmlns:a16="http://schemas.microsoft.com/office/drawing/2014/main" val="215421487"/>
                    </a:ext>
                  </a:extLst>
                </a:gridCol>
              </a:tblGrid>
              <a:tr h="520316">
                <a:tc>
                  <a:txBody>
                    <a:bodyPr/>
                    <a:lstStyle/>
                    <a:p>
                      <a:pPr>
                        <a:buNone/>
                      </a:pPr>
                      <a:r>
                        <a:rPr lang="fr-FR" sz="1600" b="1" kern="0" cap="all" spc="150">
                          <a:solidFill>
                            <a:srgbClr val="A7A7A7"/>
                          </a:solidFill>
                          <a:effectLst/>
                        </a:rPr>
                        <a:t>🟦 Conseil</a:t>
                      </a:r>
                      <a:endParaRPr lang="fr-FR" sz="1600" b="1" cap="all" spc="150">
                        <a:solidFill>
                          <a:srgbClr val="A7A7A7"/>
                        </a:solidFill>
                        <a:effectLst/>
                      </a:endParaRPr>
                    </a:p>
                  </a:txBody>
                  <a:tcPr marL="138189" marR="138189" marT="138189" marB="138189"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fr-FR" sz="1600" b="1" kern="0" cap="all" spc="150">
                          <a:solidFill>
                            <a:srgbClr val="A7A7A7"/>
                          </a:solidFill>
                          <a:effectLst/>
                        </a:rPr>
                        <a:t>💡 Astuce pratique</a:t>
                      </a:r>
                      <a:endParaRPr lang="fr-FR" sz="1600" b="1" cap="all" spc="150">
                        <a:solidFill>
                          <a:srgbClr val="A7A7A7"/>
                        </a:solidFill>
                        <a:effectLst/>
                      </a:endParaRPr>
                    </a:p>
                  </a:txBody>
                  <a:tcPr marL="138189" marR="138189" marT="138189" marB="138189"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2440563984"/>
                  </a:ext>
                </a:extLst>
              </a:tr>
              <a:tr h="664998">
                <a:tc>
                  <a:txBody>
                    <a:bodyPr/>
                    <a:lstStyle/>
                    <a:p>
                      <a:pPr>
                        <a:buNone/>
                      </a:pPr>
                      <a:r>
                        <a:rPr lang="fr-FR" sz="1300" b="1" kern="0" cap="none" spc="0">
                          <a:solidFill>
                            <a:schemeClr val="tx1"/>
                          </a:solidFill>
                          <a:effectLst/>
                        </a:rPr>
                        <a:t>1. Donnez un rôle à l’IA</a:t>
                      </a:r>
                      <a:endParaRPr lang="fr-FR" sz="1300" b="1"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fr-FR" sz="1300" kern="0" cap="none" spc="0">
                          <a:solidFill>
                            <a:schemeClr val="tx1"/>
                          </a:solidFill>
                          <a:effectLst/>
                        </a:rPr>
                        <a:t>"Tu es un juriste / un coach / un recruteur / un marketeur…"</a:t>
                      </a:r>
                      <a:endParaRPr lang="fr-FR" sz="1300"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1166034724"/>
                  </a:ext>
                </a:extLst>
              </a:tr>
              <a:tr h="664998">
                <a:tc>
                  <a:txBody>
                    <a:bodyPr/>
                    <a:lstStyle/>
                    <a:p>
                      <a:pPr>
                        <a:buNone/>
                      </a:pPr>
                      <a:r>
                        <a:rPr lang="fr-FR" sz="1300" b="1" kern="0" cap="none" spc="0">
                          <a:solidFill>
                            <a:schemeClr val="tx1"/>
                          </a:solidFill>
                          <a:effectLst/>
                        </a:rPr>
                        <a:t>2. Décrivez le contexte</a:t>
                      </a:r>
                      <a:endParaRPr lang="fr-FR" sz="1300" b="1"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300" kern="0" cap="none" spc="0">
                          <a:solidFill>
                            <a:schemeClr val="tx1"/>
                          </a:solidFill>
                          <a:effectLst/>
                        </a:rPr>
                        <a:t>"Je parle à un client fidèle / Je prépare une réunion…"</a:t>
                      </a:r>
                      <a:endParaRPr lang="fr-FR" sz="1300"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09679077"/>
                  </a:ext>
                </a:extLst>
              </a:tr>
              <a:tr h="664998">
                <a:tc>
                  <a:txBody>
                    <a:bodyPr/>
                    <a:lstStyle/>
                    <a:p>
                      <a:pPr>
                        <a:buNone/>
                      </a:pPr>
                      <a:r>
                        <a:rPr lang="fr-FR" sz="1300" b="1" kern="0" cap="none" spc="0">
                          <a:solidFill>
                            <a:schemeClr val="tx1"/>
                          </a:solidFill>
                          <a:effectLst/>
                        </a:rPr>
                        <a:t>3. Soyez explicite sur ce que vous attendez</a:t>
                      </a:r>
                      <a:endParaRPr lang="fr-FR" sz="1300" b="1"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300" kern="0" cap="none" spc="0">
                          <a:solidFill>
                            <a:schemeClr val="tx1"/>
                          </a:solidFill>
                          <a:effectLst/>
                        </a:rPr>
                        <a:t>"Fais une synthèse / Donne-moi 3 arguments / Rédige un mail..."</a:t>
                      </a:r>
                      <a:endParaRPr lang="fr-FR" sz="1300"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668803976"/>
                  </a:ext>
                </a:extLst>
              </a:tr>
              <a:tr h="664998">
                <a:tc>
                  <a:txBody>
                    <a:bodyPr/>
                    <a:lstStyle/>
                    <a:p>
                      <a:pPr>
                        <a:buNone/>
                      </a:pPr>
                      <a:r>
                        <a:rPr lang="fr-FR" sz="1300" b="1" kern="0" cap="none" spc="0">
                          <a:solidFill>
                            <a:schemeClr val="tx1"/>
                          </a:solidFill>
                          <a:effectLst/>
                        </a:rPr>
                        <a:t>4. Précisez le ton ou le style</a:t>
                      </a:r>
                      <a:endParaRPr lang="fr-FR" sz="1300" b="1"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300" kern="0" cap="none" spc="0">
                          <a:solidFill>
                            <a:schemeClr val="tx1"/>
                          </a:solidFill>
                          <a:effectLst/>
                        </a:rPr>
                        <a:t>"Professionnel, enthousiaste, concis, formel, accessible…"</a:t>
                      </a:r>
                      <a:endParaRPr lang="fr-FR" sz="1300"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897731926"/>
                  </a:ext>
                </a:extLst>
              </a:tr>
              <a:tr h="664998">
                <a:tc>
                  <a:txBody>
                    <a:bodyPr/>
                    <a:lstStyle/>
                    <a:p>
                      <a:pPr>
                        <a:buNone/>
                      </a:pPr>
                      <a:r>
                        <a:rPr lang="fr-FR" sz="1300" b="1" kern="0" cap="none" spc="0">
                          <a:solidFill>
                            <a:schemeClr val="tx1"/>
                          </a:solidFill>
                          <a:effectLst/>
                        </a:rPr>
                        <a:t>5. Donnez un format si besoin</a:t>
                      </a:r>
                      <a:endParaRPr lang="fr-FR" sz="1300" b="1"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fr-FR" sz="1300" kern="0" cap="none" spc="0">
                          <a:solidFill>
                            <a:schemeClr val="tx1"/>
                          </a:solidFill>
                          <a:effectLst/>
                        </a:rPr>
                        <a:t>"En tableau / en bullet points / moins de 150 mots…"</a:t>
                      </a:r>
                      <a:endParaRPr lang="fr-FR" sz="1300" cap="none" spc="0">
                        <a:solidFill>
                          <a:schemeClr val="tx1"/>
                        </a:solidFill>
                        <a:effectLst/>
                      </a:endParaRPr>
                    </a:p>
                  </a:txBody>
                  <a:tcPr marL="138189" marR="138189" marT="138189" marB="13818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83543426"/>
                  </a:ext>
                </a:extLst>
              </a:tr>
            </a:tbl>
          </a:graphicData>
        </a:graphic>
      </p:graphicFrame>
      <p:sp>
        <p:nvSpPr>
          <p:cNvPr id="3" name="Bulle narrative : ronde 2">
            <a:extLst>
              <a:ext uri="{FF2B5EF4-FFF2-40B4-BE49-F238E27FC236}">
                <a16:creationId xmlns:a16="http://schemas.microsoft.com/office/drawing/2014/main" id="{F3FEDCD0-7615-B736-C8DF-03E94D9FD3FB}"/>
              </a:ext>
            </a:extLst>
          </p:cNvPr>
          <p:cNvSpPr/>
          <p:nvPr/>
        </p:nvSpPr>
        <p:spPr>
          <a:xfrm>
            <a:off x="7247824" y="1646568"/>
            <a:ext cx="1846385" cy="1688620"/>
          </a:xfrm>
          <a:prstGeom prst="wedgeEllipseCallout">
            <a:avLst>
              <a:gd name="adj1" fmla="val -60607"/>
              <a:gd name="adj2" fmla="val -54206"/>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sz="1800"/>
          </a:p>
        </p:txBody>
      </p:sp>
      <p:sp>
        <p:nvSpPr>
          <p:cNvPr id="4" name="ZoneTexte 3">
            <a:extLst>
              <a:ext uri="{FF2B5EF4-FFF2-40B4-BE49-F238E27FC236}">
                <a16:creationId xmlns:a16="http://schemas.microsoft.com/office/drawing/2014/main" id="{8DA6BB9D-D555-AE8D-CA9D-99D5990CE5D6}"/>
              </a:ext>
            </a:extLst>
          </p:cNvPr>
          <p:cNvSpPr txBox="1"/>
          <p:nvPr/>
        </p:nvSpPr>
        <p:spPr>
          <a:xfrm>
            <a:off x="7394994" y="2144629"/>
            <a:ext cx="1699215" cy="1200329"/>
          </a:xfrm>
          <a:prstGeom prst="rect">
            <a:avLst/>
          </a:prstGeom>
          <a:noFill/>
        </p:spPr>
        <p:txBody>
          <a:bodyPr wrap="square" rtlCol="0">
            <a:spAutoFit/>
          </a:bodyPr>
          <a:lstStyle/>
          <a:p>
            <a:r>
              <a:rPr lang="fr-FR" sz="1800">
                <a:solidFill>
                  <a:schemeClr val="bg1"/>
                </a:solidFill>
              </a:rPr>
              <a:t>Respecter cet ordre!!</a:t>
            </a:r>
          </a:p>
          <a:p>
            <a:r>
              <a:rPr lang="fr-FR" sz="1800">
                <a:solidFill>
                  <a:schemeClr val="bg1"/>
                </a:solidFill>
              </a:rPr>
              <a:t>Notamment sur COPILOT!</a:t>
            </a:r>
          </a:p>
        </p:txBody>
      </p:sp>
    </p:spTree>
    <p:extLst>
      <p:ext uri="{BB962C8B-B14F-4D97-AF65-F5344CB8AC3E}">
        <p14:creationId xmlns:p14="http://schemas.microsoft.com/office/powerpoint/2010/main" val="229252197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2A0DD4A7-9DA8-1AE6-4ECF-F864F2466AC3}"/>
              </a:ext>
            </a:extLst>
          </p:cNvPr>
          <p:cNvSpPr>
            <a:spLocks noGrp="1"/>
          </p:cNvSpPr>
          <p:nvPr>
            <p:ph type="title"/>
          </p:nvPr>
        </p:nvSpPr>
        <p:spPr>
          <a:xfrm>
            <a:off x="71440" y="1012276"/>
            <a:ext cx="2071688" cy="4833449"/>
          </a:xfrm>
        </p:spPr>
        <p:txBody>
          <a:bodyPr/>
          <a:lstStyle/>
          <a:p>
            <a:r>
              <a:rPr lang="en-US" err="1"/>
              <a:t>Testez</a:t>
            </a:r>
            <a:r>
              <a:rPr lang="en-US"/>
              <a:t>!!</a:t>
            </a:r>
            <a:br>
              <a:rPr lang="en-US"/>
            </a:br>
            <a:br>
              <a:rPr lang="en-US"/>
            </a:br>
            <a:r>
              <a:rPr lang="en-US" sz="2100"/>
              <a:t>Tous les </a:t>
            </a:r>
            <a:r>
              <a:rPr lang="en-US" sz="2100" err="1"/>
              <a:t>jours</a:t>
            </a:r>
            <a:r>
              <a:rPr lang="en-US" sz="2100"/>
              <a:t> des </a:t>
            </a:r>
            <a:r>
              <a:rPr lang="en-US" sz="2100" err="1"/>
              <a:t>idées</a:t>
            </a:r>
            <a:r>
              <a:rPr lang="en-US" sz="2100"/>
              <a:t> pour prompter </a:t>
            </a:r>
            <a:r>
              <a:rPr lang="en-US" sz="2100" err="1"/>
              <a:t>sont</a:t>
            </a:r>
            <a:r>
              <a:rPr lang="en-US" sz="2100"/>
              <a:t> sur les réseaux.</a:t>
            </a:r>
          </a:p>
        </p:txBody>
      </p:sp>
      <p:pic>
        <p:nvPicPr>
          <p:cNvPr id="1026" name="Picture 2">
            <a:extLst>
              <a:ext uri="{FF2B5EF4-FFF2-40B4-BE49-F238E27FC236}">
                <a16:creationId xmlns:a16="http://schemas.microsoft.com/office/drawing/2014/main" id="{25FCA7C2-121E-03CD-B21B-A8CAB32E774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6141" r="4947"/>
          <a:stretch>
            <a:fillRect/>
          </a:stretch>
        </p:blipFill>
        <p:spPr bwMode="auto">
          <a:xfrm>
            <a:off x="2660302" y="950559"/>
            <a:ext cx="6074229" cy="4833449"/>
          </a:xfrm>
          <a:prstGeom prst="rect">
            <a:avLst/>
          </a:prstGeom>
          <a:solidFill>
            <a:srgbClr val="FFFFFF"/>
          </a:solidFill>
        </p:spPr>
      </p:pic>
    </p:spTree>
    <p:extLst>
      <p:ext uri="{BB962C8B-B14F-4D97-AF65-F5344CB8AC3E}">
        <p14:creationId xmlns:p14="http://schemas.microsoft.com/office/powerpoint/2010/main" val="2222363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00B3CB-7458-AD76-00A8-9E4A58B7D302}"/>
              </a:ext>
            </a:extLst>
          </p:cNvPr>
          <p:cNvSpPr>
            <a:spLocks noGrp="1"/>
          </p:cNvSpPr>
          <p:nvPr>
            <p:ph type="title"/>
          </p:nvPr>
        </p:nvSpPr>
        <p:spPr/>
        <p:txBody>
          <a:bodyPr/>
          <a:lstStyle/>
          <a:p>
            <a:r>
              <a:rPr lang="fr-FR" dirty="0"/>
              <a:t>Un nouveau métier</a:t>
            </a:r>
          </a:p>
        </p:txBody>
      </p:sp>
      <p:sp>
        <p:nvSpPr>
          <p:cNvPr id="3" name="Espace réservé du contenu 2">
            <a:extLst>
              <a:ext uri="{FF2B5EF4-FFF2-40B4-BE49-F238E27FC236}">
                <a16:creationId xmlns:a16="http://schemas.microsoft.com/office/drawing/2014/main" id="{B62A9C2F-8D79-AD5D-7196-AEFA015F8EAD}"/>
              </a:ext>
            </a:extLst>
          </p:cNvPr>
          <p:cNvSpPr>
            <a:spLocks noGrp="1"/>
          </p:cNvSpPr>
          <p:nvPr>
            <p:ph idx="1"/>
          </p:nvPr>
        </p:nvSpPr>
        <p:spPr/>
        <p:txBody>
          <a:bodyPr/>
          <a:lstStyle/>
          <a:p>
            <a:r>
              <a:rPr lang="fr-FR" dirty="0"/>
              <a:t>Prompt Engineering</a:t>
            </a:r>
          </a:p>
          <a:p>
            <a:pPr lvl="1"/>
            <a:r>
              <a:rPr lang="fr-FR" dirty="0"/>
              <a:t>L’art de poser les bonnes questions</a:t>
            </a:r>
          </a:p>
        </p:txBody>
      </p:sp>
      <p:pic>
        <p:nvPicPr>
          <p:cNvPr id="5" name="Image 4">
            <a:extLst>
              <a:ext uri="{FF2B5EF4-FFF2-40B4-BE49-F238E27FC236}">
                <a16:creationId xmlns:a16="http://schemas.microsoft.com/office/drawing/2014/main" id="{69B65E51-CD26-8726-F4FD-E1C0022F7447}"/>
              </a:ext>
            </a:extLst>
          </p:cNvPr>
          <p:cNvPicPr>
            <a:picLocks noChangeAspect="1"/>
          </p:cNvPicPr>
          <p:nvPr/>
        </p:nvPicPr>
        <p:blipFill>
          <a:blip r:embed="rId2"/>
          <a:stretch>
            <a:fillRect/>
          </a:stretch>
        </p:blipFill>
        <p:spPr>
          <a:xfrm>
            <a:off x="395536" y="2708920"/>
            <a:ext cx="8145012" cy="3343742"/>
          </a:xfrm>
          <a:prstGeom prst="rect">
            <a:avLst/>
          </a:prstGeom>
        </p:spPr>
      </p:pic>
    </p:spTree>
    <p:extLst>
      <p:ext uri="{BB962C8B-B14F-4D97-AF65-F5344CB8AC3E}">
        <p14:creationId xmlns:p14="http://schemas.microsoft.com/office/powerpoint/2010/main" val="3176300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CAEBD8-F4FD-1484-1590-DA5456F757FA}"/>
              </a:ext>
            </a:extLst>
          </p:cNvPr>
          <p:cNvSpPr>
            <a:spLocks noGrp="1"/>
          </p:cNvSpPr>
          <p:nvPr>
            <p:ph type="title"/>
          </p:nvPr>
        </p:nvSpPr>
        <p:spPr/>
        <p:txBody>
          <a:bodyPr/>
          <a:lstStyle/>
          <a:p>
            <a:r>
              <a:rPr lang="fr-FR" dirty="0"/>
              <a:t>Prompt Engineering</a:t>
            </a:r>
          </a:p>
        </p:txBody>
      </p:sp>
      <p:sp>
        <p:nvSpPr>
          <p:cNvPr id="3" name="Espace réservé du contenu 2">
            <a:extLst>
              <a:ext uri="{FF2B5EF4-FFF2-40B4-BE49-F238E27FC236}">
                <a16:creationId xmlns:a16="http://schemas.microsoft.com/office/drawing/2014/main" id="{AB0B0DFC-5926-BFEB-41F9-1E37567D4737}"/>
              </a:ext>
            </a:extLst>
          </p:cNvPr>
          <p:cNvSpPr>
            <a:spLocks noGrp="1"/>
          </p:cNvSpPr>
          <p:nvPr>
            <p:ph idx="1"/>
          </p:nvPr>
        </p:nvSpPr>
        <p:spPr/>
        <p:txBody>
          <a:bodyPr/>
          <a:lstStyle/>
          <a:p>
            <a:r>
              <a:rPr lang="fr-FR" dirty="0"/>
              <a:t>Métier du prompt</a:t>
            </a:r>
          </a:p>
          <a:p>
            <a:r>
              <a:rPr lang="fr-FR" dirty="0"/>
              <a:t>Gestion du contexte</a:t>
            </a:r>
          </a:p>
        </p:txBody>
      </p:sp>
      <p:pic>
        <p:nvPicPr>
          <p:cNvPr id="4" name="Image 3">
            <a:extLst>
              <a:ext uri="{FF2B5EF4-FFF2-40B4-BE49-F238E27FC236}">
                <a16:creationId xmlns:a16="http://schemas.microsoft.com/office/drawing/2014/main" id="{E7078BCC-F896-D423-45AB-F912E85E26ED}"/>
              </a:ext>
            </a:extLst>
          </p:cNvPr>
          <p:cNvPicPr>
            <a:picLocks noChangeAspect="1"/>
          </p:cNvPicPr>
          <p:nvPr/>
        </p:nvPicPr>
        <p:blipFill>
          <a:blip r:embed="rId2"/>
          <a:stretch>
            <a:fillRect/>
          </a:stretch>
        </p:blipFill>
        <p:spPr>
          <a:xfrm>
            <a:off x="-135521" y="2956224"/>
            <a:ext cx="9415041" cy="2501310"/>
          </a:xfrm>
          <a:prstGeom prst="rect">
            <a:avLst/>
          </a:prstGeom>
        </p:spPr>
      </p:pic>
    </p:spTree>
    <p:extLst>
      <p:ext uri="{BB962C8B-B14F-4D97-AF65-F5344CB8AC3E}">
        <p14:creationId xmlns:p14="http://schemas.microsoft.com/office/powerpoint/2010/main" val="2195998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CAD6C7-A535-A75F-58E2-BC5728D20EC9}"/>
              </a:ext>
            </a:extLst>
          </p:cNvPr>
          <p:cNvSpPr>
            <a:spLocks noGrp="1"/>
          </p:cNvSpPr>
          <p:nvPr>
            <p:ph type="title"/>
          </p:nvPr>
        </p:nvSpPr>
        <p:spPr/>
        <p:txBody>
          <a:bodyPr/>
          <a:lstStyle/>
          <a:p>
            <a:r>
              <a:rPr lang="fr-FR" dirty="0"/>
              <a:t>Qu’est-ce qu’un prompt ?</a:t>
            </a:r>
          </a:p>
        </p:txBody>
      </p:sp>
      <p:sp>
        <p:nvSpPr>
          <p:cNvPr id="3" name="Espace réservé du contenu 2">
            <a:extLst>
              <a:ext uri="{FF2B5EF4-FFF2-40B4-BE49-F238E27FC236}">
                <a16:creationId xmlns:a16="http://schemas.microsoft.com/office/drawing/2014/main" id="{1E243243-217E-D951-2FD7-484822D675C1}"/>
              </a:ext>
            </a:extLst>
          </p:cNvPr>
          <p:cNvSpPr>
            <a:spLocks noGrp="1"/>
          </p:cNvSpPr>
          <p:nvPr>
            <p:ph idx="1"/>
          </p:nvPr>
        </p:nvSpPr>
        <p:spPr/>
        <p:txBody>
          <a:bodyPr/>
          <a:lstStyle/>
          <a:p>
            <a:r>
              <a:rPr lang="fr-FR" dirty="0"/>
              <a:t>Un prompt pour un LLM est une entrée textuelle qui initie une conversation ou déclenche une réponse du modèle</a:t>
            </a:r>
          </a:p>
          <a:p>
            <a:pPr lvl="1"/>
            <a:r>
              <a:rPr lang="fr-FR" dirty="0"/>
              <a:t>Cependant, il peut aussi prendre d’autres formes, comme une image ou un audio</a:t>
            </a:r>
          </a:p>
        </p:txBody>
      </p:sp>
    </p:spTree>
    <p:extLst>
      <p:ext uri="{BB962C8B-B14F-4D97-AF65-F5344CB8AC3E}">
        <p14:creationId xmlns:p14="http://schemas.microsoft.com/office/powerpoint/2010/main" val="1121093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D8B51B-CEAE-DCB9-5D48-E1E7F855ABAC}"/>
              </a:ext>
            </a:extLst>
          </p:cNvPr>
          <p:cNvSpPr>
            <a:spLocks noGrp="1"/>
          </p:cNvSpPr>
          <p:nvPr>
            <p:ph type="title"/>
          </p:nvPr>
        </p:nvSpPr>
        <p:spPr/>
        <p:txBody>
          <a:bodyPr/>
          <a:lstStyle/>
          <a:p>
            <a:r>
              <a:rPr lang="fr-FR" dirty="0"/>
              <a:t>Qu’est-ce que le prompt engineering ?</a:t>
            </a:r>
          </a:p>
        </p:txBody>
      </p:sp>
      <p:sp>
        <p:nvSpPr>
          <p:cNvPr id="3" name="Espace réservé du contenu 2">
            <a:extLst>
              <a:ext uri="{FF2B5EF4-FFF2-40B4-BE49-F238E27FC236}">
                <a16:creationId xmlns:a16="http://schemas.microsoft.com/office/drawing/2014/main" id="{819541DB-EB23-F2B9-AD75-0DE6330840FB}"/>
              </a:ext>
            </a:extLst>
          </p:cNvPr>
          <p:cNvSpPr>
            <a:spLocks noGrp="1"/>
          </p:cNvSpPr>
          <p:nvPr>
            <p:ph idx="1"/>
          </p:nvPr>
        </p:nvSpPr>
        <p:spPr/>
        <p:txBody>
          <a:bodyPr/>
          <a:lstStyle/>
          <a:p>
            <a:r>
              <a:rPr lang="fr-FR" dirty="0"/>
              <a:t>Le prompt engineering est le processus qui consiste à concevoir et optimiser des prompts d’entrée afin de guider efficacement les réponses d’un modèle de langage</a:t>
            </a:r>
          </a:p>
        </p:txBody>
      </p:sp>
    </p:spTree>
    <p:extLst>
      <p:ext uri="{BB962C8B-B14F-4D97-AF65-F5344CB8AC3E}">
        <p14:creationId xmlns:p14="http://schemas.microsoft.com/office/powerpoint/2010/main" val="1547333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B6550A-C66A-CE0F-2CE4-4C1D43F90BCE}"/>
              </a:ext>
            </a:extLst>
          </p:cNvPr>
          <p:cNvSpPr>
            <a:spLocks noGrp="1"/>
          </p:cNvSpPr>
          <p:nvPr>
            <p:ph type="title"/>
          </p:nvPr>
        </p:nvSpPr>
        <p:spPr/>
        <p:txBody>
          <a:bodyPr/>
          <a:lstStyle/>
          <a:p>
            <a:r>
              <a:rPr lang="fr-FR" dirty="0"/>
              <a:t>Soyez clair et précis</a:t>
            </a:r>
          </a:p>
        </p:txBody>
      </p:sp>
      <p:sp>
        <p:nvSpPr>
          <p:cNvPr id="3" name="Espace réservé du contenu 2">
            <a:extLst>
              <a:ext uri="{FF2B5EF4-FFF2-40B4-BE49-F238E27FC236}">
                <a16:creationId xmlns:a16="http://schemas.microsoft.com/office/drawing/2014/main" id="{14E9E029-43CA-6BF3-1174-43FCF4C716C6}"/>
              </a:ext>
            </a:extLst>
          </p:cNvPr>
          <p:cNvSpPr>
            <a:spLocks noGrp="1"/>
          </p:cNvSpPr>
          <p:nvPr>
            <p:ph idx="1"/>
          </p:nvPr>
        </p:nvSpPr>
        <p:spPr/>
        <p:txBody>
          <a:bodyPr/>
          <a:lstStyle/>
          <a:p>
            <a:r>
              <a:rPr lang="fr-FR" dirty="0"/>
              <a:t>Assurez-vous que vos prompts sont clairs, précis et qu’ils fournissent suffisamment de contexte pour que le modèle comprenne ce que vous demandez</a:t>
            </a:r>
          </a:p>
          <a:p>
            <a:r>
              <a:rPr lang="fr-FR" dirty="0"/>
              <a:t>Évitez toute ambiguïté et soyez aussi précis que possible afin d’obtenir des réponses exactes et pertinentes.</a:t>
            </a:r>
          </a:p>
        </p:txBody>
      </p:sp>
    </p:spTree>
    <p:extLst>
      <p:ext uri="{BB962C8B-B14F-4D97-AF65-F5344CB8AC3E}">
        <p14:creationId xmlns:p14="http://schemas.microsoft.com/office/powerpoint/2010/main" val="1714563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C191EC-6D20-F0BE-C601-4F2B14F0E6D5}"/>
              </a:ext>
            </a:extLst>
          </p:cNvPr>
          <p:cNvSpPr>
            <a:spLocks noGrp="1"/>
          </p:cNvSpPr>
          <p:nvPr>
            <p:ph type="title"/>
          </p:nvPr>
        </p:nvSpPr>
        <p:spPr/>
        <p:txBody>
          <a:bodyPr/>
          <a:lstStyle/>
          <a:p>
            <a:r>
              <a:rPr lang="fr-FR" dirty="0"/>
              <a:t>Contexte</a:t>
            </a:r>
          </a:p>
        </p:txBody>
      </p:sp>
      <p:sp>
        <p:nvSpPr>
          <p:cNvPr id="3" name="Espace réservé du contenu 2">
            <a:extLst>
              <a:ext uri="{FF2B5EF4-FFF2-40B4-BE49-F238E27FC236}">
                <a16:creationId xmlns:a16="http://schemas.microsoft.com/office/drawing/2014/main" id="{C4433756-41DD-3C4E-3884-75AD64B2DF14}"/>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71C5FE83-1339-AC00-113E-CBB1A0CCD3B1}"/>
              </a:ext>
            </a:extLst>
          </p:cNvPr>
          <p:cNvPicPr>
            <a:picLocks noChangeAspect="1"/>
          </p:cNvPicPr>
          <p:nvPr/>
        </p:nvPicPr>
        <p:blipFill>
          <a:blip r:embed="rId2"/>
          <a:stretch>
            <a:fillRect/>
          </a:stretch>
        </p:blipFill>
        <p:spPr>
          <a:xfrm>
            <a:off x="717485" y="1971537"/>
            <a:ext cx="7361558" cy="3189246"/>
          </a:xfrm>
          <a:prstGeom prst="rect">
            <a:avLst/>
          </a:prstGeom>
        </p:spPr>
      </p:pic>
    </p:spTree>
    <p:extLst>
      <p:ext uri="{BB962C8B-B14F-4D97-AF65-F5344CB8AC3E}">
        <p14:creationId xmlns:p14="http://schemas.microsoft.com/office/powerpoint/2010/main" val="3640760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3EDC3D-04E7-3809-29C7-26EDB023CE52}"/>
              </a:ext>
            </a:extLst>
          </p:cNvPr>
          <p:cNvSpPr>
            <a:spLocks noGrp="1"/>
          </p:cNvSpPr>
          <p:nvPr>
            <p:ph type="title"/>
          </p:nvPr>
        </p:nvSpPr>
        <p:spPr/>
        <p:txBody>
          <a:bodyPr/>
          <a:lstStyle/>
          <a:p>
            <a:r>
              <a:rPr lang="fr-FR" dirty="0"/>
              <a:t>Amélioration itérative</a:t>
            </a:r>
          </a:p>
        </p:txBody>
      </p:sp>
      <p:sp>
        <p:nvSpPr>
          <p:cNvPr id="3" name="Espace réservé du contenu 2">
            <a:extLst>
              <a:ext uri="{FF2B5EF4-FFF2-40B4-BE49-F238E27FC236}">
                <a16:creationId xmlns:a16="http://schemas.microsoft.com/office/drawing/2014/main" id="{F9C70E5D-63D2-72AA-C65A-BA27C3D281C8}"/>
              </a:ext>
            </a:extLst>
          </p:cNvPr>
          <p:cNvSpPr>
            <a:spLocks noGrp="1"/>
          </p:cNvSpPr>
          <p:nvPr>
            <p:ph idx="1"/>
          </p:nvPr>
        </p:nvSpPr>
        <p:spPr/>
        <p:txBody>
          <a:bodyPr/>
          <a:lstStyle/>
          <a:p>
            <a:r>
              <a:rPr lang="fr-FR" dirty="0"/>
              <a:t>Le prompt engineering nécessite souvent une approche itérative</a:t>
            </a:r>
          </a:p>
          <a:p>
            <a:r>
              <a:rPr lang="fr-FR" dirty="0"/>
              <a:t>Commencez par un prompt initial, examinez la réponse, puis affinez le prompt en fonction du résultat</a:t>
            </a:r>
          </a:p>
          <a:p>
            <a:r>
              <a:rPr lang="fr-FR" dirty="0"/>
              <a:t>Ajustez la formulation, ajoutez plus de contexte ou simplifiez la demande si nécessaire pour améliorer les résultats.</a:t>
            </a:r>
          </a:p>
        </p:txBody>
      </p:sp>
    </p:spTree>
    <p:extLst>
      <p:ext uri="{BB962C8B-B14F-4D97-AF65-F5344CB8AC3E}">
        <p14:creationId xmlns:p14="http://schemas.microsoft.com/office/powerpoint/2010/main" val="3788310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F0E200-649C-D7CD-E2B4-C5BDC85832CF}"/>
              </a:ext>
            </a:extLst>
          </p:cNvPr>
          <p:cNvSpPr>
            <a:spLocks noGrp="1"/>
          </p:cNvSpPr>
          <p:nvPr>
            <p:ph type="title"/>
          </p:nvPr>
        </p:nvSpPr>
        <p:spPr/>
        <p:txBody>
          <a:bodyPr/>
          <a:lstStyle/>
          <a:p>
            <a:r>
              <a:rPr lang="fr-FR" dirty="0"/>
              <a:t>Demander un ton différent</a:t>
            </a:r>
          </a:p>
        </p:txBody>
      </p:sp>
      <p:sp>
        <p:nvSpPr>
          <p:cNvPr id="3" name="Espace réservé du contenu 2">
            <a:extLst>
              <a:ext uri="{FF2B5EF4-FFF2-40B4-BE49-F238E27FC236}">
                <a16:creationId xmlns:a16="http://schemas.microsoft.com/office/drawing/2014/main" id="{F7DBC06A-FCE4-500F-69D5-577551B4790C}"/>
              </a:ext>
            </a:extLst>
          </p:cNvPr>
          <p:cNvSpPr>
            <a:spLocks noGrp="1"/>
          </p:cNvSpPr>
          <p:nvPr>
            <p:ph idx="1"/>
          </p:nvPr>
        </p:nvSpPr>
        <p:spPr/>
        <p:txBody>
          <a:bodyPr/>
          <a:lstStyle/>
          <a:p>
            <a:r>
              <a:rPr lang="fr-FR" dirty="0"/>
              <a:t>Utilisez des adjectifs descriptifs pour indiquer le ton</a:t>
            </a:r>
          </a:p>
          <a:p>
            <a:r>
              <a:rPr lang="fr-FR" dirty="0"/>
              <a:t>Des mots comme formel, informel, convivial, professionnel, humoristique ou sérieux peuvent aider à guider le modèle</a:t>
            </a:r>
          </a:p>
          <a:p>
            <a:r>
              <a:rPr lang="fr-FR" dirty="0"/>
              <a:t>Par exemple : « Expliquez cela sur un ton convivial et engageant. »</a:t>
            </a:r>
          </a:p>
        </p:txBody>
      </p:sp>
    </p:spTree>
    <p:extLst>
      <p:ext uri="{BB962C8B-B14F-4D97-AF65-F5344CB8AC3E}">
        <p14:creationId xmlns:p14="http://schemas.microsoft.com/office/powerpoint/2010/main" val="60813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BE56FD-3590-EED0-CBDE-8B31BD06C975}"/>
              </a:ext>
            </a:extLst>
          </p:cNvPr>
          <p:cNvSpPr>
            <a:spLocks noGrp="1"/>
          </p:cNvSpPr>
          <p:nvPr>
            <p:ph type="title"/>
          </p:nvPr>
        </p:nvSpPr>
        <p:spPr/>
        <p:txBody>
          <a:bodyPr/>
          <a:lstStyle/>
          <a:p>
            <a:r>
              <a:rPr lang="fr-FR" dirty="0"/>
              <a:t>Prompt simple</a:t>
            </a:r>
          </a:p>
        </p:txBody>
      </p:sp>
      <p:sp>
        <p:nvSpPr>
          <p:cNvPr id="3" name="Espace réservé du contenu 2">
            <a:extLst>
              <a:ext uri="{FF2B5EF4-FFF2-40B4-BE49-F238E27FC236}">
                <a16:creationId xmlns:a16="http://schemas.microsoft.com/office/drawing/2014/main" id="{959DA140-C704-75E2-90AC-FF603A2ED4CA}"/>
              </a:ext>
            </a:extLst>
          </p:cNvPr>
          <p:cNvSpPr>
            <a:spLocks noGrp="1"/>
          </p:cNvSpPr>
          <p:nvPr>
            <p:ph idx="1"/>
          </p:nvPr>
        </p:nvSpPr>
        <p:spPr/>
        <p:txBody>
          <a:bodyPr/>
          <a:lstStyle/>
          <a:p>
            <a:r>
              <a:rPr lang="fr-FR" dirty="0"/>
              <a:t>Un prompt simple, c'est une instruction directe, naturelle, sans mise en forme particulière</a:t>
            </a:r>
          </a:p>
          <a:p>
            <a:pPr lvl="1"/>
            <a:r>
              <a:rPr lang="fr-FR" dirty="0"/>
              <a:t>Comme on parlerait à quelqu'un</a:t>
            </a:r>
          </a:p>
          <a:p>
            <a:pPr lvl="1"/>
            <a:r>
              <a:rPr lang="fr-FR" dirty="0"/>
              <a:t>"Explique-moi comment fonctionne une API REST."</a:t>
            </a:r>
          </a:p>
        </p:txBody>
      </p:sp>
    </p:spTree>
    <p:extLst>
      <p:ext uri="{BB962C8B-B14F-4D97-AF65-F5344CB8AC3E}">
        <p14:creationId xmlns:p14="http://schemas.microsoft.com/office/powerpoint/2010/main" val="2891994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14794E6-91D2-E2DD-A0DE-2735E065DF5F}"/>
              </a:ext>
            </a:extLst>
          </p:cNvPr>
          <p:cNvSpPr>
            <a:spLocks noGrp="1"/>
          </p:cNvSpPr>
          <p:nvPr>
            <p:ph type="title"/>
          </p:nvPr>
        </p:nvSpPr>
        <p:spPr>
          <a:xfrm>
            <a:off x="623888" y="2139554"/>
            <a:ext cx="7886700" cy="2139553"/>
          </a:xfrm>
        </p:spPr>
        <p:txBody>
          <a:bodyPr/>
          <a:lstStyle/>
          <a:p>
            <a:r>
              <a:rPr lang="en-US" err="1"/>
              <a:t>Faites</a:t>
            </a:r>
            <a:r>
              <a:rPr lang="en-US"/>
              <a:t> </a:t>
            </a:r>
            <a:r>
              <a:rPr lang="en-US" err="1"/>
              <a:t>rédiger</a:t>
            </a:r>
            <a:r>
              <a:rPr lang="en-US"/>
              <a:t> </a:t>
            </a:r>
            <a:r>
              <a:rPr lang="en-US" err="1"/>
              <a:t>vos</a:t>
            </a:r>
            <a:r>
              <a:rPr lang="en-US"/>
              <a:t> prompts par </a:t>
            </a:r>
            <a:r>
              <a:rPr lang="en-US" err="1"/>
              <a:t>votre</a:t>
            </a:r>
            <a:r>
              <a:rPr lang="en-US"/>
              <a:t> IA! </a:t>
            </a:r>
          </a:p>
        </p:txBody>
      </p:sp>
      <p:sp>
        <p:nvSpPr>
          <p:cNvPr id="10" name="Text Placeholder 2">
            <a:extLst>
              <a:ext uri="{FF2B5EF4-FFF2-40B4-BE49-F238E27FC236}">
                <a16:creationId xmlns:a16="http://schemas.microsoft.com/office/drawing/2014/main" id="{69933737-E502-2BFE-BEEE-616BC8B5D418}"/>
              </a:ext>
            </a:extLst>
          </p:cNvPr>
          <p:cNvSpPr>
            <a:spLocks noGrp="1"/>
          </p:cNvSpPr>
          <p:nvPr>
            <p:ph type="body" idx="1"/>
          </p:nvPr>
        </p:nvSpPr>
        <p:spPr>
          <a:xfrm>
            <a:off x="623888" y="4299348"/>
            <a:ext cx="7886700" cy="1125140"/>
          </a:xfrm>
        </p:spPr>
        <p:txBody>
          <a:bodyPr/>
          <a:lstStyle/>
          <a:p>
            <a:endParaRPr lang="en-US"/>
          </a:p>
        </p:txBody>
      </p:sp>
      <p:sp>
        <p:nvSpPr>
          <p:cNvPr id="12" name="Text Placeholder 3">
            <a:extLst>
              <a:ext uri="{FF2B5EF4-FFF2-40B4-BE49-F238E27FC236}">
                <a16:creationId xmlns:a16="http://schemas.microsoft.com/office/drawing/2014/main" id="{6EF5F257-C033-C56F-E026-62D3810E1151}"/>
              </a:ext>
            </a:extLst>
          </p:cNvPr>
          <p:cNvSpPr>
            <a:spLocks noGrp="1"/>
          </p:cNvSpPr>
          <p:nvPr>
            <p:ph type="body" sz="quarter" idx="13"/>
          </p:nvPr>
        </p:nvSpPr>
        <p:spPr>
          <a:xfrm>
            <a:off x="623888" y="1814513"/>
            <a:ext cx="1970485" cy="325041"/>
          </a:xfrm>
        </p:spPr>
        <p:txBody>
          <a:bodyPr>
            <a:normAutofit fontScale="62500" lnSpcReduction="20000"/>
          </a:bodyPr>
          <a:lstStyle/>
          <a:p>
            <a:r>
              <a:rPr lang="en-US"/>
              <a:t>Mon conseil:</a:t>
            </a:r>
          </a:p>
        </p:txBody>
      </p:sp>
    </p:spTree>
    <p:extLst>
      <p:ext uri="{BB962C8B-B14F-4D97-AF65-F5344CB8AC3E}">
        <p14:creationId xmlns:p14="http://schemas.microsoft.com/office/powerpoint/2010/main" val="3754434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7473EA-03FF-554F-A3E3-67BDD5890E0D}"/>
              </a:ext>
            </a:extLst>
          </p:cNvPr>
          <p:cNvSpPr>
            <a:spLocks noGrp="1"/>
          </p:cNvSpPr>
          <p:nvPr>
            <p:ph type="title"/>
          </p:nvPr>
        </p:nvSpPr>
        <p:spPr>
          <a:xfrm>
            <a:off x="623888" y="2139554"/>
            <a:ext cx="7886700" cy="2139553"/>
          </a:xfrm>
        </p:spPr>
        <p:txBody>
          <a:bodyPr anchor="ctr">
            <a:normAutofit/>
          </a:bodyPr>
          <a:lstStyle/>
          <a:p>
            <a:r>
              <a:rPr lang="fr-FR" dirty="0"/>
              <a:t>1 prompt</a:t>
            </a:r>
            <a:br>
              <a:rPr lang="fr-FR" dirty="0">
                <a:cs typeface="Segoe UI Semibold"/>
              </a:rPr>
            </a:br>
            <a:r>
              <a:rPr lang="fr-FR" dirty="0"/>
              <a:t> 3 IA (ou 4 ou 5)</a:t>
            </a:r>
          </a:p>
        </p:txBody>
      </p:sp>
      <p:sp>
        <p:nvSpPr>
          <p:cNvPr id="7" name="Text Placeholder 2">
            <a:extLst>
              <a:ext uri="{FF2B5EF4-FFF2-40B4-BE49-F238E27FC236}">
                <a16:creationId xmlns:a16="http://schemas.microsoft.com/office/drawing/2014/main" id="{565A2C70-37DE-A7F3-754F-5AD43471C029}"/>
              </a:ext>
            </a:extLst>
          </p:cNvPr>
          <p:cNvSpPr>
            <a:spLocks noGrp="1"/>
          </p:cNvSpPr>
          <p:nvPr>
            <p:ph type="body" idx="1"/>
          </p:nvPr>
        </p:nvSpPr>
        <p:spPr>
          <a:xfrm>
            <a:off x="623888" y="4299348"/>
            <a:ext cx="7886700" cy="1125140"/>
          </a:xfrm>
        </p:spPr>
        <p:txBody>
          <a:bodyPr/>
          <a:lstStyle/>
          <a:p>
            <a:endParaRPr lang="en-US"/>
          </a:p>
        </p:txBody>
      </p:sp>
      <p:sp>
        <p:nvSpPr>
          <p:cNvPr id="9" name="Text Placeholder 3">
            <a:extLst>
              <a:ext uri="{FF2B5EF4-FFF2-40B4-BE49-F238E27FC236}">
                <a16:creationId xmlns:a16="http://schemas.microsoft.com/office/drawing/2014/main" id="{31057743-E306-2939-4227-2D97C471FA14}"/>
              </a:ext>
            </a:extLst>
          </p:cNvPr>
          <p:cNvSpPr>
            <a:spLocks noGrp="1"/>
          </p:cNvSpPr>
          <p:nvPr>
            <p:ph type="body" sz="quarter" idx="13"/>
          </p:nvPr>
        </p:nvSpPr>
        <p:spPr>
          <a:xfrm>
            <a:off x="623888" y="1814513"/>
            <a:ext cx="1970485" cy="325041"/>
          </a:xfrm>
        </p:spPr>
        <p:txBody>
          <a:bodyPr>
            <a:normAutofit fontScale="62500" lnSpcReduction="20000"/>
          </a:bodyPr>
          <a:lstStyle/>
          <a:p>
            <a:r>
              <a:rPr lang="en-US"/>
              <a:t>DEFI</a:t>
            </a:r>
          </a:p>
        </p:txBody>
      </p:sp>
    </p:spTree>
    <p:extLst>
      <p:ext uri="{BB962C8B-B14F-4D97-AF65-F5344CB8AC3E}">
        <p14:creationId xmlns:p14="http://schemas.microsoft.com/office/powerpoint/2010/main" val="1623415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671634-8E1A-F811-1435-FB4F5ECAAC68}"/>
              </a:ext>
            </a:extLst>
          </p:cNvPr>
          <p:cNvSpPr>
            <a:spLocks noGrp="1"/>
          </p:cNvSpPr>
          <p:nvPr>
            <p:ph type="title"/>
          </p:nvPr>
        </p:nvSpPr>
        <p:spPr>
          <a:xfrm>
            <a:off x="628650" y="922375"/>
            <a:ext cx="7886700" cy="994172"/>
          </a:xfrm>
        </p:spPr>
        <p:txBody>
          <a:bodyPr anchor="ctr">
            <a:normAutofit/>
          </a:bodyPr>
          <a:lstStyle/>
          <a:p>
            <a:r>
              <a:rPr lang="fr-FR"/>
              <a:t>Objectifs du défi</a:t>
            </a:r>
          </a:p>
        </p:txBody>
      </p:sp>
      <p:pic>
        <p:nvPicPr>
          <p:cNvPr id="5" name="Espace réservé du contenu 4" descr="IA Intelligence artificielle innovation internet technologie informatique">
            <a:extLst>
              <a:ext uri="{FF2B5EF4-FFF2-40B4-BE49-F238E27FC236}">
                <a16:creationId xmlns:a16="http://schemas.microsoft.com/office/drawing/2014/main" id="{24E4ECC8-9254-416C-B964-6F0C27DBB2C5}"/>
              </a:ext>
            </a:extLst>
          </p:cNvPr>
          <p:cNvPicPr>
            <a:picLocks noGrp="1" noChangeAspect="1"/>
          </p:cNvPicPr>
          <p:nvPr>
            <p:ph sz="half" idx="1"/>
          </p:nvPr>
        </p:nvPicPr>
        <p:blipFill>
          <a:blip r:embed="rId3"/>
          <a:srcRect l="10757" r="9756" b="-1"/>
          <a:stretch>
            <a:fillRect/>
          </a:stretch>
        </p:blipFill>
        <p:spPr>
          <a:xfrm>
            <a:off x="628650" y="2226469"/>
            <a:ext cx="3886200" cy="3263504"/>
          </a:xfrm>
          <a:prstGeom prst="rect">
            <a:avLst/>
          </a:prstGeom>
          <a:noFill/>
        </p:spPr>
      </p:pic>
      <p:sp>
        <p:nvSpPr>
          <p:cNvPr id="4" name="Espace réservé du contenu 3">
            <a:extLst>
              <a:ext uri="{FF2B5EF4-FFF2-40B4-BE49-F238E27FC236}">
                <a16:creationId xmlns:a16="http://schemas.microsoft.com/office/drawing/2014/main" id="{31795F68-33A5-A046-04BE-D4E7891A1DD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29150" y="2226469"/>
            <a:ext cx="3886200" cy="3263504"/>
          </a:xfrm>
        </p:spPr>
        <p:txBody>
          <a:bodyPr>
            <a:normAutofit/>
          </a:bodyPr>
          <a:lstStyle/>
          <a:p>
            <a:pPr marL="0" indent="0">
              <a:spcBef>
                <a:spcPts val="1875"/>
              </a:spcBef>
              <a:buNone/>
            </a:pPr>
            <a:r>
              <a:rPr lang="fr-FR" sz="1050" b="1"/>
              <a:t>Différences de ton</a:t>
            </a:r>
          </a:p>
          <a:p>
            <a:pPr marL="0" lvl="1" indent="0">
              <a:buNone/>
            </a:pPr>
            <a:r>
              <a:rPr lang="fr-FR" sz="1050"/>
              <a:t>Observer les variations de ton dans les réponses générées par l'IA pour mieux comprendre leurs impacts.</a:t>
            </a:r>
          </a:p>
          <a:p>
            <a:pPr marL="0" indent="0">
              <a:spcBef>
                <a:spcPts val="1875"/>
              </a:spcBef>
              <a:buNone/>
            </a:pPr>
            <a:r>
              <a:rPr lang="fr-FR" sz="1050" b="1"/>
              <a:t>Structure des réponses</a:t>
            </a:r>
          </a:p>
          <a:p>
            <a:pPr marL="0" lvl="1" indent="0">
              <a:buNone/>
            </a:pPr>
            <a:r>
              <a:rPr lang="fr-FR" sz="1050"/>
              <a:t>Étudier la structure des réponses générées par l'IA afin d'évaluer leur clarté et leur organisation.</a:t>
            </a:r>
          </a:p>
          <a:p>
            <a:pPr marL="0" indent="0">
              <a:spcBef>
                <a:spcPts val="1875"/>
              </a:spcBef>
              <a:buNone/>
            </a:pPr>
            <a:r>
              <a:rPr lang="fr-FR" sz="1050" b="1"/>
              <a:t>Pertinence des contenus</a:t>
            </a:r>
          </a:p>
          <a:p>
            <a:pPr marL="0" lvl="1" indent="0">
              <a:buNone/>
            </a:pPr>
            <a:r>
              <a:rPr lang="fr-FR" sz="1050"/>
              <a:t>Évaluer la pertinence des informations fournies par l'IA en fonction des besoins spécifiques des utilisateurs.</a:t>
            </a:r>
          </a:p>
          <a:p>
            <a:pPr marL="0" indent="0">
              <a:spcBef>
                <a:spcPts val="1875"/>
              </a:spcBef>
              <a:buNone/>
            </a:pPr>
            <a:r>
              <a:rPr lang="fr-FR" sz="1050" b="1"/>
              <a:t>Réflexion sur l'IA</a:t>
            </a:r>
          </a:p>
          <a:p>
            <a:pPr marL="0" lvl="1" indent="0">
              <a:buNone/>
            </a:pPr>
            <a:r>
              <a:rPr lang="fr-FR" sz="1050"/>
              <a:t>Initier une réflexion sur les différentes applications de l'IA et leur adéquation à divers usages.</a:t>
            </a:r>
          </a:p>
        </p:txBody>
      </p:sp>
    </p:spTree>
    <p:extLst>
      <p:ext uri="{BB962C8B-B14F-4D97-AF65-F5344CB8AC3E}">
        <p14:creationId xmlns:p14="http://schemas.microsoft.com/office/powerpoint/2010/main" val="29796479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F307228-6494-DAED-DE77-8AA072E894A9}"/>
              </a:ext>
            </a:extLst>
          </p:cNvPr>
          <p:cNvSpPr>
            <a:spLocks noGrp="1"/>
          </p:cNvSpPr>
          <p:nvPr>
            <p:ph type="title"/>
          </p:nvPr>
        </p:nvSpPr>
        <p:spPr>
          <a:xfrm>
            <a:off x="102055" y="1012276"/>
            <a:ext cx="2071688" cy="4833449"/>
          </a:xfrm>
        </p:spPr>
        <p:txBody>
          <a:bodyPr/>
          <a:lstStyle/>
          <a:p>
            <a:r>
              <a:rPr lang="en-US"/>
              <a:t>La </a:t>
            </a:r>
            <a:r>
              <a:rPr lang="en-US" err="1"/>
              <a:t>recette</a:t>
            </a:r>
            <a:endParaRPr lang="en-US"/>
          </a:p>
        </p:txBody>
      </p:sp>
      <p:sp>
        <p:nvSpPr>
          <p:cNvPr id="11" name="Content Placeholder 2">
            <a:extLst>
              <a:ext uri="{FF2B5EF4-FFF2-40B4-BE49-F238E27FC236}">
                <a16:creationId xmlns:a16="http://schemas.microsoft.com/office/drawing/2014/main" id="{2A76E2A1-7B64-FB3D-6BEA-D3D7C6182D22}"/>
              </a:ext>
            </a:extLst>
          </p:cNvPr>
          <p:cNvSpPr>
            <a:spLocks noGrp="1"/>
          </p:cNvSpPr>
          <p:nvPr>
            <p:ph idx="1"/>
          </p:nvPr>
        </p:nvSpPr>
        <p:spPr>
          <a:xfrm>
            <a:off x="2390505" y="1012275"/>
            <a:ext cx="6398759" cy="4504741"/>
          </a:xfrm>
        </p:spPr>
        <p:txBody>
          <a:bodyPr>
            <a:normAutofit fontScale="85000" lnSpcReduction="20000"/>
          </a:bodyPr>
          <a:lstStyle/>
          <a:p>
            <a:r>
              <a:rPr lang="en-US" err="1"/>
              <a:t>Recette</a:t>
            </a:r>
            <a:r>
              <a:rPr lang="en-US"/>
              <a:t> avec haricot rouge, </a:t>
            </a:r>
            <a:r>
              <a:rPr lang="en-US" err="1"/>
              <a:t>chocolat</a:t>
            </a:r>
            <a:r>
              <a:rPr lang="en-US"/>
              <a:t> et </a:t>
            </a:r>
            <a:r>
              <a:rPr lang="en-US" err="1"/>
              <a:t>poisson</a:t>
            </a:r>
            <a:r>
              <a:rPr lang="en-US"/>
              <a:t> </a:t>
            </a:r>
            <a:r>
              <a:rPr lang="en-US" err="1"/>
              <a:t>pané</a:t>
            </a:r>
            <a:r>
              <a:rPr lang="en-US"/>
              <a:t>…….</a:t>
            </a:r>
            <a:r>
              <a:rPr lang="en-US" err="1"/>
              <a:t>miam</a:t>
            </a:r>
            <a:r>
              <a:rPr lang="en-US"/>
              <a:t> ;)</a:t>
            </a:r>
          </a:p>
          <a:p>
            <a:endParaRPr lang="en-US"/>
          </a:p>
          <a:p>
            <a:r>
              <a:rPr lang="en-US"/>
              <a:t>Le prompt </a:t>
            </a:r>
            <a:r>
              <a:rPr lang="en-US" err="1"/>
              <a:t>optimisé</a:t>
            </a:r>
            <a:r>
              <a:rPr lang="en-US"/>
              <a:t>:</a:t>
            </a:r>
          </a:p>
          <a:p>
            <a:pPr marL="0" indent="0">
              <a:buNone/>
            </a:pPr>
            <a:r>
              <a:rPr lang="en-US" err="1"/>
              <a:t>Crée</a:t>
            </a:r>
            <a:r>
              <a:rPr lang="en-US"/>
              <a:t> un </a:t>
            </a:r>
            <a:r>
              <a:rPr lang="en-US" err="1"/>
              <a:t>recette</a:t>
            </a:r>
            <a:r>
              <a:rPr lang="en-US"/>
              <a:t> </a:t>
            </a:r>
            <a:r>
              <a:rPr lang="en-US" err="1"/>
              <a:t>originale</a:t>
            </a:r>
            <a:r>
              <a:rPr lang="en-US"/>
              <a:t> et </a:t>
            </a:r>
            <a:r>
              <a:rPr lang="en-US" err="1"/>
              <a:t>équilibrée</a:t>
            </a:r>
            <a:r>
              <a:rPr lang="en-US"/>
              <a:t> qui </a:t>
            </a:r>
            <a:r>
              <a:rPr lang="en-US" err="1"/>
              <a:t>associe</a:t>
            </a:r>
            <a:r>
              <a:rPr lang="en-US"/>
              <a:t> du </a:t>
            </a:r>
            <a:r>
              <a:rPr lang="en-US" err="1"/>
              <a:t>poisson</a:t>
            </a:r>
            <a:r>
              <a:rPr lang="en-US"/>
              <a:t> </a:t>
            </a:r>
            <a:r>
              <a:rPr lang="en-US" err="1"/>
              <a:t>pané</a:t>
            </a:r>
            <a:r>
              <a:rPr lang="en-US"/>
              <a:t>, des haricots rouges et du </a:t>
            </a:r>
            <a:r>
              <a:rPr lang="en-US" err="1"/>
              <a:t>chocolat</a:t>
            </a:r>
            <a:r>
              <a:rPr lang="en-US"/>
              <a:t>.</a:t>
            </a:r>
          </a:p>
          <a:p>
            <a:pPr>
              <a:buClr>
                <a:schemeClr val="accent2"/>
              </a:buClr>
              <a:buFont typeface="Wingdings" panose="05000000000000000000" pitchFamily="2" charset="2"/>
              <a:buChar char="§"/>
            </a:pPr>
            <a:r>
              <a:rPr lang="en-US" sz="1050"/>
              <a:t>Donne-</a:t>
            </a:r>
            <a:r>
              <a:rPr lang="en-US" sz="1050" err="1"/>
              <a:t>lui</a:t>
            </a:r>
            <a:r>
              <a:rPr lang="en-US" sz="1050"/>
              <a:t> un nom </a:t>
            </a:r>
            <a:r>
              <a:rPr lang="en-US" sz="1050" err="1"/>
              <a:t>créatif</a:t>
            </a:r>
            <a:endParaRPr lang="en-US" sz="1050"/>
          </a:p>
          <a:p>
            <a:pPr>
              <a:buClr>
                <a:schemeClr val="accent2"/>
              </a:buClr>
              <a:buFont typeface="Wingdings" panose="05000000000000000000" pitchFamily="2" charset="2"/>
              <a:buChar char="§"/>
            </a:pPr>
            <a:r>
              <a:rPr lang="en-US" sz="1050" err="1"/>
              <a:t>Indique</a:t>
            </a:r>
            <a:r>
              <a:rPr lang="en-US" sz="1050"/>
              <a:t> les ingredients précis (avec </a:t>
            </a:r>
            <a:r>
              <a:rPr lang="en-US" sz="1050" err="1"/>
              <a:t>quantités</a:t>
            </a:r>
            <a:r>
              <a:rPr lang="en-US" sz="1050"/>
              <a:t>)</a:t>
            </a:r>
          </a:p>
          <a:p>
            <a:pPr>
              <a:buClr>
                <a:schemeClr val="accent2"/>
              </a:buClr>
              <a:buFont typeface="Wingdings" panose="05000000000000000000" pitchFamily="2" charset="2"/>
              <a:buChar char="§"/>
            </a:pPr>
            <a:r>
              <a:rPr lang="en-US" sz="1050" err="1"/>
              <a:t>Détaille</a:t>
            </a:r>
            <a:r>
              <a:rPr lang="en-US" sz="1050"/>
              <a:t> les étapes de la preparation</a:t>
            </a:r>
          </a:p>
          <a:p>
            <a:pPr>
              <a:buClr>
                <a:schemeClr val="accent2"/>
              </a:buClr>
              <a:buFont typeface="Wingdings" panose="05000000000000000000" pitchFamily="2" charset="2"/>
              <a:buChar char="§"/>
            </a:pPr>
            <a:r>
              <a:rPr lang="en-US" sz="1050" err="1"/>
              <a:t>Explique</a:t>
            </a:r>
            <a:r>
              <a:rPr lang="en-US" sz="1050"/>
              <a:t> la </a:t>
            </a:r>
            <a:r>
              <a:rPr lang="en-US" sz="1050" err="1"/>
              <a:t>logique</a:t>
            </a:r>
            <a:r>
              <a:rPr lang="en-US" sz="1050"/>
              <a:t> </a:t>
            </a:r>
            <a:r>
              <a:rPr lang="en-US" sz="1050" err="1"/>
              <a:t>culinaire</a:t>
            </a:r>
            <a:r>
              <a:rPr lang="en-US" sz="1050"/>
              <a:t> derrière </a:t>
            </a:r>
            <a:r>
              <a:rPr lang="en-US" sz="1050" err="1"/>
              <a:t>l’association</a:t>
            </a:r>
            <a:r>
              <a:rPr lang="en-US" sz="1050"/>
              <a:t> des </a:t>
            </a:r>
            <a:r>
              <a:rPr lang="en-US" sz="1050" err="1"/>
              <a:t>ces</a:t>
            </a:r>
            <a:r>
              <a:rPr lang="en-US" sz="1050"/>
              <a:t> trois ingredients (</a:t>
            </a:r>
            <a:r>
              <a:rPr lang="en-US" sz="1050" err="1"/>
              <a:t>équilibre</a:t>
            </a:r>
            <a:r>
              <a:rPr lang="en-US" sz="1050"/>
              <a:t> des </a:t>
            </a:r>
            <a:r>
              <a:rPr lang="en-US" sz="1050" err="1"/>
              <a:t>saveurs</a:t>
            </a:r>
            <a:r>
              <a:rPr lang="en-US" sz="1050"/>
              <a:t>, texture, techniques </a:t>
            </a:r>
            <a:r>
              <a:rPr lang="en-US" sz="1050" err="1"/>
              <a:t>utilisées</a:t>
            </a:r>
            <a:r>
              <a:rPr lang="en-US" sz="1050"/>
              <a:t>)</a:t>
            </a:r>
          </a:p>
          <a:p>
            <a:pPr>
              <a:buClr>
                <a:schemeClr val="accent2"/>
              </a:buClr>
              <a:buFont typeface="Wingdings" panose="05000000000000000000" pitchFamily="2" charset="2"/>
              <a:buChar char="§"/>
            </a:pPr>
            <a:r>
              <a:rPr lang="en-US" sz="1050" err="1"/>
              <a:t>Précise</a:t>
            </a:r>
            <a:r>
              <a:rPr lang="en-US" sz="1050"/>
              <a:t> le </a:t>
            </a:r>
            <a:r>
              <a:rPr lang="en-US" sz="1050" err="1"/>
              <a:t>niveau</a:t>
            </a:r>
            <a:r>
              <a:rPr lang="en-US" sz="1050"/>
              <a:t> de </a:t>
            </a:r>
            <a:r>
              <a:rPr lang="en-US" sz="1050" err="1"/>
              <a:t>difficulté</a:t>
            </a:r>
            <a:r>
              <a:rPr lang="en-US" sz="1050"/>
              <a:t>, le temps total, et </a:t>
            </a:r>
            <a:r>
              <a:rPr lang="en-US" sz="1050" err="1"/>
              <a:t>une</a:t>
            </a:r>
            <a:r>
              <a:rPr lang="en-US" sz="1050"/>
              <a:t> suggestion </a:t>
            </a:r>
            <a:r>
              <a:rPr lang="en-US" sz="1050" err="1"/>
              <a:t>d’accord</a:t>
            </a:r>
            <a:r>
              <a:rPr lang="en-US" sz="1050"/>
              <a:t> </a:t>
            </a:r>
            <a:r>
              <a:rPr lang="en-US" sz="1050" err="1"/>
              <a:t>mets</a:t>
            </a:r>
            <a:r>
              <a:rPr lang="en-US" sz="1050"/>
              <a:t>-Boisson.</a:t>
            </a:r>
            <a:endParaRPr lang="en-US"/>
          </a:p>
          <a:p>
            <a:pPr marL="0" indent="0">
              <a:buClr>
                <a:schemeClr val="accent2"/>
              </a:buClr>
              <a:buNone/>
            </a:pPr>
            <a:endParaRPr lang="en-US"/>
          </a:p>
          <a:p>
            <a:pPr marL="0" indent="0">
              <a:buClr>
                <a:schemeClr val="accent2"/>
              </a:buClr>
              <a:buNone/>
            </a:pPr>
            <a:r>
              <a:rPr lang="en-US"/>
              <a:t>Et </a:t>
            </a:r>
            <a:r>
              <a:rPr lang="en-US" err="1"/>
              <a:t>si</a:t>
            </a:r>
            <a:r>
              <a:rPr lang="en-US"/>
              <a:t> on </a:t>
            </a:r>
            <a:r>
              <a:rPr lang="en-US" err="1"/>
              <a:t>rajoutait</a:t>
            </a:r>
            <a:r>
              <a:rPr lang="en-US"/>
              <a:t> de “façon chef </a:t>
            </a:r>
            <a:r>
              <a:rPr lang="en-US" err="1"/>
              <a:t>curieux</a:t>
            </a:r>
            <a:r>
              <a:rPr lang="en-US"/>
              <a:t> et </a:t>
            </a:r>
            <a:r>
              <a:rPr lang="en-US" err="1"/>
              <a:t>moderne</a:t>
            </a:r>
            <a:endParaRPr lang="en-US"/>
          </a:p>
        </p:txBody>
      </p:sp>
    </p:spTree>
    <p:extLst>
      <p:ext uri="{BB962C8B-B14F-4D97-AF65-F5344CB8AC3E}">
        <p14:creationId xmlns:p14="http://schemas.microsoft.com/office/powerpoint/2010/main" val="3264549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3E05D07-6F5C-B8C6-E69D-5BA0ADD53F87}"/>
              </a:ext>
            </a:extLst>
          </p:cNvPr>
          <p:cNvSpPr>
            <a:spLocks noGrp="1"/>
          </p:cNvSpPr>
          <p:nvPr>
            <p:ph type="title"/>
          </p:nvPr>
        </p:nvSpPr>
        <p:spPr>
          <a:xfrm>
            <a:off x="70999" y="1012275"/>
            <a:ext cx="2071688" cy="4833449"/>
          </a:xfrm>
        </p:spPr>
        <p:txBody>
          <a:bodyPr/>
          <a:lstStyle/>
          <a:p>
            <a:r>
              <a:rPr lang="en-US" dirty="0"/>
              <a:t>IA </a:t>
            </a:r>
            <a:r>
              <a:rPr lang="en-US" dirty="0" err="1"/>
              <a:t>c’est</a:t>
            </a:r>
            <a:r>
              <a:rPr lang="en-US" dirty="0"/>
              <a:t> quoi?</a:t>
            </a:r>
          </a:p>
        </p:txBody>
      </p:sp>
      <p:sp>
        <p:nvSpPr>
          <p:cNvPr id="13" name="Content Placeholder 2">
            <a:extLst>
              <a:ext uri="{FF2B5EF4-FFF2-40B4-BE49-F238E27FC236}">
                <a16:creationId xmlns:a16="http://schemas.microsoft.com/office/drawing/2014/main" id="{97641247-0BF2-09C5-8199-6CB53A1F8C05}"/>
              </a:ext>
            </a:extLst>
          </p:cNvPr>
          <p:cNvSpPr>
            <a:spLocks noGrp="1"/>
          </p:cNvSpPr>
          <p:nvPr>
            <p:ph idx="1"/>
          </p:nvPr>
        </p:nvSpPr>
        <p:spPr>
          <a:xfrm>
            <a:off x="2400298" y="1012275"/>
            <a:ext cx="6398759" cy="4504741"/>
          </a:xfrm>
        </p:spPr>
        <p:txBody>
          <a:bodyPr>
            <a:normAutofit fontScale="92500" lnSpcReduction="10000"/>
          </a:bodyPr>
          <a:lstStyle/>
          <a:p>
            <a:r>
              <a:rPr lang="en-US" sz="2000" dirty="0" err="1"/>
              <a:t>Explique</a:t>
            </a:r>
            <a:r>
              <a:rPr lang="en-US" sz="2000" dirty="0"/>
              <a:t> </a:t>
            </a:r>
            <a:r>
              <a:rPr lang="en-US" sz="2000" dirty="0" err="1"/>
              <a:t>l’intelligence</a:t>
            </a:r>
            <a:r>
              <a:rPr lang="en-US" sz="2000" dirty="0"/>
              <a:t> </a:t>
            </a:r>
            <a:r>
              <a:rPr lang="en-US" sz="2000" dirty="0" err="1"/>
              <a:t>artificielle</a:t>
            </a:r>
            <a:r>
              <a:rPr lang="en-US" sz="2000" dirty="0"/>
              <a:t> à un enfant de 8 </a:t>
            </a:r>
            <a:r>
              <a:rPr lang="en-US" sz="2000" dirty="0" err="1"/>
              <a:t>ans</a:t>
            </a:r>
            <a:endParaRPr lang="en-US" sz="2000" dirty="0"/>
          </a:p>
          <a:p>
            <a:pPr marL="0" indent="0">
              <a:buNone/>
            </a:pPr>
            <a:endParaRPr lang="en-US" sz="2000" dirty="0"/>
          </a:p>
          <a:p>
            <a:r>
              <a:rPr lang="en-US" sz="2000" dirty="0"/>
              <a:t>Le prompt </a:t>
            </a:r>
            <a:r>
              <a:rPr lang="en-US" sz="2000" dirty="0" err="1"/>
              <a:t>optimisé</a:t>
            </a:r>
            <a:r>
              <a:rPr lang="en-US" sz="2000" dirty="0"/>
              <a:t>:</a:t>
            </a:r>
          </a:p>
          <a:p>
            <a:pPr>
              <a:buClr>
                <a:schemeClr val="accent2"/>
              </a:buClr>
              <a:buFont typeface="Wingdings" panose="05000000000000000000" pitchFamily="2" charset="2"/>
              <a:buChar char="§"/>
            </a:pPr>
            <a:r>
              <a:rPr lang="fr-FR" sz="1600" dirty="0"/>
              <a:t>Explique ce qu’est </a:t>
            </a:r>
            <a:r>
              <a:rPr lang="fr-FR" sz="1600" b="1" dirty="0"/>
              <a:t>l’intelligence artificielle</a:t>
            </a:r>
            <a:r>
              <a:rPr lang="fr-FR" sz="1600" dirty="0"/>
              <a:t> à un </a:t>
            </a:r>
            <a:r>
              <a:rPr lang="fr-FR" sz="1600" b="1" dirty="0"/>
              <a:t>enfant de 8 ans</a:t>
            </a:r>
            <a:r>
              <a:rPr lang="fr-FR" sz="1600" dirty="0"/>
              <a:t>.</a:t>
            </a:r>
          </a:p>
          <a:p>
            <a:pPr>
              <a:buClr>
                <a:schemeClr val="accent2"/>
              </a:buClr>
              <a:buFont typeface="Wingdings" panose="05000000000000000000" pitchFamily="2" charset="2"/>
              <a:buChar char="§"/>
            </a:pPr>
            <a:r>
              <a:rPr lang="fr-FR" sz="1600" dirty="0"/>
              <a:t>⚙️ </a:t>
            </a:r>
            <a:r>
              <a:rPr lang="fr-FR" sz="1600" b="1" dirty="0"/>
              <a:t>Contraintes de ton et de style :</a:t>
            </a:r>
            <a:endParaRPr lang="fr-FR" sz="1600" dirty="0"/>
          </a:p>
          <a:p>
            <a:pPr>
              <a:buClr>
                <a:schemeClr val="accent2"/>
              </a:buClr>
              <a:buFont typeface="Wingdings" panose="05000000000000000000" pitchFamily="2" charset="2"/>
              <a:buChar char="§"/>
            </a:pPr>
            <a:r>
              <a:rPr lang="fr-FR" sz="1600" dirty="0"/>
              <a:t>Utilise </a:t>
            </a:r>
            <a:r>
              <a:rPr lang="fr-FR" sz="1600" b="1" dirty="0"/>
              <a:t>des mots simples</a:t>
            </a:r>
            <a:r>
              <a:rPr lang="fr-FR" sz="1600" dirty="0"/>
              <a:t>, sans jargon technique.</a:t>
            </a:r>
          </a:p>
          <a:p>
            <a:pPr>
              <a:buClr>
                <a:schemeClr val="accent2"/>
              </a:buClr>
              <a:buFont typeface="Wingdings" panose="05000000000000000000" pitchFamily="2" charset="2"/>
              <a:buChar char="§"/>
            </a:pPr>
            <a:r>
              <a:rPr lang="fr-FR" sz="1600" dirty="0"/>
              <a:t>Sois </a:t>
            </a:r>
            <a:r>
              <a:rPr lang="fr-FR" sz="1600" b="1" dirty="0"/>
              <a:t>pédagogique et bienveillant</a:t>
            </a:r>
            <a:r>
              <a:rPr lang="fr-FR" sz="1600" dirty="0"/>
              <a:t>, comme un </a:t>
            </a:r>
            <a:r>
              <a:rPr lang="fr-FR" sz="1600" b="1" dirty="0"/>
              <a:t>professeur qui raconte une histoire</a:t>
            </a:r>
            <a:r>
              <a:rPr lang="fr-FR" sz="1600" dirty="0"/>
              <a:t>.</a:t>
            </a:r>
          </a:p>
          <a:p>
            <a:pPr>
              <a:buClr>
                <a:schemeClr val="accent2"/>
              </a:buClr>
              <a:buFont typeface="Wingdings" panose="05000000000000000000" pitchFamily="2" charset="2"/>
              <a:buChar char="§"/>
            </a:pPr>
            <a:r>
              <a:rPr lang="fr-FR" sz="1600" dirty="0"/>
              <a:t>Intègre </a:t>
            </a:r>
            <a:r>
              <a:rPr lang="fr-FR" sz="1600" b="1" dirty="0"/>
              <a:t>des exemples du quotidien</a:t>
            </a:r>
            <a:r>
              <a:rPr lang="fr-FR" sz="1600" dirty="0"/>
              <a:t> (jeux, dessins animés, objets intelligents…).</a:t>
            </a:r>
          </a:p>
          <a:p>
            <a:pPr>
              <a:buClr>
                <a:schemeClr val="accent2"/>
              </a:buClr>
              <a:buFont typeface="Wingdings" panose="05000000000000000000" pitchFamily="2" charset="2"/>
              <a:buChar char="§"/>
            </a:pPr>
            <a:r>
              <a:rPr lang="fr-FR" sz="1600" dirty="0"/>
              <a:t>Utilise une </a:t>
            </a:r>
            <a:r>
              <a:rPr lang="fr-FR" sz="1600" b="1" dirty="0"/>
              <a:t>métaphore principale</a:t>
            </a:r>
            <a:r>
              <a:rPr lang="fr-FR" sz="1600" dirty="0"/>
              <a:t> (par exemple : un cerveau de robot, un élève qui apprend, un assistant magique…).</a:t>
            </a:r>
          </a:p>
          <a:p>
            <a:pPr>
              <a:buClr>
                <a:schemeClr val="accent2"/>
              </a:buClr>
              <a:buFont typeface="Wingdings" panose="05000000000000000000" pitchFamily="2" charset="2"/>
              <a:buChar char="§"/>
            </a:pPr>
            <a:r>
              <a:rPr lang="fr-FR" sz="1600" dirty="0"/>
              <a:t>Structure la réponse en </a:t>
            </a:r>
            <a:r>
              <a:rPr lang="fr-FR" sz="1600" b="1" dirty="0"/>
              <a:t>petites sections avec des emojis</a:t>
            </a:r>
            <a:r>
              <a:rPr lang="fr-FR" sz="1600" dirty="0"/>
              <a:t> pour rendre la lecture ludique.</a:t>
            </a:r>
          </a:p>
          <a:p>
            <a:pPr>
              <a:buClr>
                <a:schemeClr val="accent2"/>
              </a:buClr>
              <a:buFont typeface="Wingdings" panose="05000000000000000000" pitchFamily="2" charset="2"/>
              <a:buChar char="§"/>
            </a:pPr>
            <a:r>
              <a:rPr lang="fr-FR" sz="1600" dirty="0"/>
              <a:t>Termine par une </a:t>
            </a:r>
            <a:r>
              <a:rPr lang="fr-FR" sz="1600" b="1" dirty="0"/>
              <a:t>phrase de conclusion positive</a:t>
            </a:r>
            <a:r>
              <a:rPr lang="fr-FR" sz="1600" dirty="0"/>
              <a:t> qui donne envie d’en savoir plus.</a:t>
            </a:r>
          </a:p>
          <a:p>
            <a:pPr>
              <a:buClr>
                <a:schemeClr val="accent2"/>
              </a:buClr>
              <a:buFont typeface="Wingdings" panose="05000000000000000000" pitchFamily="2" charset="2"/>
              <a:buChar char="§"/>
            </a:pPr>
            <a:r>
              <a:rPr lang="fr-FR" sz="1600" dirty="0"/>
              <a:t>👶 </a:t>
            </a:r>
            <a:r>
              <a:rPr lang="fr-FR" sz="1600" b="1" dirty="0"/>
              <a:t>Objectif :</a:t>
            </a:r>
            <a:r>
              <a:rPr lang="fr-FR" sz="1600" dirty="0"/>
              <a:t> que l’enfant </a:t>
            </a:r>
            <a:r>
              <a:rPr lang="fr-FR" sz="1600" b="1" dirty="0"/>
              <a:t>comprenne ce qu’est l’IA</a:t>
            </a:r>
            <a:r>
              <a:rPr lang="fr-FR" sz="1600" dirty="0"/>
              <a:t>, </a:t>
            </a:r>
            <a:r>
              <a:rPr lang="fr-FR" sz="1600" b="1" dirty="0"/>
              <a:t>ce qu’elle sait faire</a:t>
            </a:r>
            <a:r>
              <a:rPr lang="fr-FR" sz="1600" dirty="0"/>
              <a:t> et </a:t>
            </a:r>
            <a:r>
              <a:rPr lang="fr-FR" sz="1600" b="1" dirty="0"/>
              <a:t>ce qu’elle ne sait pas faire</a:t>
            </a:r>
            <a:r>
              <a:rPr lang="fr-FR" sz="1600" dirty="0"/>
              <a:t>, tout en </a:t>
            </a:r>
            <a:r>
              <a:rPr lang="fr-FR" sz="1600" b="1" dirty="0"/>
              <a:t>s’amusant à lire</a:t>
            </a:r>
            <a:r>
              <a:rPr lang="fr-FR" sz="1600" dirty="0"/>
              <a:t>.</a:t>
            </a:r>
          </a:p>
          <a:p>
            <a:endParaRPr lang="en-US" sz="4400" dirty="0"/>
          </a:p>
        </p:txBody>
      </p:sp>
    </p:spTree>
    <p:extLst>
      <p:ext uri="{BB962C8B-B14F-4D97-AF65-F5344CB8AC3E}">
        <p14:creationId xmlns:p14="http://schemas.microsoft.com/office/powerpoint/2010/main" val="2921549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CCC01-B096-1993-B987-57E326428561}"/>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906BF41E-BD7D-6DE2-0BE5-84A531030062}"/>
              </a:ext>
            </a:extLst>
          </p:cNvPr>
          <p:cNvSpPr>
            <a:spLocks noGrp="1"/>
          </p:cNvSpPr>
          <p:nvPr>
            <p:ph type="title"/>
          </p:nvPr>
        </p:nvSpPr>
        <p:spPr>
          <a:xfrm>
            <a:off x="102055" y="1012276"/>
            <a:ext cx="2071688" cy="4833449"/>
          </a:xfrm>
        </p:spPr>
        <p:txBody>
          <a:bodyPr/>
          <a:lstStyle/>
          <a:p>
            <a:pPr algn="ctr"/>
            <a:r>
              <a:rPr lang="en-US"/>
              <a:t>Le résumé</a:t>
            </a:r>
          </a:p>
        </p:txBody>
      </p:sp>
      <p:sp>
        <p:nvSpPr>
          <p:cNvPr id="11" name="Content Placeholder 2">
            <a:extLst>
              <a:ext uri="{FF2B5EF4-FFF2-40B4-BE49-F238E27FC236}">
                <a16:creationId xmlns:a16="http://schemas.microsoft.com/office/drawing/2014/main" id="{2FCBB3E9-E675-B955-2079-9DDBD8CF40D4}"/>
              </a:ext>
            </a:extLst>
          </p:cNvPr>
          <p:cNvSpPr>
            <a:spLocks noGrp="1"/>
          </p:cNvSpPr>
          <p:nvPr>
            <p:ph idx="1"/>
          </p:nvPr>
        </p:nvSpPr>
        <p:spPr>
          <a:xfrm>
            <a:off x="2390505" y="1012275"/>
            <a:ext cx="6398759" cy="4504741"/>
          </a:xfrm>
        </p:spPr>
        <p:txBody>
          <a:bodyPr>
            <a:normAutofit lnSpcReduction="10000"/>
          </a:bodyPr>
          <a:lstStyle/>
          <a:p>
            <a:r>
              <a:rPr lang="en-US" dirty="0" err="1"/>
              <a:t>Trouvons</a:t>
            </a:r>
            <a:r>
              <a:rPr lang="en-US" dirty="0"/>
              <a:t> un article et </a:t>
            </a:r>
            <a:r>
              <a:rPr lang="en-US" dirty="0" err="1"/>
              <a:t>résumons</a:t>
            </a:r>
            <a:r>
              <a:rPr lang="en-US" dirty="0"/>
              <a:t>-le.</a:t>
            </a:r>
          </a:p>
          <a:p>
            <a:endParaRPr lang="en-US" dirty="0"/>
          </a:p>
          <a:p>
            <a:r>
              <a:rPr lang="en-US" dirty="0"/>
              <a:t>Le prompt </a:t>
            </a:r>
            <a:r>
              <a:rPr lang="en-US" dirty="0" err="1"/>
              <a:t>optimisé</a:t>
            </a:r>
            <a:r>
              <a:rPr lang="en-US" dirty="0"/>
              <a:t>:</a:t>
            </a:r>
          </a:p>
          <a:p>
            <a:pPr>
              <a:buClr>
                <a:schemeClr val="accent2"/>
              </a:buClr>
              <a:buFont typeface="Wingdings" panose="05000000000000000000" pitchFamily="2" charset="2"/>
              <a:buChar char="§"/>
            </a:pPr>
            <a:r>
              <a:rPr lang="fr-FR" sz="1125" dirty="0"/>
              <a:t>Résume cet article de manière claire et structurée.</a:t>
            </a:r>
          </a:p>
          <a:p>
            <a:pPr>
              <a:buClr>
                <a:schemeClr val="accent2"/>
              </a:buClr>
              <a:buFont typeface="Wingdings" panose="05000000000000000000" pitchFamily="2" charset="2"/>
              <a:buChar char="§"/>
            </a:pPr>
            <a:r>
              <a:rPr lang="fr-FR" sz="1125" dirty="0"/>
              <a:t>🎯 </a:t>
            </a:r>
            <a:r>
              <a:rPr lang="fr-FR" sz="1125" b="1" dirty="0"/>
              <a:t>Objectif :</a:t>
            </a:r>
            <a:r>
              <a:rPr lang="fr-FR" sz="1125" dirty="0"/>
              <a:t> comprendre les </a:t>
            </a:r>
            <a:r>
              <a:rPr lang="fr-FR" sz="1125" b="1" dirty="0"/>
              <a:t>idées essentielles</a:t>
            </a:r>
            <a:r>
              <a:rPr lang="fr-FR" sz="1125" dirty="0"/>
              <a:t>, les </a:t>
            </a:r>
            <a:r>
              <a:rPr lang="fr-FR" sz="1125" b="1" dirty="0"/>
              <a:t>arguments principaux</a:t>
            </a:r>
            <a:r>
              <a:rPr lang="fr-FR" sz="1125" dirty="0"/>
              <a:t> et la </a:t>
            </a:r>
            <a:r>
              <a:rPr lang="fr-FR" sz="1125" b="1" dirty="0"/>
              <a:t>conclusion</a:t>
            </a:r>
            <a:r>
              <a:rPr lang="fr-FR" sz="1125" dirty="0"/>
              <a:t>.</a:t>
            </a:r>
          </a:p>
          <a:p>
            <a:pPr>
              <a:buClr>
                <a:schemeClr val="accent2"/>
              </a:buClr>
              <a:buFont typeface="Wingdings" panose="05000000000000000000" pitchFamily="2" charset="2"/>
              <a:buChar char="§"/>
            </a:pPr>
            <a:r>
              <a:rPr lang="fr-FR" sz="1125" dirty="0"/>
              <a:t>⚙️ </a:t>
            </a:r>
            <a:r>
              <a:rPr lang="fr-FR" sz="1125" b="1" dirty="0"/>
              <a:t>Contraintes :</a:t>
            </a:r>
            <a:endParaRPr lang="fr-FR" sz="1125" dirty="0"/>
          </a:p>
          <a:p>
            <a:pPr>
              <a:buClr>
                <a:schemeClr val="accent2"/>
              </a:buClr>
              <a:buFont typeface="Wingdings" panose="05000000000000000000" pitchFamily="2" charset="2"/>
              <a:buChar char="§"/>
            </a:pPr>
            <a:r>
              <a:rPr lang="fr-FR" sz="1125" dirty="0"/>
              <a:t>Donne un </a:t>
            </a:r>
            <a:r>
              <a:rPr lang="fr-FR" sz="1125" b="1" dirty="0"/>
              <a:t>résumé synthétique</a:t>
            </a:r>
            <a:r>
              <a:rPr lang="fr-FR" sz="1125" dirty="0"/>
              <a:t> (environ X mots / X paragraphes selon la longueur).</a:t>
            </a:r>
          </a:p>
          <a:p>
            <a:pPr>
              <a:buClr>
                <a:schemeClr val="accent2"/>
              </a:buClr>
              <a:buFont typeface="Wingdings" panose="05000000000000000000" pitchFamily="2" charset="2"/>
              <a:buChar char="§"/>
            </a:pPr>
            <a:r>
              <a:rPr lang="fr-FR" sz="1125" dirty="0"/>
              <a:t>Distingue clairement les </a:t>
            </a:r>
            <a:r>
              <a:rPr lang="fr-FR" sz="1125" b="1" dirty="0"/>
              <a:t>faits</a:t>
            </a:r>
            <a:r>
              <a:rPr lang="fr-FR" sz="1125" dirty="0"/>
              <a:t>, les </a:t>
            </a:r>
            <a:r>
              <a:rPr lang="fr-FR" sz="1125" b="1" dirty="0"/>
              <a:t>idées clés</a:t>
            </a:r>
            <a:r>
              <a:rPr lang="fr-FR" sz="1125" dirty="0"/>
              <a:t> et les </a:t>
            </a:r>
            <a:r>
              <a:rPr lang="fr-FR" sz="1125" b="1" dirty="0"/>
              <a:t>opinions de l’auteur</a:t>
            </a:r>
            <a:r>
              <a:rPr lang="fr-FR" sz="1125" dirty="0"/>
              <a:t>.</a:t>
            </a:r>
          </a:p>
          <a:p>
            <a:pPr>
              <a:buClr>
                <a:schemeClr val="accent2"/>
              </a:buClr>
              <a:buFont typeface="Wingdings" panose="05000000000000000000" pitchFamily="2" charset="2"/>
              <a:buChar char="§"/>
            </a:pPr>
            <a:r>
              <a:rPr lang="fr-FR" sz="1125" dirty="0"/>
              <a:t>Utilise un </a:t>
            </a:r>
            <a:r>
              <a:rPr lang="fr-FR" sz="1125" b="1" dirty="0"/>
              <a:t>ton neutre et clair</a:t>
            </a:r>
            <a:r>
              <a:rPr lang="fr-FR" sz="1125" dirty="0"/>
              <a:t> (pas d’interprétation).</a:t>
            </a:r>
          </a:p>
          <a:p>
            <a:pPr>
              <a:buClr>
                <a:schemeClr val="accent2"/>
              </a:buClr>
              <a:buFont typeface="Wingdings" panose="05000000000000000000" pitchFamily="2" charset="2"/>
              <a:buChar char="§"/>
            </a:pPr>
            <a:r>
              <a:rPr lang="fr-FR" sz="1125" dirty="0"/>
              <a:t>Si possible, ajoute une </a:t>
            </a:r>
            <a:r>
              <a:rPr lang="fr-FR" sz="1125" b="1" dirty="0"/>
              <a:t>phrase de mise en perspective</a:t>
            </a:r>
            <a:r>
              <a:rPr lang="fr-FR" sz="1125" dirty="0"/>
              <a:t> (“ce que cela signifie / pourquoi c’est important”).</a:t>
            </a:r>
          </a:p>
          <a:p>
            <a:pPr>
              <a:buClr>
                <a:schemeClr val="accent2"/>
              </a:buClr>
              <a:buFont typeface="Wingdings" panose="05000000000000000000" pitchFamily="2" charset="2"/>
              <a:buChar char="§"/>
            </a:pPr>
            <a:r>
              <a:rPr lang="fr-FR" sz="1125" dirty="0"/>
              <a:t>[Optionnel] Propose aussi un </a:t>
            </a:r>
            <a:r>
              <a:rPr lang="fr-FR" sz="1125" b="1" dirty="0"/>
              <a:t>résumé ultra-court en 3 </a:t>
            </a:r>
            <a:r>
              <a:rPr lang="fr-FR" sz="1125" b="1" dirty="0" err="1"/>
              <a:t>bullet</a:t>
            </a:r>
            <a:r>
              <a:rPr lang="fr-FR" sz="1125" b="1" dirty="0"/>
              <a:t> points</a:t>
            </a:r>
            <a:r>
              <a:rPr lang="fr-FR" sz="1125" dirty="0"/>
              <a:t> à la fin.</a:t>
            </a:r>
          </a:p>
          <a:p>
            <a:pPr>
              <a:buClr>
                <a:schemeClr val="accent2"/>
              </a:buClr>
              <a:buFont typeface="Wingdings" panose="05000000000000000000" pitchFamily="2" charset="2"/>
              <a:buChar char="§"/>
            </a:pPr>
            <a:r>
              <a:rPr lang="fr-FR" sz="1125" dirty="0"/>
              <a:t>📄 </a:t>
            </a:r>
            <a:r>
              <a:rPr lang="fr-FR" sz="1125" b="1" dirty="0"/>
              <a:t>Texte / lien à résumer :</a:t>
            </a:r>
            <a:br>
              <a:rPr lang="fr-FR" sz="1125" dirty="0"/>
            </a:br>
            <a:r>
              <a:rPr lang="fr-FR" sz="1125" i="1" dirty="0"/>
              <a:t>(colle ici ton texte ou ton lien)</a:t>
            </a:r>
            <a:endParaRPr lang="en-US" dirty="0"/>
          </a:p>
          <a:p>
            <a:pPr marL="0" indent="0">
              <a:buClr>
                <a:schemeClr val="accent2"/>
              </a:buClr>
              <a:buNone/>
            </a:pPr>
            <a:r>
              <a:rPr lang="en-US" dirty="0"/>
              <a:t>Et </a:t>
            </a:r>
            <a:r>
              <a:rPr lang="en-US" dirty="0" err="1"/>
              <a:t>si</a:t>
            </a:r>
            <a:r>
              <a:rPr lang="en-US" dirty="0"/>
              <a:t> on </a:t>
            </a:r>
            <a:r>
              <a:rPr lang="en-US" dirty="0" err="1"/>
              <a:t>rajoutait</a:t>
            </a:r>
            <a:r>
              <a:rPr lang="en-US" dirty="0"/>
              <a:t>:</a:t>
            </a:r>
            <a:r>
              <a:rPr lang="fr-FR" sz="1350" dirty="0"/>
              <a:t>pour un public professionnel. Mets en avant les </a:t>
            </a:r>
            <a:r>
              <a:rPr lang="fr-FR" sz="1350" b="1" dirty="0"/>
              <a:t>enseignements concrets</a:t>
            </a:r>
            <a:r>
              <a:rPr lang="fr-FR" sz="1350" dirty="0"/>
              <a:t>, </a:t>
            </a:r>
            <a:r>
              <a:rPr lang="fr-FR" sz="1350" b="1" dirty="0"/>
              <a:t>exemples marquants</a:t>
            </a:r>
            <a:r>
              <a:rPr lang="fr-FR" sz="1350" dirty="0"/>
              <a:t>, et </a:t>
            </a:r>
            <a:r>
              <a:rPr lang="fr-FR" sz="1350" b="1" dirty="0"/>
              <a:t>implications pratiques</a:t>
            </a:r>
            <a:endParaRPr lang="en-US" sz="1350" dirty="0"/>
          </a:p>
        </p:txBody>
      </p:sp>
    </p:spTree>
    <p:extLst>
      <p:ext uri="{BB962C8B-B14F-4D97-AF65-F5344CB8AC3E}">
        <p14:creationId xmlns:p14="http://schemas.microsoft.com/office/powerpoint/2010/main" val="3968475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53662F-ECBE-A734-80D4-31E51E4A2E01}"/>
              </a:ext>
            </a:extLst>
          </p:cNvPr>
          <p:cNvSpPr>
            <a:spLocks noGrp="1"/>
          </p:cNvSpPr>
          <p:nvPr>
            <p:ph type="title"/>
          </p:nvPr>
        </p:nvSpPr>
        <p:spPr>
          <a:xfrm>
            <a:off x="628650" y="922375"/>
            <a:ext cx="7886700" cy="994172"/>
          </a:xfrm>
        </p:spPr>
        <p:txBody>
          <a:bodyPr anchor="ctr">
            <a:normAutofit/>
          </a:bodyPr>
          <a:lstStyle/>
          <a:p>
            <a:r>
              <a:rPr lang="fr-FR"/>
              <a:t>Testez chez vous</a:t>
            </a:r>
          </a:p>
        </p:txBody>
      </p:sp>
      <p:graphicFrame>
        <p:nvGraphicFramePr>
          <p:cNvPr id="5" name="Espace réservé du contenu 2">
            <a:extLst>
              <a:ext uri="{FF2B5EF4-FFF2-40B4-BE49-F238E27FC236}">
                <a16:creationId xmlns:a16="http://schemas.microsoft.com/office/drawing/2014/main" id="{D440EDC3-CC2A-4023-284B-FD1BB25B48E2}"/>
              </a:ext>
            </a:extLst>
          </p:cNvPr>
          <p:cNvGraphicFramePr>
            <a:graphicFrameLocks noGrp="1"/>
          </p:cNvGraphicFramePr>
          <p:nvPr>
            <p:ph idx="1"/>
          </p:nvPr>
        </p:nvGraphicFramePr>
        <p:xfrm>
          <a:off x="628650" y="1978384"/>
          <a:ext cx="7886700" cy="35115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4192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D4B878-60E6-791D-8B70-B18B3CF04C7D}"/>
              </a:ext>
            </a:extLst>
          </p:cNvPr>
          <p:cNvSpPr>
            <a:spLocks noGrp="1"/>
          </p:cNvSpPr>
          <p:nvPr>
            <p:ph type="title"/>
          </p:nvPr>
        </p:nvSpPr>
        <p:spPr>
          <a:xfrm>
            <a:off x="623888" y="2139554"/>
            <a:ext cx="7886700" cy="2139553"/>
          </a:xfrm>
        </p:spPr>
        <p:txBody>
          <a:bodyPr anchor="ctr">
            <a:normAutofit/>
          </a:bodyPr>
          <a:lstStyle/>
          <a:p>
            <a:r>
              <a:rPr lang="fr-FR"/>
              <a:t>Avez-vous </a:t>
            </a:r>
            <a:r>
              <a:rPr lang="fr-FR" dirty="0"/>
              <a:t>trouvé des différences?</a:t>
            </a:r>
          </a:p>
        </p:txBody>
      </p:sp>
      <p:sp>
        <p:nvSpPr>
          <p:cNvPr id="7" name="Text Placeholder 2">
            <a:extLst>
              <a:ext uri="{FF2B5EF4-FFF2-40B4-BE49-F238E27FC236}">
                <a16:creationId xmlns:a16="http://schemas.microsoft.com/office/drawing/2014/main" id="{EF9903A6-C81B-E8FF-830F-531173100BDF}"/>
              </a:ext>
            </a:extLst>
          </p:cNvPr>
          <p:cNvSpPr>
            <a:spLocks noGrp="1"/>
          </p:cNvSpPr>
          <p:nvPr>
            <p:ph type="body" idx="1"/>
          </p:nvPr>
        </p:nvSpPr>
        <p:spPr>
          <a:xfrm>
            <a:off x="623888" y="4299348"/>
            <a:ext cx="7886700" cy="1125140"/>
          </a:xfrm>
        </p:spPr>
        <p:txBody>
          <a:bodyPr/>
          <a:lstStyle/>
          <a:p>
            <a:r>
              <a:rPr lang="en-US" dirty="0"/>
              <a:t>Ton, </a:t>
            </a:r>
            <a:r>
              <a:rPr lang="en-US" dirty="0" err="1"/>
              <a:t>détails</a:t>
            </a:r>
            <a:r>
              <a:rPr lang="en-US"/>
              <a:t>, citation de source, </a:t>
            </a:r>
            <a:r>
              <a:rPr lang="en-US" err="1"/>
              <a:t>moralisant</a:t>
            </a:r>
            <a:r>
              <a:rPr lang="en-US"/>
              <a:t>, prudent…..</a:t>
            </a:r>
          </a:p>
        </p:txBody>
      </p:sp>
      <p:sp>
        <p:nvSpPr>
          <p:cNvPr id="9" name="Text Placeholder 3">
            <a:extLst>
              <a:ext uri="{FF2B5EF4-FFF2-40B4-BE49-F238E27FC236}">
                <a16:creationId xmlns:a16="http://schemas.microsoft.com/office/drawing/2014/main" id="{AE535914-62BD-2960-C7A6-2A2487B08EA7}"/>
              </a:ext>
            </a:extLst>
          </p:cNvPr>
          <p:cNvSpPr>
            <a:spLocks noGrp="1"/>
          </p:cNvSpPr>
          <p:nvPr>
            <p:ph type="body" sz="quarter" idx="13"/>
          </p:nvPr>
        </p:nvSpPr>
        <p:spPr>
          <a:xfrm>
            <a:off x="623888" y="1814513"/>
            <a:ext cx="1970485" cy="325041"/>
          </a:xfrm>
        </p:spPr>
        <p:txBody>
          <a:bodyPr>
            <a:normAutofit fontScale="62500" lnSpcReduction="20000"/>
          </a:bodyPr>
          <a:lstStyle/>
          <a:p>
            <a:r>
              <a:rPr lang="en-US" dirty="0"/>
              <a:t>DEBAT</a:t>
            </a:r>
          </a:p>
        </p:txBody>
      </p:sp>
    </p:spTree>
    <p:extLst>
      <p:ext uri="{BB962C8B-B14F-4D97-AF65-F5344CB8AC3E}">
        <p14:creationId xmlns:p14="http://schemas.microsoft.com/office/powerpoint/2010/main" val="24843633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5C99DD-EF6F-C02B-C5BA-43DBBCA4E726}"/>
              </a:ext>
            </a:extLst>
          </p:cNvPr>
          <p:cNvSpPr>
            <a:spLocks noGrp="1"/>
          </p:cNvSpPr>
          <p:nvPr>
            <p:ph type="title"/>
          </p:nvPr>
        </p:nvSpPr>
        <p:spPr>
          <a:xfrm>
            <a:off x="628650" y="922375"/>
            <a:ext cx="7886700" cy="994172"/>
          </a:xfrm>
        </p:spPr>
        <p:txBody>
          <a:bodyPr anchor="ctr">
            <a:normAutofit/>
          </a:bodyPr>
          <a:lstStyle/>
          <a:p>
            <a:r>
              <a:rPr lang="fr-FR" dirty="0"/>
              <a:t>En 2026, où ils en sont ?</a:t>
            </a:r>
          </a:p>
        </p:txBody>
      </p:sp>
      <p:graphicFrame>
        <p:nvGraphicFramePr>
          <p:cNvPr id="5" name="Espace réservé du contenu 4">
            <a:extLst>
              <a:ext uri="{FF2B5EF4-FFF2-40B4-BE49-F238E27FC236}">
                <a16:creationId xmlns:a16="http://schemas.microsoft.com/office/drawing/2014/main" id="{218B9CF2-CC4F-4D1E-96AB-956802F4D3FB}"/>
              </a:ext>
            </a:extLst>
          </p:cNvPr>
          <p:cNvGraphicFramePr>
            <a:graphicFrameLocks noGrp="1"/>
          </p:cNvGraphicFramePr>
          <p:nvPr>
            <p:ph idx="1"/>
          </p:nvPr>
        </p:nvGraphicFramePr>
        <p:xfrm>
          <a:off x="806970" y="1978384"/>
          <a:ext cx="7530062" cy="3871863"/>
        </p:xfrm>
        <a:graphic>
          <a:graphicData uri="http://schemas.openxmlformats.org/drawingml/2006/table">
            <a:tbl>
              <a:tblPr firstRow="1" firstCol="1" bandRow="1">
                <a:noFill/>
                <a:tableStyleId>{5C22544A-7EE6-4342-B048-85BDC9FD1C3A}</a:tableStyleId>
              </a:tblPr>
              <a:tblGrid>
                <a:gridCol w="2463897">
                  <a:extLst>
                    <a:ext uri="{9D8B030D-6E8A-4147-A177-3AD203B41FA5}">
                      <a16:colId xmlns:a16="http://schemas.microsoft.com/office/drawing/2014/main" val="3023980057"/>
                    </a:ext>
                  </a:extLst>
                </a:gridCol>
                <a:gridCol w="2537546">
                  <a:extLst>
                    <a:ext uri="{9D8B030D-6E8A-4147-A177-3AD203B41FA5}">
                      <a16:colId xmlns:a16="http://schemas.microsoft.com/office/drawing/2014/main" val="2383847189"/>
                    </a:ext>
                  </a:extLst>
                </a:gridCol>
                <a:gridCol w="2528619">
                  <a:extLst>
                    <a:ext uri="{9D8B030D-6E8A-4147-A177-3AD203B41FA5}">
                      <a16:colId xmlns:a16="http://schemas.microsoft.com/office/drawing/2014/main" val="2596016097"/>
                    </a:ext>
                  </a:extLst>
                </a:gridCol>
              </a:tblGrid>
              <a:tr h="535727">
                <a:tc>
                  <a:txBody>
                    <a:bodyPr/>
                    <a:lstStyle/>
                    <a:p>
                      <a:pPr marL="457200">
                        <a:buNone/>
                      </a:pPr>
                      <a:r>
                        <a:rPr lang="fr-FR" sz="1100" b="1" cap="all" spc="150">
                          <a:solidFill>
                            <a:srgbClr val="A7A7A7"/>
                          </a:solidFill>
                          <a:effectLst/>
                        </a:rPr>
                        <a:t>Chatbot</a:t>
                      </a:r>
                    </a:p>
                  </a:txBody>
                  <a:tcPr marL="96413" marR="96413" marT="96413" marB="9641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marL="457200">
                        <a:buNone/>
                      </a:pPr>
                      <a:r>
                        <a:rPr lang="fr-FR" sz="1100" b="1" cap="all" spc="150">
                          <a:solidFill>
                            <a:srgbClr val="A7A7A7"/>
                          </a:solidFill>
                          <a:effectLst/>
                        </a:rPr>
                        <a:t>Points forts ✅</a:t>
                      </a:r>
                    </a:p>
                  </a:txBody>
                  <a:tcPr marL="96413" marR="96413" marT="96413" marB="9641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marL="457200">
                        <a:buNone/>
                      </a:pPr>
                      <a:r>
                        <a:rPr lang="fr-FR" sz="1100" b="1" cap="all" spc="150">
                          <a:solidFill>
                            <a:srgbClr val="A7A7A7"/>
                          </a:solidFill>
                          <a:effectLst/>
                        </a:rPr>
                        <a:t>Limites courantes ⚠️</a:t>
                      </a:r>
                    </a:p>
                  </a:txBody>
                  <a:tcPr marL="96413" marR="96413" marT="96413" marB="96413"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1775541035"/>
                  </a:ext>
                </a:extLst>
              </a:tr>
              <a:tr h="497065">
                <a:tc>
                  <a:txBody>
                    <a:bodyPr/>
                    <a:lstStyle/>
                    <a:p>
                      <a:pPr marL="457200">
                        <a:buNone/>
                      </a:pPr>
                      <a:r>
                        <a:rPr lang="fr-FR" sz="900" b="1" cap="none" spc="0">
                          <a:solidFill>
                            <a:schemeClr val="tx1"/>
                          </a:solidFill>
                          <a:effectLst/>
                        </a:rPr>
                        <a:t>ChatGPT (OpenAI)</a:t>
                      </a:r>
                    </a:p>
                  </a:txBody>
                  <a:tcPr marL="96413" marR="96413" marT="96413" marB="964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Réponses bien rédigées, nuancées, bon équilibre fond/forme</a:t>
                      </a:r>
                    </a:p>
                  </a:txBody>
                  <a:tcPr marL="96413" marR="96413" marT="96413" marB="964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Peut halluciner, tendance à généraliser, pas toujours à jour</a:t>
                      </a:r>
                    </a:p>
                  </a:txBody>
                  <a:tcPr marL="96413" marR="96413" marT="96413" marB="964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499634908"/>
                  </a:ext>
                </a:extLst>
              </a:tr>
              <a:tr h="497065">
                <a:tc>
                  <a:txBody>
                    <a:bodyPr/>
                    <a:lstStyle/>
                    <a:p>
                      <a:pPr marL="457200">
                        <a:buNone/>
                      </a:pPr>
                      <a:r>
                        <a:rPr lang="fr-FR" sz="900" b="1" cap="none" spc="0">
                          <a:solidFill>
                            <a:schemeClr val="tx1"/>
                          </a:solidFill>
                          <a:effectLst/>
                        </a:rPr>
                        <a:t>Copilot (Microsoft)</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Très structuré, utile pour les usages pro (résumés, tableaux, code)</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Ton froid, moins adapté aux demandes créatives ou humoristiques</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98330112"/>
                  </a:ext>
                </a:extLst>
              </a:tr>
              <a:tr h="497065">
                <a:tc>
                  <a:txBody>
                    <a:bodyPr/>
                    <a:lstStyle/>
                    <a:p>
                      <a:pPr marL="457200">
                        <a:buNone/>
                      </a:pPr>
                      <a:r>
                        <a:rPr lang="fr-FR" sz="900" b="1" cap="none" spc="0">
                          <a:solidFill>
                            <a:schemeClr val="tx1"/>
                          </a:solidFill>
                          <a:effectLst/>
                        </a:rPr>
                        <a:t>Gemini (Google)</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Réactif, ton plus conversationnel, bonne créativité</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Tendance à simplifier à l’extrême, parfois imprécis</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547176028"/>
                  </a:ext>
                </a:extLst>
              </a:tr>
              <a:tr h="497065">
                <a:tc>
                  <a:txBody>
                    <a:bodyPr/>
                    <a:lstStyle/>
                    <a:p>
                      <a:pPr marL="457200">
                        <a:buNone/>
                      </a:pPr>
                      <a:r>
                        <a:rPr lang="fr-FR" sz="900" b="1" cap="none" spc="0">
                          <a:solidFill>
                            <a:schemeClr val="tx1"/>
                          </a:solidFill>
                          <a:effectLst/>
                        </a:rPr>
                        <a:t>Perplexity</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Ultra factuel, cite ses sources, bon en recherche web</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Moins fluide, style robotique, pas fait pour la créativité</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535271324"/>
                  </a:ext>
                </a:extLst>
              </a:tr>
              <a:tr h="636329">
                <a:tc>
                  <a:txBody>
                    <a:bodyPr/>
                    <a:lstStyle/>
                    <a:p>
                      <a:pPr marL="457200">
                        <a:buNone/>
                      </a:pPr>
                      <a:r>
                        <a:rPr lang="fr-FR" sz="900" b="1" cap="none" spc="0">
                          <a:solidFill>
                            <a:schemeClr val="tx1"/>
                          </a:solidFill>
                          <a:effectLst/>
                        </a:rPr>
                        <a:t>Claude (Anthropic)</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Très clair, bienveillant, excellent sur de longues consignes complexes</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457200">
                        <a:buNone/>
                      </a:pPr>
                      <a:r>
                        <a:rPr lang="fr-FR" sz="900" cap="none" spc="0">
                          <a:solidFill>
                            <a:schemeClr val="tx1"/>
                          </a:solidFill>
                          <a:effectLst/>
                        </a:rPr>
                        <a:t>Trop prudent, parfois flou ou moraliste, ne donne pas toujours de réponse directe</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236433105"/>
                  </a:ext>
                </a:extLst>
              </a:tr>
              <a:tr h="497065">
                <a:tc>
                  <a:txBody>
                    <a:bodyPr/>
                    <a:lstStyle/>
                    <a:p>
                      <a:pPr marL="457200">
                        <a:buNone/>
                      </a:pPr>
                      <a:r>
                        <a:rPr lang="fr-FR" sz="900" b="1" cap="none" spc="0">
                          <a:solidFill>
                            <a:schemeClr val="tx1"/>
                          </a:solidFill>
                          <a:effectLst/>
                        </a:rPr>
                        <a:t>Le Chat (Mistral AI)</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marL="457200">
                        <a:buNone/>
                      </a:pPr>
                      <a:r>
                        <a:rPr lang="fr-FR" sz="900" cap="none" spc="0">
                          <a:solidFill>
                            <a:schemeClr val="tx1"/>
                          </a:solidFill>
                          <a:effectLst/>
                        </a:rPr>
                        <a:t>Réactif, français natif (bon ton local), rapide</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marL="457200">
                        <a:buNone/>
                      </a:pPr>
                      <a:r>
                        <a:rPr lang="fr-FR" sz="900" cap="none" spc="0">
                          <a:solidFill>
                            <a:schemeClr val="tx1"/>
                          </a:solidFill>
                          <a:effectLst/>
                        </a:rPr>
                        <a:t>Style sec, pas encore très contextuel, hallucine parfois beaucoup</a:t>
                      </a:r>
                    </a:p>
                  </a:txBody>
                  <a:tcPr marL="96413" marR="96413" marT="96413" marB="964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3726857050"/>
                  </a:ext>
                </a:extLst>
              </a:tr>
            </a:tbl>
          </a:graphicData>
        </a:graphic>
      </p:graphicFrame>
    </p:spTree>
    <p:extLst>
      <p:ext uri="{BB962C8B-B14F-4D97-AF65-F5344CB8AC3E}">
        <p14:creationId xmlns:p14="http://schemas.microsoft.com/office/powerpoint/2010/main" val="319608780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946EA1-DB22-AE31-8EC3-52B5ECBA769B}"/>
              </a:ext>
            </a:extLst>
          </p:cNvPr>
          <p:cNvSpPr>
            <a:spLocks noGrp="1"/>
          </p:cNvSpPr>
          <p:nvPr>
            <p:ph type="title"/>
          </p:nvPr>
        </p:nvSpPr>
        <p:spPr>
          <a:xfrm>
            <a:off x="628650" y="922375"/>
            <a:ext cx="7886700" cy="994172"/>
          </a:xfrm>
        </p:spPr>
        <p:txBody>
          <a:bodyPr anchor="ctr">
            <a:normAutofit/>
          </a:bodyPr>
          <a:lstStyle/>
          <a:p>
            <a:r>
              <a:rPr lang="fr-FR"/>
              <a:t>Synthèse des apprentissages</a:t>
            </a:r>
          </a:p>
        </p:txBody>
      </p:sp>
      <p:pic>
        <p:nvPicPr>
          <p:cNvPr id="5" name="Espace réservé du contenu 4" descr="Résolution 4K">
            <a:extLst>
              <a:ext uri="{FF2B5EF4-FFF2-40B4-BE49-F238E27FC236}">
                <a16:creationId xmlns:a16="http://schemas.microsoft.com/office/drawing/2014/main" id="{F60253EE-258A-4ECE-A191-AB76632D3D1B}"/>
              </a:ext>
            </a:extLst>
          </p:cNvPr>
          <p:cNvPicPr>
            <a:picLocks noGrp="1" noChangeAspect="1"/>
          </p:cNvPicPr>
          <p:nvPr>
            <p:ph sz="half" idx="1"/>
          </p:nvPr>
        </p:nvPicPr>
        <p:blipFill>
          <a:blip r:embed="rId3"/>
          <a:srcRect l="17078" r="15939" b="-1"/>
          <a:stretch>
            <a:fillRect/>
          </a:stretch>
        </p:blipFill>
        <p:spPr>
          <a:xfrm>
            <a:off x="628650" y="2226469"/>
            <a:ext cx="3886200" cy="3263504"/>
          </a:xfrm>
          <a:prstGeom prst="rect">
            <a:avLst/>
          </a:prstGeom>
          <a:noFill/>
        </p:spPr>
      </p:pic>
      <p:sp>
        <p:nvSpPr>
          <p:cNvPr id="4" name="Espace réservé du contenu 3">
            <a:extLst>
              <a:ext uri="{FF2B5EF4-FFF2-40B4-BE49-F238E27FC236}">
                <a16:creationId xmlns:a16="http://schemas.microsoft.com/office/drawing/2014/main" id="{FDEB2B43-7A3F-42B1-EFFC-B3DFD9AF252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29150" y="2226469"/>
            <a:ext cx="3886200" cy="3263504"/>
          </a:xfrm>
        </p:spPr>
        <p:txBody>
          <a:bodyPr>
            <a:normAutofit/>
          </a:bodyPr>
          <a:lstStyle/>
          <a:p>
            <a:pPr marL="0" indent="0">
              <a:spcBef>
                <a:spcPts val="1875"/>
              </a:spcBef>
              <a:buNone/>
            </a:pPr>
            <a:r>
              <a:rPr lang="fr-FR" sz="1050" b="1"/>
              <a:t>Variété des IA</a:t>
            </a:r>
          </a:p>
          <a:p>
            <a:pPr marL="0" lvl="1" indent="0">
              <a:buNone/>
            </a:pPr>
            <a:r>
              <a:rPr lang="fr-FR" sz="1050"/>
              <a:t>Il n’existe pas une IA meilleure, mais une diversité d’IA adaptées à différents besoins et contextes.</a:t>
            </a:r>
          </a:p>
          <a:p>
            <a:pPr marL="0" indent="0">
              <a:spcBef>
                <a:spcPts val="1875"/>
              </a:spcBef>
              <a:buNone/>
            </a:pPr>
            <a:r>
              <a:rPr lang="fr-FR" sz="1050" b="1"/>
              <a:t>Contexte et usage</a:t>
            </a:r>
          </a:p>
          <a:p>
            <a:pPr marL="0" lvl="1" indent="0">
              <a:buNone/>
            </a:pPr>
            <a:r>
              <a:rPr lang="fr-FR" sz="1050"/>
              <a:t>Le choix de l’outil d’IA approprié dépend de votre contexte, de l’usage prévu et de vos objectifs spécifiques.</a:t>
            </a:r>
          </a:p>
          <a:p>
            <a:pPr marL="0" indent="0">
              <a:spcBef>
                <a:spcPts val="1875"/>
              </a:spcBef>
              <a:buNone/>
            </a:pPr>
            <a:r>
              <a:rPr lang="fr-FR" sz="1050" b="1"/>
              <a:t>Tester plusieurs IA</a:t>
            </a:r>
          </a:p>
          <a:p>
            <a:pPr marL="0" lvl="1" indent="0">
              <a:buNone/>
            </a:pPr>
            <a:r>
              <a:rPr lang="fr-FR" sz="1050"/>
              <a:t>Essayer différentes IA est essentiel pour faire des choix éclairés et rester conscient des options disponibles.</a:t>
            </a:r>
          </a:p>
        </p:txBody>
      </p:sp>
    </p:spTree>
    <p:extLst>
      <p:ext uri="{BB962C8B-B14F-4D97-AF65-F5344CB8AC3E}">
        <p14:creationId xmlns:p14="http://schemas.microsoft.com/office/powerpoint/2010/main" val="21369424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3445</TotalTime>
  <Words>1600</Words>
  <Application>Microsoft Office PowerPoint</Application>
  <PresentationFormat>Affichage à l'écran (4:3)</PresentationFormat>
  <Paragraphs>155</Paragraphs>
  <Slides>23</Slides>
  <Notes>7</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23</vt:i4>
      </vt:variant>
    </vt:vector>
  </HeadingPairs>
  <TitlesOfParts>
    <vt:vector size="29" baseType="lpstr">
      <vt:lpstr>Arial</vt:lpstr>
      <vt:lpstr>Monotype Sorts</vt:lpstr>
      <vt:lpstr>Segoe UI Semibold</vt:lpstr>
      <vt:lpstr>Times New Roman</vt:lpstr>
      <vt:lpstr>Wingdings</vt:lpstr>
      <vt:lpstr>cvc</vt:lpstr>
      <vt:lpstr>Présentation PowerPoint</vt:lpstr>
      <vt:lpstr>Définition et importance du prompt</vt:lpstr>
      <vt:lpstr>Conseils pour bien formuler un prompt</vt:lpstr>
      <vt:lpstr>Testez!!  Tous les jours des idées pour prompter sont sur les réseaux.</vt:lpstr>
      <vt:lpstr>Un nouveau métier</vt:lpstr>
      <vt:lpstr>Prompt Engineering</vt:lpstr>
      <vt:lpstr>Qu’est-ce qu’un prompt ?</vt:lpstr>
      <vt:lpstr>Qu’est-ce que le prompt engineering ?</vt:lpstr>
      <vt:lpstr>Soyez clair et précis</vt:lpstr>
      <vt:lpstr>Contexte</vt:lpstr>
      <vt:lpstr>Amélioration itérative</vt:lpstr>
      <vt:lpstr>Demander un ton différent</vt:lpstr>
      <vt:lpstr>Prompt simple</vt:lpstr>
      <vt:lpstr>Faites rédiger vos prompts par votre IA! </vt:lpstr>
      <vt:lpstr>1 prompt  3 IA (ou 4 ou 5)</vt:lpstr>
      <vt:lpstr>Objectifs du défi</vt:lpstr>
      <vt:lpstr>La recette</vt:lpstr>
      <vt:lpstr>IA c’est quoi?</vt:lpstr>
      <vt:lpstr>Le résumé</vt:lpstr>
      <vt:lpstr>Testez chez vous</vt:lpstr>
      <vt:lpstr>Avez-vous trouvé des différences?</vt:lpstr>
      <vt:lpstr>En 2026, où ils en sont ?</vt:lpstr>
      <vt:lpstr>Synthèse des apprentissages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253</cp:revision>
  <dcterms:created xsi:type="dcterms:W3CDTF">2000-04-10T19:33:12Z</dcterms:created>
  <dcterms:modified xsi:type="dcterms:W3CDTF">2026-04-09T20:18:33Z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