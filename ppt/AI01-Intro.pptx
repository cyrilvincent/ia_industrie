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0"/>
  </p:notesMasterIdLst>
  <p:handoutMasterIdLst>
    <p:handoutMasterId r:id="rId21"/>
  </p:handoutMasterIdLst>
  <p:sldIdLst>
    <p:sldId id="264" r:id="rId2"/>
    <p:sldId id="334" r:id="rId3"/>
    <p:sldId id="2585" r:id="rId4"/>
    <p:sldId id="308" r:id="rId5"/>
    <p:sldId id="309" r:id="rId6"/>
    <p:sldId id="286" r:id="rId7"/>
    <p:sldId id="287" r:id="rId8"/>
    <p:sldId id="259" r:id="rId9"/>
    <p:sldId id="268" r:id="rId10"/>
    <p:sldId id="269" r:id="rId11"/>
    <p:sldId id="2562" r:id="rId12"/>
    <p:sldId id="2568" r:id="rId13"/>
    <p:sldId id="2570" r:id="rId14"/>
    <p:sldId id="2573" r:id="rId15"/>
    <p:sldId id="2576" r:id="rId16"/>
    <p:sldId id="2579" r:id="rId17"/>
    <p:sldId id="2582" r:id="rId18"/>
    <p:sldId id="2584" r:id="rId19"/>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Section par défaut" id="{1CE948AB-35C1-41E5-8673-007D2E6FF8A4}">
          <p14:sldIdLst>
            <p14:sldId id="264"/>
            <p14:sldId id="334"/>
            <p14:sldId id="2585"/>
            <p14:sldId id="308"/>
            <p14:sldId id="309"/>
            <p14:sldId id="286"/>
            <p14:sldId id="287"/>
            <p14:sldId id="259"/>
            <p14:sldId id="268"/>
            <p14:sldId id="269"/>
          </p14:sldIdLst>
        </p14:section>
        <p14:section name="Opportunités d’utilisation de l’IA de façon utile et responsable" id="{160BB03C-9613-4FF2-AE25-24DB857821F6}">
          <p14:sldIdLst>
            <p14:sldId id="2562"/>
          </p14:sldIdLst>
        </p14:section>
        <p14:section name="Introduction : De la méfiance à l’opportunité" id="{EB35B902-A04B-4029-A617-FE5E9B0A599D}">
          <p14:sldIdLst>
            <p14:sldId id="2568"/>
          </p14:sldIdLst>
        </p14:section>
        <p14:section name="Amélioration de la qualité et de la précision" id="{46D8BF5C-C79C-4607-9EE4-6C81576429FC}">
          <p14:sldIdLst>
            <p14:sldId id="2570"/>
          </p14:sldIdLst>
        </p14:section>
        <p14:section name="Stimulation de la créativité et de l’innovation" id="{739E4254-BACF-42FD-B784-F689AE8C09FB}">
          <p14:sldIdLst>
            <p14:sldId id="2573"/>
          </p14:sldIdLst>
        </p14:section>
        <p14:section name="Accès facilité à la connaissance et veille" id="{B68C6875-0F8A-4B3D-A5D8-7F04AC765AD7}">
          <p14:sldIdLst>
            <p14:sldId id="2576"/>
          </p14:sldIdLst>
        </p14:section>
        <p14:section name="Amélioration de la collaboration et de la communication" id="{68EE84E7-0453-4D2B-AD5B-07DF4C71406D}">
          <p14:sldIdLst>
            <p14:sldId id="2579"/>
          </p14:sldIdLst>
        </p14:section>
        <p14:section name="Soutien à la prise de décision" id="{2DF10A9C-B5CC-4730-B96A-D4C56F1617F1}">
          <p14:sldIdLst>
            <p14:sldId id="2582"/>
          </p14:sldIdLst>
        </p14:section>
        <p14:section name="Synthèse et appropriation responsable de l’IA" id="{A08218BF-FBF6-44CB-BF3B-8D910CF1B7F3}">
          <p14:sldIdLst>
            <p14:sldId id="258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1" d="100"/>
          <a:sy n="71" d="100"/>
        </p:scale>
        <p:origin x="135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Introduire distinction entre IA faible (narrow) et IA générale (AGI).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Demander des exemples métiers des participants.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Proposer un cadre d'évaluation des risques + mitigation.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Nous commencerons par une introduction pour comprendre l’évolution de la perception de l’IA. Ensuite, nous aborderons les gains de temps grâce à l’automatisation, l’amélioration de la qualité, la stimulation de la créativité, l’accès à la connaissance, l’amélioration de la collaboration, le soutien à la prise de décision et enfin les principes pour un usage responsable de l’IA.</a:t>
            </a:r>
          </a:p>
        </p:txBody>
      </p:sp>
      <p:sp>
        <p:nvSpPr>
          <p:cNvPr id="4" name="Espace réservé du numéro de diapositive 3"/>
          <p:cNvSpPr>
            <a:spLocks noGrp="1"/>
          </p:cNvSpPr>
          <p:nvPr>
            <p:ph type="sldNum" sz="quarter" idx="5"/>
          </p:nvPr>
        </p:nvSpPr>
        <p:spPr/>
        <p:txBody>
          <a:bodyPr/>
          <a:lstStyle/>
          <a:p>
            <a:fld id="{5B256BFB-95E8-4F75-A082-CD5C460CC240}" type="slidenum">
              <a:t>11</a:t>
            </a:fld>
            <a:endParaRPr lang="fr-FR"/>
          </a:p>
        </p:txBody>
      </p:sp>
    </p:spTree>
    <p:extLst>
      <p:ext uri="{BB962C8B-B14F-4D97-AF65-F5344CB8AC3E}">
        <p14:creationId xmlns:p14="http://schemas.microsoft.com/office/powerpoint/2010/main" val="908453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https://atpformation.sharepoint.com/sites/IA/_layouts/15/Doc.aspx?sourcedoc=%7BBE907007-20D1-4A67-98E9-AD2ED4B93320%7D&amp;file=MODULE%203%20OPPORTUNITES.docx&amp;action=default&amp;mobileredirect=true&amp;DefaultItemOpen=1
</a:t>
            </a:r>
          </a:p>
        </p:txBody>
      </p:sp>
      <p:sp>
        <p:nvSpPr>
          <p:cNvPr id="4" name="Espace réservé du numéro de diapositive 3"/>
          <p:cNvSpPr>
            <a:spLocks noGrp="1"/>
          </p:cNvSpPr>
          <p:nvPr>
            <p:ph type="sldNum" sz="quarter" idx="5"/>
          </p:nvPr>
        </p:nvSpPr>
        <p:spPr/>
        <p:txBody>
          <a:bodyPr/>
          <a:lstStyle/>
          <a:p>
            <a:fld id="{5B256BFB-95E8-4F75-A082-CD5C460CC240}" type="slidenum">
              <a:t>12</a:t>
            </a:fld>
            <a:endParaRPr lang="fr-FR"/>
          </a:p>
        </p:txBody>
      </p:sp>
    </p:spTree>
    <p:extLst>
      <p:ext uri="{BB962C8B-B14F-4D97-AF65-F5344CB8AC3E}">
        <p14:creationId xmlns:p14="http://schemas.microsoft.com/office/powerpoint/2010/main" val="1252399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https://atpformation.sharepoint.com/sites/IA/_layouts/15/Doc.aspx?sourcedoc=%7BBE907007-20D1-4A67-98E9-AD2ED4B93320%7D&amp;file=MODULE%203%20OPPORTUNITES.docx&amp;action=default&amp;mobileredirect=true&amp;DefaultItemOpen=1
</a:t>
            </a:r>
          </a:p>
        </p:txBody>
      </p:sp>
      <p:sp>
        <p:nvSpPr>
          <p:cNvPr id="4" name="Espace réservé du numéro de diapositive 3"/>
          <p:cNvSpPr>
            <a:spLocks noGrp="1"/>
          </p:cNvSpPr>
          <p:nvPr>
            <p:ph type="sldNum" sz="quarter" idx="5"/>
          </p:nvPr>
        </p:nvSpPr>
        <p:spPr/>
        <p:txBody>
          <a:bodyPr/>
          <a:lstStyle/>
          <a:p>
            <a:fld id="{5B256BFB-95E8-4F75-A082-CD5C460CC240}" type="slidenum">
              <a:t>13</a:t>
            </a:fld>
            <a:endParaRPr lang="fr-FR"/>
          </a:p>
        </p:txBody>
      </p:sp>
    </p:spTree>
    <p:extLst>
      <p:ext uri="{BB962C8B-B14F-4D97-AF65-F5344CB8AC3E}">
        <p14:creationId xmlns:p14="http://schemas.microsoft.com/office/powerpoint/2010/main" val="1334716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https://atpformation.sharepoint.com/sites/IA/_layouts/15/Doc.aspx?sourcedoc=%7BBE907007-20D1-4A67-98E9-AD2ED4B93320%7D&amp;file=MODULE%203%20OPPORTUNITES.docx&amp;action=default&amp;mobileredirect=true&amp;DefaultItemOpen=1
</a:t>
            </a:r>
          </a:p>
        </p:txBody>
      </p:sp>
      <p:sp>
        <p:nvSpPr>
          <p:cNvPr id="4" name="Espace réservé du numéro de diapositive 3"/>
          <p:cNvSpPr>
            <a:spLocks noGrp="1"/>
          </p:cNvSpPr>
          <p:nvPr>
            <p:ph type="sldNum" sz="quarter" idx="5"/>
          </p:nvPr>
        </p:nvSpPr>
        <p:spPr/>
        <p:txBody>
          <a:bodyPr/>
          <a:lstStyle/>
          <a:p>
            <a:fld id="{5B256BFB-95E8-4F75-A082-CD5C460CC240}" type="slidenum">
              <a:t>14</a:t>
            </a:fld>
            <a:endParaRPr lang="fr-FR"/>
          </a:p>
        </p:txBody>
      </p:sp>
    </p:spTree>
    <p:extLst>
      <p:ext uri="{BB962C8B-B14F-4D97-AF65-F5344CB8AC3E}">
        <p14:creationId xmlns:p14="http://schemas.microsoft.com/office/powerpoint/2010/main" val="219133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https://atpformation.sharepoint.com/sites/IA/_layouts/15/Doc.aspx?sourcedoc=%7BBE907007-20D1-4A67-98E9-AD2ED4B93320%7D&amp;file=MODULE%203%20OPPORTUNITES.docx&amp;action=default&amp;mobileredirect=true&amp;DefaultItemOpen=1
</a:t>
            </a:r>
          </a:p>
        </p:txBody>
      </p:sp>
      <p:sp>
        <p:nvSpPr>
          <p:cNvPr id="4" name="Espace réservé du numéro de diapositive 3"/>
          <p:cNvSpPr>
            <a:spLocks noGrp="1"/>
          </p:cNvSpPr>
          <p:nvPr>
            <p:ph type="sldNum" sz="quarter" idx="5"/>
          </p:nvPr>
        </p:nvSpPr>
        <p:spPr/>
        <p:txBody>
          <a:bodyPr/>
          <a:lstStyle/>
          <a:p>
            <a:fld id="{5B256BFB-95E8-4F75-A082-CD5C460CC240}" type="slidenum">
              <a:t>15</a:t>
            </a:fld>
            <a:endParaRPr lang="fr-FR"/>
          </a:p>
        </p:txBody>
      </p:sp>
    </p:spTree>
    <p:extLst>
      <p:ext uri="{BB962C8B-B14F-4D97-AF65-F5344CB8AC3E}">
        <p14:creationId xmlns:p14="http://schemas.microsoft.com/office/powerpoint/2010/main" val="2687182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https://atpformation.sharepoint.com/sites/IA/_layouts/15/Doc.aspx?sourcedoc=%7BBE907007-20D1-4A67-98E9-AD2ED4B93320%7D&amp;file=MODULE%203%20OPPORTUNITES.docx&amp;action=default&amp;mobileredirect=true&amp;DefaultItemOpen=1
</a:t>
            </a:r>
          </a:p>
        </p:txBody>
      </p:sp>
      <p:sp>
        <p:nvSpPr>
          <p:cNvPr id="4" name="Espace réservé du numéro de diapositive 3"/>
          <p:cNvSpPr>
            <a:spLocks noGrp="1"/>
          </p:cNvSpPr>
          <p:nvPr>
            <p:ph type="sldNum" sz="quarter" idx="5"/>
          </p:nvPr>
        </p:nvSpPr>
        <p:spPr/>
        <p:txBody>
          <a:bodyPr/>
          <a:lstStyle/>
          <a:p>
            <a:fld id="{5B256BFB-95E8-4F75-A082-CD5C460CC240}" type="slidenum">
              <a:t>16</a:t>
            </a:fld>
            <a:endParaRPr lang="fr-FR"/>
          </a:p>
        </p:txBody>
      </p:sp>
    </p:spTree>
    <p:extLst>
      <p:ext uri="{BB962C8B-B14F-4D97-AF65-F5344CB8AC3E}">
        <p14:creationId xmlns:p14="http://schemas.microsoft.com/office/powerpoint/2010/main" val="3279579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https://atpformation.sharepoint.com/sites/IA/_layouts/15/Doc.aspx?sourcedoc=%7BBE907007-20D1-4A67-98E9-AD2ED4B93320%7D&amp;file=MODULE%203%20OPPORTUNITES.docx&amp;action=default&amp;mobileredirect=true&amp;DefaultItemOpen=1
</a:t>
            </a:r>
          </a:p>
        </p:txBody>
      </p:sp>
      <p:sp>
        <p:nvSpPr>
          <p:cNvPr id="4" name="Espace réservé du numéro de diapositive 3"/>
          <p:cNvSpPr>
            <a:spLocks noGrp="1"/>
          </p:cNvSpPr>
          <p:nvPr>
            <p:ph type="sldNum" sz="quarter" idx="5"/>
          </p:nvPr>
        </p:nvSpPr>
        <p:spPr/>
        <p:txBody>
          <a:bodyPr/>
          <a:lstStyle/>
          <a:p>
            <a:fld id="{5B256BFB-95E8-4F75-A082-CD5C460CC240}" type="slidenum">
              <a:t>17</a:t>
            </a:fld>
            <a:endParaRPr lang="fr-FR"/>
          </a:p>
        </p:txBody>
      </p:sp>
    </p:spTree>
    <p:extLst>
      <p:ext uri="{BB962C8B-B14F-4D97-AF65-F5344CB8AC3E}">
        <p14:creationId xmlns:p14="http://schemas.microsoft.com/office/powerpoint/2010/main" val="4241785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77888" y="733425"/>
            <a:ext cx="4892675" cy="3670300"/>
          </a:xfrm>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https://atpformation.sharepoint.com/sites/IA/_layouts/15/Doc.aspx?sourcedoc=%7BBE907007-20D1-4A67-98E9-AD2ED4B93320%7D&amp;file=MODULE%203%20OPPORTUNITES.docx&amp;action=default&amp;mobileredirect=true&amp;DefaultItemOpen=1
Synthèse à faire passer :
L’IA est un levier puissant si elle est bien utilisée
L’utilisateur reste responsable du cadrage, du résultat et de      l’impact
L’appropriation métier est la clé d’une IA réellement utile
Formateur :
C’est à vous de façonner votre IA générative en fonction de votre personnalité, votre métier, votre vision.
Les formation clé en main qui disent si vous êtes juriste, marketeur, commercial, RH et autres et vous devez utiliser l’IA comme ça, cela n’a aucun sens.
C’est justement participer à l’aliénation de l’homme par les machines. Uniformiser les usages.
L’IA est votre assistant, à vous de devenir une personne augmentée mai pas votre créativité et votre analyse.
Source de l’image : bibliothèque de contenu Microsoft 365
</a:t>
            </a:r>
          </a:p>
        </p:txBody>
      </p:sp>
      <p:sp>
        <p:nvSpPr>
          <p:cNvPr id="4" name="Espace réservé du numéro de diapositive 3"/>
          <p:cNvSpPr>
            <a:spLocks noGrp="1"/>
          </p:cNvSpPr>
          <p:nvPr>
            <p:ph type="sldNum" sz="quarter" idx="5"/>
          </p:nvPr>
        </p:nvSpPr>
        <p:spPr/>
        <p:txBody>
          <a:bodyPr/>
          <a:lstStyle/>
          <a:p>
            <a:fld id="{5B256BFB-95E8-4F75-A082-CD5C460CC240}" type="slidenum">
              <a:t>18</a:t>
            </a:fld>
            <a:endParaRPr lang="fr-FR"/>
          </a:p>
        </p:txBody>
      </p:sp>
    </p:spTree>
    <p:extLst>
      <p:ext uri="{BB962C8B-B14F-4D97-AF65-F5344CB8AC3E}">
        <p14:creationId xmlns:p14="http://schemas.microsoft.com/office/powerpoint/2010/main" val="2008877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1</a:t>
            </a:r>
          </a:p>
          <a:p>
            <a:pPr eaLnBrk="1" hangingPunct="1"/>
            <a:r>
              <a:rPr lang="fr-FR" altLang="fr-FR" dirty="0"/>
              <a:t>Introduction</a:t>
            </a:r>
          </a:p>
        </p:txBody>
      </p:sp>
      <p:sp>
        <p:nvSpPr>
          <p:cNvPr id="3" name="ZoneTexte 2"/>
          <p:cNvSpPr txBox="1"/>
          <p:nvPr/>
        </p:nvSpPr>
        <p:spPr>
          <a:xfrm>
            <a:off x="4355976"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6F2E89-3F71-9175-97A0-90C4D1BE6749}"/>
              </a:ext>
            </a:extLst>
          </p:cNvPr>
          <p:cNvSpPr>
            <a:spLocks noGrp="1"/>
          </p:cNvSpPr>
          <p:nvPr>
            <p:ph type="title"/>
          </p:nvPr>
        </p:nvSpPr>
        <p:spPr/>
        <p:txBody>
          <a:bodyPr/>
          <a:lstStyle/>
          <a:p>
            <a:r>
              <a:rPr lang="fr-FR" dirty="0"/>
              <a:t>Types d'IA ?</a:t>
            </a:r>
          </a:p>
        </p:txBody>
      </p:sp>
      <p:sp>
        <p:nvSpPr>
          <p:cNvPr id="3" name="Espace réservé du contenu 2">
            <a:extLst>
              <a:ext uri="{FF2B5EF4-FFF2-40B4-BE49-F238E27FC236}">
                <a16:creationId xmlns:a16="http://schemas.microsoft.com/office/drawing/2014/main" id="{FCCC3D28-BB2A-5E0E-A02D-C15FACAAB28E}"/>
              </a:ext>
            </a:extLst>
          </p:cNvPr>
          <p:cNvSpPr>
            <a:spLocks noGrp="1"/>
          </p:cNvSpPr>
          <p:nvPr>
            <p:ph idx="1"/>
          </p:nvPr>
        </p:nvSpPr>
        <p:spPr>
          <a:xfrm>
            <a:off x="179513" y="1412776"/>
            <a:ext cx="4752528" cy="5040560"/>
          </a:xfrm>
        </p:spPr>
        <p:txBody>
          <a:bodyPr/>
          <a:lstStyle/>
          <a:p>
            <a:r>
              <a:rPr lang="fr-FR" sz="2400" dirty="0"/>
              <a:t>Génératives</a:t>
            </a:r>
          </a:p>
          <a:p>
            <a:pPr lvl="1"/>
            <a:r>
              <a:rPr lang="fr-FR" sz="2000" dirty="0"/>
              <a:t>LLM</a:t>
            </a:r>
          </a:p>
          <a:p>
            <a:r>
              <a:rPr lang="fr-FR" sz="2400" dirty="0"/>
              <a:t>Prédictives</a:t>
            </a:r>
          </a:p>
          <a:p>
            <a:pPr lvl="1"/>
            <a:r>
              <a:rPr lang="fr-FR" sz="2000" dirty="0"/>
              <a:t>Réseaux de neurones</a:t>
            </a:r>
          </a:p>
          <a:p>
            <a:pPr lvl="1"/>
            <a:r>
              <a:rPr lang="fr-FR" sz="2000" dirty="0"/>
              <a:t>Deep Learning</a:t>
            </a:r>
          </a:p>
          <a:p>
            <a:r>
              <a:rPr lang="fr-FR" sz="2400" dirty="0"/>
              <a:t>Systèmes experts</a:t>
            </a:r>
          </a:p>
          <a:p>
            <a:r>
              <a:rPr lang="fr-FR" sz="2400" dirty="0"/>
              <a:t>Besoins</a:t>
            </a:r>
          </a:p>
          <a:p>
            <a:pPr lvl="1"/>
            <a:r>
              <a:rPr lang="fr-FR" sz="2000" dirty="0"/>
              <a:t>Agents</a:t>
            </a:r>
          </a:p>
          <a:p>
            <a:pPr lvl="1"/>
            <a:r>
              <a:rPr lang="fr-FR" sz="2000" dirty="0"/>
              <a:t>Vision</a:t>
            </a:r>
          </a:p>
          <a:p>
            <a:pPr lvl="1"/>
            <a:r>
              <a:rPr lang="fr-FR" sz="2000" dirty="0" err="1"/>
              <a:t>ChatBot</a:t>
            </a:r>
            <a:endParaRPr lang="fr-FR" sz="2000" dirty="0"/>
          </a:p>
          <a:p>
            <a:r>
              <a:rPr lang="fr-FR" sz="2400" dirty="0"/>
              <a:t>Marques</a:t>
            </a:r>
          </a:p>
          <a:p>
            <a:pPr lvl="1"/>
            <a:r>
              <a:rPr lang="fr-FR" sz="2000" dirty="0" err="1"/>
              <a:t>OpenClaw</a:t>
            </a:r>
            <a:r>
              <a:rPr lang="fr-FR" sz="2000" dirty="0"/>
              <a:t> </a:t>
            </a:r>
            <a:r>
              <a:rPr lang="fr-FR" sz="2000" dirty="0" err="1"/>
              <a:t>Athropic</a:t>
            </a:r>
            <a:r>
              <a:rPr lang="fr-FR" sz="2000" dirty="0"/>
              <a:t> MCP</a:t>
            </a:r>
          </a:p>
          <a:p>
            <a:pPr marL="0" indent="0">
              <a:buNone/>
            </a:pPr>
            <a:endParaRPr lang="fr-FR" sz="2400" dirty="0"/>
          </a:p>
        </p:txBody>
      </p:sp>
      <p:sp>
        <p:nvSpPr>
          <p:cNvPr id="4" name="Espace réservé du contenu 2">
            <a:extLst>
              <a:ext uri="{FF2B5EF4-FFF2-40B4-BE49-F238E27FC236}">
                <a16:creationId xmlns:a16="http://schemas.microsoft.com/office/drawing/2014/main" id="{44B87332-08B5-DB9C-F4DA-EEF6762AFC5F}"/>
              </a:ext>
            </a:extLst>
          </p:cNvPr>
          <p:cNvSpPr txBox="1">
            <a:spLocks/>
          </p:cNvSpPr>
          <p:nvPr/>
        </p:nvSpPr>
        <p:spPr bwMode="auto">
          <a:xfrm>
            <a:off x="4265043" y="1412776"/>
            <a:ext cx="4752528"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a:lstStyle>
          <a:p>
            <a:endParaRPr lang="fr-FR" kern="0" dirty="0"/>
          </a:p>
        </p:txBody>
      </p:sp>
    </p:spTree>
    <p:extLst>
      <p:ext uri="{BB962C8B-B14F-4D97-AF65-F5344CB8AC3E}">
        <p14:creationId xmlns:p14="http://schemas.microsoft.com/office/powerpoint/2010/main" val="315992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 de Turing</a:t>
            </a:r>
          </a:p>
        </p:txBody>
      </p:sp>
      <p:sp>
        <p:nvSpPr>
          <p:cNvPr id="3" name="Espace réservé du contenu 2"/>
          <p:cNvSpPr>
            <a:spLocks noGrp="1"/>
          </p:cNvSpPr>
          <p:nvPr>
            <p:ph idx="1"/>
          </p:nvPr>
        </p:nvSpPr>
        <p:spPr>
          <a:xfrm>
            <a:off x="179513" y="1412776"/>
            <a:ext cx="6850928" cy="5040560"/>
          </a:xfrm>
        </p:spPr>
        <p:txBody>
          <a:bodyPr/>
          <a:lstStyle/>
          <a:p>
            <a:r>
              <a:rPr lang="fr-FR" dirty="0"/>
              <a:t>Le test de Turing est une proposition de test d’intelligence artificielle fondée sur la faculté d'une machine à imiter la conversation humaine</a:t>
            </a:r>
          </a:p>
          <a:p>
            <a:pPr lvl="1"/>
            <a:r>
              <a:rPr lang="fr-FR" dirty="0"/>
              <a:t>Ce test consiste à mettre un humain en confrontation verbale à l’aveugle avec un ordinateur et un autre humain</a:t>
            </a:r>
          </a:p>
          <a:p>
            <a:pPr lvl="1"/>
            <a:r>
              <a:rPr lang="fr-FR" dirty="0"/>
              <a:t>Si la personne qui engage les conversations n’est pas capable de dire lequel de ses interlocuteurs est un ordinateur, on peut considérer que le logiciel de l’ordinateur a passé avec succès le test</a:t>
            </a:r>
          </a:p>
        </p:txBody>
      </p:sp>
      <p:pic>
        <p:nvPicPr>
          <p:cNvPr id="4098" name="Picture 2" descr="https://upload.wikimedia.org/wikipedia/commons/thumb/e/e4/Turing_Test_version_3.png/220px-Turing_Test_version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441" y="2276872"/>
            <a:ext cx="20955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96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Qu'est-ce que l'IA ?</a:t>
            </a:r>
          </a:p>
        </p:txBody>
      </p:sp>
      <p:sp>
        <p:nvSpPr>
          <p:cNvPr id="3" name="Content Placeholder 2"/>
          <p:cNvSpPr>
            <a:spLocks noGrp="1"/>
          </p:cNvSpPr>
          <p:nvPr>
            <p:ph idx="1"/>
          </p:nvPr>
        </p:nvSpPr>
        <p:spPr/>
        <p:txBody>
          <a:bodyPr/>
          <a:lstStyle/>
          <a:p>
            <a:r>
              <a:rPr dirty="0"/>
              <a:t>Discipline </a:t>
            </a:r>
            <a:r>
              <a:rPr dirty="0" err="1"/>
              <a:t>visant</a:t>
            </a:r>
            <a:r>
              <a:rPr dirty="0"/>
              <a:t> à </a:t>
            </a:r>
            <a:r>
              <a:rPr dirty="0" err="1"/>
              <a:t>reproduire</a:t>
            </a:r>
            <a:r>
              <a:rPr dirty="0"/>
              <a:t> </a:t>
            </a:r>
            <a:r>
              <a:rPr dirty="0" err="1"/>
              <a:t>ou</a:t>
            </a:r>
            <a:r>
              <a:rPr dirty="0"/>
              <a:t> augmenter des </a:t>
            </a:r>
            <a:r>
              <a:rPr dirty="0" err="1"/>
              <a:t>capacités</a:t>
            </a:r>
            <a:r>
              <a:rPr dirty="0"/>
              <a:t> </a:t>
            </a:r>
            <a:r>
              <a:rPr dirty="0" err="1"/>
              <a:t>cognitives</a:t>
            </a:r>
            <a:endParaRPr dirty="0"/>
          </a:p>
          <a:p>
            <a:r>
              <a:rPr dirty="0"/>
              <a:t>Sous‑</a:t>
            </a:r>
            <a:r>
              <a:rPr dirty="0" err="1"/>
              <a:t>domaines</a:t>
            </a:r>
            <a:endParaRPr lang="fr-FR" dirty="0"/>
          </a:p>
          <a:p>
            <a:pPr lvl="1"/>
            <a:r>
              <a:rPr lang="fr-FR" dirty="0"/>
              <a:t>R</a:t>
            </a:r>
            <a:r>
              <a:rPr dirty="0" err="1"/>
              <a:t>aisonnement</a:t>
            </a:r>
            <a:r>
              <a:rPr dirty="0"/>
              <a:t> </a:t>
            </a:r>
            <a:r>
              <a:rPr dirty="0" err="1"/>
              <a:t>symbolique</a:t>
            </a:r>
            <a:endParaRPr lang="fr-FR" dirty="0"/>
          </a:p>
          <a:p>
            <a:pPr lvl="1"/>
            <a:r>
              <a:rPr lang="fr-FR" dirty="0"/>
              <a:t>Machine Learning</a:t>
            </a:r>
          </a:p>
          <a:p>
            <a:pPr lvl="1"/>
            <a:r>
              <a:rPr lang="fr-FR" dirty="0"/>
              <a:t>Deep Learning</a:t>
            </a:r>
          </a:p>
          <a:p>
            <a:pPr lvl="1"/>
            <a:r>
              <a:rPr lang="fr-FR" dirty="0"/>
              <a:t>Large </a:t>
            </a:r>
            <a:r>
              <a:rPr lang="fr-FR" dirty="0" err="1"/>
              <a:t>Language</a:t>
            </a:r>
            <a:r>
              <a:rPr lang="fr-FR" dirty="0"/>
              <a:t> Model</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Potentiels de l'IA</a:t>
            </a:r>
          </a:p>
        </p:txBody>
      </p:sp>
      <p:sp>
        <p:nvSpPr>
          <p:cNvPr id="3" name="Content Placeholder 2"/>
          <p:cNvSpPr>
            <a:spLocks noGrp="1"/>
          </p:cNvSpPr>
          <p:nvPr>
            <p:ph idx="1"/>
          </p:nvPr>
        </p:nvSpPr>
        <p:spPr/>
        <p:txBody>
          <a:bodyPr/>
          <a:lstStyle/>
          <a:p>
            <a:r>
              <a:t>Vision par ordinateur : détection, OCR, inspection</a:t>
            </a:r>
          </a:p>
          <a:p>
            <a:r>
              <a:t>Traitement du langage : résumé, recherche sémantique, assistants</a:t>
            </a:r>
          </a:p>
          <a:p>
            <a:r>
              <a:t>Personnalisation &amp; recommandation</a:t>
            </a:r>
          </a:p>
          <a:p>
            <a:r>
              <a:t>Optimisation industrielle &amp; maintenance prédictive</a:t>
            </a:r>
          </a:p>
          <a:p>
            <a:r>
              <a:t>Aide à la décision &amp; automatisation de processus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Limites, risques &amp; garde‑fous</a:t>
            </a:r>
          </a:p>
        </p:txBody>
      </p:sp>
      <p:sp>
        <p:nvSpPr>
          <p:cNvPr id="3" name="Content Placeholder 2"/>
          <p:cNvSpPr>
            <a:spLocks noGrp="1"/>
          </p:cNvSpPr>
          <p:nvPr>
            <p:ph idx="1"/>
          </p:nvPr>
        </p:nvSpPr>
        <p:spPr/>
        <p:txBody>
          <a:bodyPr/>
          <a:lstStyle/>
          <a:p>
            <a:r>
              <a:rPr dirty="0" err="1"/>
              <a:t>Dépendance</a:t>
            </a:r>
            <a:r>
              <a:rPr dirty="0"/>
              <a:t> aux données (</a:t>
            </a:r>
            <a:r>
              <a:rPr dirty="0" err="1"/>
              <a:t>qualité</a:t>
            </a:r>
            <a:r>
              <a:rPr dirty="0"/>
              <a:t>, </a:t>
            </a:r>
            <a:r>
              <a:rPr dirty="0" err="1"/>
              <a:t>biais</a:t>
            </a:r>
            <a:r>
              <a:rPr dirty="0"/>
              <a:t>, </a:t>
            </a:r>
            <a:r>
              <a:rPr dirty="0" err="1"/>
              <a:t>dérive</a:t>
            </a:r>
            <a:r>
              <a:rPr dirty="0"/>
              <a:t>)</a:t>
            </a:r>
          </a:p>
          <a:p>
            <a:r>
              <a:rPr dirty="0" err="1"/>
              <a:t>Robustesse</a:t>
            </a:r>
            <a:r>
              <a:rPr dirty="0"/>
              <a:t>, hallucinations, </a:t>
            </a:r>
            <a:r>
              <a:rPr dirty="0" err="1"/>
              <a:t>sécurité</a:t>
            </a:r>
            <a:r>
              <a:rPr dirty="0"/>
              <a:t> (adversarial)</a:t>
            </a:r>
          </a:p>
          <a:p>
            <a:r>
              <a:rPr dirty="0" err="1"/>
              <a:t>Explicabilité</a:t>
            </a:r>
            <a:r>
              <a:rPr dirty="0"/>
              <a:t>, </a:t>
            </a:r>
            <a:r>
              <a:rPr dirty="0" err="1"/>
              <a:t>auditabilité</a:t>
            </a:r>
            <a:r>
              <a:rPr dirty="0"/>
              <a:t>, </a:t>
            </a:r>
            <a:r>
              <a:rPr dirty="0" err="1"/>
              <a:t>conformité</a:t>
            </a:r>
            <a:r>
              <a:rPr dirty="0"/>
              <a:t> (RGPD</a:t>
            </a:r>
            <a:r>
              <a:rPr lang="fr-FR" dirty="0"/>
              <a:t>, AI </a:t>
            </a:r>
            <a:r>
              <a:rPr lang="fr-FR" dirty="0" err="1"/>
              <a:t>Act</a:t>
            </a:r>
            <a:r>
              <a:rPr dirty="0"/>
              <a:t>)</a:t>
            </a:r>
          </a:p>
          <a:p>
            <a:r>
              <a:rPr dirty="0"/>
              <a:t>Impact </a:t>
            </a:r>
            <a:r>
              <a:rPr dirty="0" err="1"/>
              <a:t>environnemental</a:t>
            </a:r>
            <a:r>
              <a:rPr dirty="0"/>
              <a:t> et </a:t>
            </a:r>
            <a:r>
              <a:rPr dirty="0" err="1"/>
              <a:t>coûts</a:t>
            </a:r>
            <a:endParaRPr dirty="0"/>
          </a:p>
          <a:p>
            <a:r>
              <a:rPr dirty="0" err="1"/>
              <a:t>Risques</a:t>
            </a:r>
            <a:r>
              <a:rPr dirty="0"/>
              <a:t> </a:t>
            </a:r>
            <a:r>
              <a:rPr dirty="0" err="1"/>
              <a:t>organisationnels</a:t>
            </a:r>
            <a:r>
              <a:rPr dirty="0"/>
              <a:t> : adoption, </a:t>
            </a:r>
            <a:r>
              <a:rPr dirty="0" err="1"/>
              <a:t>compétences</a:t>
            </a:r>
            <a:r>
              <a:rPr dirty="0"/>
              <a:t>, </a:t>
            </a:r>
            <a:r>
              <a:rPr dirty="0" err="1"/>
              <a:t>éthique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48F769-00A8-83C9-2F7F-AA0A4142CB3B}"/>
              </a:ext>
            </a:extLst>
          </p:cNvPr>
          <p:cNvSpPr>
            <a:spLocks noGrp="1"/>
          </p:cNvSpPr>
          <p:nvPr>
            <p:ph type="title"/>
          </p:nvPr>
        </p:nvSpPr>
        <p:spPr>
          <a:xfrm>
            <a:off x="71440" y="1012276"/>
            <a:ext cx="2318822" cy="4833449"/>
          </a:xfrm>
        </p:spPr>
        <p:txBody>
          <a:bodyPr anchor="ctr">
            <a:normAutofit/>
          </a:bodyPr>
          <a:lstStyle/>
          <a:p>
            <a:r>
              <a:rPr lang="fr-FR" sz="2550" dirty="0"/>
              <a:t>Brainstorming</a:t>
            </a:r>
            <a:endParaRPr lang="fr-FR" sz="2550" dirty="0">
              <a:cs typeface="Segoe UI Semibold"/>
            </a:endParaRPr>
          </a:p>
        </p:txBody>
      </p:sp>
      <p:sp>
        <p:nvSpPr>
          <p:cNvPr id="3" name="Espace réservé du contenu 2">
            <a:extLst>
              <a:ext uri="{FF2B5EF4-FFF2-40B4-BE49-F238E27FC236}">
                <a16:creationId xmlns:a16="http://schemas.microsoft.com/office/drawing/2014/main" id="{BE6EB08B-4E94-7D2B-0926-4ECB40C220E4}"/>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2390263" y="1444703"/>
            <a:ext cx="6398759" cy="777737"/>
          </a:xfrm>
          <a:ln w="38100">
            <a:solidFill>
              <a:schemeClr val="tx2"/>
            </a:solidFill>
          </a:ln>
        </p:spPr>
        <p:txBody>
          <a:bodyPr vert="horz" wrap="square" lIns="68580" tIns="34290" rIns="68580" bIns="34290" numCol="1" rtlCol="0" anchor="t" anchorCtr="0" compatLnSpc="1">
            <a:prstTxWarp prst="textNoShape">
              <a:avLst/>
            </a:prstTxWarp>
            <a:normAutofit fontScale="92500" lnSpcReduction="20000"/>
          </a:bodyPr>
          <a:lstStyle/>
          <a:p>
            <a:pPr marL="0" indent="0">
              <a:buNone/>
            </a:pPr>
            <a:r>
              <a:rPr lang="fr-FR" dirty="0"/>
              <a:t>A votre avis, quelles sont les opportunités d'usage de l'IA?</a:t>
            </a:r>
          </a:p>
        </p:txBody>
      </p:sp>
      <p:sp>
        <p:nvSpPr>
          <p:cNvPr id="4" name="ZoneTexte 3">
            <a:extLst>
              <a:ext uri="{FF2B5EF4-FFF2-40B4-BE49-F238E27FC236}">
                <a16:creationId xmlns:a16="http://schemas.microsoft.com/office/drawing/2014/main" id="{71190B74-5B46-EF6D-818B-1EAFCF085E7B}"/>
              </a:ext>
            </a:extLst>
          </p:cNvPr>
          <p:cNvSpPr txBox="1"/>
          <p:nvPr/>
        </p:nvSpPr>
        <p:spPr>
          <a:xfrm>
            <a:off x="2390262" y="3837596"/>
            <a:ext cx="6088878" cy="1015663"/>
          </a:xfrm>
          <a:prstGeom prst="rect">
            <a:avLst/>
          </a:prstGeom>
          <a:solidFill>
            <a:schemeClr val="accent1"/>
          </a:solidFill>
        </p:spPr>
        <p:txBody>
          <a:bodyPr wrap="square" rtlCol="0">
            <a:spAutoFit/>
          </a:bodyPr>
          <a:lstStyle/>
          <a:p>
            <a:r>
              <a:rPr lang="fr-FR" sz="3000" dirty="0">
                <a:solidFill>
                  <a:schemeClr val="bg1"/>
                </a:solidFill>
              </a:rPr>
              <a:t>Dans quelle tâche aimeriez-vous gagner 30 minutes par jour ?</a:t>
            </a:r>
          </a:p>
        </p:txBody>
      </p:sp>
      <p:sp>
        <p:nvSpPr>
          <p:cNvPr id="5" name="ZoneTexte 4">
            <a:extLst>
              <a:ext uri="{FF2B5EF4-FFF2-40B4-BE49-F238E27FC236}">
                <a16:creationId xmlns:a16="http://schemas.microsoft.com/office/drawing/2014/main" id="{2A342763-2B6B-6803-DC9D-339B40FB2E2C}"/>
              </a:ext>
            </a:extLst>
          </p:cNvPr>
          <p:cNvSpPr txBox="1"/>
          <p:nvPr/>
        </p:nvSpPr>
        <p:spPr>
          <a:xfrm>
            <a:off x="2506055" y="2889013"/>
            <a:ext cx="2582966" cy="646331"/>
          </a:xfrm>
          <a:prstGeom prst="rect">
            <a:avLst/>
          </a:prstGeom>
          <a:noFill/>
        </p:spPr>
        <p:txBody>
          <a:bodyPr wrap="square" rtlCol="0">
            <a:spAutoFit/>
          </a:bodyPr>
          <a:lstStyle/>
          <a:p>
            <a:r>
              <a:rPr lang="fr-FR" sz="1800" dirty="0"/>
              <a:t>Et si je vous </a:t>
            </a:r>
            <a:r>
              <a:rPr lang="fr-FR" sz="1800" dirty="0" err="1"/>
              <a:t>dis:</a:t>
            </a:r>
            <a:r>
              <a:rPr lang="fr-FR" sz="1800" dirty="0" err="1">
                <a:solidFill>
                  <a:schemeClr val="bg1"/>
                </a:solidFill>
              </a:rPr>
              <a:t>vous</a:t>
            </a:r>
            <a:r>
              <a:rPr lang="fr-FR" sz="1800" dirty="0">
                <a:solidFill>
                  <a:schemeClr val="bg1"/>
                </a:solidFill>
              </a:rPr>
              <a:t> dis:</a:t>
            </a:r>
          </a:p>
        </p:txBody>
      </p:sp>
    </p:spTree>
    <p:extLst>
      <p:ext uri="{BB962C8B-B14F-4D97-AF65-F5344CB8AC3E}">
        <p14:creationId xmlns:p14="http://schemas.microsoft.com/office/powerpoint/2010/main" val="30721038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E6CA03-C09D-8A9F-6B05-8633D9A5BF0C}"/>
              </a:ext>
            </a:extLst>
          </p:cNvPr>
          <p:cNvSpPr>
            <a:spLocks noGrp="1"/>
          </p:cNvSpPr>
          <p:nvPr>
            <p:ph type="title"/>
          </p:nvPr>
        </p:nvSpPr>
        <p:spPr>
          <a:xfrm>
            <a:off x="628650" y="1069112"/>
            <a:ext cx="7886700" cy="994172"/>
          </a:xfrm>
        </p:spPr>
        <p:txBody>
          <a:bodyPr anchor="ctr">
            <a:normAutofit fontScale="90000"/>
          </a:bodyPr>
          <a:lstStyle/>
          <a:p>
            <a:r>
              <a:rPr lang="fr-FR" sz="3000" dirty="0"/>
              <a:t>Gains de temps et automatisation des tâches répétitives</a:t>
            </a:r>
            <a:endParaRPr lang="fr-FR" sz="3000" dirty="0">
              <a:solidFill>
                <a:srgbClr val="000000"/>
              </a:solidFill>
            </a:endParaRPr>
          </a:p>
          <a:p>
            <a:endParaRPr lang="fr-FR" sz="2100" dirty="0">
              <a:cs typeface="Segoe UI Semibold"/>
            </a:endParaRPr>
          </a:p>
        </p:txBody>
      </p:sp>
      <p:graphicFrame>
        <p:nvGraphicFramePr>
          <p:cNvPr id="5" name="Espace réservé du contenu 4">
            <a:extLst>
              <a:ext uri="{FF2B5EF4-FFF2-40B4-BE49-F238E27FC236}">
                <a16:creationId xmlns:a16="http://schemas.microsoft.com/office/drawing/2014/main" id="{0F59CF8B-BD51-4A4F-921F-977C1C90064E}"/>
              </a:ext>
            </a:extLst>
          </p:cNvPr>
          <p:cNvGraphicFramePr>
            <a:graphicFrameLocks noGrp="1"/>
          </p:cNvGraphicFramePr>
          <p:nvPr>
            <p:ph idx="1"/>
          </p:nvPr>
        </p:nvGraphicFramePr>
        <p:xfrm>
          <a:off x="628650" y="1982201"/>
          <a:ext cx="7886700" cy="3503960"/>
        </p:xfrm>
        <a:graphic>
          <a:graphicData uri="http://schemas.openxmlformats.org/drawingml/2006/table">
            <a:tbl>
              <a:tblPr firstRow="1" firstCol="1" bandRow="1">
                <a:noFill/>
                <a:tableStyleId>{5C22544A-7EE6-4342-B048-85BDC9FD1C3A}</a:tableStyleId>
              </a:tblPr>
              <a:tblGrid>
                <a:gridCol w="3201336">
                  <a:extLst>
                    <a:ext uri="{9D8B030D-6E8A-4147-A177-3AD203B41FA5}">
                      <a16:colId xmlns:a16="http://schemas.microsoft.com/office/drawing/2014/main" val="3989589282"/>
                    </a:ext>
                  </a:extLst>
                </a:gridCol>
                <a:gridCol w="4685364">
                  <a:extLst>
                    <a:ext uri="{9D8B030D-6E8A-4147-A177-3AD203B41FA5}">
                      <a16:colId xmlns:a16="http://schemas.microsoft.com/office/drawing/2014/main" val="2874456253"/>
                    </a:ext>
                  </a:extLst>
                </a:gridCol>
              </a:tblGrid>
              <a:tr h="627060">
                <a:tc>
                  <a:txBody>
                    <a:bodyPr/>
                    <a:lstStyle/>
                    <a:p>
                      <a:pPr>
                        <a:buNone/>
                      </a:pPr>
                      <a:r>
                        <a:rPr lang="fr-FR" sz="1800" b="1" cap="all" spc="150">
                          <a:solidFill>
                            <a:srgbClr val="A7A7A7"/>
                          </a:solidFill>
                          <a:effectLst/>
                        </a:rPr>
                        <a:t>Sous-opportunité</a:t>
                      </a:r>
                    </a:p>
                  </a:txBody>
                  <a:tcPr marL="155042" marR="155042" marT="155042" marB="155042"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fr-FR" sz="1800" b="1" cap="all" spc="150">
                          <a:solidFill>
                            <a:srgbClr val="A7A7A7"/>
                          </a:solidFill>
                          <a:effectLst/>
                        </a:rPr>
                        <a:t>Exemples</a:t>
                      </a:r>
                    </a:p>
                  </a:txBody>
                  <a:tcPr marL="155042" marR="155042" marT="155042" marB="155042"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1460254693"/>
                  </a:ext>
                </a:extLst>
              </a:tr>
              <a:tr h="575380">
                <a:tc>
                  <a:txBody>
                    <a:bodyPr/>
                    <a:lstStyle/>
                    <a:p>
                      <a:pPr>
                        <a:buNone/>
                      </a:pPr>
                      <a:r>
                        <a:rPr lang="fr-FR" sz="1500" b="1" cap="none" spc="0">
                          <a:solidFill>
                            <a:schemeClr val="tx1"/>
                          </a:solidFill>
                          <a:effectLst/>
                        </a:rPr>
                        <a:t>Génération de contenu</a:t>
                      </a:r>
                    </a:p>
                  </a:txBody>
                  <a:tcPr marL="155042" marR="155042" marT="155042" marB="15504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fr-FR" sz="1500" cap="none" spc="0">
                          <a:solidFill>
                            <a:schemeClr val="tx1"/>
                          </a:solidFill>
                          <a:effectLst/>
                        </a:rPr>
                        <a:t>Écrire un mail, un compte rendu, un post LinkedIn</a:t>
                      </a:r>
                    </a:p>
                  </a:txBody>
                  <a:tcPr marL="155042" marR="155042" marT="155042" marB="15504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158949742"/>
                  </a:ext>
                </a:extLst>
              </a:tr>
              <a:tr h="575380">
                <a:tc>
                  <a:txBody>
                    <a:bodyPr/>
                    <a:lstStyle/>
                    <a:p>
                      <a:pPr>
                        <a:buNone/>
                      </a:pPr>
                      <a:r>
                        <a:rPr lang="fr-FR" sz="1500" b="1" cap="none" spc="0">
                          <a:solidFill>
                            <a:schemeClr val="tx1"/>
                          </a:solidFill>
                          <a:effectLst/>
                        </a:rPr>
                        <a:t>Synthèse &amp; résumé</a:t>
                      </a:r>
                    </a:p>
                  </a:txBody>
                  <a:tcPr marL="155042" marR="155042" marT="155042" marB="15504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500" cap="none" spc="0">
                          <a:solidFill>
                            <a:schemeClr val="tx1"/>
                          </a:solidFill>
                          <a:effectLst/>
                        </a:rPr>
                        <a:t>Réduire un document, résumer une réunion Teams</a:t>
                      </a:r>
                    </a:p>
                  </a:txBody>
                  <a:tcPr marL="155042" marR="155042" marT="155042" marB="15504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177804363"/>
                  </a:ext>
                </a:extLst>
              </a:tr>
              <a:tr h="575380">
                <a:tc>
                  <a:txBody>
                    <a:bodyPr/>
                    <a:lstStyle/>
                    <a:p>
                      <a:pPr>
                        <a:buNone/>
                      </a:pPr>
                      <a:r>
                        <a:rPr lang="fr-FR" sz="1500" b="1" cap="none" spc="0">
                          <a:solidFill>
                            <a:schemeClr val="tx1"/>
                          </a:solidFill>
                          <a:effectLst/>
                        </a:rPr>
                        <a:t>Reformulation &amp; traduction</a:t>
                      </a:r>
                    </a:p>
                  </a:txBody>
                  <a:tcPr marL="155042" marR="155042" marT="155042" marB="15504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500" cap="none" spc="0">
                          <a:solidFill>
                            <a:schemeClr val="tx1"/>
                          </a:solidFill>
                          <a:effectLst/>
                        </a:rPr>
                        <a:t>Adapter le ton, passer du français à l’anglais</a:t>
                      </a:r>
                    </a:p>
                  </a:txBody>
                  <a:tcPr marL="155042" marR="155042" marT="155042" marB="15504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59150518"/>
                  </a:ext>
                </a:extLst>
              </a:tr>
              <a:tr h="575380">
                <a:tc>
                  <a:txBody>
                    <a:bodyPr/>
                    <a:lstStyle/>
                    <a:p>
                      <a:pPr>
                        <a:buNone/>
                      </a:pPr>
                      <a:r>
                        <a:rPr lang="fr-FR" sz="1500" b="1" cap="none" spc="0">
                          <a:solidFill>
                            <a:schemeClr val="tx1"/>
                          </a:solidFill>
                          <a:effectLst/>
                        </a:rPr>
                        <a:t>Création de tableaux &amp; listes</a:t>
                      </a:r>
                    </a:p>
                  </a:txBody>
                  <a:tcPr marL="155042" marR="155042" marT="155042" marB="15504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500" cap="none" spc="0">
                          <a:solidFill>
                            <a:schemeClr val="tx1"/>
                          </a:solidFill>
                          <a:effectLst/>
                        </a:rPr>
                        <a:t>Générer un planning, une checklist, une FAQ</a:t>
                      </a:r>
                    </a:p>
                  </a:txBody>
                  <a:tcPr marL="155042" marR="155042" marT="155042" marB="15504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472111574"/>
                  </a:ext>
                </a:extLst>
              </a:tr>
              <a:tr h="575380">
                <a:tc>
                  <a:txBody>
                    <a:bodyPr/>
                    <a:lstStyle/>
                    <a:p>
                      <a:pPr>
                        <a:buNone/>
                      </a:pPr>
                      <a:r>
                        <a:rPr lang="fr-FR" sz="1500" b="1" cap="none" spc="0">
                          <a:solidFill>
                            <a:schemeClr val="tx1"/>
                          </a:solidFill>
                          <a:effectLst/>
                        </a:rPr>
                        <a:t>Traitement de texte avancé</a:t>
                      </a:r>
                    </a:p>
                  </a:txBody>
                  <a:tcPr marL="155042" marR="155042" marT="155042" marB="15504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fr-FR" sz="1500" cap="none" spc="0">
                          <a:solidFill>
                            <a:schemeClr val="tx1"/>
                          </a:solidFill>
                          <a:effectLst/>
                        </a:rPr>
                        <a:t>Corriger l’orthographe, simplifier un texte</a:t>
                      </a:r>
                    </a:p>
                  </a:txBody>
                  <a:tcPr marL="155042" marR="155042" marT="155042" marB="15504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3329665889"/>
                  </a:ext>
                </a:extLst>
              </a:tr>
            </a:tbl>
          </a:graphicData>
        </a:graphic>
      </p:graphicFrame>
    </p:spTree>
    <p:extLst>
      <p:ext uri="{BB962C8B-B14F-4D97-AF65-F5344CB8AC3E}">
        <p14:creationId xmlns:p14="http://schemas.microsoft.com/office/powerpoint/2010/main" val="213792999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696059-9257-717D-F4B7-E6F2F23D3C9B}"/>
              </a:ext>
            </a:extLst>
          </p:cNvPr>
          <p:cNvSpPr>
            <a:spLocks noGrp="1"/>
          </p:cNvSpPr>
          <p:nvPr>
            <p:ph type="title"/>
          </p:nvPr>
        </p:nvSpPr>
        <p:spPr>
          <a:xfrm>
            <a:off x="3090" y="1146342"/>
            <a:ext cx="8906132" cy="994172"/>
          </a:xfrm>
        </p:spPr>
        <p:txBody>
          <a:bodyPr anchor="ctr">
            <a:normAutofit/>
          </a:bodyPr>
          <a:lstStyle/>
          <a:p>
            <a:pPr algn="ctr"/>
            <a:r>
              <a:rPr lang="fr-FR" sz="3000"/>
              <a:t>Amélioration de la qualité et de la </a:t>
            </a:r>
            <a:r>
              <a:rPr lang="fr-FR" sz="3000" dirty="0"/>
              <a:t>précision</a:t>
            </a:r>
          </a:p>
          <a:p>
            <a:endParaRPr lang="fr-FR" sz="3000" dirty="0"/>
          </a:p>
        </p:txBody>
      </p:sp>
      <p:graphicFrame>
        <p:nvGraphicFramePr>
          <p:cNvPr id="5" name="Espace réservé du contenu 4">
            <a:extLst>
              <a:ext uri="{FF2B5EF4-FFF2-40B4-BE49-F238E27FC236}">
                <a16:creationId xmlns:a16="http://schemas.microsoft.com/office/drawing/2014/main" id="{3CB3C9CD-EE89-4039-9A9C-7F9213ED5044}"/>
              </a:ext>
            </a:extLst>
          </p:cNvPr>
          <p:cNvGraphicFramePr>
            <a:graphicFrameLocks noGrp="1"/>
          </p:cNvGraphicFramePr>
          <p:nvPr>
            <p:ph idx="1"/>
          </p:nvPr>
        </p:nvGraphicFramePr>
        <p:xfrm>
          <a:off x="628650" y="2049978"/>
          <a:ext cx="7886701" cy="3368405"/>
        </p:xfrm>
        <a:graphic>
          <a:graphicData uri="http://schemas.openxmlformats.org/drawingml/2006/table">
            <a:tbl>
              <a:tblPr firstRow="1" firstCol="1" bandRow="1">
                <a:noFill/>
                <a:tableStyleId>{5C22544A-7EE6-4342-B048-85BDC9FD1C3A}</a:tableStyleId>
              </a:tblPr>
              <a:tblGrid>
                <a:gridCol w="3564701">
                  <a:extLst>
                    <a:ext uri="{9D8B030D-6E8A-4147-A177-3AD203B41FA5}">
                      <a16:colId xmlns:a16="http://schemas.microsoft.com/office/drawing/2014/main" val="3182764620"/>
                    </a:ext>
                  </a:extLst>
                </a:gridCol>
                <a:gridCol w="4322000">
                  <a:extLst>
                    <a:ext uri="{9D8B030D-6E8A-4147-A177-3AD203B41FA5}">
                      <a16:colId xmlns:a16="http://schemas.microsoft.com/office/drawing/2014/main" val="500663871"/>
                    </a:ext>
                  </a:extLst>
                </a:gridCol>
              </a:tblGrid>
              <a:tr h="698234">
                <a:tc>
                  <a:txBody>
                    <a:bodyPr/>
                    <a:lstStyle/>
                    <a:p>
                      <a:pPr marL="0" algn="l" defTabSz="914400" rtl="0" eaLnBrk="1" latinLnBrk="0" hangingPunct="1">
                        <a:buNone/>
                      </a:pPr>
                      <a:r>
                        <a:rPr lang="fr-FR" sz="1800" b="1" kern="1200" cap="all" spc="150">
                          <a:solidFill>
                            <a:srgbClr val="A7A7A7"/>
                          </a:solidFill>
                          <a:effectLst/>
                          <a:latin typeface="+mn-lt"/>
                          <a:ea typeface="+mn-ea"/>
                          <a:cs typeface="+mn-cs"/>
                        </a:rPr>
                        <a:t>Sous-opportunité</a:t>
                      </a:r>
                      <a:endParaRPr lang="fr-FR" sz="1800" b="1" kern="1200" cap="all" spc="150" dirty="0">
                        <a:solidFill>
                          <a:srgbClr val="A7A7A7"/>
                        </a:solidFill>
                        <a:effectLst/>
                        <a:latin typeface="+mn-lt"/>
                        <a:ea typeface="+mn-ea"/>
                        <a:cs typeface="+mn-cs"/>
                      </a:endParaRPr>
                    </a:p>
                  </a:txBody>
                  <a:tcPr marL="172640" marR="172640" marT="172640" marB="172640" anchor="ctr">
                    <a:lnL w="12700" cmpd="sng">
                      <a:noFill/>
                    </a:lnL>
                    <a:lnR w="12700" cmpd="sng">
                      <a:noFill/>
                    </a:lnR>
                    <a:lnT w="6350" cap="flat" cmpd="sng" algn="ctr">
                      <a:noFill/>
                      <a:prstDash val="solid"/>
                    </a:lnT>
                    <a:lnB w="28575" cap="flat" cmpd="sng" algn="ctr">
                      <a:solidFill>
                        <a:schemeClr val="accent1"/>
                      </a:solidFill>
                      <a:prstDash val="solid"/>
                    </a:lnB>
                    <a:solidFill>
                      <a:schemeClr val="accent2"/>
                    </a:solidFill>
                  </a:tcPr>
                </a:tc>
                <a:tc>
                  <a:txBody>
                    <a:bodyPr/>
                    <a:lstStyle/>
                    <a:p>
                      <a:pPr marL="0" algn="l" defTabSz="914400" rtl="0" eaLnBrk="1" latinLnBrk="0" hangingPunct="1">
                        <a:buNone/>
                      </a:pPr>
                      <a:r>
                        <a:rPr lang="fr-FR" sz="1800" b="1" kern="1200" cap="all" spc="150">
                          <a:solidFill>
                            <a:srgbClr val="A7A7A7"/>
                          </a:solidFill>
                          <a:effectLst/>
                          <a:latin typeface="+mn-lt"/>
                          <a:ea typeface="+mn-ea"/>
                          <a:cs typeface="+mn-cs"/>
                        </a:rPr>
                        <a:t>Exemples</a:t>
                      </a:r>
                      <a:endParaRPr lang="fr-FR" sz="1800" b="1" kern="1200" cap="all" spc="150" dirty="0">
                        <a:solidFill>
                          <a:srgbClr val="A7A7A7"/>
                        </a:solidFill>
                        <a:effectLst/>
                        <a:latin typeface="+mn-lt"/>
                        <a:ea typeface="+mn-ea"/>
                        <a:cs typeface="+mn-cs"/>
                      </a:endParaRPr>
                    </a:p>
                  </a:txBody>
                  <a:tcPr marL="172640" marR="172640" marT="172640" marB="172640" anchor="ctr">
                    <a:lnL w="12700" cmpd="sng">
                      <a:noFill/>
                    </a:lnL>
                    <a:lnR w="12700" cmpd="sng">
                      <a:noFill/>
                    </a:lnR>
                    <a:lnT w="6350" cap="flat" cmpd="sng" algn="ctr">
                      <a:noFill/>
                      <a:prstDash val="solid"/>
                    </a:lnT>
                    <a:lnB w="28575" cap="flat" cmpd="sng" algn="ctr">
                      <a:solidFill>
                        <a:schemeClr val="accent1"/>
                      </a:solidFill>
                      <a:prstDash val="solid"/>
                    </a:lnB>
                    <a:solidFill>
                      <a:schemeClr val="accent2"/>
                    </a:solidFill>
                  </a:tcPr>
                </a:tc>
                <a:extLst>
                  <a:ext uri="{0D108BD9-81ED-4DB2-BD59-A6C34878D82A}">
                    <a16:rowId xmlns:a16="http://schemas.microsoft.com/office/drawing/2014/main" val="2960934294"/>
                  </a:ext>
                </a:extLst>
              </a:tr>
              <a:tr h="890057">
                <a:tc>
                  <a:txBody>
                    <a:bodyPr/>
                    <a:lstStyle/>
                    <a:p>
                      <a:pPr>
                        <a:buNone/>
                      </a:pPr>
                      <a:r>
                        <a:rPr lang="fr-FR" sz="1700" b="1" cap="none" spc="0">
                          <a:solidFill>
                            <a:schemeClr val="tx1"/>
                          </a:solidFill>
                          <a:effectLst/>
                        </a:rPr>
                        <a:t>Clarté &amp; structuration</a:t>
                      </a:r>
                    </a:p>
                  </a:txBody>
                  <a:tcPr marL="172640" marR="172640" marT="172640" marB="172640"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fr-FR" sz="1700" cap="none" spc="0">
                          <a:solidFill>
                            <a:schemeClr val="tx1"/>
                          </a:solidFill>
                          <a:effectLst/>
                        </a:rPr>
                        <a:t>Rewriting de présentation, mise en forme logique</a:t>
                      </a:r>
                    </a:p>
                  </a:txBody>
                  <a:tcPr marL="172640" marR="172640" marT="172640" marB="172640"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599574808"/>
                  </a:ext>
                </a:extLst>
              </a:tr>
              <a:tr h="890057">
                <a:tc>
                  <a:txBody>
                    <a:bodyPr/>
                    <a:lstStyle/>
                    <a:p>
                      <a:pPr>
                        <a:buNone/>
                      </a:pPr>
                      <a:r>
                        <a:rPr lang="fr-FR" sz="1700" b="1" cap="none" spc="0">
                          <a:solidFill>
                            <a:schemeClr val="tx1"/>
                          </a:solidFill>
                          <a:effectLst/>
                        </a:rPr>
                        <a:t>Suggestions d’amélioration</a:t>
                      </a:r>
                    </a:p>
                  </a:txBody>
                  <a:tcPr marL="172640" marR="172640" marT="172640" marB="17264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fr-FR" sz="1700" cap="none" spc="0">
                          <a:solidFill>
                            <a:schemeClr val="tx1"/>
                          </a:solidFill>
                          <a:effectLst/>
                        </a:rPr>
                        <a:t>IA relectrice d’un argumentaire ou d’un support</a:t>
                      </a:r>
                    </a:p>
                  </a:txBody>
                  <a:tcPr marL="172640" marR="172640" marT="172640" marB="172640"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118097706"/>
                  </a:ext>
                </a:extLst>
              </a:tr>
              <a:tr h="890057">
                <a:tc>
                  <a:txBody>
                    <a:bodyPr/>
                    <a:lstStyle/>
                    <a:p>
                      <a:pPr>
                        <a:buNone/>
                      </a:pPr>
                      <a:r>
                        <a:rPr lang="fr-FR" sz="1700" b="1" cap="none" spc="0">
                          <a:solidFill>
                            <a:schemeClr val="tx1"/>
                          </a:solidFill>
                          <a:effectLst/>
                        </a:rPr>
                        <a:t>Détection d’incohérences</a:t>
                      </a:r>
                    </a:p>
                  </a:txBody>
                  <a:tcPr marL="172640" marR="172640" marT="172640" marB="17264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fr-FR" sz="1700" cap="none" spc="0">
                          <a:solidFill>
                            <a:schemeClr val="tx1"/>
                          </a:solidFill>
                          <a:effectLst/>
                        </a:rPr>
                        <a:t>Vérification rapide d’un document ou d’un tableau</a:t>
                      </a:r>
                    </a:p>
                  </a:txBody>
                  <a:tcPr marL="172640" marR="172640" marT="172640" marB="172640"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916508655"/>
                  </a:ext>
                </a:extLst>
              </a:tr>
            </a:tbl>
          </a:graphicData>
        </a:graphic>
      </p:graphicFrame>
    </p:spTree>
    <p:extLst>
      <p:ext uri="{BB962C8B-B14F-4D97-AF65-F5344CB8AC3E}">
        <p14:creationId xmlns:p14="http://schemas.microsoft.com/office/powerpoint/2010/main" val="73087944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2EC5DE-50A4-05A8-D3BC-0668CC3605D4}"/>
              </a:ext>
            </a:extLst>
          </p:cNvPr>
          <p:cNvSpPr>
            <a:spLocks noGrp="1"/>
          </p:cNvSpPr>
          <p:nvPr>
            <p:ph type="title"/>
          </p:nvPr>
        </p:nvSpPr>
        <p:spPr>
          <a:xfrm>
            <a:off x="628650" y="922375"/>
            <a:ext cx="7886700" cy="994172"/>
          </a:xfrm>
        </p:spPr>
        <p:txBody>
          <a:bodyPr anchor="ctr">
            <a:normAutofit fontScale="90000"/>
          </a:bodyPr>
          <a:lstStyle/>
          <a:p>
            <a:pPr algn="ctr"/>
            <a:br>
              <a:rPr lang="fr-FR" dirty="0">
                <a:solidFill>
                  <a:schemeClr val="accent1"/>
                </a:solidFill>
              </a:rPr>
            </a:br>
            <a:r>
              <a:rPr lang="fr-FR" dirty="0">
                <a:solidFill>
                  <a:schemeClr val="accent1"/>
                </a:solidFill>
              </a:rPr>
              <a:t>Stimulation de la créativité et de l’innovation</a:t>
            </a:r>
          </a:p>
          <a:p>
            <a:endParaRPr lang="fr-FR" sz="3075" dirty="0">
              <a:cs typeface="Segoe UI Semibold"/>
            </a:endParaRPr>
          </a:p>
        </p:txBody>
      </p:sp>
      <p:graphicFrame>
        <p:nvGraphicFramePr>
          <p:cNvPr id="5" name="Espace réservé du contenu 4">
            <a:extLst>
              <a:ext uri="{FF2B5EF4-FFF2-40B4-BE49-F238E27FC236}">
                <a16:creationId xmlns:a16="http://schemas.microsoft.com/office/drawing/2014/main" id="{D0CF9E85-27BB-4F7D-B399-BD289B14CB8D}"/>
              </a:ext>
            </a:extLst>
          </p:cNvPr>
          <p:cNvGraphicFramePr>
            <a:graphicFrameLocks noGrp="1"/>
          </p:cNvGraphicFramePr>
          <p:nvPr>
            <p:ph idx="1"/>
          </p:nvPr>
        </p:nvGraphicFramePr>
        <p:xfrm>
          <a:off x="628650" y="2234686"/>
          <a:ext cx="7886701" cy="3202628"/>
        </p:xfrm>
        <a:graphic>
          <a:graphicData uri="http://schemas.openxmlformats.org/drawingml/2006/table">
            <a:tbl>
              <a:tblPr firstRow="1" firstCol="1" bandRow="1">
                <a:noFill/>
                <a:tableStyleId>{5C22544A-7EE6-4342-B048-85BDC9FD1C3A}</a:tableStyleId>
              </a:tblPr>
              <a:tblGrid>
                <a:gridCol w="3427496">
                  <a:extLst>
                    <a:ext uri="{9D8B030D-6E8A-4147-A177-3AD203B41FA5}">
                      <a16:colId xmlns:a16="http://schemas.microsoft.com/office/drawing/2014/main" val="3292660218"/>
                    </a:ext>
                  </a:extLst>
                </a:gridCol>
                <a:gridCol w="4459205">
                  <a:extLst>
                    <a:ext uri="{9D8B030D-6E8A-4147-A177-3AD203B41FA5}">
                      <a16:colId xmlns:a16="http://schemas.microsoft.com/office/drawing/2014/main" val="2277324133"/>
                    </a:ext>
                  </a:extLst>
                </a:gridCol>
              </a:tblGrid>
              <a:tr h="671360">
                <a:tc>
                  <a:txBody>
                    <a:bodyPr/>
                    <a:lstStyle/>
                    <a:p>
                      <a:pPr marL="0" algn="l" defTabSz="914400" rtl="0" eaLnBrk="1" latinLnBrk="0" hangingPunct="1">
                        <a:buNone/>
                      </a:pPr>
                      <a:r>
                        <a:rPr lang="fr-FR" sz="1800" b="1" kern="1200" cap="all" spc="150">
                          <a:solidFill>
                            <a:srgbClr val="A7A7A7"/>
                          </a:solidFill>
                          <a:effectLst/>
                          <a:latin typeface="+mn-lt"/>
                          <a:ea typeface="+mn-ea"/>
                          <a:cs typeface="+mn-cs"/>
                        </a:rPr>
                        <a:t>Sous-opportunité</a:t>
                      </a:r>
                      <a:endParaRPr lang="fr-FR" sz="1400"/>
                    </a:p>
                  </a:txBody>
                  <a:tcPr marL="165995" marR="165995" marT="165995" marB="165995" anchor="ctr">
                    <a:lnL w="12700" cmpd="sng">
                      <a:noFill/>
                    </a:lnL>
                    <a:lnR w="12700" cmpd="sng">
                      <a:noFill/>
                    </a:lnR>
                    <a:lnT w="6350" cap="flat" cmpd="sng" algn="ctr">
                      <a:noFill/>
                      <a:prstDash val="solid"/>
                    </a:lnT>
                    <a:lnB w="19050" cap="flat" cmpd="sng" algn="ctr">
                      <a:noFill/>
                      <a:prstDash val="solid"/>
                    </a:lnB>
                    <a:solidFill>
                      <a:schemeClr val="accent1"/>
                    </a:solidFill>
                  </a:tcPr>
                </a:tc>
                <a:tc>
                  <a:txBody>
                    <a:bodyPr/>
                    <a:lstStyle/>
                    <a:p>
                      <a:pPr marL="0" algn="l" defTabSz="914400" rtl="0" eaLnBrk="1" latinLnBrk="0" hangingPunct="1">
                        <a:buNone/>
                      </a:pPr>
                      <a:r>
                        <a:rPr lang="fr-FR" sz="1800" b="1" kern="1200" cap="all" spc="150">
                          <a:solidFill>
                            <a:srgbClr val="A7A7A7"/>
                          </a:solidFill>
                          <a:effectLst/>
                          <a:latin typeface="+mn-lt"/>
                          <a:ea typeface="+mn-ea"/>
                          <a:cs typeface="+mn-cs"/>
                        </a:rPr>
                        <a:t>Exemples</a:t>
                      </a:r>
                      <a:endParaRPr lang="fr-FR" sz="1400"/>
                    </a:p>
                  </a:txBody>
                  <a:tcPr marL="165995" marR="165995" marT="165995" marB="165995" anchor="ctr">
                    <a:lnL w="12700" cmpd="sng">
                      <a:noFill/>
                    </a:lnL>
                    <a:lnR w="12700" cmpd="sng">
                      <a:noFill/>
                    </a:lnR>
                    <a:lnT w="6350" cap="flat" cmpd="sng" algn="ctr">
                      <a:noFill/>
                      <a:prstDash val="solid"/>
                    </a:lnT>
                    <a:lnB w="19050" cap="flat" cmpd="sng" algn="ctr">
                      <a:noFill/>
                      <a:prstDash val="solid"/>
                    </a:lnB>
                    <a:solidFill>
                      <a:schemeClr val="accent1"/>
                    </a:solidFill>
                  </a:tcPr>
                </a:tc>
                <a:extLst>
                  <a:ext uri="{0D108BD9-81ED-4DB2-BD59-A6C34878D82A}">
                    <a16:rowId xmlns:a16="http://schemas.microsoft.com/office/drawing/2014/main" val="3399227458"/>
                  </a:ext>
                </a:extLst>
              </a:tr>
              <a:tr h="616028">
                <a:tc>
                  <a:txBody>
                    <a:bodyPr/>
                    <a:lstStyle/>
                    <a:p>
                      <a:pPr>
                        <a:buNone/>
                      </a:pPr>
                      <a:r>
                        <a:rPr lang="fr-FR" sz="1600" b="1" cap="none" spc="0">
                          <a:solidFill>
                            <a:schemeClr val="tx1"/>
                          </a:solidFill>
                          <a:effectLst/>
                        </a:rPr>
                        <a:t>Idéation &amp; brainstorming</a:t>
                      </a:r>
                    </a:p>
                  </a:txBody>
                  <a:tcPr marL="165995" marR="165995" marT="165995" marB="16599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fr-FR" sz="1600" cap="none" spc="0">
                          <a:solidFill>
                            <a:schemeClr val="tx1"/>
                          </a:solidFill>
                          <a:effectLst/>
                        </a:rPr>
                        <a:t>Trouver un nom de produit, des idées d’atelier</a:t>
                      </a:r>
                    </a:p>
                  </a:txBody>
                  <a:tcPr marL="165995" marR="165995" marT="165995" marB="165995"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14296257"/>
                  </a:ext>
                </a:extLst>
              </a:tr>
              <a:tr h="855799">
                <a:tc>
                  <a:txBody>
                    <a:bodyPr/>
                    <a:lstStyle/>
                    <a:p>
                      <a:pPr>
                        <a:buNone/>
                      </a:pPr>
                      <a:r>
                        <a:rPr lang="fr-FR" sz="1600" b="1" cap="none" spc="0">
                          <a:solidFill>
                            <a:schemeClr val="tx1"/>
                          </a:solidFill>
                          <a:effectLst/>
                        </a:rPr>
                        <a:t>Prototypage rapide</a:t>
                      </a:r>
                    </a:p>
                  </a:txBody>
                  <a:tcPr marL="165995" marR="165995" marT="165995" marB="16599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fr-FR" sz="1600" cap="none" spc="0">
                          <a:solidFill>
                            <a:schemeClr val="tx1"/>
                          </a:solidFill>
                          <a:effectLst/>
                        </a:rPr>
                        <a:t>Créer un message type, un modèle de formulaire</a:t>
                      </a:r>
                    </a:p>
                  </a:txBody>
                  <a:tcPr marL="165995" marR="165995" marT="165995" marB="16599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911061143"/>
                  </a:ext>
                </a:extLst>
              </a:tr>
              <a:tr h="855799">
                <a:tc>
                  <a:txBody>
                    <a:bodyPr/>
                    <a:lstStyle/>
                    <a:p>
                      <a:pPr>
                        <a:buNone/>
                      </a:pPr>
                      <a:r>
                        <a:rPr lang="fr-FR" sz="1600" b="1" cap="none" spc="0">
                          <a:solidFill>
                            <a:schemeClr val="tx1"/>
                          </a:solidFill>
                          <a:effectLst/>
                        </a:rPr>
                        <a:t>Exploration de formats</a:t>
                      </a:r>
                    </a:p>
                  </a:txBody>
                  <a:tcPr marL="165995" marR="165995" marT="165995" marB="165995"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fr-FR" sz="1600" cap="none" spc="0">
                          <a:solidFill>
                            <a:schemeClr val="tx1"/>
                          </a:solidFill>
                          <a:effectLst/>
                        </a:rPr>
                        <a:t>Générer une vidéo, une image ou un support original</a:t>
                      </a:r>
                    </a:p>
                  </a:txBody>
                  <a:tcPr marL="165995" marR="165995" marT="165995" marB="165995"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4070642189"/>
                  </a:ext>
                </a:extLst>
              </a:tr>
            </a:tbl>
          </a:graphicData>
        </a:graphic>
      </p:graphicFrame>
    </p:spTree>
    <p:extLst>
      <p:ext uri="{BB962C8B-B14F-4D97-AF65-F5344CB8AC3E}">
        <p14:creationId xmlns:p14="http://schemas.microsoft.com/office/powerpoint/2010/main" val="257697043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BEB2B-CB27-32AC-C5B8-DF52B7577225}"/>
              </a:ext>
            </a:extLst>
          </p:cNvPr>
          <p:cNvSpPr>
            <a:spLocks noGrp="1"/>
          </p:cNvSpPr>
          <p:nvPr>
            <p:ph type="title"/>
          </p:nvPr>
        </p:nvSpPr>
        <p:spPr>
          <a:xfrm>
            <a:off x="628650" y="922375"/>
            <a:ext cx="7886700" cy="994172"/>
          </a:xfrm>
        </p:spPr>
        <p:txBody>
          <a:bodyPr anchor="ctr">
            <a:normAutofit/>
          </a:bodyPr>
          <a:lstStyle/>
          <a:p>
            <a:r>
              <a:rPr lang="fr-FR" dirty="0">
                <a:solidFill>
                  <a:schemeClr val="accent1"/>
                </a:solidFill>
                <a:cs typeface="Segoe UI Semibold"/>
              </a:rPr>
              <a:t>Accès facilité à la connaissance et veille</a:t>
            </a:r>
            <a:endParaRPr lang="fr-FR" dirty="0">
              <a:solidFill>
                <a:schemeClr val="accent1"/>
              </a:solidFill>
            </a:endParaRPr>
          </a:p>
        </p:txBody>
      </p:sp>
      <p:graphicFrame>
        <p:nvGraphicFramePr>
          <p:cNvPr id="5" name="Espace réservé du contenu 4">
            <a:extLst>
              <a:ext uri="{FF2B5EF4-FFF2-40B4-BE49-F238E27FC236}">
                <a16:creationId xmlns:a16="http://schemas.microsoft.com/office/drawing/2014/main" id="{E8A8B586-FFE4-470B-B04E-C90175845305}"/>
              </a:ext>
            </a:extLst>
          </p:cNvPr>
          <p:cNvGraphicFramePr>
            <a:graphicFrameLocks noGrp="1"/>
          </p:cNvGraphicFramePr>
          <p:nvPr>
            <p:ph idx="1"/>
          </p:nvPr>
        </p:nvGraphicFramePr>
        <p:xfrm>
          <a:off x="628650" y="2158291"/>
          <a:ext cx="7886700" cy="3151774"/>
        </p:xfrm>
        <a:graphic>
          <a:graphicData uri="http://schemas.openxmlformats.org/drawingml/2006/table">
            <a:tbl>
              <a:tblPr firstRow="1" firstCol="1" bandRow="1">
                <a:noFill/>
                <a:tableStyleId>{5C22544A-7EE6-4342-B048-85BDC9FD1C3A}</a:tableStyleId>
              </a:tblPr>
              <a:tblGrid>
                <a:gridCol w="3602118">
                  <a:extLst>
                    <a:ext uri="{9D8B030D-6E8A-4147-A177-3AD203B41FA5}">
                      <a16:colId xmlns:a16="http://schemas.microsoft.com/office/drawing/2014/main" val="2027655193"/>
                    </a:ext>
                  </a:extLst>
                </a:gridCol>
                <a:gridCol w="4284582">
                  <a:extLst>
                    <a:ext uri="{9D8B030D-6E8A-4147-A177-3AD203B41FA5}">
                      <a16:colId xmlns:a16="http://schemas.microsoft.com/office/drawing/2014/main" val="2819768819"/>
                    </a:ext>
                  </a:extLst>
                </a:gridCol>
              </a:tblGrid>
              <a:tr h="705563">
                <a:tc>
                  <a:txBody>
                    <a:bodyPr/>
                    <a:lstStyle/>
                    <a:p>
                      <a:pPr>
                        <a:buNone/>
                      </a:pPr>
                      <a:r>
                        <a:rPr lang="fr-FR" sz="2000" b="1" cap="all" spc="150">
                          <a:solidFill>
                            <a:schemeClr val="tx1"/>
                          </a:solidFill>
                          <a:effectLst/>
                        </a:rPr>
                        <a:t>Sous-opportunité</a:t>
                      </a:r>
                    </a:p>
                  </a:txBody>
                  <a:tcPr marL="174452" marR="174452" marT="174452" marB="174452" anchor="ctr">
                    <a:lnL w="12700" cmpd="sng">
                      <a:noFill/>
                    </a:lnL>
                    <a:lnR w="12700" cmpd="sng">
                      <a:noFill/>
                    </a:lnR>
                    <a:lnT w="6350" cap="flat" cmpd="sng" algn="ctr">
                      <a:noFill/>
                      <a:prstDash val="solid"/>
                    </a:lnT>
                    <a:lnB w="19050" cap="flat" cmpd="sng" algn="ctr">
                      <a:noFill/>
                      <a:prstDash val="solid"/>
                    </a:lnB>
                    <a:solidFill>
                      <a:schemeClr val="accent3"/>
                    </a:solidFill>
                  </a:tcPr>
                </a:tc>
                <a:tc>
                  <a:txBody>
                    <a:bodyPr/>
                    <a:lstStyle/>
                    <a:p>
                      <a:pPr>
                        <a:buNone/>
                      </a:pPr>
                      <a:r>
                        <a:rPr lang="fr-FR" sz="2000" b="1" cap="all" spc="150">
                          <a:solidFill>
                            <a:schemeClr val="tx1"/>
                          </a:solidFill>
                          <a:effectLst/>
                        </a:rPr>
                        <a:t>Exemples</a:t>
                      </a:r>
                    </a:p>
                  </a:txBody>
                  <a:tcPr marL="174452" marR="174452" marT="174452" marB="174452" anchor="ctr">
                    <a:lnL w="12700" cmpd="sng">
                      <a:noFill/>
                    </a:lnL>
                    <a:lnR w="12700" cmpd="sng">
                      <a:noFill/>
                    </a:lnR>
                    <a:lnT w="6350" cap="flat" cmpd="sng" algn="ctr">
                      <a:noFill/>
                      <a:prstDash val="solid"/>
                    </a:lnT>
                    <a:lnB w="19050" cap="flat" cmpd="sng" algn="ctr">
                      <a:noFill/>
                      <a:prstDash val="solid"/>
                    </a:lnB>
                    <a:solidFill>
                      <a:schemeClr val="accent3"/>
                    </a:solidFill>
                  </a:tcPr>
                </a:tc>
                <a:extLst>
                  <a:ext uri="{0D108BD9-81ED-4DB2-BD59-A6C34878D82A}">
                    <a16:rowId xmlns:a16="http://schemas.microsoft.com/office/drawing/2014/main" val="3724559071"/>
                  </a:ext>
                </a:extLst>
              </a:tr>
              <a:tr h="899399">
                <a:tc>
                  <a:txBody>
                    <a:bodyPr/>
                    <a:lstStyle/>
                    <a:p>
                      <a:pPr>
                        <a:buNone/>
                      </a:pPr>
                      <a:r>
                        <a:rPr lang="fr-FR" sz="1700" b="1" cap="none" spc="0">
                          <a:solidFill>
                            <a:schemeClr val="tx1"/>
                          </a:solidFill>
                          <a:effectLst/>
                        </a:rPr>
                        <a:t>Recherche assistée</a:t>
                      </a:r>
                    </a:p>
                  </a:txBody>
                  <a:tcPr marL="174452" marR="174452" marT="174452" marB="174452"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fr-FR" sz="1700" cap="none" spc="0">
                          <a:solidFill>
                            <a:schemeClr val="tx1"/>
                          </a:solidFill>
                          <a:effectLst/>
                        </a:rPr>
                        <a:t>Utiliser Perplexity ou Claude pour des synthèses</a:t>
                      </a:r>
                      <a:endParaRPr lang="fr-FR" sz="1700" cap="none" spc="0" dirty="0">
                        <a:solidFill>
                          <a:schemeClr val="tx1"/>
                        </a:solidFill>
                        <a:effectLst/>
                      </a:endParaRPr>
                    </a:p>
                  </a:txBody>
                  <a:tcPr marL="174452" marR="174452" marT="174452" marB="174452"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560914792"/>
                  </a:ext>
                </a:extLst>
              </a:tr>
              <a:tr h="899399">
                <a:tc>
                  <a:txBody>
                    <a:bodyPr/>
                    <a:lstStyle/>
                    <a:p>
                      <a:pPr>
                        <a:buNone/>
                      </a:pPr>
                      <a:r>
                        <a:rPr lang="fr-FR" sz="1700" b="1" cap="none" spc="0">
                          <a:solidFill>
                            <a:schemeClr val="tx1"/>
                          </a:solidFill>
                          <a:effectLst/>
                        </a:rPr>
                        <a:t>Analyse documentaire</a:t>
                      </a:r>
                    </a:p>
                  </a:txBody>
                  <a:tcPr marL="174452" marR="174452" marT="174452" marB="17445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fr-FR" sz="1700" cap="none" spc="0">
                          <a:solidFill>
                            <a:schemeClr val="tx1"/>
                          </a:solidFill>
                          <a:effectLst/>
                        </a:rPr>
                        <a:t>Résumer un article, un rapport, une réglementation</a:t>
                      </a:r>
                    </a:p>
                  </a:txBody>
                  <a:tcPr marL="174452" marR="174452" marT="174452" marB="17445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67189599"/>
                  </a:ext>
                </a:extLst>
              </a:tr>
              <a:tr h="647413">
                <a:tc>
                  <a:txBody>
                    <a:bodyPr/>
                    <a:lstStyle/>
                    <a:p>
                      <a:pPr>
                        <a:buNone/>
                      </a:pPr>
                      <a:r>
                        <a:rPr lang="fr-FR" sz="1700" b="1" cap="none" spc="0">
                          <a:solidFill>
                            <a:schemeClr val="tx1"/>
                          </a:solidFill>
                          <a:effectLst/>
                        </a:rPr>
                        <a:t>Veille sectorielle</a:t>
                      </a:r>
                    </a:p>
                  </a:txBody>
                  <a:tcPr marL="174452" marR="174452" marT="174452" marB="174452"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fr-FR" sz="1700" cap="none" spc="0">
                          <a:solidFill>
                            <a:schemeClr val="tx1"/>
                          </a:solidFill>
                          <a:effectLst/>
                        </a:rPr>
                        <a:t>Lister les tendances IA dans son secteur</a:t>
                      </a:r>
                    </a:p>
                  </a:txBody>
                  <a:tcPr marL="174452" marR="174452" marT="174452" marB="174452"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1191276347"/>
                  </a:ext>
                </a:extLst>
              </a:tr>
            </a:tbl>
          </a:graphicData>
        </a:graphic>
      </p:graphicFrame>
    </p:spTree>
    <p:extLst>
      <p:ext uri="{BB962C8B-B14F-4D97-AF65-F5344CB8AC3E}">
        <p14:creationId xmlns:p14="http://schemas.microsoft.com/office/powerpoint/2010/main" val="238272760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980FF2-5F38-3FB9-349D-1B103D5C6D7F}"/>
              </a:ext>
            </a:extLst>
          </p:cNvPr>
          <p:cNvSpPr>
            <a:spLocks noGrp="1"/>
          </p:cNvSpPr>
          <p:nvPr>
            <p:ph type="title"/>
          </p:nvPr>
        </p:nvSpPr>
        <p:spPr>
          <a:xfrm>
            <a:off x="628650" y="922375"/>
            <a:ext cx="7886700" cy="994172"/>
          </a:xfrm>
        </p:spPr>
        <p:txBody>
          <a:bodyPr anchor="ctr">
            <a:normAutofit fontScale="90000"/>
          </a:bodyPr>
          <a:lstStyle/>
          <a:p>
            <a:r>
              <a:rPr lang="fr-FR" dirty="0">
                <a:solidFill>
                  <a:schemeClr val="accent1"/>
                </a:solidFill>
                <a:cs typeface="Segoe UI Semibold"/>
              </a:rPr>
              <a:t>Amélioration de la collaboration et de la communication</a:t>
            </a:r>
            <a:endParaRPr lang="fr-FR" dirty="0">
              <a:solidFill>
                <a:schemeClr val="accent1"/>
              </a:solidFill>
            </a:endParaRPr>
          </a:p>
        </p:txBody>
      </p:sp>
      <p:graphicFrame>
        <p:nvGraphicFramePr>
          <p:cNvPr id="5" name="Espace réservé du contenu 4">
            <a:extLst>
              <a:ext uri="{FF2B5EF4-FFF2-40B4-BE49-F238E27FC236}">
                <a16:creationId xmlns:a16="http://schemas.microsoft.com/office/drawing/2014/main" id="{10E91D00-F4BA-45BD-AEEC-4BC335EFA5F8}"/>
              </a:ext>
            </a:extLst>
          </p:cNvPr>
          <p:cNvGraphicFramePr>
            <a:graphicFrameLocks noGrp="1"/>
          </p:cNvGraphicFramePr>
          <p:nvPr>
            <p:ph idx="1"/>
          </p:nvPr>
        </p:nvGraphicFramePr>
        <p:xfrm>
          <a:off x="628650" y="2216821"/>
          <a:ext cx="7886701" cy="3034716"/>
        </p:xfrm>
        <a:graphic>
          <a:graphicData uri="http://schemas.openxmlformats.org/drawingml/2006/table">
            <a:tbl>
              <a:tblPr firstRow="1" firstCol="1" bandRow="1">
                <a:noFill/>
                <a:tableStyleId>{5C22544A-7EE6-4342-B048-85BDC9FD1C3A}</a:tableStyleId>
              </a:tblPr>
              <a:tblGrid>
                <a:gridCol w="3803835">
                  <a:extLst>
                    <a:ext uri="{9D8B030D-6E8A-4147-A177-3AD203B41FA5}">
                      <a16:colId xmlns:a16="http://schemas.microsoft.com/office/drawing/2014/main" val="844907721"/>
                    </a:ext>
                  </a:extLst>
                </a:gridCol>
                <a:gridCol w="4082866">
                  <a:extLst>
                    <a:ext uri="{9D8B030D-6E8A-4147-A177-3AD203B41FA5}">
                      <a16:colId xmlns:a16="http://schemas.microsoft.com/office/drawing/2014/main" val="478257572"/>
                    </a:ext>
                  </a:extLst>
                </a:gridCol>
              </a:tblGrid>
              <a:tr h="629064">
                <a:tc>
                  <a:txBody>
                    <a:bodyPr/>
                    <a:lstStyle/>
                    <a:p>
                      <a:pPr>
                        <a:buNone/>
                      </a:pPr>
                      <a:r>
                        <a:rPr lang="fr-FR" sz="1800" b="1" cap="all" spc="150">
                          <a:solidFill>
                            <a:schemeClr val="tx1"/>
                          </a:solidFill>
                          <a:effectLst/>
                        </a:rPr>
                        <a:t>Sous-opportunité</a:t>
                      </a:r>
                    </a:p>
                  </a:txBody>
                  <a:tcPr marL="155538" marR="155538" marT="155538" marB="155538" anchor="ctr">
                    <a:lnL w="12700" cmpd="sng">
                      <a:noFill/>
                    </a:lnL>
                    <a:lnR w="12700" cmpd="sng">
                      <a:noFill/>
                    </a:lnR>
                    <a:lnT w="6350" cap="flat" cmpd="sng" algn="ctr">
                      <a:noFill/>
                      <a:prstDash val="solid"/>
                    </a:lnT>
                    <a:lnB w="6350" cap="flat" cmpd="sng" algn="ctr">
                      <a:solidFill>
                        <a:schemeClr val="tx1"/>
                      </a:solidFill>
                      <a:prstDash val="solid"/>
                    </a:lnB>
                    <a:solidFill>
                      <a:schemeClr val="accent2"/>
                    </a:solidFill>
                  </a:tcPr>
                </a:tc>
                <a:tc>
                  <a:txBody>
                    <a:bodyPr/>
                    <a:lstStyle/>
                    <a:p>
                      <a:pPr>
                        <a:buNone/>
                      </a:pPr>
                      <a:r>
                        <a:rPr lang="fr-FR" sz="1800" b="1" cap="all" spc="150">
                          <a:solidFill>
                            <a:schemeClr val="tx1"/>
                          </a:solidFill>
                          <a:effectLst/>
                        </a:rPr>
                        <a:t>Exemples</a:t>
                      </a:r>
                    </a:p>
                  </a:txBody>
                  <a:tcPr marL="155538" marR="155538" marT="155538" marB="155538" anchor="ctr">
                    <a:lnL w="12700" cmpd="sng">
                      <a:noFill/>
                    </a:lnL>
                    <a:lnR w="12700" cmpd="sng">
                      <a:noFill/>
                    </a:lnR>
                    <a:lnT w="6350" cap="flat" cmpd="sng" algn="ctr">
                      <a:noFill/>
                      <a:prstDash val="solid"/>
                    </a:lnT>
                    <a:lnB w="6350" cap="flat" cmpd="sng" algn="ctr">
                      <a:solidFill>
                        <a:schemeClr val="tx1"/>
                      </a:solidFill>
                      <a:prstDash val="solid"/>
                    </a:lnB>
                    <a:solidFill>
                      <a:schemeClr val="accent2"/>
                    </a:solidFill>
                  </a:tcPr>
                </a:tc>
                <a:extLst>
                  <a:ext uri="{0D108BD9-81ED-4DB2-BD59-A6C34878D82A}">
                    <a16:rowId xmlns:a16="http://schemas.microsoft.com/office/drawing/2014/main" val="774499041"/>
                  </a:ext>
                </a:extLst>
              </a:tr>
              <a:tr h="801884">
                <a:tc>
                  <a:txBody>
                    <a:bodyPr/>
                    <a:lstStyle/>
                    <a:p>
                      <a:pPr>
                        <a:buNone/>
                      </a:pPr>
                      <a:r>
                        <a:rPr lang="fr-FR" sz="1500" b="1" cap="none" spc="0">
                          <a:solidFill>
                            <a:schemeClr val="tx1"/>
                          </a:solidFill>
                          <a:effectLst/>
                        </a:rPr>
                        <a:t>Animation de réunions</a:t>
                      </a:r>
                    </a:p>
                  </a:txBody>
                  <a:tcPr marL="155538" marR="155538" marT="155538" marB="15553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500" cap="none" spc="0">
                          <a:solidFill>
                            <a:schemeClr val="tx1"/>
                          </a:solidFill>
                          <a:effectLst/>
                        </a:rPr>
                        <a:t>Générer un ordre du jour, une synthèse post-réunion</a:t>
                      </a:r>
                    </a:p>
                  </a:txBody>
                  <a:tcPr marL="155538" marR="155538" marT="155538" marB="15553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50507425"/>
                  </a:ext>
                </a:extLst>
              </a:tr>
              <a:tr h="801884">
                <a:tc>
                  <a:txBody>
                    <a:bodyPr/>
                    <a:lstStyle/>
                    <a:p>
                      <a:pPr>
                        <a:buNone/>
                      </a:pPr>
                      <a:r>
                        <a:rPr lang="fr-FR" sz="1500" b="1" cap="none" spc="0">
                          <a:solidFill>
                            <a:schemeClr val="tx1"/>
                          </a:solidFill>
                          <a:effectLst/>
                        </a:rPr>
                        <a:t>Reformulation pour différents publics</a:t>
                      </a:r>
                    </a:p>
                  </a:txBody>
                  <a:tcPr marL="155538" marR="155538" marT="155538" marB="15553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500" cap="none" spc="0">
                          <a:solidFill>
                            <a:schemeClr val="tx1"/>
                          </a:solidFill>
                          <a:effectLst/>
                        </a:rPr>
                        <a:t>Adapter un message pour un manager, un client, un collaborateur</a:t>
                      </a:r>
                    </a:p>
                  </a:txBody>
                  <a:tcPr marL="155538" marR="155538" marT="155538" marB="15553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52283858"/>
                  </a:ext>
                </a:extLst>
              </a:tr>
              <a:tr h="801884">
                <a:tc>
                  <a:txBody>
                    <a:bodyPr/>
                    <a:lstStyle/>
                    <a:p>
                      <a:pPr>
                        <a:buNone/>
                      </a:pPr>
                      <a:r>
                        <a:rPr lang="fr-FR" sz="1500" b="1" cap="none" spc="0">
                          <a:solidFill>
                            <a:schemeClr val="tx1"/>
                          </a:solidFill>
                          <a:effectLst/>
                        </a:rPr>
                        <a:t>Communication multicanale</a:t>
                      </a:r>
                    </a:p>
                  </a:txBody>
                  <a:tcPr marL="155538" marR="155538" marT="155538" marB="155538"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fr-FR" sz="1500" cap="none" spc="0" dirty="0">
                          <a:solidFill>
                            <a:schemeClr val="tx1"/>
                          </a:solidFill>
                          <a:effectLst/>
                        </a:rPr>
                        <a:t>Créer un post LinkedIn, une newsletter, une alerte interne</a:t>
                      </a:r>
                    </a:p>
                  </a:txBody>
                  <a:tcPr marL="155538" marR="155538" marT="155538" marB="155538"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483954353"/>
                  </a:ext>
                </a:extLst>
              </a:tr>
            </a:tbl>
          </a:graphicData>
        </a:graphic>
      </p:graphicFrame>
    </p:spTree>
    <p:extLst>
      <p:ext uri="{BB962C8B-B14F-4D97-AF65-F5344CB8AC3E}">
        <p14:creationId xmlns:p14="http://schemas.microsoft.com/office/powerpoint/2010/main" val="92913337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1D0317-2F5A-5D54-1D29-C439E385F819}"/>
              </a:ext>
            </a:extLst>
          </p:cNvPr>
          <p:cNvSpPr>
            <a:spLocks noGrp="1"/>
          </p:cNvSpPr>
          <p:nvPr>
            <p:ph type="title"/>
          </p:nvPr>
        </p:nvSpPr>
        <p:spPr>
          <a:xfrm>
            <a:off x="-475735" y="1146341"/>
            <a:ext cx="7886700" cy="994172"/>
          </a:xfrm>
        </p:spPr>
        <p:txBody>
          <a:bodyPr anchor="ctr">
            <a:normAutofit/>
          </a:bodyPr>
          <a:lstStyle/>
          <a:p>
            <a:pPr algn="ctr"/>
            <a:r>
              <a:rPr lang="fr-FR" dirty="0">
                <a:solidFill>
                  <a:schemeClr val="accent1"/>
                </a:solidFill>
              </a:rPr>
              <a:t>Soutien à la prise de décision</a:t>
            </a:r>
          </a:p>
          <a:p>
            <a:endParaRPr lang="fr-FR" sz="2325" dirty="0">
              <a:cs typeface="Segoe UI Semibold"/>
            </a:endParaRPr>
          </a:p>
        </p:txBody>
      </p:sp>
      <p:graphicFrame>
        <p:nvGraphicFramePr>
          <p:cNvPr id="5" name="Espace réservé du contenu 4">
            <a:extLst>
              <a:ext uri="{FF2B5EF4-FFF2-40B4-BE49-F238E27FC236}">
                <a16:creationId xmlns:a16="http://schemas.microsoft.com/office/drawing/2014/main" id="{C93AD693-5A69-4BE8-B459-9152AF419AC6}"/>
              </a:ext>
            </a:extLst>
          </p:cNvPr>
          <p:cNvGraphicFramePr>
            <a:graphicFrameLocks noGrp="1"/>
          </p:cNvGraphicFramePr>
          <p:nvPr>
            <p:ph idx="1"/>
          </p:nvPr>
        </p:nvGraphicFramePr>
        <p:xfrm>
          <a:off x="628650" y="2155868"/>
          <a:ext cx="7886700" cy="3156624"/>
        </p:xfrm>
        <a:graphic>
          <a:graphicData uri="http://schemas.openxmlformats.org/drawingml/2006/table">
            <a:tbl>
              <a:tblPr firstRow="1" firstCol="1" bandRow="1">
                <a:noFill/>
                <a:tableStyleId>{5C22544A-7EE6-4342-B048-85BDC9FD1C3A}</a:tableStyleId>
              </a:tblPr>
              <a:tblGrid>
                <a:gridCol w="3607660">
                  <a:extLst>
                    <a:ext uri="{9D8B030D-6E8A-4147-A177-3AD203B41FA5}">
                      <a16:colId xmlns:a16="http://schemas.microsoft.com/office/drawing/2014/main" val="1844543632"/>
                    </a:ext>
                  </a:extLst>
                </a:gridCol>
                <a:gridCol w="4279040">
                  <a:extLst>
                    <a:ext uri="{9D8B030D-6E8A-4147-A177-3AD203B41FA5}">
                      <a16:colId xmlns:a16="http://schemas.microsoft.com/office/drawing/2014/main" val="2477601031"/>
                    </a:ext>
                  </a:extLst>
                </a:gridCol>
              </a:tblGrid>
              <a:tr h="706649">
                <a:tc>
                  <a:txBody>
                    <a:bodyPr/>
                    <a:lstStyle/>
                    <a:p>
                      <a:pPr>
                        <a:buNone/>
                      </a:pPr>
                      <a:r>
                        <a:rPr lang="fr-FR" sz="2000" b="1" cap="all" spc="150">
                          <a:solidFill>
                            <a:schemeClr val="bg1"/>
                          </a:solidFill>
                          <a:effectLst/>
                        </a:rPr>
                        <a:t>Sous-opportunité</a:t>
                      </a:r>
                      <a:endParaRPr lang="fr-FR" sz="2000" b="1" cap="all" spc="150" dirty="0">
                        <a:solidFill>
                          <a:schemeClr val="bg1"/>
                        </a:solidFill>
                        <a:effectLst/>
                      </a:endParaRPr>
                    </a:p>
                  </a:txBody>
                  <a:tcPr marL="174721" marR="174721" marT="174721" marB="174721" anchor="ctr">
                    <a:lnL w="12700" cmpd="sng">
                      <a:noFill/>
                    </a:lnL>
                    <a:lnR w="12700" cmpd="sng">
                      <a:noFill/>
                    </a:lnR>
                    <a:lnT w="6350" cap="flat" cmpd="sng" algn="ctr">
                      <a:noFill/>
                      <a:prstDash val="solid"/>
                    </a:lnT>
                    <a:lnB w="6350" cap="flat" cmpd="sng" algn="ctr">
                      <a:solidFill>
                        <a:schemeClr val="tx1"/>
                      </a:solidFill>
                      <a:prstDash val="solid"/>
                    </a:lnB>
                    <a:solidFill>
                      <a:schemeClr val="tx2"/>
                    </a:solidFill>
                  </a:tcPr>
                </a:tc>
                <a:tc>
                  <a:txBody>
                    <a:bodyPr/>
                    <a:lstStyle/>
                    <a:p>
                      <a:pPr>
                        <a:buNone/>
                      </a:pPr>
                      <a:r>
                        <a:rPr lang="fr-FR" sz="2000" b="1" cap="all" spc="150">
                          <a:solidFill>
                            <a:schemeClr val="bg1"/>
                          </a:solidFill>
                          <a:effectLst/>
                        </a:rPr>
                        <a:t>Exemples</a:t>
                      </a:r>
                      <a:endParaRPr lang="fr-FR" sz="2000" b="1" cap="all" spc="150" dirty="0">
                        <a:solidFill>
                          <a:schemeClr val="bg1"/>
                        </a:solidFill>
                        <a:effectLst/>
                      </a:endParaRPr>
                    </a:p>
                  </a:txBody>
                  <a:tcPr marL="174721" marR="174721" marT="174721" marB="174721" anchor="ctr">
                    <a:lnL w="12700" cmpd="sng">
                      <a:noFill/>
                    </a:lnL>
                    <a:lnR w="12700" cmpd="sng">
                      <a:noFill/>
                    </a:lnR>
                    <a:lnT w="6350" cap="flat" cmpd="sng" algn="ctr">
                      <a:noFill/>
                      <a:prstDash val="solid"/>
                    </a:lnT>
                    <a:lnB w="6350" cap="flat" cmpd="sng" algn="ctr">
                      <a:solidFill>
                        <a:schemeClr val="tx1"/>
                      </a:solidFill>
                      <a:prstDash val="solid"/>
                    </a:lnB>
                    <a:solidFill>
                      <a:schemeClr val="tx2"/>
                    </a:solidFill>
                  </a:tcPr>
                </a:tc>
                <a:extLst>
                  <a:ext uri="{0D108BD9-81ED-4DB2-BD59-A6C34878D82A}">
                    <a16:rowId xmlns:a16="http://schemas.microsoft.com/office/drawing/2014/main" val="1402463231"/>
                  </a:ext>
                </a:extLst>
              </a:tr>
              <a:tr h="900783">
                <a:tc>
                  <a:txBody>
                    <a:bodyPr/>
                    <a:lstStyle/>
                    <a:p>
                      <a:pPr>
                        <a:buNone/>
                      </a:pPr>
                      <a:r>
                        <a:rPr lang="fr-FR" sz="1700" b="1" cap="none" spc="0">
                          <a:solidFill>
                            <a:schemeClr val="tx1"/>
                          </a:solidFill>
                          <a:effectLst/>
                        </a:rPr>
                        <a:t>Aide au raisonnement</a:t>
                      </a:r>
                    </a:p>
                  </a:txBody>
                  <a:tcPr marL="174721" marR="174721" marT="174721" marB="17472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700" cap="none" spc="0">
                          <a:solidFill>
                            <a:schemeClr val="tx1"/>
                          </a:solidFill>
                          <a:effectLst/>
                        </a:rPr>
                        <a:t>Argumenter les pours/contres d’un choix stratégique. Examiner plusieurs options.</a:t>
                      </a:r>
                      <a:endParaRPr lang="fr-FR" sz="1700" cap="none" spc="0" dirty="0">
                        <a:solidFill>
                          <a:schemeClr val="tx1"/>
                        </a:solidFill>
                        <a:effectLst/>
                      </a:endParaRPr>
                    </a:p>
                  </a:txBody>
                  <a:tcPr marL="174721" marR="174721" marT="174721" marB="17472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906951867"/>
                  </a:ext>
                </a:extLst>
              </a:tr>
              <a:tr h="648409">
                <a:tc>
                  <a:txBody>
                    <a:bodyPr/>
                    <a:lstStyle/>
                    <a:p>
                      <a:pPr>
                        <a:buNone/>
                      </a:pPr>
                      <a:r>
                        <a:rPr lang="fr-FR" sz="1700" b="1" cap="none" spc="0">
                          <a:solidFill>
                            <a:schemeClr val="tx1"/>
                          </a:solidFill>
                          <a:effectLst/>
                        </a:rPr>
                        <a:t>Mise en perspective</a:t>
                      </a:r>
                    </a:p>
                  </a:txBody>
                  <a:tcPr marL="174721" marR="174721" marT="174721" marB="17472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fr-FR" sz="1700" cap="none" spc="0">
                          <a:solidFill>
                            <a:schemeClr val="tx1"/>
                          </a:solidFill>
                          <a:effectLst/>
                        </a:rPr>
                        <a:t>Identifier les impacts métiers d’un projet</a:t>
                      </a:r>
                    </a:p>
                  </a:txBody>
                  <a:tcPr marL="174721" marR="174721" marT="174721" marB="17472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44783884"/>
                  </a:ext>
                </a:extLst>
              </a:tr>
              <a:tr h="900783">
                <a:tc>
                  <a:txBody>
                    <a:bodyPr/>
                    <a:lstStyle/>
                    <a:p>
                      <a:pPr>
                        <a:buNone/>
                      </a:pPr>
                      <a:r>
                        <a:rPr lang="fr-FR" sz="1700" b="1" cap="none" spc="0">
                          <a:solidFill>
                            <a:schemeClr val="tx1"/>
                          </a:solidFill>
                          <a:effectLst/>
                        </a:rPr>
                        <a:t>Comparaison d’options</a:t>
                      </a:r>
                    </a:p>
                  </a:txBody>
                  <a:tcPr marL="174721" marR="174721" marT="174721" marB="174721"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fr-FR" sz="1700" cap="none" spc="0">
                          <a:solidFill>
                            <a:schemeClr val="tx1"/>
                          </a:solidFill>
                          <a:effectLst/>
                        </a:rPr>
                        <a:t>Générer des matrices SWOT, des grilles d’analyse</a:t>
                      </a:r>
                    </a:p>
                  </a:txBody>
                  <a:tcPr marL="174721" marR="174721" marT="174721" marB="174721"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131594776"/>
                  </a:ext>
                </a:extLst>
              </a:tr>
            </a:tbl>
          </a:graphicData>
        </a:graphic>
      </p:graphicFrame>
    </p:spTree>
    <p:extLst>
      <p:ext uri="{BB962C8B-B14F-4D97-AF65-F5344CB8AC3E}">
        <p14:creationId xmlns:p14="http://schemas.microsoft.com/office/powerpoint/2010/main" val="414751195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0B266E-4D17-8E49-238A-C83D1CDC51E5}"/>
              </a:ext>
            </a:extLst>
          </p:cNvPr>
          <p:cNvSpPr>
            <a:spLocks noGrp="1"/>
          </p:cNvSpPr>
          <p:nvPr>
            <p:ph type="title"/>
          </p:nvPr>
        </p:nvSpPr>
        <p:spPr>
          <a:xfrm>
            <a:off x="628650" y="922375"/>
            <a:ext cx="7886700" cy="994172"/>
          </a:xfrm>
        </p:spPr>
        <p:txBody>
          <a:bodyPr anchor="ctr">
            <a:normAutofit fontScale="90000"/>
          </a:bodyPr>
          <a:lstStyle/>
          <a:p>
            <a:r>
              <a:rPr lang="fr-FR"/>
              <a:t>Principes clés pour un usage responsable et personnalisé de l’IA</a:t>
            </a:r>
          </a:p>
        </p:txBody>
      </p:sp>
      <p:pic>
        <p:nvPicPr>
          <p:cNvPr id="5" name="Espace réservé du contenu 4" descr="Femme noire avec des tresses vertes à l’aide de son téléphone portable">
            <a:extLst>
              <a:ext uri="{FF2B5EF4-FFF2-40B4-BE49-F238E27FC236}">
                <a16:creationId xmlns:a16="http://schemas.microsoft.com/office/drawing/2014/main" id="{9F72FE94-0E77-469C-8492-BE537C4E29DE}"/>
              </a:ext>
            </a:extLst>
          </p:cNvPr>
          <p:cNvPicPr>
            <a:picLocks noGrp="1" noChangeAspect="1"/>
          </p:cNvPicPr>
          <p:nvPr>
            <p:ph sz="half" idx="1"/>
          </p:nvPr>
        </p:nvPicPr>
        <p:blipFill>
          <a:blip r:embed="rId3"/>
          <a:srcRect l="32218" r="4965" b="-2"/>
          <a:stretch>
            <a:fillRect/>
          </a:stretch>
        </p:blipFill>
        <p:spPr>
          <a:xfrm>
            <a:off x="628650" y="2226469"/>
            <a:ext cx="3886200" cy="3263504"/>
          </a:xfrm>
          <a:prstGeom prst="rect">
            <a:avLst/>
          </a:prstGeom>
          <a:noFill/>
        </p:spPr>
      </p:pic>
      <p:sp>
        <p:nvSpPr>
          <p:cNvPr id="4" name="Espace réservé du contenu 3">
            <a:extLst>
              <a:ext uri="{FF2B5EF4-FFF2-40B4-BE49-F238E27FC236}">
                <a16:creationId xmlns:a16="http://schemas.microsoft.com/office/drawing/2014/main" id="{94DA122D-F863-B90E-6D6D-AE0270FB00D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29150" y="2226469"/>
            <a:ext cx="3886200" cy="3263504"/>
          </a:xfrm>
        </p:spPr>
        <p:txBody>
          <a:bodyPr>
            <a:normAutofit/>
          </a:bodyPr>
          <a:lstStyle/>
          <a:p>
            <a:pPr marL="0" indent="0">
              <a:spcBef>
                <a:spcPts val="1875"/>
              </a:spcBef>
              <a:buNone/>
            </a:pPr>
            <a:r>
              <a:rPr lang="fr-FR" sz="1050" b="1"/>
              <a:t>Usage responsable de l’IA</a:t>
            </a:r>
          </a:p>
          <a:p>
            <a:pPr marL="0" lvl="1" indent="0">
              <a:buNone/>
            </a:pPr>
            <a:r>
              <a:rPr lang="fr-FR" sz="1050"/>
              <a:t>L’IA est un outil puissant, mais l’utilisateur doit rester responsable du cadre et des impacts de son utilisation.</a:t>
            </a:r>
          </a:p>
          <a:p>
            <a:pPr marL="0" indent="0">
              <a:spcBef>
                <a:spcPts val="1875"/>
              </a:spcBef>
              <a:buNone/>
            </a:pPr>
            <a:r>
              <a:rPr lang="fr-FR" sz="1050" b="1"/>
              <a:t>Personnalisation selon métier</a:t>
            </a:r>
          </a:p>
          <a:p>
            <a:pPr marL="0" lvl="1" indent="0">
              <a:buNone/>
            </a:pPr>
            <a:r>
              <a:rPr lang="fr-FR" sz="1050"/>
              <a:t>Chaque utilisateur doit adapter l’IA à sa personnalité et à son activité pour une utilisation réellement efficace et pertinente.</a:t>
            </a:r>
          </a:p>
          <a:p>
            <a:pPr marL="0" indent="0">
              <a:spcBef>
                <a:spcPts val="1875"/>
              </a:spcBef>
              <a:buNone/>
            </a:pPr>
            <a:r>
              <a:rPr lang="fr-FR" sz="1050" b="1"/>
              <a:t>Éviter l’uniformisation</a:t>
            </a:r>
          </a:p>
          <a:p>
            <a:pPr marL="0" lvl="1" indent="0">
              <a:buNone/>
            </a:pPr>
            <a:r>
              <a:rPr lang="fr-FR" sz="1050"/>
              <a:t>L’IA ne doit pas uniformiser les usages ni aliéner la créativité, mais augmenter les capacités humaines et l’analyse personnelle.</a:t>
            </a:r>
          </a:p>
        </p:txBody>
      </p:sp>
    </p:spTree>
    <p:extLst>
      <p:ext uri="{BB962C8B-B14F-4D97-AF65-F5344CB8AC3E}">
        <p14:creationId xmlns:p14="http://schemas.microsoft.com/office/powerpoint/2010/main" val="2600608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3503</TotalTime>
  <Words>1330</Words>
  <Application>Microsoft Office PowerPoint</Application>
  <PresentationFormat>Affichage à l'écran (4:3)</PresentationFormat>
  <Paragraphs>136</Paragraphs>
  <Slides>18</Slides>
  <Notes>11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18</vt:i4>
      </vt:variant>
    </vt:vector>
  </HeadingPairs>
  <TitlesOfParts>
    <vt:vector size="23" baseType="lpstr">
      <vt:lpstr>Arial</vt:lpstr>
      <vt:lpstr>Monotype Sorts</vt:lpstr>
      <vt:lpstr>Segoe UI Semibold</vt:lpstr>
      <vt:lpstr>Times New Roman</vt:lpstr>
      <vt:lpstr>cvc</vt:lpstr>
      <vt:lpstr>Présentation PowerPoint</vt:lpstr>
      <vt:lpstr>Présentation PowerPoint</vt:lpstr>
      <vt:lpstr>Types d'IA ?</vt:lpstr>
      <vt:lpstr>Difficultés</vt:lpstr>
      <vt:lpstr>Présentation PowerPoint</vt:lpstr>
      <vt:lpstr>L'intelligence artificielle</vt:lpstr>
      <vt:lpstr>Test de Turing</vt:lpstr>
      <vt:lpstr>Qu'est-ce que l'IA ?</vt:lpstr>
      <vt:lpstr>Potentiels de l'IA</vt:lpstr>
      <vt:lpstr>Limites, risques &amp; garde‑fous</vt:lpstr>
      <vt:lpstr>Brainstorming</vt:lpstr>
      <vt:lpstr>Gains de temps et automatisation des tâches répétitives </vt:lpstr>
      <vt:lpstr>Amélioration de la qualité et de la précision </vt:lpstr>
      <vt:lpstr> Stimulation de la créativité et de l’innovation </vt:lpstr>
      <vt:lpstr>Accès facilité à la connaissance et veille</vt:lpstr>
      <vt:lpstr>Amélioration de la collaboration et de la communication</vt:lpstr>
      <vt:lpstr>Soutien à la prise de décision </vt:lpstr>
      <vt:lpstr>Principes clés pour un usage responsable et personnalisé de l’IA</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243</cp:revision>
  <dcterms:created xsi:type="dcterms:W3CDTF">2000-04-10T19:33:12Z</dcterms:created>
  <dcterms:modified xsi:type="dcterms:W3CDTF">2026-06-22T09:10:19Z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