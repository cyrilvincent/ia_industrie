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46"/>
  </p:notesMasterIdLst>
  <p:handoutMasterIdLst>
    <p:handoutMasterId r:id="rId47"/>
  </p:handoutMasterIdLst>
  <p:sldIdLst>
    <p:sldId id="264" r:id="rId2"/>
    <p:sldId id="265" r:id="rId3"/>
    <p:sldId id="363" r:id="rId4"/>
    <p:sldId id="266" r:id="rId5"/>
    <p:sldId id="267" r:id="rId6"/>
    <p:sldId id="268" r:id="rId7"/>
    <p:sldId id="305" r:id="rId8"/>
    <p:sldId id="311" r:id="rId9"/>
    <p:sldId id="306" r:id="rId10"/>
    <p:sldId id="327" r:id="rId11"/>
    <p:sldId id="308" r:id="rId12"/>
    <p:sldId id="328" r:id="rId13"/>
    <p:sldId id="310" r:id="rId14"/>
    <p:sldId id="314" r:id="rId15"/>
    <p:sldId id="315" r:id="rId16"/>
    <p:sldId id="316" r:id="rId17"/>
    <p:sldId id="325" r:id="rId18"/>
    <p:sldId id="317" r:id="rId19"/>
    <p:sldId id="319" r:id="rId20"/>
    <p:sldId id="329" r:id="rId21"/>
    <p:sldId id="320" r:id="rId22"/>
    <p:sldId id="336" r:id="rId23"/>
    <p:sldId id="321" r:id="rId24"/>
    <p:sldId id="323" r:id="rId25"/>
    <p:sldId id="324" r:id="rId26"/>
    <p:sldId id="326" r:id="rId27"/>
    <p:sldId id="322" r:id="rId28"/>
    <p:sldId id="318" r:id="rId29"/>
    <p:sldId id="364" r:id="rId30"/>
    <p:sldId id="331" r:id="rId31"/>
    <p:sldId id="333" r:id="rId32"/>
    <p:sldId id="271" r:id="rId33"/>
    <p:sldId id="338" r:id="rId34"/>
    <p:sldId id="298" r:id="rId35"/>
    <p:sldId id="332" r:id="rId36"/>
    <p:sldId id="359" r:id="rId37"/>
    <p:sldId id="360" r:id="rId38"/>
    <p:sldId id="361" r:id="rId39"/>
    <p:sldId id="303" r:id="rId40"/>
    <p:sldId id="304" r:id="rId41"/>
    <p:sldId id="362" r:id="rId42"/>
    <p:sldId id="350" r:id="rId43"/>
    <p:sldId id="351" r:id="rId44"/>
    <p:sldId id="352" r:id="rId45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4" autoAdjust="0"/>
    <p:restoredTop sz="94590" autoAdjust="0"/>
  </p:normalViewPr>
  <p:slideViewPr>
    <p:cSldViewPr>
      <p:cViewPr varScale="1">
        <p:scale>
          <a:sx n="71" d="100"/>
          <a:sy n="71" d="100"/>
        </p:scale>
        <p:origin x="1350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877888" y="733425"/>
            <a:ext cx="4892675" cy="36703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 smtClean="0"/>
              <a:pPr>
                <a:defRPr/>
              </a:pPr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79969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/>
              <a:t>Python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gi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gif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fr-FR" altLang="fr-FR" dirty="0" err="1"/>
              <a:t>TensorFlow</a:t>
            </a:r>
            <a:r>
              <a:rPr lang="fr-FR" altLang="fr-FR" dirty="0"/>
              <a:t> &amp; </a:t>
            </a:r>
            <a:r>
              <a:rPr lang="fr-FR" altLang="fr-FR" dirty="0" err="1"/>
              <a:t>PyTorch</a:t>
            </a:r>
            <a:endParaRPr lang="fr-FR" altLang="fr-FR" dirty="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437" y="5023445"/>
            <a:ext cx="6715125" cy="1285875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3107495" y="2132856"/>
            <a:ext cx="32111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 err="1"/>
              <a:t>Deep</a:t>
            </a:r>
            <a:r>
              <a:rPr lang="fr-FR" sz="3600" dirty="0"/>
              <a:t>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TensorFlow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TensorFlow</a:t>
            </a:r>
            <a:r>
              <a:rPr lang="fr-FR" dirty="0"/>
              <a:t> est un outil open source d'apprentissage automatique développé par Google</a:t>
            </a:r>
          </a:p>
          <a:p>
            <a:pPr lvl="1"/>
            <a:r>
              <a:rPr lang="fr-FR" dirty="0"/>
              <a:t>Le code source a été ouvert le 9 novembre 2015 par Google et publié sous licence Apache</a:t>
            </a:r>
          </a:p>
          <a:p>
            <a:pPr lvl="1"/>
            <a:r>
              <a:rPr lang="fr-FR" dirty="0"/>
              <a:t>V 1.0 du 11 février 2017</a:t>
            </a:r>
          </a:p>
          <a:p>
            <a:r>
              <a:rPr lang="fr-FR" dirty="0"/>
              <a:t>Est doté d'une interface Python.</a:t>
            </a:r>
          </a:p>
          <a:p>
            <a:r>
              <a:rPr lang="fr-FR" dirty="0" err="1"/>
              <a:t>TensorFlow</a:t>
            </a:r>
            <a:r>
              <a:rPr lang="fr-FR" dirty="0"/>
              <a:t> est l'un des outils les plus utilisés en IA dans le domaine de l'apprentissage machine</a:t>
            </a:r>
          </a:p>
          <a:p>
            <a:r>
              <a:rPr lang="fr-FR" dirty="0"/>
              <a:t>Développé par Google Brain filiale d'Alphabet</a:t>
            </a:r>
          </a:p>
        </p:txBody>
      </p:sp>
    </p:spTree>
    <p:extLst>
      <p:ext uri="{BB962C8B-B14F-4D97-AF65-F5344CB8AC3E}">
        <p14:creationId xmlns:p14="http://schemas.microsoft.com/office/powerpoint/2010/main" val="3096768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623EF0-3F89-B93C-B4F5-DD64F4B5A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Frameworks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9306F81-32CB-7C16-D1AA-89B50707E3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Facebook </a:t>
            </a:r>
            <a:r>
              <a:rPr lang="fr-FR" dirty="0" err="1"/>
              <a:t>PyTorch</a:t>
            </a:r>
            <a:endParaRPr lang="fr-FR" dirty="0"/>
          </a:p>
          <a:p>
            <a:r>
              <a:rPr lang="fr-FR" dirty="0"/>
              <a:t>Azure ML</a:t>
            </a:r>
          </a:p>
          <a:p>
            <a:r>
              <a:rPr lang="fr-FR" dirty="0"/>
              <a:t>Google </a:t>
            </a:r>
            <a:r>
              <a:rPr lang="fr-FR" dirty="0" err="1"/>
              <a:t>Tensorflow</a:t>
            </a:r>
            <a:endParaRPr lang="fr-FR" dirty="0"/>
          </a:p>
          <a:p>
            <a:r>
              <a:rPr lang="fr-FR"/>
              <a:t>SparkML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37760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CPU, GPU, TPU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TensorFlow</a:t>
            </a:r>
            <a:r>
              <a:rPr lang="fr-FR" dirty="0"/>
              <a:t> est multiple CPU</a:t>
            </a:r>
          </a:p>
          <a:p>
            <a:r>
              <a:rPr lang="fr-FR" dirty="0" err="1"/>
              <a:t>TensorFlow</a:t>
            </a:r>
            <a:r>
              <a:rPr lang="fr-FR" dirty="0"/>
              <a:t> est GPU</a:t>
            </a:r>
          </a:p>
          <a:p>
            <a:pPr lvl="1"/>
            <a:r>
              <a:rPr lang="fr-FR" dirty="0"/>
              <a:t>Raison du Succès</a:t>
            </a:r>
          </a:p>
          <a:p>
            <a:pPr lvl="1"/>
            <a:r>
              <a:rPr lang="fr-FR" dirty="0"/>
              <a:t>Technologies GPGPU et GPPGPU</a:t>
            </a:r>
          </a:p>
          <a:p>
            <a:r>
              <a:rPr lang="fr-FR" dirty="0" err="1"/>
              <a:t>TensorFlow</a:t>
            </a:r>
            <a:r>
              <a:rPr lang="fr-FR" dirty="0"/>
              <a:t> est TPU</a:t>
            </a:r>
          </a:p>
          <a:p>
            <a:pPr lvl="1"/>
            <a:r>
              <a:rPr lang="fr-FR" dirty="0" err="1"/>
              <a:t>Tensor</a:t>
            </a:r>
            <a:r>
              <a:rPr lang="fr-FR" dirty="0"/>
              <a:t> </a:t>
            </a:r>
            <a:r>
              <a:rPr lang="fr-FR" dirty="0" err="1"/>
              <a:t>Processing</a:t>
            </a:r>
            <a:r>
              <a:rPr lang="fr-FR" dirty="0"/>
              <a:t> Unit</a:t>
            </a:r>
          </a:p>
          <a:p>
            <a:pPr lvl="1"/>
            <a:r>
              <a:rPr lang="fr-FR" dirty="0"/>
              <a:t>Uniquement pour le </a:t>
            </a:r>
            <a:r>
              <a:rPr lang="fr-FR" dirty="0" err="1"/>
              <a:t>deep</a:t>
            </a:r>
            <a:r>
              <a:rPr lang="fr-FR" dirty="0"/>
              <a:t> </a:t>
            </a:r>
            <a:r>
              <a:rPr lang="fr-FR" dirty="0" err="1"/>
              <a:t>learning</a:t>
            </a:r>
            <a:endParaRPr lang="fr-FR" dirty="0"/>
          </a:p>
          <a:p>
            <a:pPr lvl="1"/>
            <a:r>
              <a:rPr lang="fr-FR" dirty="0"/>
              <a:t>Format propriétaire Google Cloud ML</a:t>
            </a:r>
          </a:p>
          <a:p>
            <a:r>
              <a:rPr lang="fr-FR" dirty="0"/>
              <a:t>CPU, GPU et TPU sont génériques grâce à ABC</a:t>
            </a:r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249148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Installation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pip</a:t>
            </a:r>
            <a:r>
              <a:rPr lang="fr-FR" dirty="0"/>
              <a:t> </a:t>
            </a:r>
            <a:r>
              <a:rPr lang="fr-FR" dirty="0" err="1"/>
              <a:t>install</a:t>
            </a:r>
            <a:r>
              <a:rPr lang="fr-FR" dirty="0"/>
              <a:t> </a:t>
            </a:r>
            <a:r>
              <a:rPr lang="fr-FR" dirty="0" err="1"/>
              <a:t>tensorflow</a:t>
            </a:r>
            <a:endParaRPr lang="fr-FR" dirty="0"/>
          </a:p>
          <a:p>
            <a:r>
              <a:rPr lang="fr-FR" dirty="0"/>
              <a:t>Test</a:t>
            </a:r>
          </a:p>
          <a:p>
            <a:pPr lvl="1"/>
            <a:r>
              <a:rPr lang="fr-FR" dirty="0"/>
              <a:t>import </a:t>
            </a:r>
            <a:r>
              <a:rPr lang="fr-FR" dirty="0" err="1"/>
              <a:t>tensorflow</a:t>
            </a:r>
            <a:r>
              <a:rPr lang="fr-FR" dirty="0"/>
              <a:t> as </a:t>
            </a:r>
            <a:r>
              <a:rPr lang="fr-FR" dirty="0" err="1"/>
              <a:t>tf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33785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692C01-E6EC-762C-E536-D8431213E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PyTorch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70E7504-F4F8-0281-FC85-BB256D4262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Framework de Facebook</a:t>
            </a:r>
          </a:p>
          <a:p>
            <a:r>
              <a:rPr lang="fr-FR" dirty="0"/>
              <a:t>Utilisé pour les LLM</a:t>
            </a:r>
          </a:p>
        </p:txBody>
      </p:sp>
    </p:spTree>
    <p:extLst>
      <p:ext uri="{BB962C8B-B14F-4D97-AF65-F5344CB8AC3E}">
        <p14:creationId xmlns:p14="http://schemas.microsoft.com/office/powerpoint/2010/main" val="3892852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Neurone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En biologie un neurone est une cellule connecté à d’autre neurones qui a la faculté de laisser passer ou non un courant électrique</a:t>
            </a:r>
          </a:p>
          <a:p>
            <a:pPr lvl="1"/>
            <a:r>
              <a:rPr lang="fr-FR" dirty="0"/>
              <a:t>Sa modélisation mathématique est appelé perceptron</a:t>
            </a:r>
          </a:p>
          <a:p>
            <a:endParaRPr lang="fr-FR" dirty="0"/>
          </a:p>
        </p:txBody>
      </p:sp>
      <p:pic>
        <p:nvPicPr>
          <p:cNvPr id="6146" name="Picture 2" descr="RÃ©sultat de recherche d'images pour &quot;neurone&quot;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3356992"/>
            <a:ext cx="5184576" cy="2912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87193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Synapse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 liaison synaptique s’effectue par des neurotransmetteurs</a:t>
            </a:r>
          </a:p>
          <a:p>
            <a:endParaRPr lang="fr-FR" dirty="0"/>
          </a:p>
        </p:txBody>
      </p:sp>
      <p:pic>
        <p:nvPicPr>
          <p:cNvPr id="3074" name="Picture 2" descr="https://scr.sad.supinfo.com/articles/resources/214662/7923/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3645024"/>
            <a:ext cx="5724525" cy="1581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63850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Perceptron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 neurone possède plusieurs entrées (ix), une sortie (o), un seuil et une fonction d’activation (f)</a:t>
            </a:r>
          </a:p>
          <a:p>
            <a:r>
              <a:rPr lang="fr-FR" dirty="0"/>
              <a:t>Chaque entrée possède un poids (</a:t>
            </a:r>
            <a:r>
              <a:rPr lang="fr-FR" dirty="0" err="1"/>
              <a:t>Wx</a:t>
            </a:r>
            <a:r>
              <a:rPr lang="fr-FR" dirty="0"/>
              <a:t>)</a:t>
            </a:r>
          </a:p>
          <a:p>
            <a:endParaRPr lang="fr-FR" dirty="0"/>
          </a:p>
        </p:txBody>
      </p:sp>
      <p:pic>
        <p:nvPicPr>
          <p:cNvPr id="1026" name="Picture 2" descr="Schéma d'un perceptron à n entrées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6473" y="2719205"/>
            <a:ext cx="5640561" cy="3990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4973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Signal synaptique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L’ensemble des entrées sont multipliés à leurs poids puis sommés</a:t>
            </a:r>
          </a:p>
          <a:p>
            <a:r>
              <a:rPr lang="fr-FR" dirty="0"/>
              <a:t>signal = </a:t>
            </a:r>
            <a:r>
              <a:rPr lang="fr-FR" dirty="0" err="1"/>
              <a:t>sum</a:t>
            </a:r>
            <a:r>
              <a:rPr lang="fr-FR" dirty="0"/>
              <a:t>(i[x]*W[x])</a:t>
            </a:r>
          </a:p>
        </p:txBody>
      </p:sp>
    </p:spTree>
    <p:extLst>
      <p:ext uri="{BB962C8B-B14F-4D97-AF65-F5344CB8AC3E}">
        <p14:creationId xmlns:p14="http://schemas.microsoft.com/office/powerpoint/2010/main" val="6355502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Perceptron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Perceptron:</a:t>
            </a:r>
          </a:p>
          <a:p>
            <a:pPr marL="0" indent="0">
              <a:buNone/>
            </a:pPr>
            <a:endParaRPr lang="fr-FR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__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__(self,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id:str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weigths:List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],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activationFn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0" indent="0">
              <a:buNone/>
            </a:pP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self.id = id</a:t>
            </a:r>
          </a:p>
          <a:p>
            <a:pPr marL="0" indent="0">
              <a:buNone/>
            </a:pP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self.weigths:List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weigths</a:t>
            </a:r>
            <a:endParaRPr lang="fr-FR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self.activationFn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activationFn</a:t>
            </a:r>
            <a:endParaRPr lang="fr-FR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self.output:float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None</a:t>
            </a:r>
          </a:p>
          <a:p>
            <a:pPr marL="0" indent="0">
              <a:buNone/>
            </a:pP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self.inputs:List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] = []</a:t>
            </a:r>
          </a:p>
          <a:p>
            <a:pPr marL="0" indent="0">
              <a:buNone/>
            </a:pP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self.inputs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=[0 for _ in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self.weigths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 marL="0" indent="0">
              <a:buNone/>
            </a:pPr>
            <a:endParaRPr lang="fr-FR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@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property</a:t>
            </a:r>
            <a:endParaRPr lang="fr-FR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signal(self)-&gt;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total =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([input *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for input,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in zip(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self.inputs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fr-F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self.weigths</a:t>
            </a: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)])</a:t>
            </a:r>
          </a:p>
          <a:p>
            <a:pPr marL="0" indent="0">
              <a:buNone/>
            </a:pPr>
            <a:r>
              <a:rPr lang="fr-F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return total</a:t>
            </a:r>
          </a:p>
        </p:txBody>
      </p:sp>
    </p:spTree>
    <p:extLst>
      <p:ext uri="{BB962C8B-B14F-4D97-AF65-F5344CB8AC3E}">
        <p14:creationId xmlns:p14="http://schemas.microsoft.com/office/powerpoint/2010/main" val="30268738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Activation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signal = </a:t>
            </a:r>
            <a:r>
              <a:rPr lang="fr-FR" dirty="0" err="1"/>
              <a:t>sum</a:t>
            </a:r>
            <a:r>
              <a:rPr lang="fr-FR" dirty="0"/>
              <a:t>(i[x]*W[x])</a:t>
            </a:r>
          </a:p>
          <a:p>
            <a:r>
              <a:rPr lang="fr-FR" dirty="0"/>
              <a:t>Si f(signal) &gt; seuil (ou biais) alors le signal passe dans le sortie</a:t>
            </a:r>
          </a:p>
          <a:p>
            <a:r>
              <a:rPr lang="fr-FR" dirty="0"/>
              <a:t>f est souvent une tangente hyperbolique ou une sigmoïde</a:t>
            </a:r>
          </a:p>
          <a:p>
            <a:pPr lvl="1"/>
            <a:r>
              <a:rPr lang="fr-FR" dirty="0"/>
              <a:t>F = </a:t>
            </a:r>
            <a:r>
              <a:rPr lang="fr-FR" dirty="0" err="1"/>
              <a:t>math.tanh</a:t>
            </a:r>
            <a:endParaRPr lang="fr-FR" dirty="0"/>
          </a:p>
        </p:txBody>
      </p:sp>
      <p:pic>
        <p:nvPicPr>
          <p:cNvPr id="2050" name="Picture 2" descr="https://upload.wikimedia.org/wikipedia/commons/9/9d/Sigmoid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8" y="3861048"/>
            <a:ext cx="2328193" cy="1973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11885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fonctions d’activation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400" dirty="0"/>
              <a:t>Elles permettent de déterminer si le signal passe ou non</a:t>
            </a:r>
          </a:p>
          <a:p>
            <a:pPr lvl="1"/>
            <a:r>
              <a:rPr lang="fr-FR" sz="2000" dirty="0"/>
              <a:t>Relu (</a:t>
            </a:r>
            <a:r>
              <a:rPr lang="fr-FR" sz="2000" dirty="0" err="1"/>
              <a:t>Rectified</a:t>
            </a:r>
            <a:r>
              <a:rPr lang="fr-FR" sz="2000" dirty="0"/>
              <a:t> Liner Unit), </a:t>
            </a:r>
            <a:r>
              <a:rPr lang="fr-FR" sz="2000" dirty="0" err="1"/>
              <a:t>LeakyRelu</a:t>
            </a:r>
            <a:endParaRPr lang="fr-FR" sz="2000" dirty="0"/>
          </a:p>
          <a:p>
            <a:pPr lvl="1"/>
            <a:r>
              <a:rPr lang="fr-FR" sz="2000" dirty="0" err="1"/>
              <a:t>Sigmoid</a:t>
            </a:r>
            <a:r>
              <a:rPr lang="fr-FR" sz="2000" dirty="0"/>
              <a:t>, Hard </a:t>
            </a:r>
            <a:r>
              <a:rPr lang="fr-FR" sz="2000" dirty="0" err="1"/>
              <a:t>Sigmoid</a:t>
            </a:r>
            <a:r>
              <a:rPr lang="fr-FR" sz="2000" dirty="0"/>
              <a:t>, </a:t>
            </a:r>
            <a:r>
              <a:rPr lang="fr-FR" sz="2000" dirty="0" err="1"/>
              <a:t>Tanh</a:t>
            </a:r>
            <a:endParaRPr lang="fr-FR" sz="2000" dirty="0"/>
          </a:p>
          <a:p>
            <a:pPr lvl="1"/>
            <a:endParaRPr lang="fr-FR" sz="2000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2780928"/>
            <a:ext cx="6329113" cy="3260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6163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Layers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5621" y="1412776"/>
            <a:ext cx="8766051" cy="5040560"/>
          </a:xfrm>
        </p:spPr>
        <p:txBody>
          <a:bodyPr/>
          <a:lstStyle/>
          <a:p>
            <a:r>
              <a:rPr lang="fr-FR" dirty="0"/>
              <a:t>Les perceptrons peuvent être mis en couche</a:t>
            </a:r>
          </a:p>
          <a:p>
            <a:endParaRPr lang="fr-FR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621555" y="2852936"/>
            <a:ext cx="5830765" cy="13234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class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Layer: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fr-FR" altLang="fr-FR" sz="10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kumimoji="0" lang="fr-FR" altLang="fr-FR" sz="1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B200B2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B200B2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B200B2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id: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nbPerceptron: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activationFn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reluFn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.id = id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.perceptrons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List[Perceptron] = []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fr-FR" altLang="fr-FR" sz="1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for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 </a:t>
            </a:r>
            <a:r>
              <a:rPr kumimoji="0" lang="fr-FR" altLang="fr-FR" sz="1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nbPerceptron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    p = Perceptron(</a:t>
            </a:r>
            <a:r>
              <a:rPr kumimoji="0" lang="fr-FR" altLang="fr-FR" sz="1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f"</a:t>
            </a:r>
            <a:r>
              <a:rPr kumimoji="0" lang="fr-FR" altLang="fr-FR" sz="1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kumimoji="0" lang="fr-FR" altLang="fr-FR" sz="1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fr-FR" altLang="fr-FR" sz="1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kumimoji="0" lang="fr-FR" altLang="fr-FR" sz="1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fr-FR" altLang="fr-FR" sz="1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fr-FR" altLang="fr-FR" sz="1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fr-FR" altLang="fr-FR" sz="1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activationFn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94558D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.perceptrons.append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(p)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47123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MLP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Multi Layer Perceptron</a:t>
            </a:r>
          </a:p>
          <a:p>
            <a:pPr lvl="1"/>
            <a:r>
              <a:rPr lang="fr-FR" dirty="0"/>
              <a:t>Les perceptrons sont mis dans un graphe acyclique</a:t>
            </a:r>
          </a:p>
        </p:txBody>
      </p:sp>
      <p:pic>
        <p:nvPicPr>
          <p:cNvPr id="4" name="Picture 12" descr="Résultat de recherche d'images pour &quot;mlp inference&quot;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2852936"/>
            <a:ext cx="4804506" cy="3164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A993503B-2ED5-4061-88B8-420B4BF6AFFF}"/>
              </a:ext>
            </a:extLst>
          </p:cNvPr>
          <p:cNvSpPr txBox="1"/>
          <p:nvPr/>
        </p:nvSpPr>
        <p:spPr>
          <a:xfrm>
            <a:off x="1043608" y="3356992"/>
            <a:ext cx="86914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1 4 7</a:t>
            </a:r>
          </a:p>
          <a:p>
            <a:endParaRPr lang="fr-FR" dirty="0"/>
          </a:p>
          <a:p>
            <a:r>
              <a:rPr lang="fr-FR" dirty="0"/>
              <a:t>2 5 8</a:t>
            </a:r>
          </a:p>
          <a:p>
            <a:endParaRPr lang="fr-FR" dirty="0"/>
          </a:p>
          <a:p>
            <a:r>
              <a:rPr lang="fr-FR" dirty="0"/>
              <a:t>3 6 9</a:t>
            </a:r>
          </a:p>
        </p:txBody>
      </p:sp>
    </p:spTree>
    <p:extLst>
      <p:ext uri="{BB962C8B-B14F-4D97-AF65-F5344CB8AC3E}">
        <p14:creationId xmlns:p14="http://schemas.microsoft.com/office/powerpoint/2010/main" val="19948667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2x2x2</a:t>
            </a:r>
          </a:p>
        </p:txBody>
      </p:sp>
      <p:pic>
        <p:nvPicPr>
          <p:cNvPr id="4" name="Picture 2" descr="neural_network (7)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1700808"/>
            <a:ext cx="4152900" cy="3533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27640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simple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Réseau (2,2,2)</a:t>
            </a:r>
          </a:p>
          <a:p>
            <a:pPr lvl="1"/>
            <a:r>
              <a:rPr lang="fr-FR" dirty="0"/>
              <a:t>2 inputs</a:t>
            </a:r>
          </a:p>
          <a:p>
            <a:pPr lvl="1"/>
            <a:r>
              <a:rPr lang="fr-FR" dirty="0"/>
              <a:t>2 </a:t>
            </a:r>
            <a:r>
              <a:rPr lang="fr-FR" dirty="0" err="1"/>
              <a:t>hiddens</a:t>
            </a:r>
            <a:endParaRPr lang="fr-FR" dirty="0"/>
          </a:p>
          <a:p>
            <a:pPr lvl="1"/>
            <a:r>
              <a:rPr lang="fr-FR" dirty="0"/>
              <a:t>2 outputs</a:t>
            </a:r>
          </a:p>
          <a:p>
            <a:r>
              <a:rPr lang="fr-FR" dirty="0"/>
              <a:t>Input [0.05, 0.1]</a:t>
            </a:r>
          </a:p>
          <a:p>
            <a:r>
              <a:rPr lang="fr-FR" dirty="0"/>
              <a:t>Output </a:t>
            </a:r>
            <a:r>
              <a:rPr lang="fr-FR" dirty="0" err="1"/>
              <a:t>target</a:t>
            </a:r>
            <a:r>
              <a:rPr lang="fr-FR" dirty="0"/>
              <a:t> [0.01, 0.99]</a:t>
            </a:r>
          </a:p>
          <a:p>
            <a:r>
              <a:rPr lang="fr-FR" dirty="0" err="1"/>
              <a:t>wx</a:t>
            </a:r>
            <a:r>
              <a:rPr lang="fr-FR" dirty="0"/>
              <a:t> = Poids</a:t>
            </a:r>
          </a:p>
          <a:p>
            <a:r>
              <a:rPr lang="fr-FR" dirty="0" err="1"/>
              <a:t>bx</a:t>
            </a:r>
            <a:r>
              <a:rPr lang="fr-FR" dirty="0"/>
              <a:t> = </a:t>
            </a:r>
            <a:r>
              <a:rPr lang="fr-FR" dirty="0" err="1"/>
              <a:t>Bias</a:t>
            </a:r>
            <a:r>
              <a:rPr lang="fr-FR" dirty="0"/>
              <a:t> (seuils)</a:t>
            </a:r>
          </a:p>
        </p:txBody>
      </p:sp>
      <p:pic>
        <p:nvPicPr>
          <p:cNvPr id="1028" name="Picture 4" descr="neural_network (9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2537" y="1556792"/>
            <a:ext cx="4152900" cy="3533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29401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Inférence</a:t>
            </a:r>
          </a:p>
        </p:txBody>
      </p:sp>
      <p:pic>
        <p:nvPicPr>
          <p:cNvPr id="4" name="Picture 4" descr="neural_network (9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2060848"/>
            <a:ext cx="4152900" cy="3533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91039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Calcul du </a:t>
            </a:r>
            <a:r>
              <a:rPr lang="fr-FR" dirty="0" err="1"/>
              <a:t>loss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résultats attendus sont 0.75 et 0.77</a:t>
            </a:r>
          </a:p>
          <a:p>
            <a:r>
              <a:rPr lang="fr-FR" dirty="0"/>
              <a:t>Le résultat obtenus est 0.01 et 0.99</a:t>
            </a:r>
          </a:p>
          <a:p>
            <a:r>
              <a:rPr lang="fr-FR" dirty="0"/>
              <a:t>Le </a:t>
            </a:r>
            <a:r>
              <a:rPr lang="fr-FR" dirty="0" err="1"/>
              <a:t>loss</a:t>
            </a:r>
            <a:r>
              <a:rPr lang="fr-FR" dirty="0"/>
              <a:t> (</a:t>
            </a:r>
            <a:r>
              <a:rPr lang="fr-FR" dirty="0" err="1"/>
              <a:t>mse</a:t>
            </a:r>
            <a:r>
              <a:rPr lang="fr-FR" dirty="0"/>
              <a:t>) est l’erreur quadratique soit</a:t>
            </a:r>
          </a:p>
          <a:p>
            <a:pPr lvl="1"/>
            <a:r>
              <a:rPr lang="fr-FR" dirty="0"/>
              <a:t>(0.75-0.01)**2 + (0.77-0.99)**2 = 0.51</a:t>
            </a:r>
          </a:p>
        </p:txBody>
      </p:sp>
    </p:spTree>
    <p:extLst>
      <p:ext uri="{BB962C8B-B14F-4D97-AF65-F5344CB8AC3E}">
        <p14:creationId xmlns:p14="http://schemas.microsoft.com/office/powerpoint/2010/main" val="18022458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Backpropagation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réseaux de neurones sont souvent supervisés</a:t>
            </a:r>
          </a:p>
          <a:p>
            <a:pPr lvl="1"/>
            <a:r>
              <a:rPr lang="fr-FR" dirty="0"/>
              <a:t>Présence d’un feedback pour indiquer si le calcul est bon</a:t>
            </a:r>
          </a:p>
          <a:p>
            <a:r>
              <a:rPr lang="fr-FR" dirty="0"/>
              <a:t>Si le feedback est bon, le neurone se fige un peu plus</a:t>
            </a:r>
          </a:p>
          <a:p>
            <a:r>
              <a:rPr lang="fr-FR" dirty="0"/>
              <a:t>Sinon, le seuil et les poids changent un peu</a:t>
            </a:r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631562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Gradient d’erreur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L’erreur est reportée à la couche précédente en fonction des poids</a:t>
            </a:r>
          </a:p>
          <a:p>
            <a:r>
              <a:rPr lang="fr-FR" dirty="0"/>
              <a:t>Plus le poids est important plus il est responsable de l’erreur</a:t>
            </a:r>
          </a:p>
        </p:txBody>
      </p:sp>
      <p:pic>
        <p:nvPicPr>
          <p:cNvPr id="4" name="Picture 6" descr="output_1_backprop (4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3356992"/>
            <a:ext cx="5000625" cy="2447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00243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120E3D-21C9-416C-96C9-8368F624E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Descente du gradient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03B3979-55A8-45D3-9A85-72BBA0FEC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 err="1"/>
              <a:t>fdW</a:t>
            </a:r>
            <a:r>
              <a:rPr lang="fr-FR" dirty="0"/>
              <a:t>(x) = (w * </a:t>
            </a:r>
            <a:r>
              <a:rPr lang="fr-FR" dirty="0" err="1"/>
              <a:t>loss</a:t>
            </a:r>
            <a:r>
              <a:rPr lang="fr-FR" dirty="0"/>
              <a:t> * </a:t>
            </a:r>
            <a:r>
              <a:rPr lang="fr-FR" dirty="0" err="1"/>
              <a:t>lr</a:t>
            </a:r>
            <a:r>
              <a:rPr lang="fr-FR" dirty="0"/>
              <a:t>) / (</a:t>
            </a:r>
            <a:r>
              <a:rPr lang="fr-FR" dirty="0" err="1"/>
              <a:t>faccel</a:t>
            </a:r>
            <a:r>
              <a:rPr lang="fr-FR" dirty="0"/>
              <a:t>(</a:t>
            </a:r>
            <a:r>
              <a:rPr lang="fr-FR" dirty="0" err="1"/>
              <a:t>momentum</a:t>
            </a:r>
            <a:r>
              <a:rPr lang="fr-FR" dirty="0"/>
              <a:t>) * </a:t>
            </a:r>
            <a:r>
              <a:rPr lang="fr-FR" dirty="0" err="1"/>
              <a:t>df</a:t>
            </a:r>
            <a:r>
              <a:rPr lang="fr-FR" dirty="0"/>
              <a:t>(x))</a:t>
            </a:r>
          </a:p>
          <a:p>
            <a:r>
              <a:rPr lang="fr-FR" dirty="0"/>
              <a:t>Stochastique = </a:t>
            </a:r>
            <a:r>
              <a:rPr lang="fr-FR" dirty="0" err="1"/>
              <a:t>random</a:t>
            </a:r>
            <a:r>
              <a:rPr lang="fr-FR" dirty="0"/>
              <a:t> </a:t>
            </a:r>
          </a:p>
          <a:p>
            <a:endParaRPr lang="fr-FR" dirty="0"/>
          </a:p>
          <a:p>
            <a:r>
              <a:rPr lang="fr-FR" dirty="0" err="1"/>
              <a:t>lr</a:t>
            </a:r>
            <a:r>
              <a:rPr lang="fr-FR" dirty="0"/>
              <a:t> = Learning Rate [1</a:t>
            </a:r>
            <a:r>
              <a:rPr lang="fr-FR" baseline="30000" dirty="0"/>
              <a:t>e</a:t>
            </a:r>
            <a:r>
              <a:rPr lang="fr-FR" dirty="0"/>
              <a:t>-2, 1</a:t>
            </a:r>
            <a:r>
              <a:rPr lang="fr-FR" baseline="30000" dirty="0"/>
              <a:t>e</a:t>
            </a:r>
            <a:r>
              <a:rPr lang="fr-FR" dirty="0"/>
              <a:t>-5]</a:t>
            </a:r>
          </a:p>
          <a:p>
            <a:r>
              <a:rPr lang="fr-FR" dirty="0" err="1"/>
              <a:t>momentum</a:t>
            </a:r>
            <a:r>
              <a:rPr lang="fr-FR" dirty="0"/>
              <a:t> = </a:t>
            </a:r>
            <a:r>
              <a:rPr lang="fr-FR" dirty="0" err="1"/>
              <a:t>Nesterov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470846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Changement du poids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Changement du poids</a:t>
            </a:r>
          </a:p>
          <a:p>
            <a:pPr lvl="1"/>
            <a:r>
              <a:rPr lang="fr-FR" dirty="0"/>
              <a:t>Algorithme RMS</a:t>
            </a:r>
          </a:p>
          <a:p>
            <a:pPr lvl="1"/>
            <a:r>
              <a:rPr lang="fr-FR" dirty="0" err="1"/>
              <a:t>dW</a:t>
            </a:r>
            <a:r>
              <a:rPr lang="fr-FR" dirty="0"/>
              <a:t> = </a:t>
            </a:r>
            <a:r>
              <a:rPr lang="fr-FR" dirty="0" err="1"/>
              <a:t>learningrate</a:t>
            </a:r>
            <a:r>
              <a:rPr lang="fr-FR" dirty="0"/>
              <a:t> * gradient(</a:t>
            </a:r>
            <a:r>
              <a:rPr lang="fr-FR" dirty="0" err="1"/>
              <a:t>loss</a:t>
            </a:r>
            <a:r>
              <a:rPr lang="fr-FR" dirty="0"/>
              <a:t>)</a:t>
            </a:r>
          </a:p>
        </p:txBody>
      </p:sp>
      <p:pic>
        <p:nvPicPr>
          <p:cNvPr id="7170" name="Picture 2" descr="https://miro.medium.com/max/1500/0*oqm7QVnI9-inFGCc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3212976"/>
            <a:ext cx="6768752" cy="2651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09265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Learning rate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taux d’apprentissage résout le problème des minimums locaux</a:t>
            </a:r>
          </a:p>
          <a:p>
            <a:pPr lvl="1"/>
            <a:r>
              <a:rPr lang="fr-FR" dirty="0"/>
              <a:t>Entre 0.01 et 0.00001</a:t>
            </a:r>
          </a:p>
        </p:txBody>
      </p:sp>
      <p:pic>
        <p:nvPicPr>
          <p:cNvPr id="13314" name="Picture 2" descr="https://miro.medium.com/max/700/0*G8a4jCsMLJ7xNQN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5282" y="1772816"/>
            <a:ext cx="3120281" cy="2340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 descr="Image result for gradient descent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3501008"/>
            <a:ext cx="4577354" cy="2141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07667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 descente du gradient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 descente du gradient</a:t>
            </a:r>
          </a:p>
          <a:p>
            <a:pPr lvl="1"/>
            <a:r>
              <a:rPr lang="fr-FR" dirty="0"/>
              <a:t>Le changement de poids est alors effectué en remontant le réseaux</a:t>
            </a:r>
          </a:p>
          <a:p>
            <a:pPr lvl="1"/>
            <a:r>
              <a:rPr lang="fr-FR" dirty="0" err="1"/>
              <a:t>Backpropagation</a:t>
            </a:r>
            <a:endParaRPr lang="fr-FR" dirty="0"/>
          </a:p>
        </p:txBody>
      </p:sp>
      <p:pic>
        <p:nvPicPr>
          <p:cNvPr id="5" name="Picture 8" descr="nn-calcula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302" y="3284983"/>
            <a:ext cx="3752373" cy="3030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https://miro.medium.com/max/2870/1*r_-1TKp8ylzWRl_ybjEhwA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8112" y="4440829"/>
            <a:ext cx="4125888" cy="718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15815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Backpropagation</a:t>
            </a:r>
            <a:endParaRPr lang="fr-FR" dirty="0"/>
          </a:p>
        </p:txBody>
      </p:sp>
      <p:pic>
        <p:nvPicPr>
          <p:cNvPr id="4098" name="Picture 2" descr="https://dpzbhybb2pdcj.cloudfront.net/allaire/Figures/01fig09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8341" y="1772816"/>
            <a:ext cx="4608512" cy="3657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89298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Stochastic</a:t>
            </a:r>
            <a:r>
              <a:rPr lang="fr-FR" dirty="0"/>
              <a:t> Gradient </a:t>
            </a:r>
            <a:r>
              <a:rPr lang="fr-FR" dirty="0" err="1"/>
              <a:t>Based</a:t>
            </a:r>
            <a:r>
              <a:rPr lang="fr-FR" dirty="0"/>
              <a:t> </a:t>
            </a:r>
            <a:r>
              <a:rPr lang="fr-FR" dirty="0" err="1"/>
              <a:t>Optimizer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Ajout d’un moment et de la dérivée de la fonction d’activation dans le calcul de </a:t>
            </a:r>
            <a:r>
              <a:rPr lang="fr-FR" dirty="0" err="1"/>
              <a:t>dW</a:t>
            </a:r>
            <a:endParaRPr lang="fr-FR" dirty="0"/>
          </a:p>
          <a:p>
            <a:pPr lvl="1"/>
            <a:r>
              <a:rPr lang="fr-FR" dirty="0" err="1"/>
              <a:t>dW</a:t>
            </a:r>
            <a:r>
              <a:rPr lang="fr-FR" dirty="0"/>
              <a:t> = (</a:t>
            </a:r>
            <a:r>
              <a:rPr lang="fr-FR" dirty="0" err="1"/>
              <a:t>learningrate</a:t>
            </a:r>
            <a:r>
              <a:rPr lang="fr-FR" dirty="0"/>
              <a:t> * gradient(</a:t>
            </a:r>
            <a:r>
              <a:rPr lang="fr-FR" dirty="0" err="1"/>
              <a:t>loss</a:t>
            </a:r>
            <a:r>
              <a:rPr lang="fr-FR" dirty="0"/>
              <a:t>)) / (</a:t>
            </a:r>
            <a:r>
              <a:rPr lang="fr-FR" dirty="0" err="1"/>
              <a:t>df</a:t>
            </a:r>
            <a:r>
              <a:rPr lang="fr-FR" dirty="0"/>
              <a:t>(x) * </a:t>
            </a:r>
            <a:r>
              <a:rPr lang="fr-FR" dirty="0" err="1"/>
              <a:t>momentum</a:t>
            </a:r>
            <a:r>
              <a:rPr lang="fr-FR" dirty="0"/>
              <a:t>)</a:t>
            </a:r>
          </a:p>
        </p:txBody>
      </p:sp>
      <p:pic>
        <p:nvPicPr>
          <p:cNvPr id="6" name="Picture 2" descr="https://dpzbhybb2pdcj.cloudfront.net/allaire/Figures/02fig1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8" y="3212976"/>
            <a:ext cx="2869743" cy="2189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304641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MLP Complexes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réseaux peuvent être complexes</a:t>
            </a:r>
          </a:p>
        </p:txBody>
      </p:sp>
      <p:pic>
        <p:nvPicPr>
          <p:cNvPr id="4" name="Picture 16" descr="Résultat de recherche d'images pour &quot;multi layer perceptron inference animated gif&quot;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1916832"/>
            <a:ext cx="5273934" cy="4428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19473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D3CCEF-BCFC-982E-25D8-AF1C09F07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3D97679-7B5D-194E-C95A-ABB9D72528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2 000 neurones</a:t>
            </a:r>
          </a:p>
          <a:p>
            <a:r>
              <a:rPr lang="fr-FR" dirty="0"/>
              <a:t>1000 x 1000 = 1 000 000 poids</a:t>
            </a:r>
          </a:p>
          <a:p>
            <a:r>
              <a:rPr lang="fr-FR" dirty="0"/>
              <a:t>20 </a:t>
            </a:r>
            <a:r>
              <a:rPr lang="fr-FR" dirty="0" err="1"/>
              <a:t>layers</a:t>
            </a:r>
            <a:r>
              <a:rPr lang="fr-FR" dirty="0"/>
              <a:t> de 100 neurones = 100x100*20 = 200 000</a:t>
            </a:r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899190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Coût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3" y="1412776"/>
            <a:ext cx="7056784" cy="5040560"/>
          </a:xfrm>
        </p:spPr>
        <p:txBody>
          <a:bodyPr/>
          <a:lstStyle/>
          <a:p>
            <a:r>
              <a:rPr lang="fr-FR" dirty="0"/>
              <a:t>Très couteux</a:t>
            </a:r>
          </a:p>
          <a:p>
            <a:pPr lvl="1"/>
            <a:r>
              <a:rPr lang="fr-FR" dirty="0"/>
              <a:t>Mais donne de très bons résultats</a:t>
            </a:r>
          </a:p>
          <a:p>
            <a:pPr lvl="1"/>
            <a:r>
              <a:rPr lang="fr-FR" dirty="0"/>
              <a:t>Maitrise l’addition sur 4 bits avec 145 neurones et 100 itérations</a:t>
            </a:r>
          </a:p>
        </p:txBody>
      </p:sp>
      <p:pic>
        <p:nvPicPr>
          <p:cNvPr id="3074" name="Picture 2" descr="../_images/multilayerperceptron_network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3081" y="2132856"/>
            <a:ext cx="2088232" cy="2269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88876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Asymétrie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réseaux neuronaux sont </a:t>
            </a:r>
            <a:r>
              <a:rPr lang="fr-FR"/>
              <a:t>des modèles asymétriques</a:t>
            </a:r>
            <a:endParaRPr lang="fr-FR" dirty="0"/>
          </a:p>
          <a:p>
            <a:pPr lvl="1"/>
            <a:r>
              <a:rPr lang="fr-FR" dirty="0"/>
              <a:t>Apprentissage couteux</a:t>
            </a:r>
          </a:p>
          <a:p>
            <a:pPr lvl="1"/>
            <a:r>
              <a:rPr lang="fr-FR" dirty="0"/>
              <a:t>Prédiction rapide</a:t>
            </a:r>
          </a:p>
          <a:p>
            <a:pPr lvl="1"/>
            <a:r>
              <a:rPr lang="fr-FR" dirty="0"/>
              <a:t>Très utile</a:t>
            </a:r>
          </a:p>
        </p:txBody>
      </p:sp>
    </p:spTree>
    <p:extLst>
      <p:ext uri="{BB962C8B-B14F-4D97-AF65-F5344CB8AC3E}">
        <p14:creationId xmlns:p14="http://schemas.microsoft.com/office/powerpoint/2010/main" val="19468350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Keras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Keras</a:t>
            </a:r>
            <a:r>
              <a:rPr lang="fr-FR" dirty="0"/>
              <a:t> est une API Python portable qui permet d'effectuer du </a:t>
            </a:r>
            <a:r>
              <a:rPr lang="fr-FR" dirty="0" err="1"/>
              <a:t>Deep</a:t>
            </a:r>
            <a:r>
              <a:rPr lang="fr-FR" dirty="0"/>
              <a:t> Learning par-dessus </a:t>
            </a:r>
            <a:r>
              <a:rPr lang="fr-FR" dirty="0" err="1"/>
              <a:t>Tensorflow</a:t>
            </a:r>
            <a:r>
              <a:rPr lang="fr-FR" dirty="0"/>
              <a:t>, CNTK et </a:t>
            </a:r>
            <a:r>
              <a:rPr lang="fr-FR" dirty="0" err="1"/>
              <a:t>Theano</a:t>
            </a:r>
            <a:endParaRPr lang="fr-FR" dirty="0"/>
          </a:p>
          <a:p>
            <a:pPr lvl="1"/>
            <a:r>
              <a:rPr lang="fr-FR" dirty="0"/>
              <a:t>Elle a été initialement écrite par François Chollet</a:t>
            </a:r>
          </a:p>
          <a:p>
            <a:pPr lvl="2"/>
            <a:r>
              <a:rPr lang="fr-FR" dirty="0"/>
              <a:t>Salarié de Google</a:t>
            </a:r>
          </a:p>
          <a:p>
            <a:pPr lvl="1"/>
            <a:r>
              <a:rPr lang="fr-FR" dirty="0"/>
              <a:t>Permet d'écrire des réseaux neuronaux simplement</a:t>
            </a:r>
          </a:p>
          <a:p>
            <a:pPr lvl="1"/>
            <a:r>
              <a:rPr lang="fr-FR" dirty="0"/>
              <a:t>Permet de rendre le code </a:t>
            </a:r>
            <a:r>
              <a:rPr lang="fr-FR" dirty="0" err="1"/>
              <a:t>TensorFlow</a:t>
            </a:r>
            <a:r>
              <a:rPr lang="fr-FR" dirty="0"/>
              <a:t> portable vers CNTK et </a:t>
            </a:r>
            <a:r>
              <a:rPr lang="fr-FR" dirty="0" err="1"/>
              <a:t>Theano</a:t>
            </a:r>
            <a:endParaRPr lang="fr-FR" dirty="0"/>
          </a:p>
          <a:p>
            <a:pPr lvl="1"/>
            <a:r>
              <a:rPr lang="fr-FR" dirty="0"/>
              <a:t>Package </a:t>
            </a:r>
            <a:r>
              <a:rPr lang="fr-FR" dirty="0" err="1"/>
              <a:t>keras</a:t>
            </a:r>
            <a:endParaRPr lang="fr-FR" dirty="0"/>
          </a:p>
          <a:p>
            <a:r>
              <a:rPr lang="fr-FR" dirty="0"/>
              <a:t>Inclus dans </a:t>
            </a:r>
            <a:r>
              <a:rPr lang="fr-FR" dirty="0" err="1"/>
              <a:t>Tensorflow</a:t>
            </a:r>
            <a:r>
              <a:rPr lang="fr-FR" dirty="0"/>
              <a:t> 2</a:t>
            </a:r>
          </a:p>
          <a:p>
            <a:pPr lvl="1"/>
            <a:r>
              <a:rPr lang="fr-FR" dirty="0"/>
              <a:t>Import </a:t>
            </a:r>
            <a:r>
              <a:rPr lang="fr-FR" dirty="0" err="1"/>
              <a:t>tensorflow.keras</a:t>
            </a:r>
            <a:r>
              <a:rPr lang="fr-FR" dirty="0"/>
              <a:t> as </a:t>
            </a:r>
            <a:r>
              <a:rPr lang="fr-FR" dirty="0" err="1"/>
              <a:t>keras</a:t>
            </a:r>
            <a:endParaRPr lang="fr-FR" dirty="0"/>
          </a:p>
        </p:txBody>
      </p:sp>
      <p:pic>
        <p:nvPicPr>
          <p:cNvPr id="1026" name="Picture 2" descr="FranÃ§ois Chollet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5577" y="1844824"/>
            <a:ext cx="1381994" cy="1381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Keras tutorial - keras 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8" y="0"/>
            <a:ext cx="1320081" cy="1320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78506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simple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MLP 5x5x1</a:t>
            </a:r>
          </a:p>
          <a:p>
            <a:pPr lvl="1"/>
            <a:r>
              <a:rPr lang="fr-FR" dirty="0"/>
              <a:t>Par défaut l’activation est </a:t>
            </a:r>
            <a:r>
              <a:rPr lang="fr-FR" dirty="0" err="1"/>
              <a:t>linear</a:t>
            </a:r>
            <a:endParaRPr lang="fr-FR" dirty="0"/>
          </a:p>
          <a:p>
            <a:endParaRPr lang="fr-FR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2996952"/>
            <a:ext cx="4886039" cy="2047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196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MLP avec activation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endParaRPr lang="fr-FR" dirty="0"/>
          </a:p>
          <a:p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580" y="2780928"/>
            <a:ext cx="6984886" cy="2007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3739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Optimizer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Algorithme de </a:t>
            </a:r>
            <a:r>
              <a:rPr lang="fr-FR" dirty="0" err="1"/>
              <a:t>backtracking</a:t>
            </a:r>
            <a:endParaRPr lang="fr-FR" dirty="0"/>
          </a:p>
          <a:p>
            <a:r>
              <a:rPr lang="fr-FR" dirty="0"/>
              <a:t>En 1</a:t>
            </a:r>
            <a:r>
              <a:rPr lang="fr-FR" baseline="30000" dirty="0"/>
              <a:t>ère</a:t>
            </a:r>
            <a:r>
              <a:rPr lang="fr-FR" dirty="0"/>
              <a:t> intention utiliser </a:t>
            </a:r>
            <a:r>
              <a:rPr lang="fr-FR" dirty="0" err="1"/>
              <a:t>RMSProp</a:t>
            </a:r>
            <a:r>
              <a:rPr lang="fr-FR" dirty="0"/>
              <a:t> (pas de </a:t>
            </a:r>
            <a:r>
              <a:rPr lang="fr-FR" dirty="0" err="1"/>
              <a:t>momentum</a:t>
            </a:r>
            <a:r>
              <a:rPr lang="fr-FR" dirty="0"/>
              <a:t>)</a:t>
            </a:r>
          </a:p>
          <a:p>
            <a:pPr lvl="1"/>
            <a:r>
              <a:rPr lang="fr-FR" dirty="0"/>
              <a:t>Ou Adam (avec </a:t>
            </a:r>
            <a:r>
              <a:rPr lang="fr-FR" dirty="0" err="1"/>
              <a:t>momentum</a:t>
            </a:r>
            <a:r>
              <a:rPr lang="fr-FR" dirty="0"/>
              <a:t>)</a:t>
            </a:r>
          </a:p>
          <a:p>
            <a:r>
              <a:rPr lang="fr-FR" dirty="0"/>
              <a:t>Plus tard nous verrons SGD (avec dérivée et </a:t>
            </a:r>
            <a:r>
              <a:rPr lang="fr-FR" dirty="0" err="1"/>
              <a:t>nesterov</a:t>
            </a:r>
            <a:r>
              <a:rPr lang="fr-FR" dirty="0"/>
              <a:t> </a:t>
            </a:r>
            <a:r>
              <a:rPr lang="fr-FR" dirty="0" err="1"/>
              <a:t>momentum</a:t>
            </a:r>
            <a:r>
              <a:rPr lang="fr-FR" dirty="0"/>
              <a:t>)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537" y="3908648"/>
            <a:ext cx="3658245" cy="2441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9199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Optimizer</a:t>
            </a:r>
            <a:endParaRPr lang="fr-FR" dirty="0"/>
          </a:p>
        </p:txBody>
      </p:sp>
      <p:pic>
        <p:nvPicPr>
          <p:cNvPr id="1026" name="Picture 2" descr="optimzers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1340768"/>
            <a:ext cx="59055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6321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Epochs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Epochs</a:t>
            </a:r>
            <a:r>
              <a:rPr lang="fr-FR" dirty="0"/>
              <a:t> est le nombre d’itération sur tous le </a:t>
            </a:r>
            <a:r>
              <a:rPr lang="fr-FR" dirty="0" err="1"/>
              <a:t>dataset</a:t>
            </a:r>
            <a:endParaRPr lang="fr-FR" dirty="0"/>
          </a:p>
          <a:p>
            <a:pPr lvl="1"/>
            <a:r>
              <a:rPr lang="fr-FR" dirty="0"/>
              <a:t>Ainsi si le nombre de data dans le </a:t>
            </a:r>
            <a:r>
              <a:rPr lang="fr-FR" dirty="0" err="1"/>
              <a:t>dataset</a:t>
            </a:r>
            <a:r>
              <a:rPr lang="fr-FR" dirty="0"/>
              <a:t> est nb = 1000</a:t>
            </a:r>
          </a:p>
          <a:p>
            <a:pPr lvl="1"/>
            <a:r>
              <a:rPr lang="fr-FR" dirty="0"/>
              <a:t>Si </a:t>
            </a:r>
            <a:r>
              <a:rPr lang="fr-FR" dirty="0" err="1"/>
              <a:t>epochs</a:t>
            </a:r>
            <a:r>
              <a:rPr lang="fr-FR" dirty="0"/>
              <a:t> = 10 il y aura 10000 inférences</a:t>
            </a:r>
          </a:p>
          <a:p>
            <a:r>
              <a:rPr lang="fr-FR" dirty="0" err="1"/>
              <a:t>batch_size</a:t>
            </a:r>
            <a:endParaRPr lang="fr-FR" dirty="0"/>
          </a:p>
          <a:p>
            <a:pPr lvl="1"/>
            <a:r>
              <a:rPr lang="fr-FR" dirty="0"/>
              <a:t>Il s’agit du ratio </a:t>
            </a:r>
            <a:r>
              <a:rPr lang="fr-FR" dirty="0" err="1"/>
              <a:t>nbInference</a:t>
            </a:r>
            <a:r>
              <a:rPr lang="fr-FR" dirty="0"/>
              <a:t> / </a:t>
            </a:r>
            <a:r>
              <a:rPr lang="fr-FR" dirty="0" err="1"/>
              <a:t>nbBacktracking</a:t>
            </a:r>
            <a:endParaRPr lang="fr-FR" dirty="0"/>
          </a:p>
          <a:p>
            <a:pPr lvl="1"/>
            <a:r>
              <a:rPr lang="fr-FR" dirty="0"/>
              <a:t>Moins précis car le </a:t>
            </a:r>
            <a:r>
              <a:rPr lang="fr-FR" dirty="0" err="1"/>
              <a:t>loss</a:t>
            </a:r>
            <a:r>
              <a:rPr lang="fr-FR" dirty="0"/>
              <a:t> est la moyenne des </a:t>
            </a:r>
            <a:r>
              <a:rPr lang="fr-FR" dirty="0" err="1"/>
              <a:t>loss</a:t>
            </a:r>
            <a:r>
              <a:rPr lang="fr-FR" dirty="0"/>
              <a:t> des inférences du </a:t>
            </a:r>
            <a:r>
              <a:rPr lang="fr-FR" dirty="0" err="1"/>
              <a:t>steps</a:t>
            </a:r>
            <a:endParaRPr lang="fr-FR" dirty="0"/>
          </a:p>
          <a:p>
            <a:pPr lvl="1"/>
            <a:r>
              <a:rPr lang="fr-FR" dirty="0"/>
              <a:t>Plus rapide sur GPU</a:t>
            </a:r>
          </a:p>
        </p:txBody>
      </p:sp>
    </p:spTree>
    <p:extLst>
      <p:ext uri="{BB962C8B-B14F-4D97-AF65-F5344CB8AC3E}">
        <p14:creationId xmlns:p14="http://schemas.microsoft.com/office/powerpoint/2010/main" val="157913534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Evolution de </a:t>
            </a:r>
            <a:r>
              <a:rPr lang="fr-FR" dirty="0" err="1"/>
              <a:t>loss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Pour 5 </a:t>
            </a:r>
            <a:r>
              <a:rPr lang="fr-FR" dirty="0" err="1"/>
              <a:t>epoch</a:t>
            </a:r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2214008"/>
            <a:ext cx="6408712" cy="3792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52879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Evaluate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Evalue le modèle</a:t>
            </a:r>
          </a:p>
          <a:p>
            <a:pPr lvl="1"/>
            <a:r>
              <a:rPr lang="fr-FR" dirty="0" err="1"/>
              <a:t>Metrics</a:t>
            </a:r>
            <a:r>
              <a:rPr lang="fr-FR" dirty="0"/>
              <a:t> = </a:t>
            </a:r>
            <a:r>
              <a:rPr lang="fr-FR" dirty="0" err="1"/>
              <a:t>model.evaluate</a:t>
            </a:r>
            <a:r>
              <a:rPr lang="fr-FR" dirty="0"/>
              <a:t>(</a:t>
            </a:r>
            <a:r>
              <a:rPr lang="fr-FR" dirty="0" err="1"/>
              <a:t>dataset</a:t>
            </a:r>
            <a:r>
              <a:rPr lang="fr-FR" dirty="0"/>
              <a:t>, </a:t>
            </a:r>
            <a:r>
              <a:rPr lang="fr-FR" dirty="0" err="1"/>
              <a:t>steps</a:t>
            </a:r>
            <a:r>
              <a:rPr lang="fr-FR" dirty="0"/>
              <a:t>=30)</a:t>
            </a:r>
          </a:p>
          <a:p>
            <a:r>
              <a:rPr lang="fr-FR" dirty="0"/>
              <a:t>Calcul les </a:t>
            </a:r>
            <a:r>
              <a:rPr lang="fr-FR" dirty="0" err="1"/>
              <a:t>metrics</a:t>
            </a:r>
            <a:r>
              <a:rPr lang="fr-FR" dirty="0"/>
              <a:t> du </a:t>
            </a:r>
            <a:r>
              <a:rPr lang="fr-FR" dirty="0" err="1"/>
              <a:t>dataset</a:t>
            </a:r>
            <a:r>
              <a:rPr lang="fr-FR" dirty="0"/>
              <a:t> après l’apprentissage</a:t>
            </a:r>
          </a:p>
        </p:txBody>
      </p:sp>
    </p:spTree>
    <p:extLst>
      <p:ext uri="{BB962C8B-B14F-4D97-AF65-F5344CB8AC3E}">
        <p14:creationId xmlns:p14="http://schemas.microsoft.com/office/powerpoint/2010/main" val="221872405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Predict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Prédiction</a:t>
            </a:r>
          </a:p>
          <a:p>
            <a:pPr lvl="1"/>
            <a:r>
              <a:rPr lang="fr-FR" dirty="0" err="1"/>
              <a:t>result</a:t>
            </a:r>
            <a:r>
              <a:rPr lang="fr-FR" dirty="0"/>
              <a:t> = </a:t>
            </a:r>
            <a:r>
              <a:rPr lang="fr-FR" dirty="0" err="1"/>
              <a:t>model.predict</a:t>
            </a:r>
            <a:r>
              <a:rPr lang="fr-FR" dirty="0"/>
              <a:t>(data, </a:t>
            </a:r>
            <a:r>
              <a:rPr lang="fr-FR" dirty="0" err="1"/>
              <a:t>batch_size</a:t>
            </a:r>
            <a:r>
              <a:rPr lang="fr-FR" dirty="0"/>
              <a:t>=32)</a:t>
            </a:r>
          </a:p>
          <a:p>
            <a:r>
              <a:rPr lang="fr-FR" dirty="0"/>
              <a:t>Calcul la prédiction pour data</a:t>
            </a:r>
          </a:p>
          <a:p>
            <a:pPr lvl="1"/>
            <a:r>
              <a:rPr lang="fr-FR" dirty="0" err="1"/>
              <a:t>Batch_size</a:t>
            </a:r>
            <a:r>
              <a:rPr lang="fr-FR" dirty="0"/>
              <a:t> définit le nombre de données analysées dans le même cycle GPU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3933056"/>
            <a:ext cx="6252599" cy="18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40350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Vocabulaire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400" dirty="0" err="1"/>
              <a:t>TensorFlow</a:t>
            </a:r>
            <a:r>
              <a:rPr lang="fr-FR" sz="2400" dirty="0"/>
              <a:t> et </a:t>
            </a:r>
            <a:r>
              <a:rPr lang="fr-FR" sz="2400" dirty="0" err="1"/>
              <a:t>SKLearn</a:t>
            </a:r>
            <a:r>
              <a:rPr lang="fr-FR" sz="2400" dirty="0"/>
              <a:t> n’utilisent pas le même vocabulaire</a:t>
            </a:r>
          </a:p>
          <a:p>
            <a:r>
              <a:rPr lang="fr-FR" sz="2400" dirty="0" err="1"/>
              <a:t>TrainingSet</a:t>
            </a:r>
            <a:endParaRPr lang="fr-FR" sz="2400" dirty="0"/>
          </a:p>
          <a:p>
            <a:pPr lvl="1"/>
            <a:r>
              <a:rPr lang="fr-FR" sz="2000" dirty="0"/>
              <a:t>Jeux d’entrainement</a:t>
            </a:r>
          </a:p>
          <a:p>
            <a:pPr lvl="1"/>
            <a:r>
              <a:rPr lang="fr-FR" sz="2000" dirty="0"/>
              <a:t>Calcul du </a:t>
            </a:r>
            <a:r>
              <a:rPr lang="fr-FR" sz="2000" dirty="0" err="1"/>
              <a:t>Loss</a:t>
            </a:r>
            <a:endParaRPr lang="fr-FR" sz="2000" dirty="0"/>
          </a:p>
          <a:p>
            <a:r>
              <a:rPr lang="fr-FR" sz="2400" dirty="0" err="1"/>
              <a:t>ValidationSet</a:t>
            </a:r>
            <a:endParaRPr lang="fr-FR" sz="2400" dirty="0"/>
          </a:p>
          <a:p>
            <a:pPr lvl="1"/>
            <a:r>
              <a:rPr lang="fr-FR" sz="2000" dirty="0"/>
              <a:t>Jeux pour mesurer la qualité du modèle</a:t>
            </a:r>
          </a:p>
          <a:p>
            <a:pPr lvl="1"/>
            <a:r>
              <a:rPr lang="fr-FR" sz="2000" dirty="0"/>
              <a:t>Ne doit jamais être vu du modèle</a:t>
            </a:r>
          </a:p>
          <a:p>
            <a:r>
              <a:rPr lang="fr-FR" sz="2400" dirty="0" err="1"/>
              <a:t>TestSet</a:t>
            </a:r>
            <a:endParaRPr lang="fr-FR" sz="2400" dirty="0"/>
          </a:p>
          <a:p>
            <a:pPr lvl="1"/>
            <a:r>
              <a:rPr lang="fr-FR" sz="2000" dirty="0"/>
              <a:t>Recette final</a:t>
            </a:r>
          </a:p>
          <a:p>
            <a:pPr lvl="1"/>
            <a:r>
              <a:rPr lang="fr-FR" sz="2000" dirty="0"/>
              <a:t>Ne doit jamais être vu des développeurs</a:t>
            </a:r>
          </a:p>
        </p:txBody>
      </p:sp>
    </p:spTree>
    <p:extLst>
      <p:ext uri="{BB962C8B-B14F-4D97-AF65-F5344CB8AC3E}">
        <p14:creationId xmlns:p14="http://schemas.microsoft.com/office/powerpoint/2010/main" val="152137059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Compréhension des résultats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400" dirty="0" err="1"/>
              <a:t>Loss</a:t>
            </a:r>
            <a:r>
              <a:rPr lang="fr-FR" sz="2400" dirty="0"/>
              <a:t> détermine le </a:t>
            </a:r>
            <a:r>
              <a:rPr lang="fr-FR" sz="2400" dirty="0" err="1"/>
              <a:t>loss</a:t>
            </a:r>
            <a:r>
              <a:rPr lang="fr-FR" sz="2400" dirty="0"/>
              <a:t> de l’inférence avec les training set</a:t>
            </a:r>
          </a:p>
          <a:p>
            <a:r>
              <a:rPr lang="fr-FR" sz="2400" dirty="0" err="1"/>
              <a:t>Val_loss</a:t>
            </a:r>
            <a:r>
              <a:rPr lang="fr-FR" sz="2400" dirty="0"/>
              <a:t> détermine le </a:t>
            </a:r>
            <a:r>
              <a:rPr lang="fr-FR" sz="2400" dirty="0" err="1"/>
              <a:t>loss</a:t>
            </a:r>
            <a:r>
              <a:rPr lang="fr-FR" sz="2400" dirty="0"/>
              <a:t> de l’</a:t>
            </a:r>
            <a:r>
              <a:rPr lang="fr-FR" sz="2400" dirty="0" err="1"/>
              <a:t>epoch</a:t>
            </a:r>
            <a:r>
              <a:rPr lang="fr-FR" sz="2400" dirty="0"/>
              <a:t> avec le jeu de validation</a:t>
            </a:r>
          </a:p>
          <a:p>
            <a:r>
              <a:rPr lang="fr-FR" sz="2400" dirty="0" err="1"/>
              <a:t>Accuracy</a:t>
            </a:r>
            <a:r>
              <a:rPr lang="fr-FR" sz="2400" dirty="0"/>
              <a:t> détermine la précision de l’inférence avec les training set</a:t>
            </a:r>
          </a:p>
          <a:p>
            <a:r>
              <a:rPr lang="fr-FR" sz="2400" dirty="0"/>
              <a:t>Val_ </a:t>
            </a:r>
            <a:r>
              <a:rPr lang="fr-FR" sz="2400" dirty="0" err="1"/>
              <a:t>accuracy</a:t>
            </a:r>
            <a:r>
              <a:rPr lang="fr-FR" sz="2400" dirty="0"/>
              <a:t> détermine la précision de l’</a:t>
            </a:r>
            <a:r>
              <a:rPr lang="fr-FR" sz="2400" dirty="0" err="1"/>
              <a:t>epoch</a:t>
            </a:r>
            <a:r>
              <a:rPr lang="fr-FR" sz="2400" dirty="0"/>
              <a:t> avec le jeu de validation</a:t>
            </a:r>
          </a:p>
          <a:p>
            <a:r>
              <a:rPr lang="fr-FR" sz="2400" dirty="0"/>
              <a:t>Si </a:t>
            </a:r>
            <a:r>
              <a:rPr lang="fr-FR" sz="2400" dirty="0" err="1"/>
              <a:t>accuracy</a:t>
            </a:r>
            <a:r>
              <a:rPr lang="fr-FR" sz="2400" dirty="0"/>
              <a:t> est bas : le réseau ne fonctionne pas</a:t>
            </a:r>
          </a:p>
          <a:p>
            <a:r>
              <a:rPr lang="fr-FR" sz="2400" dirty="0"/>
              <a:t>Si </a:t>
            </a:r>
            <a:r>
              <a:rPr lang="fr-FR" sz="2400" dirty="0" err="1"/>
              <a:t>accuracy</a:t>
            </a:r>
            <a:r>
              <a:rPr lang="fr-FR" sz="2400" dirty="0"/>
              <a:t> &gt;&gt; </a:t>
            </a:r>
            <a:r>
              <a:rPr lang="fr-FR" sz="2400" dirty="0" err="1"/>
              <a:t>val_accuracy</a:t>
            </a:r>
            <a:r>
              <a:rPr lang="fr-FR" sz="2400" dirty="0"/>
              <a:t> : </a:t>
            </a:r>
            <a:r>
              <a:rPr lang="fr-FR" sz="2400" dirty="0" err="1"/>
              <a:t>overfitting</a:t>
            </a:r>
            <a:endParaRPr lang="fr-FR" sz="2400" dirty="0"/>
          </a:p>
          <a:p>
            <a:r>
              <a:rPr lang="fr-FR" sz="2400" dirty="0"/>
              <a:t>Si </a:t>
            </a:r>
            <a:r>
              <a:rPr lang="fr-FR" sz="2400" dirty="0" err="1"/>
              <a:t>accuracy</a:t>
            </a:r>
            <a:r>
              <a:rPr lang="fr-FR" sz="2400" dirty="0"/>
              <a:t> &gt; </a:t>
            </a:r>
            <a:r>
              <a:rPr lang="fr-FR" sz="2400" dirty="0" err="1"/>
              <a:t>val_accuracy</a:t>
            </a:r>
            <a:r>
              <a:rPr lang="fr-FR" sz="2400" dirty="0"/>
              <a:t> : léger </a:t>
            </a:r>
            <a:r>
              <a:rPr lang="fr-FR" sz="2400" dirty="0" err="1"/>
              <a:t>overfitting</a:t>
            </a:r>
            <a:endParaRPr lang="fr-FR" sz="2400" dirty="0"/>
          </a:p>
          <a:p>
            <a:r>
              <a:rPr lang="fr-FR" sz="2400" dirty="0"/>
              <a:t>Si </a:t>
            </a:r>
            <a:r>
              <a:rPr lang="fr-FR" sz="2400" dirty="0" err="1"/>
              <a:t>val_accuracy</a:t>
            </a:r>
            <a:r>
              <a:rPr lang="fr-FR" sz="2400" dirty="0"/>
              <a:t> &gt;= </a:t>
            </a:r>
            <a:r>
              <a:rPr lang="fr-FR" sz="2400" dirty="0" err="1"/>
              <a:t>accuracy</a:t>
            </a:r>
            <a:r>
              <a:rPr lang="fr-FR" sz="2400" dirty="0"/>
              <a:t> : parfait</a:t>
            </a:r>
          </a:p>
          <a:p>
            <a:r>
              <a:rPr lang="fr-FR" sz="2400" dirty="0"/>
              <a:t>Si </a:t>
            </a:r>
            <a:r>
              <a:rPr lang="fr-FR" sz="2400" dirty="0" err="1"/>
              <a:t>val_accuracy</a:t>
            </a:r>
            <a:r>
              <a:rPr lang="fr-FR" sz="2400" dirty="0"/>
              <a:t> &gt;&gt; </a:t>
            </a:r>
            <a:r>
              <a:rPr lang="fr-FR" sz="2400" dirty="0" err="1"/>
              <a:t>accuracy</a:t>
            </a:r>
            <a:r>
              <a:rPr lang="fr-FR" sz="2400" dirty="0"/>
              <a:t> : anormal</a:t>
            </a:r>
          </a:p>
          <a:p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400950626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DropOut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</a:t>
            </a:r>
            <a:r>
              <a:rPr lang="fr-FR" dirty="0" err="1"/>
              <a:t>DropOut</a:t>
            </a:r>
            <a:r>
              <a:rPr lang="fr-FR" dirty="0"/>
              <a:t> désactive aléatoirement un perceptron</a:t>
            </a:r>
          </a:p>
          <a:p>
            <a:pPr lvl="1"/>
            <a:r>
              <a:rPr lang="fr-FR" dirty="0"/>
              <a:t>Combat le surapprentissage</a:t>
            </a:r>
          </a:p>
          <a:p>
            <a:pPr lvl="1"/>
            <a:r>
              <a:rPr lang="fr-FR" dirty="0"/>
              <a:t>Evite d'être dépendant d'un neurone</a:t>
            </a:r>
          </a:p>
          <a:p>
            <a:pPr lvl="1"/>
            <a:r>
              <a:rPr lang="fr-FR" dirty="0"/>
              <a:t>Encourage le réseau dans son ensemble</a:t>
            </a:r>
          </a:p>
          <a:p>
            <a:pPr lvl="1"/>
            <a:r>
              <a:rPr lang="fr-FR" dirty="0"/>
              <a:t>Désactivé lors de l’inférence par </a:t>
            </a:r>
            <a:r>
              <a:rPr lang="fr-FR" dirty="0" err="1"/>
              <a:t>predict</a:t>
            </a:r>
            <a:r>
              <a:rPr lang="fr-FR" dirty="0"/>
              <a:t> et </a:t>
            </a:r>
            <a:r>
              <a:rPr lang="fr-FR" dirty="0" err="1"/>
              <a:t>evaluate</a:t>
            </a:r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sz="2400" dirty="0"/>
              <a:t>Le </a:t>
            </a:r>
            <a:r>
              <a:rPr lang="fr-FR" sz="2400" dirty="0" err="1"/>
              <a:t>DropConnect</a:t>
            </a:r>
            <a:r>
              <a:rPr lang="fr-FR" sz="2400" dirty="0"/>
              <a:t> désactive aléatoirement un input</a:t>
            </a:r>
          </a:p>
          <a:p>
            <a:pPr lvl="1"/>
            <a:r>
              <a:rPr lang="fr-FR" sz="2000" dirty="0"/>
              <a:t>Assez identique au </a:t>
            </a:r>
            <a:r>
              <a:rPr lang="fr-FR" sz="2000" dirty="0" err="1"/>
              <a:t>DropOut</a:t>
            </a:r>
            <a:r>
              <a:rPr lang="fr-FR" sz="2000" dirty="0"/>
              <a:t> en moins puissant</a:t>
            </a:r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  <p:pic>
        <p:nvPicPr>
          <p:cNvPr id="1030" name="Picture 6" descr="https://s3-ap-south-1.amazonaws.com/av-blog-media/wp-content/uploads/2018/04/1IrdJ5PghD9YoOyVAQ73MJw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6333" y="3645024"/>
            <a:ext cx="3672408" cy="2139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492475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Compréhension des résultats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400" dirty="0"/>
              <a:t>Si </a:t>
            </a:r>
            <a:r>
              <a:rPr lang="fr-FR" sz="2400" dirty="0" err="1"/>
              <a:t>accuracy</a:t>
            </a:r>
            <a:r>
              <a:rPr lang="fr-FR" sz="2400" dirty="0"/>
              <a:t> est bas</a:t>
            </a:r>
          </a:p>
          <a:p>
            <a:pPr lvl="1"/>
            <a:r>
              <a:rPr lang="fr-FR" sz="2000" dirty="0"/>
              <a:t>Le réseau ne fonctionne pas</a:t>
            </a:r>
          </a:p>
          <a:p>
            <a:pPr lvl="1"/>
            <a:r>
              <a:rPr lang="fr-FR" sz="2000" dirty="0"/>
              <a:t>Pas assez de données</a:t>
            </a:r>
          </a:p>
          <a:p>
            <a:pPr lvl="1"/>
            <a:r>
              <a:rPr lang="fr-FR" sz="2000" dirty="0"/>
              <a:t>Réseau trop profond</a:t>
            </a:r>
          </a:p>
          <a:p>
            <a:r>
              <a:rPr lang="fr-FR" sz="2400" dirty="0"/>
              <a:t>Si </a:t>
            </a:r>
            <a:r>
              <a:rPr lang="fr-FR" sz="2400" dirty="0" err="1"/>
              <a:t>accuracy</a:t>
            </a:r>
            <a:r>
              <a:rPr lang="fr-FR" sz="2400" dirty="0"/>
              <a:t> &gt;&gt; </a:t>
            </a:r>
            <a:r>
              <a:rPr lang="fr-FR" sz="2400" dirty="0" err="1"/>
              <a:t>val_accuracy</a:t>
            </a:r>
            <a:endParaRPr lang="fr-FR" sz="2400" dirty="0"/>
          </a:p>
          <a:p>
            <a:pPr lvl="1"/>
            <a:r>
              <a:rPr lang="fr-FR" sz="2000" dirty="0" err="1"/>
              <a:t>Overfitting</a:t>
            </a:r>
            <a:endParaRPr lang="fr-FR" sz="2000" dirty="0"/>
          </a:p>
          <a:p>
            <a:pPr lvl="1"/>
            <a:r>
              <a:rPr lang="fr-FR" sz="2000" dirty="0"/>
              <a:t>Ajouter, modifier des </a:t>
            </a:r>
            <a:r>
              <a:rPr lang="fr-FR" sz="2000" dirty="0" err="1"/>
              <a:t>DropOut</a:t>
            </a:r>
            <a:endParaRPr lang="fr-FR" sz="2000" dirty="0"/>
          </a:p>
          <a:p>
            <a:r>
              <a:rPr lang="fr-FR" sz="2400" dirty="0"/>
              <a:t>Si </a:t>
            </a:r>
            <a:r>
              <a:rPr lang="fr-FR" sz="2400" dirty="0" err="1"/>
              <a:t>accuracy</a:t>
            </a:r>
            <a:r>
              <a:rPr lang="fr-FR" sz="2400" dirty="0"/>
              <a:t> &gt; </a:t>
            </a:r>
            <a:r>
              <a:rPr lang="fr-FR" sz="2400" dirty="0" err="1"/>
              <a:t>val_accuracy</a:t>
            </a:r>
            <a:endParaRPr lang="fr-FR" sz="2400" dirty="0"/>
          </a:p>
          <a:p>
            <a:pPr lvl="1"/>
            <a:r>
              <a:rPr lang="fr-FR" sz="2000" dirty="0"/>
              <a:t>Leger </a:t>
            </a:r>
            <a:r>
              <a:rPr lang="fr-FR" sz="2000" dirty="0" err="1"/>
              <a:t>overfitting</a:t>
            </a:r>
            <a:endParaRPr lang="fr-FR" sz="2000" dirty="0"/>
          </a:p>
          <a:p>
            <a:r>
              <a:rPr lang="fr-FR" sz="2400" dirty="0"/>
              <a:t>Si </a:t>
            </a:r>
            <a:r>
              <a:rPr lang="fr-FR" sz="2400" dirty="0" err="1"/>
              <a:t>val_accuracy</a:t>
            </a:r>
            <a:r>
              <a:rPr lang="fr-FR" sz="2400" dirty="0"/>
              <a:t> &gt;= </a:t>
            </a:r>
            <a:r>
              <a:rPr lang="fr-FR" sz="2400" dirty="0" err="1"/>
              <a:t>accuracy</a:t>
            </a:r>
            <a:endParaRPr lang="fr-FR" sz="2400" dirty="0"/>
          </a:p>
          <a:p>
            <a:pPr lvl="1"/>
            <a:r>
              <a:rPr lang="fr-FR" sz="2000" dirty="0"/>
              <a:t>Parfait</a:t>
            </a:r>
          </a:p>
          <a:p>
            <a:r>
              <a:rPr lang="fr-FR" sz="2400" dirty="0"/>
              <a:t>Si </a:t>
            </a:r>
            <a:r>
              <a:rPr lang="fr-FR" sz="2400" dirty="0" err="1"/>
              <a:t>val_accuracy</a:t>
            </a:r>
            <a:r>
              <a:rPr lang="fr-FR" sz="2400" dirty="0"/>
              <a:t> &gt; </a:t>
            </a:r>
            <a:r>
              <a:rPr lang="fr-FR" sz="2400" dirty="0" err="1"/>
              <a:t>accuracy</a:t>
            </a:r>
            <a:endParaRPr lang="fr-FR" sz="2400" dirty="0"/>
          </a:p>
          <a:p>
            <a:pPr lvl="1"/>
            <a:r>
              <a:rPr lang="fr-FR" sz="2000" dirty="0"/>
              <a:t>Normal</a:t>
            </a:r>
          </a:p>
          <a:p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32412427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8265</TotalTime>
  <Words>1319</Words>
  <Application>Microsoft Office PowerPoint</Application>
  <PresentationFormat>Affichage à l'écran (4:3)</PresentationFormat>
  <Paragraphs>227</Paragraphs>
  <Slides>44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44</vt:i4>
      </vt:variant>
    </vt:vector>
  </HeadingPairs>
  <TitlesOfParts>
    <vt:vector size="50" baseType="lpstr">
      <vt:lpstr>Arial</vt:lpstr>
      <vt:lpstr>Consolas</vt:lpstr>
      <vt:lpstr>Courier New</vt:lpstr>
      <vt:lpstr>Monotype Sorts</vt:lpstr>
      <vt:lpstr>Times New Roman</vt:lpstr>
      <vt:lpstr>cvc</vt:lpstr>
      <vt:lpstr>Présentation PowerPoint</vt:lpstr>
      <vt:lpstr>TensorFlow</vt:lpstr>
      <vt:lpstr>Frameworks</vt:lpstr>
      <vt:lpstr>CPU, GPU, TPU</vt:lpstr>
      <vt:lpstr>Installation</vt:lpstr>
      <vt:lpstr>PyTorch</vt:lpstr>
      <vt:lpstr>Neurone</vt:lpstr>
      <vt:lpstr>Synapse</vt:lpstr>
      <vt:lpstr>Perceptron</vt:lpstr>
      <vt:lpstr>Signal synaptique</vt:lpstr>
      <vt:lpstr>Perceptron</vt:lpstr>
      <vt:lpstr>Activation</vt:lpstr>
      <vt:lpstr>Les fonctions d’activation</vt:lpstr>
      <vt:lpstr>Layers</vt:lpstr>
      <vt:lpstr>MLP</vt:lpstr>
      <vt:lpstr>Exemple 2x2x2</vt:lpstr>
      <vt:lpstr>Exemple simple</vt:lpstr>
      <vt:lpstr>Inférence</vt:lpstr>
      <vt:lpstr>Calcul du loss</vt:lpstr>
      <vt:lpstr>Backpropagation</vt:lpstr>
      <vt:lpstr>Gradient d’erreur</vt:lpstr>
      <vt:lpstr>Descente du gradient</vt:lpstr>
      <vt:lpstr>Changement du poids</vt:lpstr>
      <vt:lpstr>Learning rate</vt:lpstr>
      <vt:lpstr>La descente du gradient</vt:lpstr>
      <vt:lpstr>Backpropagation</vt:lpstr>
      <vt:lpstr>Stochastic Gradient Based Optimizer</vt:lpstr>
      <vt:lpstr>MLP Complexes</vt:lpstr>
      <vt:lpstr>Présentation PowerPoint</vt:lpstr>
      <vt:lpstr>Coût</vt:lpstr>
      <vt:lpstr>Asymétrie</vt:lpstr>
      <vt:lpstr>Keras</vt:lpstr>
      <vt:lpstr>Exemple simple</vt:lpstr>
      <vt:lpstr>MLP avec activation</vt:lpstr>
      <vt:lpstr>Optimizer</vt:lpstr>
      <vt:lpstr>Optimizer</vt:lpstr>
      <vt:lpstr>Epochs</vt:lpstr>
      <vt:lpstr>Evolution de loss</vt:lpstr>
      <vt:lpstr>Evaluate</vt:lpstr>
      <vt:lpstr>Predict</vt:lpstr>
      <vt:lpstr>Vocabulaire</vt:lpstr>
      <vt:lpstr>Compréhension des résultats</vt:lpstr>
      <vt:lpstr>DropOut</vt:lpstr>
      <vt:lpstr>Compréhension des résultats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338</cp:revision>
  <dcterms:created xsi:type="dcterms:W3CDTF">2000-04-10T19:33:12Z</dcterms:created>
  <dcterms:modified xsi:type="dcterms:W3CDTF">2026-06-24T07:01:56Z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