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4"/>
  </p:notesMasterIdLst>
  <p:handoutMasterIdLst>
    <p:handoutMasterId r:id="rId25"/>
  </p:handoutMasterIdLst>
  <p:sldIdLst>
    <p:sldId id="264" r:id="rId2"/>
    <p:sldId id="347" r:id="rId3"/>
    <p:sldId id="353" r:id="rId4"/>
    <p:sldId id="271" r:id="rId5"/>
    <p:sldId id="287" r:id="rId6"/>
    <p:sldId id="535" r:id="rId7"/>
    <p:sldId id="532" r:id="rId8"/>
    <p:sldId id="533" r:id="rId9"/>
    <p:sldId id="536" r:id="rId10"/>
    <p:sldId id="537" r:id="rId11"/>
    <p:sldId id="348" r:id="rId12"/>
    <p:sldId id="349" r:id="rId13"/>
    <p:sldId id="350" r:id="rId14"/>
    <p:sldId id="351" r:id="rId15"/>
    <p:sldId id="352" r:id="rId16"/>
    <p:sldId id="354" r:id="rId17"/>
    <p:sldId id="539" r:id="rId18"/>
    <p:sldId id="538" r:id="rId19"/>
    <p:sldId id="540" r:id="rId20"/>
    <p:sldId id="541" r:id="rId21"/>
    <p:sldId id="548" r:id="rId22"/>
    <p:sldId id="549" r:id="rId23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1" d="100"/>
          <a:sy n="71" d="100"/>
        </p:scale>
        <p:origin x="135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2462" y="-1282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877888" y="733425"/>
            <a:ext cx="4892675" cy="36703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 smtClean="0"/>
              <a:pPr>
                <a:defRPr/>
              </a:pPr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49403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/>
              <a:t>LLM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371599" y="5572223"/>
            <a:ext cx="6400800" cy="551554"/>
          </a:xfrm>
        </p:spPr>
        <p:txBody>
          <a:bodyPr/>
          <a:lstStyle/>
          <a:p>
            <a:pPr eaLnBrk="1" hangingPunct="1"/>
            <a:r>
              <a:rPr lang="fr-FR" altLang="fr-FR" dirty="0"/>
              <a:t>LLM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107222" y="1120676"/>
            <a:ext cx="49295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sz="3600" dirty="0"/>
              <a:t>Large </a:t>
            </a:r>
            <a:r>
              <a:rPr lang="fr-FR" sz="3600" dirty="0" err="1"/>
              <a:t>Language</a:t>
            </a:r>
            <a:r>
              <a:rPr lang="fr-FR" sz="3600" dirty="0"/>
              <a:t> Model</a:t>
            </a:r>
          </a:p>
          <a:p>
            <a:pPr algn="ctr"/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52C0B44-A72F-4C23-DF0D-20BA9F6FF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056" y="2852936"/>
            <a:ext cx="3851920" cy="2463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879172-4201-9510-9EEE-AAD2C79EB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Lama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98943D-109D-1E2F-7B5C-F39B164A9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Large </a:t>
            </a:r>
            <a:r>
              <a:rPr lang="fr-FR" sz="2400" dirty="0" err="1"/>
              <a:t>LAnguage</a:t>
            </a:r>
            <a:r>
              <a:rPr lang="fr-FR" sz="2400" dirty="0"/>
              <a:t> Model</a:t>
            </a:r>
          </a:p>
          <a:p>
            <a:pPr lvl="1"/>
            <a:r>
              <a:rPr lang="fr-FR" sz="2000" dirty="0"/>
              <a:t>LLM</a:t>
            </a:r>
          </a:p>
          <a:p>
            <a:pPr lvl="1"/>
            <a:r>
              <a:rPr lang="fr-FR" sz="2000" dirty="0" err="1"/>
              <a:t>LlaMa</a:t>
            </a:r>
            <a:endParaRPr lang="fr-FR" sz="2000" dirty="0"/>
          </a:p>
          <a:p>
            <a:r>
              <a:rPr lang="fr-FR" sz="2400" dirty="0" err="1"/>
              <a:t>OpenAI</a:t>
            </a:r>
            <a:endParaRPr lang="fr-FR" sz="2400" dirty="0"/>
          </a:p>
          <a:p>
            <a:pPr lvl="1"/>
            <a:r>
              <a:rPr lang="fr-FR" sz="2000" dirty="0" err="1"/>
              <a:t>ChatGPT</a:t>
            </a:r>
            <a:endParaRPr lang="fr-FR" sz="2000" dirty="0"/>
          </a:p>
          <a:p>
            <a:r>
              <a:rPr lang="fr-FR" sz="2400" dirty="0"/>
              <a:t>Mistral</a:t>
            </a:r>
          </a:p>
          <a:p>
            <a:r>
              <a:rPr lang="fr-FR" sz="2400" dirty="0" err="1"/>
              <a:t>Anthropic</a:t>
            </a:r>
            <a:endParaRPr lang="fr-FR" sz="2400" dirty="0"/>
          </a:p>
          <a:p>
            <a:pPr lvl="1"/>
            <a:r>
              <a:rPr lang="fr-FR" sz="2000" dirty="0"/>
              <a:t>Claude</a:t>
            </a:r>
          </a:p>
          <a:p>
            <a:r>
              <a:rPr lang="fr-FR" sz="2400" dirty="0" err="1"/>
              <a:t>DeepSeek</a:t>
            </a:r>
            <a:endParaRPr lang="fr-FR" sz="2400" dirty="0"/>
          </a:p>
          <a:p>
            <a:r>
              <a:rPr lang="fr-FR" sz="2400" dirty="0"/>
              <a:t>Facebook</a:t>
            </a:r>
          </a:p>
          <a:p>
            <a:r>
              <a:rPr lang="fr-FR" sz="2400" dirty="0"/>
              <a:t>Google</a:t>
            </a:r>
          </a:p>
          <a:p>
            <a:pPr lvl="1"/>
            <a:r>
              <a:rPr lang="fr-FR" sz="2000" dirty="0"/>
              <a:t>Gemini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3446DD2-C313-9D5A-5F3B-74C05D12F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9824" y="3212974"/>
            <a:ext cx="3851920" cy="246313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B916D0C2-68B8-4E02-BD16-7FD106954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4307" y="2052086"/>
            <a:ext cx="3134162" cy="876422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FEF489FE-CAB2-2304-3B61-5E7CF9F45A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815" y="3140802"/>
            <a:ext cx="933580" cy="103837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120BEEE-9524-4BFB-9F09-CCD0BCA00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8014" y="4036679"/>
            <a:ext cx="2924583" cy="552527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91E1AB00-A3C5-F60F-61DB-669090CD6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9203" y="4584748"/>
            <a:ext cx="2304008" cy="82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69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85413E-F970-0CAC-863D-C181F355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Framework pour réseaux neuronaux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135D29-15C3-E1A3-8E81-FEF6C3E0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(ainsi que toutes les IA) sont </a:t>
            </a:r>
            <a:r>
              <a:rPr lang="fr-FR" dirty="0" err="1"/>
              <a:t>progrmmés</a:t>
            </a:r>
            <a:r>
              <a:rPr lang="fr-FR" dirty="0"/>
              <a:t> avec des </a:t>
            </a:r>
            <a:r>
              <a:rPr lang="fr-FR" dirty="0" err="1"/>
              <a:t>framework</a:t>
            </a:r>
            <a:r>
              <a:rPr lang="fr-FR" dirty="0"/>
              <a:t> Python</a:t>
            </a:r>
          </a:p>
          <a:p>
            <a:r>
              <a:rPr lang="fr-FR" dirty="0"/>
              <a:t>Il en existe 3</a:t>
            </a:r>
          </a:p>
          <a:p>
            <a:pPr lvl="1"/>
            <a:r>
              <a:rPr lang="fr-FR" dirty="0" err="1"/>
              <a:t>Scikit-learn</a:t>
            </a:r>
            <a:r>
              <a:rPr lang="fr-FR" dirty="0"/>
              <a:t> (simple, peu puissant)</a:t>
            </a:r>
          </a:p>
          <a:p>
            <a:pPr lvl="1"/>
            <a:r>
              <a:rPr lang="fr-FR" dirty="0" err="1"/>
              <a:t>Tensorflow</a:t>
            </a:r>
            <a:r>
              <a:rPr lang="fr-FR" dirty="0"/>
              <a:t> (Google, GPU, très puissant)</a:t>
            </a:r>
          </a:p>
          <a:p>
            <a:pPr lvl="1"/>
            <a:r>
              <a:rPr lang="fr-FR" dirty="0" err="1"/>
              <a:t>PyTorch</a:t>
            </a:r>
            <a:r>
              <a:rPr lang="fr-FR" dirty="0"/>
              <a:t> (Facebook, GPU, à la mode)</a:t>
            </a:r>
          </a:p>
        </p:txBody>
      </p:sp>
    </p:spTree>
    <p:extLst>
      <p:ext uri="{BB962C8B-B14F-4D97-AF65-F5344CB8AC3E}">
        <p14:creationId xmlns:p14="http://schemas.microsoft.com/office/powerpoint/2010/main" val="3285916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LSTM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Long Short </a:t>
            </a:r>
            <a:r>
              <a:rPr lang="fr-FR" dirty="0" err="1"/>
              <a:t>Term</a:t>
            </a:r>
            <a:r>
              <a:rPr lang="fr-FR" dirty="0"/>
              <a:t> Memory Network</a:t>
            </a:r>
          </a:p>
          <a:p>
            <a:pPr lvl="1"/>
            <a:r>
              <a:rPr lang="fr-FR" dirty="0"/>
              <a:t>Le problème des RNN est la donnée qui reste longtemps dans le neurone (Long </a:t>
            </a:r>
            <a:r>
              <a:rPr lang="fr-FR" dirty="0" err="1"/>
              <a:t>Term</a:t>
            </a:r>
            <a:r>
              <a:rPr lang="fr-FR" dirty="0"/>
              <a:t> Memory)</a:t>
            </a:r>
          </a:p>
          <a:p>
            <a:pPr lvl="1"/>
            <a:r>
              <a:rPr lang="fr-FR" dirty="0"/>
              <a:t>C’est-à-dire un grand nombre d'itération</a:t>
            </a:r>
          </a:p>
          <a:p>
            <a:pPr lvl="1"/>
            <a:r>
              <a:rPr lang="fr-FR" dirty="0"/>
              <a:t>Très utilisé dans le langage naturel et la traduction</a:t>
            </a:r>
          </a:p>
          <a:p>
            <a:r>
              <a:rPr lang="fr-FR" dirty="0"/>
              <a:t>LSTM change le mécanisme d'activation d'un neurone afin d'éviter un nombre d'itération trop élevé</a:t>
            </a:r>
          </a:p>
          <a:p>
            <a:r>
              <a:rPr lang="fr-FR" dirty="0"/>
              <a:t>RNN ou MLP classique :</a:t>
            </a:r>
          </a:p>
          <a:p>
            <a:endParaRPr lang="fr-FR" dirty="0"/>
          </a:p>
          <a:p>
            <a:pPr lvl="1"/>
            <a:endParaRPr lang="fr-FR" dirty="0"/>
          </a:p>
        </p:txBody>
      </p:sp>
      <p:pic>
        <p:nvPicPr>
          <p:cNvPr id="2050" name="Picture 2" descr="https://colah.github.io/posts/2015-08-Understanding-LSTMs/img/LSTM3-SimpleRNN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2707" y="4617133"/>
            <a:ext cx="2574482" cy="963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348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02985B-687B-D16D-9EE1-849AAF7B5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BERT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1BDAB2-BAE5-6784-4DB4-D24CEA977D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Bidirectional</a:t>
            </a:r>
            <a:r>
              <a:rPr lang="fr-FR" dirty="0"/>
              <a:t> Encoder </a:t>
            </a:r>
            <a:r>
              <a:rPr lang="fr-FR" dirty="0" err="1"/>
              <a:t>Representations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Transformers, est un modèle de langage développé par Google en 2018</a:t>
            </a:r>
          </a:p>
          <a:p>
            <a:r>
              <a:rPr lang="fr-FR" dirty="0"/>
              <a:t>Ancêtre de </a:t>
            </a:r>
            <a:r>
              <a:rPr lang="fr-FR" dirty="0" err="1"/>
              <a:t>ChatGPT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223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56A041-ED63-64A9-2990-AC578945D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IA Générative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35DADF-DE40-96C5-9F4F-7DFF1380E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Permet de générer de la data</a:t>
            </a:r>
          </a:p>
          <a:p>
            <a:pPr lvl="1"/>
            <a:r>
              <a:rPr lang="fr-FR" dirty="0"/>
              <a:t>Du texte :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De l’image : </a:t>
            </a:r>
            <a:r>
              <a:rPr lang="fr-FR" dirty="0" err="1"/>
              <a:t>Dal-E</a:t>
            </a:r>
            <a:endParaRPr lang="fr-FR" dirty="0"/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0647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F8B006-CAA3-38DC-285E-A4461CD27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ChatGPT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539444-0460-EC53-499D-38A4E138AF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err="1"/>
              <a:t>OpenAI</a:t>
            </a:r>
            <a:endParaRPr lang="fr-FR" dirty="0"/>
          </a:p>
          <a:p>
            <a:r>
              <a:rPr lang="fr-FR" dirty="0" err="1"/>
              <a:t>ChatGPT</a:t>
            </a:r>
            <a:r>
              <a:rPr lang="fr-FR" dirty="0"/>
              <a:t> 3</a:t>
            </a:r>
          </a:p>
          <a:p>
            <a:r>
              <a:rPr lang="fr-FR" dirty="0" err="1"/>
              <a:t>ChatGPT</a:t>
            </a:r>
            <a:r>
              <a:rPr lang="fr-FR"/>
              <a:t> 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84124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4E4757-9B75-45D4-110D-5D9A94502E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CFFD447-BB8D-8AF7-9B1D-8AEF53B4D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9" y="994755"/>
            <a:ext cx="6940295" cy="5005995"/>
          </a:xfrm>
          <a:prstGeom prst="rect">
            <a:avLst/>
          </a:prstGeom>
        </p:spPr>
      </p:pic>
      <p:sp>
        <p:nvSpPr>
          <p:cNvPr id="7" name="Titre 6">
            <a:extLst>
              <a:ext uri="{FF2B5EF4-FFF2-40B4-BE49-F238E27FC236}">
                <a16:creationId xmlns:a16="http://schemas.microsoft.com/office/drawing/2014/main" id="{5302B7C8-93CB-EC1E-DCAC-AFC8C3B1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174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00B3CB-7458-AD76-00A8-9E4A58B7D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Un nouveau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A9C2F-8D79-AD5D-7196-AEFA015F8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  <a:p>
            <a:pPr lvl="1"/>
            <a:r>
              <a:rPr lang="fr-FR" dirty="0"/>
              <a:t>L’art de poser les bonnes questions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9B65E51-CD26-8726-F4FD-E1C0022F7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708920"/>
            <a:ext cx="8145012" cy="334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300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C191EC-6D20-F0BE-C601-4F2B14F0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4433756-41DD-3C4E-3884-75AD64B2D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1C5FE83-1339-AC00-113E-CBB1A0CCD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85" y="1971537"/>
            <a:ext cx="7361558" cy="3189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60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CAEBD8-F4FD-1484-1590-DA5456F7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Prompt Engineering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0B0DFC-5926-BFEB-41F9-1E37567D4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Métier du prompt</a:t>
            </a:r>
          </a:p>
          <a:p>
            <a:r>
              <a:rPr lang="fr-FR" dirty="0"/>
              <a:t>Gestion du contexte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7078BCC-F896-D423-45AB-F912E85E2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521" y="2956224"/>
            <a:ext cx="9415041" cy="250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9987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677C02-0B3F-98FB-184B-162B82E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SaaS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417BF6-1CCD-429A-8CB8-69D66676B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Software as a Service</a:t>
            </a:r>
          </a:p>
          <a:p>
            <a:r>
              <a:rPr lang="fr-FR" dirty="0"/>
              <a:t>Mode cloud</a:t>
            </a:r>
          </a:p>
          <a:p>
            <a:pPr lvl="1"/>
            <a:r>
              <a:rPr lang="fr-FR" dirty="0"/>
              <a:t>Attention aux RGPD</a:t>
            </a:r>
          </a:p>
          <a:p>
            <a:pPr lvl="1"/>
            <a:r>
              <a:rPr lang="fr-FR" dirty="0"/>
              <a:t>Patriot </a:t>
            </a:r>
            <a:r>
              <a:rPr lang="fr-FR" dirty="0" err="1"/>
              <a:t>Act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721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EE4612-8EAA-A4D6-A0AF-AFB8ECE6B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On </a:t>
            </a:r>
            <a:r>
              <a:rPr lang="fr-FR" dirty="0" err="1"/>
              <a:t>Premise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E99057D-5F76-0171-7403-0BC8F7982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Certains modèles sont libres</a:t>
            </a:r>
          </a:p>
          <a:p>
            <a:pPr lvl="1"/>
            <a:r>
              <a:rPr lang="fr-FR" dirty="0"/>
              <a:t>Tous sauf les Américains</a:t>
            </a:r>
          </a:p>
          <a:p>
            <a:r>
              <a:rPr lang="fr-FR" dirty="0"/>
              <a:t>Installation On </a:t>
            </a:r>
            <a:r>
              <a:rPr lang="fr-FR" dirty="0" err="1"/>
              <a:t>Premise</a:t>
            </a:r>
            <a:endParaRPr lang="fr-FR" dirty="0"/>
          </a:p>
          <a:p>
            <a:pPr lvl="1"/>
            <a:r>
              <a:rPr lang="fr-FR" dirty="0"/>
              <a:t>Nécessite d'énorme serveur avec GPU</a:t>
            </a:r>
          </a:p>
          <a:p>
            <a:pPr lvl="1"/>
            <a:r>
              <a:rPr lang="fr-FR" dirty="0"/>
              <a:t>Installation locale via Docker</a:t>
            </a:r>
          </a:p>
          <a:p>
            <a:pPr lvl="1"/>
            <a:r>
              <a:rPr lang="fr-FR" dirty="0"/>
              <a:t>Taille des modèles très variable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7C36214-BB9C-2091-D638-8064F06F5C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286" y="3861047"/>
            <a:ext cx="3794767" cy="30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791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079DAA-3057-E1E0-A681-79178558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A01D6B-B36B-C00D-00EB-B283FCAC3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API des LLM nécessitent une clé d'activation</a:t>
            </a:r>
          </a:p>
          <a:p>
            <a:pPr lvl="1"/>
            <a:r>
              <a:rPr lang="fr-FR" dirty="0"/>
              <a:t>Payant pour </a:t>
            </a:r>
            <a:r>
              <a:rPr lang="fr-FR" dirty="0" err="1"/>
              <a:t>OpenAI</a:t>
            </a:r>
            <a:endParaRPr lang="fr-FR" dirty="0"/>
          </a:p>
          <a:p>
            <a:pPr lvl="1"/>
            <a:r>
              <a:rPr lang="fr-FR" dirty="0"/>
              <a:t>Gratuit sous limitation pour les autres</a:t>
            </a:r>
          </a:p>
          <a:p>
            <a:pPr lvl="1"/>
            <a:r>
              <a:rPr lang="fr-FR" dirty="0"/>
              <a:t>Non partageable</a:t>
            </a:r>
          </a:p>
          <a:p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072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93534E-585B-D17B-18C5-5A96D5A9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Tokens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F03773-D21E-B4FB-C9EF-D221C4F85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C'est l'unité des LLM</a:t>
            </a:r>
          </a:p>
          <a:p>
            <a:pPr lvl="1"/>
            <a:r>
              <a:rPr lang="fr-FR" dirty="0"/>
              <a:t>1 </a:t>
            </a:r>
            <a:r>
              <a:rPr lang="fr-FR" dirty="0" err="1"/>
              <a:t>Token</a:t>
            </a:r>
            <a:r>
              <a:rPr lang="fr-FR" dirty="0"/>
              <a:t> ~= 0.75 caractères</a:t>
            </a:r>
          </a:p>
          <a:p>
            <a:pPr lvl="1"/>
            <a:r>
              <a:rPr lang="fr-FR" dirty="0"/>
              <a:t>Souvent payant</a:t>
            </a:r>
          </a:p>
          <a:p>
            <a:pPr lvl="1"/>
            <a:r>
              <a:rPr lang="fr-FR" dirty="0"/>
              <a:t>Nombre toujours limité par requête</a:t>
            </a:r>
          </a:p>
          <a:p>
            <a:pPr lvl="1"/>
            <a:r>
              <a:rPr lang="fr-FR" dirty="0"/>
              <a:t>Entre 512 et 32K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15661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02C501-CA42-184F-CB0F-857B5B419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 simple de </a:t>
            </a:r>
            <a:r>
              <a:rPr lang="fr-FR" dirty="0" err="1"/>
              <a:t>prompting</a:t>
            </a:r>
            <a:r>
              <a:rPr lang="fr-FR" dirty="0"/>
              <a:t> API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91194FF-C71D-B1A2-4191-C487263E2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48628CE-8D76-D062-8292-78DAA22B2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41" y="1147444"/>
            <a:ext cx="8907118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66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5CF727-9FE5-87E2-BEFB-A19A0F36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Norme </a:t>
            </a:r>
            <a:r>
              <a:rPr lang="fr-FR" dirty="0" err="1"/>
              <a:t>OpenAI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03DF8B-978C-380F-DCC6-7DEF9DC4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L'API </a:t>
            </a:r>
            <a:r>
              <a:rPr lang="fr-FR" dirty="0" err="1"/>
              <a:t>OpenAI</a:t>
            </a:r>
            <a:r>
              <a:rPr lang="fr-FR" dirty="0"/>
              <a:t> est non seulement compatible </a:t>
            </a:r>
            <a:r>
              <a:rPr lang="fr-FR" dirty="0" err="1"/>
              <a:t>ChatGPT</a:t>
            </a:r>
            <a:endParaRPr lang="fr-FR" dirty="0"/>
          </a:p>
          <a:p>
            <a:pPr lvl="1"/>
            <a:r>
              <a:rPr lang="fr-FR" dirty="0"/>
              <a:t>Mais également Mistral</a:t>
            </a:r>
          </a:p>
        </p:txBody>
      </p:sp>
    </p:spTree>
    <p:extLst>
      <p:ext uri="{BB962C8B-B14F-4D97-AF65-F5344CB8AC3E}">
        <p14:creationId xmlns:p14="http://schemas.microsoft.com/office/powerpoint/2010/main" val="2609191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34C7219-0A83-6D62-1415-EC61EFABC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rôles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D1E1BD-D61B-1F85-EE26-65C03EB25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l’API d’</a:t>
            </a:r>
            <a:r>
              <a:rPr lang="fr-FR" dirty="0" err="1"/>
              <a:t>OpenAI</a:t>
            </a:r>
            <a:r>
              <a:rPr lang="fr-FR" dirty="0"/>
              <a:t>, les rôles sont utilisés pour structurer les échanges dans une conversation de type chat</a:t>
            </a:r>
          </a:p>
          <a:p>
            <a:r>
              <a:rPr lang="fr-FR" dirty="0"/>
              <a:t>Les rôles principaux</a:t>
            </a:r>
          </a:p>
          <a:p>
            <a:pPr lvl="1"/>
            <a:r>
              <a:rPr lang="fr-FR" dirty="0"/>
              <a:t>System</a:t>
            </a:r>
          </a:p>
          <a:p>
            <a:pPr lvl="1"/>
            <a:r>
              <a:rPr lang="fr-FR" dirty="0"/>
              <a:t>User</a:t>
            </a:r>
          </a:p>
          <a:p>
            <a:pPr lvl="1"/>
            <a:r>
              <a:rPr lang="fr-FR" dirty="0"/>
              <a:t>Assistant</a:t>
            </a:r>
          </a:p>
        </p:txBody>
      </p:sp>
    </p:spTree>
    <p:extLst>
      <p:ext uri="{BB962C8B-B14F-4D97-AF65-F5344CB8AC3E}">
        <p14:creationId xmlns:p14="http://schemas.microsoft.com/office/powerpoint/2010/main" val="102881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735303-1148-1DEC-1B17-7B09FB903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System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132E4D-0E62-3C8E-0316-94778D63E5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Sert à définir le contexte général, les règles ou la personnalité du modèle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"system", "content": "Tu es un assistant juridique spécialisé en droit du travail français"}</a:t>
            </a:r>
          </a:p>
        </p:txBody>
      </p:sp>
    </p:spTree>
    <p:extLst>
      <p:ext uri="{BB962C8B-B14F-4D97-AF65-F5344CB8AC3E}">
        <p14:creationId xmlns:p14="http://schemas.microsoft.com/office/powerpoint/2010/main" val="3053511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3FFE2E-A476-F97B-1B8E-431EC404B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User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EAB774-BDDE-AB47-BEDB-33CB5DAC9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Représente le message envoyé par l'utilisateur (toi ou ton application)</a:t>
            </a:r>
          </a:p>
          <a:p>
            <a:r>
              <a:rPr lang="fr-FR" dirty="0"/>
              <a:t>Exemple</a:t>
            </a:r>
          </a:p>
          <a:p>
            <a:pPr lvl="1"/>
            <a:r>
              <a:rPr lang="fr-FR" dirty="0"/>
              <a:t>{"</a:t>
            </a:r>
            <a:r>
              <a:rPr lang="fr-FR" dirty="0" err="1"/>
              <a:t>role</a:t>
            </a:r>
            <a:r>
              <a:rPr lang="fr-FR" dirty="0"/>
              <a:t>": "user", "content": "Quels sont les droits d’un salarié en arrêt maladie ?"}</a:t>
            </a:r>
          </a:p>
        </p:txBody>
      </p:sp>
    </p:spTree>
    <p:extLst>
      <p:ext uri="{BB962C8B-B14F-4D97-AF65-F5344CB8AC3E}">
        <p14:creationId xmlns:p14="http://schemas.microsoft.com/office/powerpoint/2010/main" val="24636690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AAE58E-75C5-4DE4-8EB6-22BD66D3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Comment un LLM fonctionne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97A39D-C744-9DAD-EAD5-25F102A5F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Les LLM fonctionnent en 3 parties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tokenizer</a:t>
            </a:r>
            <a:endParaRPr lang="fr-FR" dirty="0"/>
          </a:p>
          <a:p>
            <a:pPr lvl="1"/>
            <a:r>
              <a:rPr lang="fr-FR" dirty="0"/>
              <a:t>Un encoder</a:t>
            </a:r>
          </a:p>
          <a:p>
            <a:pPr lvl="1"/>
            <a:r>
              <a:rPr lang="fr-FR" dirty="0"/>
              <a:t>Un </a:t>
            </a:r>
            <a:r>
              <a:rPr lang="fr-FR" dirty="0" err="1"/>
              <a:t>decoder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DCA10AC-030B-D2A1-826A-464FD55D2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52" y="3717032"/>
            <a:ext cx="8392696" cy="239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851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402E54-5ECB-9C52-C714-D1FE27B7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EDA365-07EB-AFE6-D329-39E5A89DB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09ED587-AAB8-8ABB-FC90-54A180D23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92" y="136248"/>
            <a:ext cx="8573696" cy="255305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A4F28D3-E97D-461D-4F20-4CA0F3482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2449505"/>
            <a:ext cx="6386655" cy="43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131168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3618</TotalTime>
  <Words>408</Words>
  <Application>Microsoft Office PowerPoint</Application>
  <PresentationFormat>Affichage à l'écran (4:3)</PresentationFormat>
  <Paragraphs>95</Paragraphs>
  <Slides>22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6" baseType="lpstr">
      <vt:lpstr>Arial</vt:lpstr>
      <vt:lpstr>Monotype Sorts</vt:lpstr>
      <vt:lpstr>Times New Roman</vt:lpstr>
      <vt:lpstr>cvc</vt:lpstr>
      <vt:lpstr>Présentation PowerPoint</vt:lpstr>
      <vt:lpstr>Un Lama ?</vt:lpstr>
      <vt:lpstr>Framework pour réseaux neuronaux</vt:lpstr>
      <vt:lpstr>LSTM</vt:lpstr>
      <vt:lpstr>BERT</vt:lpstr>
      <vt:lpstr>IA Générative</vt:lpstr>
      <vt:lpstr>ChatGPT</vt:lpstr>
      <vt:lpstr>Présentation PowerPoint</vt:lpstr>
      <vt:lpstr>Un nouveau métier</vt:lpstr>
      <vt:lpstr>Contexte</vt:lpstr>
      <vt:lpstr>Prompt Engineering</vt:lpstr>
      <vt:lpstr>SaaS</vt:lpstr>
      <vt:lpstr>On Premise</vt:lpstr>
      <vt:lpstr>API</vt:lpstr>
      <vt:lpstr>Tokens</vt:lpstr>
      <vt:lpstr>Exemple simple de prompting API</vt:lpstr>
      <vt:lpstr>Norme OpenAI</vt:lpstr>
      <vt:lpstr>Les rôles</vt:lpstr>
      <vt:lpstr>System</vt:lpstr>
      <vt:lpstr>User</vt:lpstr>
      <vt:lpstr>Comment un LLM fonctionne ?</vt:lpstr>
      <vt:lpstr>Présentation PowerPoint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249</cp:revision>
  <dcterms:created xsi:type="dcterms:W3CDTF">2000-04-10T19:33:12Z</dcterms:created>
  <dcterms:modified xsi:type="dcterms:W3CDTF">2026-06-24T09:16:31Z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