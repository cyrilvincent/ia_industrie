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5"/>
  </p:notesMasterIdLst>
  <p:handoutMasterIdLst>
    <p:handoutMasterId r:id="rId26"/>
  </p:handoutMasterIdLst>
  <p:sldIdLst>
    <p:sldId id="264" r:id="rId2"/>
    <p:sldId id="267" r:id="rId3"/>
    <p:sldId id="269" r:id="rId4"/>
    <p:sldId id="270" r:id="rId5"/>
    <p:sldId id="271" r:id="rId6"/>
    <p:sldId id="273" r:id="rId7"/>
    <p:sldId id="274" r:id="rId8"/>
    <p:sldId id="279" r:id="rId9"/>
    <p:sldId id="266" r:id="rId10"/>
    <p:sldId id="272" r:id="rId11"/>
    <p:sldId id="281" r:id="rId12"/>
    <p:sldId id="282" r:id="rId13"/>
    <p:sldId id="280" r:id="rId14"/>
    <p:sldId id="283" r:id="rId15"/>
    <p:sldId id="284" r:id="rId16"/>
    <p:sldId id="285" r:id="rId17"/>
    <p:sldId id="286" r:id="rId18"/>
    <p:sldId id="287" r:id="rId19"/>
    <p:sldId id="265" r:id="rId20"/>
    <p:sldId id="288" r:id="rId21"/>
    <p:sldId id="289" r:id="rId22"/>
    <p:sldId id="292" r:id="rId23"/>
    <p:sldId id="293" r:id="rId2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8" d="100"/>
          <a:sy n="78"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2462" y="-1282"/>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a:t>LLM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547664" y="2708920"/>
            <a:ext cx="6400800" cy="551554"/>
          </a:xfrm>
        </p:spPr>
        <p:txBody>
          <a:bodyPr/>
          <a:lstStyle/>
          <a:p>
            <a:pPr eaLnBrk="1" hangingPunct="1"/>
            <a:r>
              <a:rPr lang="fr-FR" altLang="fr-FR" dirty="0"/>
              <a:t>Les modes d'utilisation</a:t>
            </a:r>
          </a:p>
        </p:txBody>
      </p:sp>
      <p:sp>
        <p:nvSpPr>
          <p:cNvPr id="3" name="ZoneTexte 2"/>
          <p:cNvSpPr txBox="1"/>
          <p:nvPr/>
        </p:nvSpPr>
        <p:spPr>
          <a:xfrm>
            <a:off x="4261657" y="1120676"/>
            <a:ext cx="620684" cy="1200329"/>
          </a:xfrm>
          <a:prstGeom prst="rect">
            <a:avLst/>
          </a:prstGeom>
          <a:noFill/>
        </p:spPr>
        <p:txBody>
          <a:bodyPr wrap="none" rtlCol="0">
            <a:spAutoFit/>
          </a:bodyPr>
          <a:lstStyle/>
          <a:p>
            <a:pPr algn="ctr"/>
            <a:r>
              <a:rPr lang="fr-FR" sz="3600" dirty="0"/>
              <a:t>IA</a:t>
            </a:r>
          </a:p>
          <a:p>
            <a:pPr algn="ctr"/>
            <a:endParaRPr lang="fr-F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Cloud</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1605024" y="1527993"/>
            <a:ext cx="5915025" cy="4810125"/>
          </a:xfrm>
          <a:prstGeom prst="rect">
            <a:avLst/>
          </a:prstGeom>
        </p:spPr>
      </p:pic>
    </p:spTree>
    <p:extLst>
      <p:ext uri="{BB962C8B-B14F-4D97-AF65-F5344CB8AC3E}">
        <p14:creationId xmlns:p14="http://schemas.microsoft.com/office/powerpoint/2010/main" val="168763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IaaS</a:t>
            </a:r>
            <a:endParaRPr lang="fr-FR" dirty="0"/>
          </a:p>
        </p:txBody>
      </p:sp>
      <p:sp>
        <p:nvSpPr>
          <p:cNvPr id="3" name="Espace réservé du contenu 2"/>
          <p:cNvSpPr>
            <a:spLocks noGrp="1"/>
          </p:cNvSpPr>
          <p:nvPr>
            <p:ph idx="1"/>
          </p:nvPr>
        </p:nvSpPr>
        <p:spPr/>
        <p:txBody>
          <a:bodyPr/>
          <a:lstStyle/>
          <a:p>
            <a:r>
              <a:rPr lang="fr-FR" dirty="0"/>
              <a:t>On distingue plusieurs types de services cloud</a:t>
            </a:r>
          </a:p>
          <a:p>
            <a:r>
              <a:rPr lang="fr-FR" dirty="0" err="1"/>
              <a:t>IaaS</a:t>
            </a:r>
            <a:r>
              <a:rPr lang="fr-FR" dirty="0"/>
              <a:t> (Infrastructure as a Service)</a:t>
            </a:r>
          </a:p>
          <a:p>
            <a:pPr lvl="1"/>
            <a:r>
              <a:rPr lang="fr-FR" dirty="0"/>
              <a:t>Le système d'exploitation et les applications sont installés par les clients sur des serveurs auxquels ils se connectent pour travailler comme s'il s'agissait d'un ordinateur classique</a:t>
            </a:r>
          </a:p>
          <a:p>
            <a:pPr lvl="1"/>
            <a:r>
              <a:rPr lang="fr-FR" dirty="0" err="1"/>
              <a:t>Hosting</a:t>
            </a:r>
            <a:endParaRPr lang="fr-FR" dirty="0"/>
          </a:p>
          <a:p>
            <a:pPr lvl="1"/>
            <a:r>
              <a:rPr lang="fr-FR" dirty="0"/>
              <a:t>OVH, …</a:t>
            </a:r>
          </a:p>
        </p:txBody>
      </p:sp>
    </p:spTree>
    <p:extLst>
      <p:ext uri="{BB962C8B-B14F-4D97-AF65-F5344CB8AC3E}">
        <p14:creationId xmlns:p14="http://schemas.microsoft.com/office/powerpoint/2010/main" val="404935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PaaS</a:t>
            </a:r>
            <a:endParaRPr lang="fr-FR" dirty="0"/>
          </a:p>
        </p:txBody>
      </p:sp>
      <p:sp>
        <p:nvSpPr>
          <p:cNvPr id="3" name="Espace réservé du contenu 2"/>
          <p:cNvSpPr>
            <a:spLocks noGrp="1"/>
          </p:cNvSpPr>
          <p:nvPr>
            <p:ph idx="1"/>
          </p:nvPr>
        </p:nvSpPr>
        <p:spPr/>
        <p:txBody>
          <a:bodyPr/>
          <a:lstStyle/>
          <a:p>
            <a:r>
              <a:rPr lang="fr-FR" dirty="0" err="1"/>
              <a:t>PaaS</a:t>
            </a:r>
            <a:r>
              <a:rPr lang="fr-FR" dirty="0"/>
              <a:t> (Platform as a Service)</a:t>
            </a:r>
          </a:p>
          <a:p>
            <a:r>
              <a:rPr lang="fr-FR" dirty="0"/>
              <a:t>Dans ce mode, c'est le fournisseur du service cloud qui administre le système d'exploitation et ses outils</a:t>
            </a:r>
          </a:p>
          <a:p>
            <a:pPr lvl="1"/>
            <a:r>
              <a:rPr lang="fr-FR" dirty="0"/>
              <a:t>Le client peut installer ses propres applications si besoin</a:t>
            </a:r>
          </a:p>
          <a:p>
            <a:pPr lvl="1"/>
            <a:r>
              <a:rPr lang="fr-FR" dirty="0"/>
              <a:t>AWS, Google Cloud, Microsoft Azure</a:t>
            </a:r>
          </a:p>
        </p:txBody>
      </p:sp>
    </p:spTree>
    <p:extLst>
      <p:ext uri="{BB962C8B-B14F-4D97-AF65-F5344CB8AC3E}">
        <p14:creationId xmlns:p14="http://schemas.microsoft.com/office/powerpoint/2010/main" val="2715748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SaaS</a:t>
            </a:r>
            <a:endParaRPr lang="fr-FR" dirty="0"/>
          </a:p>
        </p:txBody>
      </p:sp>
      <p:sp>
        <p:nvSpPr>
          <p:cNvPr id="3" name="Espace réservé du contenu 2"/>
          <p:cNvSpPr>
            <a:spLocks noGrp="1"/>
          </p:cNvSpPr>
          <p:nvPr>
            <p:ph idx="1"/>
          </p:nvPr>
        </p:nvSpPr>
        <p:spPr/>
        <p:txBody>
          <a:bodyPr/>
          <a:lstStyle/>
          <a:p>
            <a:r>
              <a:rPr lang="fr-FR" dirty="0" err="1"/>
              <a:t>SaaS</a:t>
            </a:r>
            <a:r>
              <a:rPr lang="fr-FR" dirty="0"/>
              <a:t> (Software as a Service)</a:t>
            </a:r>
          </a:p>
          <a:p>
            <a:r>
              <a:rPr lang="fr-FR" dirty="0"/>
              <a:t>Les applications sont fournies sous forme de services clés en mains auxquels les utilisateurs se connectent via des logiciels dédiés ou un navigateur Internet</a:t>
            </a:r>
          </a:p>
          <a:p>
            <a:pPr lvl="1"/>
            <a:r>
              <a:rPr lang="fr-FR" dirty="0"/>
              <a:t>Pour le grand public, il s'agit par exemple de messageries électroniques type Gmail, Yahoo, Outlook.com ou de suites bureautiques type Office 365 ou Google Apps</a:t>
            </a:r>
          </a:p>
        </p:txBody>
      </p:sp>
    </p:spTree>
    <p:extLst>
      <p:ext uri="{BB962C8B-B14F-4D97-AF65-F5344CB8AC3E}">
        <p14:creationId xmlns:p14="http://schemas.microsoft.com/office/powerpoint/2010/main" val="159860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Avantages</a:t>
            </a:r>
          </a:p>
        </p:txBody>
      </p:sp>
      <p:sp>
        <p:nvSpPr>
          <p:cNvPr id="3" name="Espace réservé du contenu 2"/>
          <p:cNvSpPr>
            <a:spLocks noGrp="1"/>
          </p:cNvSpPr>
          <p:nvPr>
            <p:ph idx="1"/>
          </p:nvPr>
        </p:nvSpPr>
        <p:spPr/>
        <p:txBody>
          <a:bodyPr/>
          <a:lstStyle/>
          <a:p>
            <a:r>
              <a:rPr lang="fr-FR" dirty="0"/>
              <a:t>La réduction des coûts de maintenance de son infrastructure informatique</a:t>
            </a:r>
          </a:p>
          <a:p>
            <a:r>
              <a:rPr lang="fr-FR" dirty="0"/>
              <a:t>La réduction de la consommation énergétique</a:t>
            </a:r>
          </a:p>
          <a:p>
            <a:r>
              <a:rPr lang="fr-FR" dirty="0"/>
              <a:t>La disposition rapide d'une plateforme prête à l'emploi pour le déploiement des applications</a:t>
            </a:r>
          </a:p>
          <a:p>
            <a:r>
              <a:rPr lang="fr-FR" dirty="0"/>
              <a:t>La disposition d'une solution de sauvegarde simple et accessible à tous, même aux non-informaticiens</a:t>
            </a:r>
          </a:p>
        </p:txBody>
      </p:sp>
    </p:spTree>
    <p:extLst>
      <p:ext uri="{BB962C8B-B14F-4D97-AF65-F5344CB8AC3E}">
        <p14:creationId xmlns:p14="http://schemas.microsoft.com/office/powerpoint/2010/main" val="152045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Inconvénients</a:t>
            </a:r>
          </a:p>
        </p:txBody>
      </p:sp>
      <p:sp>
        <p:nvSpPr>
          <p:cNvPr id="3" name="Espace réservé du contenu 2"/>
          <p:cNvSpPr>
            <a:spLocks noGrp="1"/>
          </p:cNvSpPr>
          <p:nvPr>
            <p:ph idx="1"/>
          </p:nvPr>
        </p:nvSpPr>
        <p:spPr/>
        <p:txBody>
          <a:bodyPr/>
          <a:lstStyle/>
          <a:p>
            <a:r>
              <a:rPr lang="fr-FR" sz="2400" dirty="0"/>
              <a:t>L’existence de brèches de sécurité tant sur l’une des couches logiques du Datacenter que celles issues d’erreurs humaines</a:t>
            </a:r>
          </a:p>
          <a:p>
            <a:r>
              <a:rPr lang="fr-FR" sz="2400" dirty="0"/>
              <a:t>Le piratage de compte, qui est un vieux type d’attaque informatique, vient avec une forte recrudescence depuis l’avènement d’Internet et encore celui du cloud </a:t>
            </a:r>
            <a:r>
              <a:rPr lang="fr-FR" sz="2400" dirty="0" err="1"/>
              <a:t>computing</a:t>
            </a:r>
            <a:endParaRPr lang="fr-FR" sz="2400" dirty="0"/>
          </a:p>
          <a:p>
            <a:r>
              <a:rPr lang="fr-FR" sz="2400" dirty="0"/>
              <a:t>Une action malveillante initiée en interne dans les effectifs du fournisseur</a:t>
            </a:r>
          </a:p>
          <a:p>
            <a:r>
              <a:rPr lang="fr-FR" sz="2400" dirty="0"/>
              <a:t>La localisation physique non maitrisée</a:t>
            </a:r>
          </a:p>
          <a:p>
            <a:pPr lvl="1"/>
            <a:r>
              <a:rPr lang="fr-FR" sz="2000" dirty="0"/>
              <a:t>La loi du pays de stockage l’emporte</a:t>
            </a:r>
          </a:p>
          <a:p>
            <a:r>
              <a:rPr lang="fr-FR" sz="2400" dirty="0"/>
              <a:t>Patriot </a:t>
            </a:r>
            <a:r>
              <a:rPr lang="fr-FR" sz="2400" dirty="0" err="1"/>
              <a:t>Act</a:t>
            </a:r>
            <a:endParaRPr lang="fr-FR" sz="2400" dirty="0"/>
          </a:p>
        </p:txBody>
      </p:sp>
    </p:spTree>
    <p:extLst>
      <p:ext uri="{BB962C8B-B14F-4D97-AF65-F5344CB8AC3E}">
        <p14:creationId xmlns:p14="http://schemas.microsoft.com/office/powerpoint/2010/main" val="1136688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AWS</a:t>
            </a:r>
          </a:p>
        </p:txBody>
      </p:sp>
      <p:sp>
        <p:nvSpPr>
          <p:cNvPr id="3" name="Espace réservé du contenu 2"/>
          <p:cNvSpPr>
            <a:spLocks noGrp="1"/>
          </p:cNvSpPr>
          <p:nvPr>
            <p:ph idx="1"/>
          </p:nvPr>
        </p:nvSpPr>
        <p:spPr/>
        <p:txBody>
          <a:bodyPr/>
          <a:lstStyle/>
          <a:p>
            <a:r>
              <a:rPr lang="fr-FR" dirty="0"/>
              <a:t>Amazon Web Service</a:t>
            </a:r>
          </a:p>
          <a:p>
            <a:r>
              <a:rPr lang="fr-FR" dirty="0"/>
              <a:t>Leader mondial</a:t>
            </a:r>
          </a:p>
        </p:txBody>
      </p:sp>
    </p:spTree>
    <p:extLst>
      <p:ext uri="{BB962C8B-B14F-4D97-AF65-F5344CB8AC3E}">
        <p14:creationId xmlns:p14="http://schemas.microsoft.com/office/powerpoint/2010/main" val="94886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Google Cloud</a:t>
            </a:r>
          </a:p>
        </p:txBody>
      </p:sp>
      <p:sp>
        <p:nvSpPr>
          <p:cNvPr id="3" name="Espace réservé du contenu 2"/>
          <p:cNvSpPr>
            <a:spLocks noGrp="1"/>
          </p:cNvSpPr>
          <p:nvPr>
            <p:ph idx="1"/>
          </p:nvPr>
        </p:nvSpPr>
        <p:spPr/>
        <p:txBody>
          <a:bodyPr/>
          <a:lstStyle/>
          <a:p>
            <a:r>
              <a:rPr lang="fr-FR" dirty="0"/>
              <a:t>La puissance Google</a:t>
            </a:r>
          </a:p>
          <a:p>
            <a:r>
              <a:rPr lang="fr-FR" dirty="0"/>
              <a:t>Le n°1 en Machine Learning</a:t>
            </a:r>
          </a:p>
          <a:p>
            <a:pPr lvl="1"/>
            <a:r>
              <a:rPr lang="fr-FR" dirty="0"/>
              <a:t>Google ML</a:t>
            </a:r>
          </a:p>
          <a:p>
            <a:pPr lvl="1"/>
            <a:r>
              <a:rPr lang="fr-FR"/>
              <a:t>TensorFlow</a:t>
            </a:r>
            <a:endParaRPr lang="fr-FR" dirty="0"/>
          </a:p>
        </p:txBody>
      </p:sp>
    </p:spTree>
    <p:extLst>
      <p:ext uri="{BB962C8B-B14F-4D97-AF65-F5344CB8AC3E}">
        <p14:creationId xmlns:p14="http://schemas.microsoft.com/office/powerpoint/2010/main" val="576272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Microsoft Azure</a:t>
            </a:r>
          </a:p>
        </p:txBody>
      </p:sp>
      <p:sp>
        <p:nvSpPr>
          <p:cNvPr id="3" name="Espace réservé du contenu 2"/>
          <p:cNvSpPr>
            <a:spLocks noGrp="1"/>
          </p:cNvSpPr>
          <p:nvPr>
            <p:ph idx="1"/>
          </p:nvPr>
        </p:nvSpPr>
        <p:spPr/>
        <p:txBody>
          <a:bodyPr/>
          <a:lstStyle/>
          <a:p>
            <a:r>
              <a:rPr lang="fr-FR" dirty="0"/>
              <a:t>La solution idéale pour .NET</a:t>
            </a:r>
          </a:p>
          <a:p>
            <a:pPr lvl="1"/>
            <a:r>
              <a:rPr lang="fr-FR" dirty="0"/>
              <a:t>Encore peu présent dans le monde linux</a:t>
            </a:r>
          </a:p>
          <a:p>
            <a:r>
              <a:rPr lang="fr-FR" dirty="0"/>
              <a:t>Intégration Windows et Office 365</a:t>
            </a:r>
          </a:p>
        </p:txBody>
      </p:sp>
    </p:spTree>
    <p:extLst>
      <p:ext uri="{BB962C8B-B14F-4D97-AF65-F5344CB8AC3E}">
        <p14:creationId xmlns:p14="http://schemas.microsoft.com/office/powerpoint/2010/main" val="323700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4EE661-A774-5091-355B-D5C72F12E8B2}"/>
              </a:ext>
            </a:extLst>
          </p:cNvPr>
          <p:cNvSpPr>
            <a:spLocks noGrp="1"/>
          </p:cNvSpPr>
          <p:nvPr>
            <p:ph type="title"/>
          </p:nvPr>
        </p:nvSpPr>
        <p:spPr/>
        <p:txBody>
          <a:bodyPr/>
          <a:lstStyle/>
          <a:p>
            <a:r>
              <a:rPr lang="fr-FR" dirty="0"/>
              <a:t>On </a:t>
            </a:r>
            <a:r>
              <a:rPr lang="fr-FR" dirty="0" err="1"/>
              <a:t>Premise</a:t>
            </a:r>
            <a:endParaRPr lang="fr-FR" dirty="0"/>
          </a:p>
        </p:txBody>
      </p:sp>
      <p:sp>
        <p:nvSpPr>
          <p:cNvPr id="3" name="Espace réservé du contenu 2">
            <a:extLst>
              <a:ext uri="{FF2B5EF4-FFF2-40B4-BE49-F238E27FC236}">
                <a16:creationId xmlns:a16="http://schemas.microsoft.com/office/drawing/2014/main" id="{610DB4D9-D4A2-B4D8-FF1E-125A76FE5CF2}"/>
              </a:ext>
            </a:extLst>
          </p:cNvPr>
          <p:cNvSpPr>
            <a:spLocks noGrp="1"/>
          </p:cNvSpPr>
          <p:nvPr>
            <p:ph idx="1"/>
          </p:nvPr>
        </p:nvSpPr>
        <p:spPr/>
        <p:txBody>
          <a:bodyPr/>
          <a:lstStyle/>
          <a:p>
            <a:r>
              <a:rPr lang="fr-FR" dirty="0"/>
              <a:t>On-</a:t>
            </a:r>
            <a:r>
              <a:rPr lang="fr-FR" dirty="0" err="1"/>
              <a:t>premise</a:t>
            </a:r>
            <a:r>
              <a:rPr lang="fr-FR" dirty="0"/>
              <a:t> désigne un mode de déploiement où les logiciels, serveurs et données sont installés et hébergés directement dans les locaux de l'organisation, sur son propre matériel, plutôt que chez un fournisseur externe</a:t>
            </a:r>
          </a:p>
          <a:p>
            <a:pPr lvl="1"/>
            <a:r>
              <a:rPr lang="fr-FR" dirty="0"/>
              <a:t>C'est l'opposé du cloud</a:t>
            </a:r>
          </a:p>
          <a:p>
            <a:r>
              <a:rPr lang="fr-FR" dirty="0"/>
              <a:t>Caractéristiques clés</a:t>
            </a:r>
          </a:p>
          <a:p>
            <a:pPr lvl="1"/>
            <a:r>
              <a:rPr lang="fr-FR" dirty="0"/>
              <a:t>Contrôle total sur les données et la configuration</a:t>
            </a:r>
          </a:p>
          <a:p>
            <a:pPr lvl="1"/>
            <a:r>
              <a:rPr lang="fr-FR" dirty="0"/>
              <a:t>Maintenance assurée par l'équipe interne </a:t>
            </a:r>
          </a:p>
          <a:p>
            <a:pPr lvl="1"/>
            <a:r>
              <a:rPr lang="fr-FR" dirty="0"/>
              <a:t>Coûts d'investissement initiaux élevés</a:t>
            </a:r>
          </a:p>
          <a:p>
            <a:pPr lvl="1"/>
            <a:r>
              <a:rPr lang="fr-FR" dirty="0"/>
              <a:t>Pas d'abonnement</a:t>
            </a:r>
          </a:p>
        </p:txBody>
      </p:sp>
    </p:spTree>
    <p:extLst>
      <p:ext uri="{BB962C8B-B14F-4D97-AF65-F5344CB8AC3E}">
        <p14:creationId xmlns:p14="http://schemas.microsoft.com/office/powerpoint/2010/main" val="3951761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C8F355-98CE-695A-B437-33DA2BE836F3}"/>
              </a:ext>
            </a:extLst>
          </p:cNvPr>
          <p:cNvSpPr>
            <a:spLocks noGrp="1"/>
          </p:cNvSpPr>
          <p:nvPr>
            <p:ph type="title"/>
          </p:nvPr>
        </p:nvSpPr>
        <p:spPr/>
        <p:txBody>
          <a:bodyPr/>
          <a:lstStyle/>
          <a:p>
            <a:r>
              <a:rPr lang="fr-FR" dirty="0"/>
              <a:t>On </a:t>
            </a:r>
            <a:r>
              <a:rPr lang="fr-FR" dirty="0" err="1"/>
              <a:t>Premise</a:t>
            </a:r>
            <a:r>
              <a:rPr lang="fr-FR" dirty="0"/>
              <a:t> Hybride</a:t>
            </a:r>
          </a:p>
        </p:txBody>
      </p:sp>
      <p:sp>
        <p:nvSpPr>
          <p:cNvPr id="3" name="Espace réservé du contenu 2">
            <a:extLst>
              <a:ext uri="{FF2B5EF4-FFF2-40B4-BE49-F238E27FC236}">
                <a16:creationId xmlns:a16="http://schemas.microsoft.com/office/drawing/2014/main" id="{973001B2-5E4E-FAD8-9AB1-E150325AB9BF}"/>
              </a:ext>
            </a:extLst>
          </p:cNvPr>
          <p:cNvSpPr>
            <a:spLocks noGrp="1"/>
          </p:cNvSpPr>
          <p:nvPr>
            <p:ph idx="1"/>
          </p:nvPr>
        </p:nvSpPr>
        <p:spPr/>
        <p:txBody>
          <a:bodyPr/>
          <a:lstStyle/>
          <a:p>
            <a:r>
              <a:rPr lang="fr-FR" dirty="0"/>
              <a:t>Mélange de On </a:t>
            </a:r>
            <a:r>
              <a:rPr lang="fr-FR" dirty="0" err="1"/>
              <a:t>Premise</a:t>
            </a:r>
            <a:r>
              <a:rPr lang="fr-FR" dirty="0"/>
              <a:t> et de *</a:t>
            </a:r>
            <a:r>
              <a:rPr lang="fr-FR" dirty="0" err="1"/>
              <a:t>aaS</a:t>
            </a:r>
            <a:endParaRPr lang="fr-FR" dirty="0"/>
          </a:p>
        </p:txBody>
      </p:sp>
    </p:spTree>
    <p:extLst>
      <p:ext uri="{BB962C8B-B14F-4D97-AF65-F5344CB8AC3E}">
        <p14:creationId xmlns:p14="http://schemas.microsoft.com/office/powerpoint/2010/main" val="393465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71F261-BDE5-AF2F-FF97-437834665EE4}"/>
              </a:ext>
            </a:extLst>
          </p:cNvPr>
          <p:cNvSpPr>
            <a:spLocks noGrp="1"/>
          </p:cNvSpPr>
          <p:nvPr>
            <p:ph type="title"/>
          </p:nvPr>
        </p:nvSpPr>
        <p:spPr/>
        <p:txBody>
          <a:bodyPr/>
          <a:lstStyle/>
          <a:p>
            <a:r>
              <a:rPr lang="fr-FR" dirty="0"/>
              <a:t>Abonnements</a:t>
            </a:r>
          </a:p>
        </p:txBody>
      </p:sp>
      <p:sp>
        <p:nvSpPr>
          <p:cNvPr id="3" name="Espace réservé du contenu 2">
            <a:extLst>
              <a:ext uri="{FF2B5EF4-FFF2-40B4-BE49-F238E27FC236}">
                <a16:creationId xmlns:a16="http://schemas.microsoft.com/office/drawing/2014/main" id="{C2B1C24F-2ADC-135D-6676-B92544770D2D}"/>
              </a:ext>
            </a:extLst>
          </p:cNvPr>
          <p:cNvSpPr>
            <a:spLocks noGrp="1"/>
          </p:cNvSpPr>
          <p:nvPr>
            <p:ph idx="1"/>
          </p:nvPr>
        </p:nvSpPr>
        <p:spPr/>
        <p:txBody>
          <a:bodyPr/>
          <a:lstStyle/>
          <a:p>
            <a:r>
              <a:rPr lang="fr-FR" dirty="0"/>
              <a:t>Personnels ou Entreprise</a:t>
            </a:r>
          </a:p>
          <a:p>
            <a:pPr lvl="1"/>
            <a:r>
              <a:rPr lang="fr-FR" dirty="0"/>
              <a:t>SaaS</a:t>
            </a:r>
          </a:p>
          <a:p>
            <a:pPr lvl="1"/>
            <a:r>
              <a:rPr lang="fr-FR" dirty="0"/>
              <a:t>Attention aux RGPD</a:t>
            </a:r>
          </a:p>
          <a:p>
            <a:pPr lvl="1"/>
            <a:r>
              <a:rPr lang="fr-FR" dirty="0"/>
              <a:t>Attention à la sensibilité des données</a:t>
            </a:r>
          </a:p>
          <a:p>
            <a:pPr lvl="1"/>
            <a:r>
              <a:rPr lang="fr-FR" dirty="0"/>
              <a:t>Le modèle n'est pas à vous !</a:t>
            </a:r>
          </a:p>
        </p:txBody>
      </p:sp>
    </p:spTree>
    <p:extLst>
      <p:ext uri="{BB962C8B-B14F-4D97-AF65-F5344CB8AC3E}">
        <p14:creationId xmlns:p14="http://schemas.microsoft.com/office/powerpoint/2010/main" val="191914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E6AE70-ECE0-D849-BC71-43F52D2CA81A}"/>
              </a:ext>
            </a:extLst>
          </p:cNvPr>
          <p:cNvSpPr>
            <a:spLocks noGrp="1"/>
          </p:cNvSpPr>
          <p:nvPr>
            <p:ph type="title"/>
          </p:nvPr>
        </p:nvSpPr>
        <p:spPr/>
        <p:txBody>
          <a:bodyPr/>
          <a:lstStyle/>
          <a:p>
            <a:r>
              <a:rPr lang="fr-FR" dirty="0"/>
              <a:t>GPU</a:t>
            </a:r>
          </a:p>
        </p:txBody>
      </p:sp>
      <p:sp>
        <p:nvSpPr>
          <p:cNvPr id="3" name="Espace réservé du contenu 2">
            <a:extLst>
              <a:ext uri="{FF2B5EF4-FFF2-40B4-BE49-F238E27FC236}">
                <a16:creationId xmlns:a16="http://schemas.microsoft.com/office/drawing/2014/main" id="{1B5EA68B-1075-A438-EFA5-58BCBE876838}"/>
              </a:ext>
            </a:extLst>
          </p:cNvPr>
          <p:cNvSpPr>
            <a:spLocks noGrp="1"/>
          </p:cNvSpPr>
          <p:nvPr>
            <p:ph idx="1"/>
          </p:nvPr>
        </p:nvSpPr>
        <p:spPr/>
        <p:txBody>
          <a:bodyPr/>
          <a:lstStyle/>
          <a:p>
            <a:r>
              <a:rPr lang="fr-FR" dirty="0"/>
              <a:t>Qu'est ce qu'un GPU ?</a:t>
            </a:r>
          </a:p>
          <a:p>
            <a:r>
              <a:rPr lang="fr-FR" dirty="0"/>
              <a:t>Graphics </a:t>
            </a:r>
            <a:r>
              <a:rPr lang="fr-FR" dirty="0" err="1"/>
              <a:t>Processing</a:t>
            </a:r>
            <a:r>
              <a:rPr lang="fr-FR" dirty="0"/>
              <a:t> Unit est une unité de calcul assurant les fonctions de calcul d'image</a:t>
            </a:r>
          </a:p>
          <a:p>
            <a:r>
              <a:rPr lang="fr-FR" dirty="0"/>
              <a:t>Pourquoi</a:t>
            </a:r>
          </a:p>
          <a:p>
            <a:pPr lvl="1"/>
            <a:r>
              <a:rPr lang="fr-FR" dirty="0"/>
              <a:t>La technologie GPGPU</a:t>
            </a:r>
          </a:p>
          <a:p>
            <a:pPr lvl="1"/>
            <a:r>
              <a:rPr lang="fr-FR" dirty="0"/>
              <a:t>Algèbre linéaire (matrices)</a:t>
            </a:r>
          </a:p>
          <a:p>
            <a:pPr lvl="1"/>
            <a:r>
              <a:rPr lang="fr-FR" dirty="0"/>
              <a:t>Trigonométrie</a:t>
            </a:r>
          </a:p>
          <a:p>
            <a:pPr lvl="1"/>
            <a:r>
              <a:rPr lang="fr-FR" dirty="0"/>
              <a:t>Fortement </a:t>
            </a:r>
            <a:r>
              <a:rPr lang="fr-FR" dirty="0" err="1"/>
              <a:t>multi-cœur</a:t>
            </a:r>
            <a:endParaRPr lang="fr-FR" dirty="0"/>
          </a:p>
          <a:p>
            <a:pPr lvl="1"/>
            <a:r>
              <a:rPr lang="fr-FR" dirty="0"/>
              <a:t>RAM Rapide</a:t>
            </a:r>
          </a:p>
        </p:txBody>
      </p:sp>
      <p:pic>
        <p:nvPicPr>
          <p:cNvPr id="5" name="Image 4">
            <a:extLst>
              <a:ext uri="{FF2B5EF4-FFF2-40B4-BE49-F238E27FC236}">
                <a16:creationId xmlns:a16="http://schemas.microsoft.com/office/drawing/2014/main" id="{83C2C74B-1C73-7EDB-280B-B91F30221ED3}"/>
              </a:ext>
            </a:extLst>
          </p:cNvPr>
          <p:cNvPicPr>
            <a:picLocks noChangeAspect="1"/>
          </p:cNvPicPr>
          <p:nvPr/>
        </p:nvPicPr>
        <p:blipFill>
          <a:blip r:embed="rId2"/>
          <a:stretch>
            <a:fillRect/>
          </a:stretch>
        </p:blipFill>
        <p:spPr>
          <a:xfrm>
            <a:off x="7236296" y="3284984"/>
            <a:ext cx="1571844" cy="1438476"/>
          </a:xfrm>
          <a:prstGeom prst="rect">
            <a:avLst/>
          </a:prstGeom>
        </p:spPr>
      </p:pic>
    </p:spTree>
    <p:extLst>
      <p:ext uri="{BB962C8B-B14F-4D97-AF65-F5344CB8AC3E}">
        <p14:creationId xmlns:p14="http://schemas.microsoft.com/office/powerpoint/2010/main" val="713956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6A1BAD-F62E-62F0-BE18-7296D8997680}"/>
              </a:ext>
            </a:extLst>
          </p:cNvPr>
          <p:cNvSpPr>
            <a:spLocks noGrp="1"/>
          </p:cNvSpPr>
          <p:nvPr>
            <p:ph type="title"/>
          </p:nvPr>
        </p:nvSpPr>
        <p:spPr/>
        <p:txBody>
          <a:bodyPr/>
          <a:lstStyle/>
          <a:p>
            <a:r>
              <a:rPr lang="fr-FR" dirty="0"/>
              <a:t>GPU</a:t>
            </a:r>
          </a:p>
        </p:txBody>
      </p:sp>
      <p:sp>
        <p:nvSpPr>
          <p:cNvPr id="3" name="Espace réservé du contenu 2">
            <a:extLst>
              <a:ext uri="{FF2B5EF4-FFF2-40B4-BE49-F238E27FC236}">
                <a16:creationId xmlns:a16="http://schemas.microsoft.com/office/drawing/2014/main" id="{FC3DB089-5C9A-99F6-DCB5-A147133A2888}"/>
              </a:ext>
            </a:extLst>
          </p:cNvPr>
          <p:cNvSpPr>
            <a:spLocks noGrp="1"/>
          </p:cNvSpPr>
          <p:nvPr>
            <p:ph idx="1"/>
          </p:nvPr>
        </p:nvSpPr>
        <p:spPr/>
        <p:txBody>
          <a:bodyPr/>
          <a:lstStyle/>
          <a:p>
            <a:r>
              <a:rPr lang="fr-FR" dirty="0"/>
              <a:t>Non nécessaire pour le Machine Learning</a:t>
            </a:r>
          </a:p>
          <a:p>
            <a:r>
              <a:rPr lang="fr-FR" dirty="0"/>
              <a:t>Recommandé pour le Deep Learning en apprentissage</a:t>
            </a:r>
          </a:p>
          <a:p>
            <a:pPr lvl="1"/>
            <a:r>
              <a:rPr lang="fr-FR" dirty="0"/>
              <a:t>Non nécessaire en inférence</a:t>
            </a:r>
          </a:p>
          <a:p>
            <a:r>
              <a:rPr lang="fr-FR" dirty="0"/>
              <a:t>Obligatoire pour les LLM</a:t>
            </a:r>
          </a:p>
          <a:p>
            <a:pPr lvl="1"/>
            <a:r>
              <a:rPr lang="fr-FR" dirty="0"/>
              <a:t>En apprentissage</a:t>
            </a:r>
          </a:p>
          <a:p>
            <a:pPr lvl="1"/>
            <a:r>
              <a:rPr lang="fr-FR" dirty="0"/>
              <a:t>En inférence</a:t>
            </a:r>
          </a:p>
        </p:txBody>
      </p:sp>
    </p:spTree>
    <p:extLst>
      <p:ext uri="{BB962C8B-B14F-4D97-AF65-F5344CB8AC3E}">
        <p14:creationId xmlns:p14="http://schemas.microsoft.com/office/powerpoint/2010/main" val="3222643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019046-9282-626C-1425-5F29594D31AE}"/>
              </a:ext>
            </a:extLst>
          </p:cNvPr>
          <p:cNvSpPr>
            <a:spLocks noGrp="1"/>
          </p:cNvSpPr>
          <p:nvPr>
            <p:ph type="title"/>
          </p:nvPr>
        </p:nvSpPr>
        <p:spPr/>
        <p:txBody>
          <a:bodyPr/>
          <a:lstStyle/>
          <a:p>
            <a:r>
              <a:rPr lang="fr-FR" dirty="0" err="1"/>
              <a:t>NVidia</a:t>
            </a:r>
            <a:endParaRPr lang="fr-FR" dirty="0"/>
          </a:p>
        </p:txBody>
      </p:sp>
      <p:sp>
        <p:nvSpPr>
          <p:cNvPr id="3" name="Espace réservé du contenu 2">
            <a:extLst>
              <a:ext uri="{FF2B5EF4-FFF2-40B4-BE49-F238E27FC236}">
                <a16:creationId xmlns:a16="http://schemas.microsoft.com/office/drawing/2014/main" id="{C71B19BD-A74C-D61D-0685-9428B7764DA9}"/>
              </a:ext>
            </a:extLst>
          </p:cNvPr>
          <p:cNvSpPr>
            <a:spLocks noGrp="1"/>
          </p:cNvSpPr>
          <p:nvPr>
            <p:ph idx="1"/>
          </p:nvPr>
        </p:nvSpPr>
        <p:spPr/>
        <p:txBody>
          <a:bodyPr/>
          <a:lstStyle/>
          <a:p>
            <a:r>
              <a:rPr lang="fr-FR" dirty="0"/>
              <a:t>Les </a:t>
            </a:r>
            <a:r>
              <a:rPr lang="fr-FR" dirty="0" err="1"/>
              <a:t>frameworks</a:t>
            </a:r>
            <a:r>
              <a:rPr lang="fr-FR" dirty="0"/>
              <a:t> </a:t>
            </a:r>
            <a:r>
              <a:rPr lang="fr-FR" dirty="0" err="1"/>
              <a:t>Tensorflow</a:t>
            </a:r>
            <a:r>
              <a:rPr lang="fr-FR" dirty="0"/>
              <a:t> (Google) et </a:t>
            </a:r>
            <a:r>
              <a:rPr lang="fr-FR" dirty="0" err="1"/>
              <a:t>PyTorch</a:t>
            </a:r>
            <a:r>
              <a:rPr lang="fr-FR" dirty="0"/>
              <a:t> (Facebook) sont compatibles </a:t>
            </a:r>
            <a:r>
              <a:rPr lang="fr-FR" dirty="0" err="1"/>
              <a:t>uniquements</a:t>
            </a:r>
            <a:r>
              <a:rPr lang="fr-FR" dirty="0"/>
              <a:t> avec de GPU </a:t>
            </a:r>
            <a:r>
              <a:rPr lang="fr-FR" dirty="0" err="1"/>
              <a:t>NVidia</a:t>
            </a:r>
            <a:endParaRPr lang="fr-FR" dirty="0"/>
          </a:p>
          <a:p>
            <a:pPr lvl="1"/>
            <a:r>
              <a:rPr lang="fr-FR" dirty="0"/>
              <a:t>Depuis </a:t>
            </a:r>
            <a:r>
              <a:rPr lang="fr-FR" dirty="0" err="1"/>
              <a:t>Tensorflow</a:t>
            </a:r>
            <a:r>
              <a:rPr lang="fr-FR" dirty="0"/>
              <a:t> 1 (2017)</a:t>
            </a:r>
          </a:p>
        </p:txBody>
      </p:sp>
    </p:spTree>
    <p:extLst>
      <p:ext uri="{BB962C8B-B14F-4D97-AF65-F5344CB8AC3E}">
        <p14:creationId xmlns:p14="http://schemas.microsoft.com/office/powerpoint/2010/main" val="3384299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9BF1C5-2AF4-891A-008E-5919CED0C1DB}"/>
              </a:ext>
            </a:extLst>
          </p:cNvPr>
          <p:cNvSpPr>
            <a:spLocks noGrp="1"/>
          </p:cNvSpPr>
          <p:nvPr>
            <p:ph type="title"/>
          </p:nvPr>
        </p:nvSpPr>
        <p:spPr/>
        <p:txBody>
          <a:bodyPr/>
          <a:lstStyle/>
          <a:p>
            <a:r>
              <a:rPr lang="fr-FR" dirty="0"/>
              <a:t>CUDA</a:t>
            </a:r>
          </a:p>
        </p:txBody>
      </p:sp>
      <p:sp>
        <p:nvSpPr>
          <p:cNvPr id="3" name="Espace réservé du contenu 2">
            <a:extLst>
              <a:ext uri="{FF2B5EF4-FFF2-40B4-BE49-F238E27FC236}">
                <a16:creationId xmlns:a16="http://schemas.microsoft.com/office/drawing/2014/main" id="{A87B37DA-5737-6595-98DE-3E7EB7BA1C5E}"/>
              </a:ext>
            </a:extLst>
          </p:cNvPr>
          <p:cNvSpPr>
            <a:spLocks noGrp="1"/>
          </p:cNvSpPr>
          <p:nvPr>
            <p:ph idx="1"/>
          </p:nvPr>
        </p:nvSpPr>
        <p:spPr/>
        <p:txBody>
          <a:bodyPr/>
          <a:lstStyle/>
          <a:p>
            <a:r>
              <a:rPr lang="fr-FR" dirty="0" err="1"/>
              <a:t>Compude</a:t>
            </a:r>
            <a:r>
              <a:rPr lang="fr-FR" dirty="0"/>
              <a:t> </a:t>
            </a:r>
            <a:r>
              <a:rPr lang="fr-FR" dirty="0" err="1"/>
              <a:t>Unified</a:t>
            </a:r>
            <a:r>
              <a:rPr lang="fr-FR" dirty="0"/>
              <a:t> </a:t>
            </a:r>
            <a:r>
              <a:rPr lang="fr-FR" dirty="0" err="1"/>
              <a:t>Device</a:t>
            </a:r>
            <a:r>
              <a:rPr lang="fr-FR" dirty="0"/>
              <a:t> Architecture</a:t>
            </a:r>
          </a:p>
          <a:p>
            <a:pPr lvl="1"/>
            <a:r>
              <a:rPr lang="fr-FR" dirty="0"/>
              <a:t>API C++ de </a:t>
            </a:r>
            <a:r>
              <a:rPr lang="fr-FR" dirty="0" err="1"/>
              <a:t>Nvidia</a:t>
            </a:r>
            <a:r>
              <a:rPr lang="fr-FR" dirty="0"/>
              <a:t> portable sur tous les GPU moyen et haut de gamme </a:t>
            </a:r>
            <a:r>
              <a:rPr lang="fr-FR" dirty="0" err="1"/>
              <a:t>Nvidia</a:t>
            </a:r>
            <a:endParaRPr lang="fr-FR" dirty="0"/>
          </a:p>
          <a:p>
            <a:pPr lvl="1"/>
            <a:r>
              <a:rPr lang="fr-FR" dirty="0"/>
              <a:t>Compatible GPGPU</a:t>
            </a:r>
          </a:p>
          <a:p>
            <a:pPr lvl="1"/>
            <a:r>
              <a:rPr lang="fr-FR" dirty="0"/>
              <a:t>Fortement </a:t>
            </a:r>
            <a:r>
              <a:rPr lang="fr-FR" dirty="0" err="1"/>
              <a:t>parallèlisable</a:t>
            </a:r>
            <a:endParaRPr lang="fr-FR" dirty="0"/>
          </a:p>
          <a:p>
            <a:pPr lvl="1"/>
            <a:r>
              <a:rPr lang="fr-FR" dirty="0"/>
              <a:t>Installation délicate et volumineuse (plusieurs Go)</a:t>
            </a:r>
          </a:p>
        </p:txBody>
      </p:sp>
      <p:pic>
        <p:nvPicPr>
          <p:cNvPr id="1026" name="Picture 2">
            <a:extLst>
              <a:ext uri="{FF2B5EF4-FFF2-40B4-BE49-F238E27FC236}">
                <a16:creationId xmlns:a16="http://schemas.microsoft.com/office/drawing/2014/main" id="{07DB68EA-A8B6-2EF5-AFD5-1400E7198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7283" y="3963144"/>
            <a:ext cx="386715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84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B6F06-7E24-768F-C80E-22010E36AF1A}"/>
              </a:ext>
            </a:extLst>
          </p:cNvPr>
          <p:cNvSpPr>
            <a:spLocks noGrp="1"/>
          </p:cNvSpPr>
          <p:nvPr>
            <p:ph type="title"/>
          </p:nvPr>
        </p:nvSpPr>
        <p:spPr/>
        <p:txBody>
          <a:bodyPr/>
          <a:lstStyle/>
          <a:p>
            <a:r>
              <a:rPr lang="fr-FR" dirty="0" err="1"/>
              <a:t>CuDNN</a:t>
            </a:r>
            <a:endParaRPr lang="fr-FR" dirty="0"/>
          </a:p>
        </p:txBody>
      </p:sp>
      <p:sp>
        <p:nvSpPr>
          <p:cNvPr id="3" name="Espace réservé du contenu 2">
            <a:extLst>
              <a:ext uri="{FF2B5EF4-FFF2-40B4-BE49-F238E27FC236}">
                <a16:creationId xmlns:a16="http://schemas.microsoft.com/office/drawing/2014/main" id="{5C461094-2EC1-5F4F-526C-FA2C69F56B13}"/>
              </a:ext>
            </a:extLst>
          </p:cNvPr>
          <p:cNvSpPr>
            <a:spLocks noGrp="1"/>
          </p:cNvSpPr>
          <p:nvPr>
            <p:ph idx="1"/>
          </p:nvPr>
        </p:nvSpPr>
        <p:spPr/>
        <p:txBody>
          <a:bodyPr/>
          <a:lstStyle/>
          <a:p>
            <a:r>
              <a:rPr lang="fr-FR" dirty="0"/>
              <a:t>API de </a:t>
            </a:r>
            <a:r>
              <a:rPr lang="fr-FR" dirty="0" err="1"/>
              <a:t>NVidia</a:t>
            </a:r>
            <a:endParaRPr lang="fr-FR" dirty="0"/>
          </a:p>
          <a:p>
            <a:r>
              <a:rPr lang="fr-FR" dirty="0"/>
              <a:t>Par-dessus CUDA</a:t>
            </a:r>
          </a:p>
          <a:p>
            <a:r>
              <a:rPr lang="fr-FR" dirty="0"/>
              <a:t>Implémentation CUDA des procédés mathématiques de l'inférence et de la back propagation</a:t>
            </a:r>
          </a:p>
          <a:p>
            <a:pPr lvl="1"/>
            <a:r>
              <a:rPr lang="fr-FR" dirty="0"/>
              <a:t>Convolution, Somme pondérée, Sigmoïde, </a:t>
            </a:r>
            <a:r>
              <a:rPr lang="fr-FR" dirty="0" err="1"/>
              <a:t>Tanh</a:t>
            </a:r>
            <a:r>
              <a:rPr lang="fr-FR" dirty="0"/>
              <a:t>, …</a:t>
            </a:r>
          </a:p>
          <a:p>
            <a:r>
              <a:rPr lang="fr-FR" dirty="0"/>
              <a:t>Accélérateur de l'IA</a:t>
            </a:r>
          </a:p>
        </p:txBody>
      </p:sp>
    </p:spTree>
    <p:extLst>
      <p:ext uri="{BB962C8B-B14F-4D97-AF65-F5344CB8AC3E}">
        <p14:creationId xmlns:p14="http://schemas.microsoft.com/office/powerpoint/2010/main" val="3436441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TensorFlow</a:t>
            </a:r>
            <a:endParaRPr lang="fr-FR" dirty="0"/>
          </a:p>
        </p:txBody>
      </p:sp>
      <p:sp>
        <p:nvSpPr>
          <p:cNvPr id="3" name="Espace réservé du contenu 2"/>
          <p:cNvSpPr>
            <a:spLocks noGrp="1"/>
          </p:cNvSpPr>
          <p:nvPr>
            <p:ph idx="1"/>
          </p:nvPr>
        </p:nvSpPr>
        <p:spPr/>
        <p:txBody>
          <a:bodyPr/>
          <a:lstStyle/>
          <a:p>
            <a:r>
              <a:rPr lang="fr-FR" dirty="0" err="1"/>
              <a:t>TensorFlow</a:t>
            </a:r>
            <a:r>
              <a:rPr lang="fr-FR" dirty="0"/>
              <a:t> est un outil open source d'apprentissage automatique développé par Google</a:t>
            </a:r>
          </a:p>
          <a:p>
            <a:pPr lvl="1"/>
            <a:r>
              <a:rPr lang="fr-FR" dirty="0"/>
              <a:t>Le code source a été ouvert le 9 novembre 2015 par Google et publié sous licence Apache</a:t>
            </a:r>
          </a:p>
          <a:p>
            <a:pPr lvl="1"/>
            <a:r>
              <a:rPr lang="fr-FR" dirty="0"/>
              <a:t>V 1.0 du 11 février 2017</a:t>
            </a:r>
          </a:p>
          <a:p>
            <a:r>
              <a:rPr lang="fr-FR" dirty="0"/>
              <a:t>Est doté d'une interface Python.</a:t>
            </a:r>
          </a:p>
          <a:p>
            <a:r>
              <a:rPr lang="fr-FR" dirty="0" err="1"/>
              <a:t>TensorFlow</a:t>
            </a:r>
            <a:r>
              <a:rPr lang="fr-FR" dirty="0"/>
              <a:t> est l'un des outils les plus utilisés en IA dans le domaine de l'apprentissage machine</a:t>
            </a:r>
          </a:p>
          <a:p>
            <a:r>
              <a:rPr lang="fr-FR" dirty="0"/>
              <a:t>Développé par Google Brain filiale d'Alphabet</a:t>
            </a:r>
          </a:p>
          <a:p>
            <a:r>
              <a:rPr lang="fr-FR" dirty="0"/>
              <a:t>Très utilisé dans le monde du Deep Learning</a:t>
            </a:r>
          </a:p>
        </p:txBody>
      </p:sp>
    </p:spTree>
    <p:extLst>
      <p:ext uri="{BB962C8B-B14F-4D97-AF65-F5344CB8AC3E}">
        <p14:creationId xmlns:p14="http://schemas.microsoft.com/office/powerpoint/2010/main" val="3096768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CPU, GPU, TPU</a:t>
            </a:r>
          </a:p>
        </p:txBody>
      </p:sp>
      <p:sp>
        <p:nvSpPr>
          <p:cNvPr id="3" name="Espace réservé du contenu 2"/>
          <p:cNvSpPr>
            <a:spLocks noGrp="1"/>
          </p:cNvSpPr>
          <p:nvPr>
            <p:ph idx="1"/>
          </p:nvPr>
        </p:nvSpPr>
        <p:spPr/>
        <p:txBody>
          <a:bodyPr/>
          <a:lstStyle/>
          <a:p>
            <a:r>
              <a:rPr lang="fr-FR" dirty="0" err="1"/>
              <a:t>TensorFlow</a:t>
            </a:r>
            <a:r>
              <a:rPr lang="fr-FR" dirty="0"/>
              <a:t> est multiple CPU</a:t>
            </a:r>
          </a:p>
          <a:p>
            <a:r>
              <a:rPr lang="fr-FR" dirty="0" err="1"/>
              <a:t>TensorFlow</a:t>
            </a:r>
            <a:r>
              <a:rPr lang="fr-FR" dirty="0"/>
              <a:t> est GPU</a:t>
            </a:r>
          </a:p>
          <a:p>
            <a:pPr lvl="1"/>
            <a:r>
              <a:rPr lang="fr-FR" dirty="0"/>
              <a:t>Raison du Succès</a:t>
            </a:r>
          </a:p>
          <a:p>
            <a:pPr lvl="1"/>
            <a:r>
              <a:rPr lang="fr-FR" dirty="0"/>
              <a:t>Technologies GPGPU et GPPGPU</a:t>
            </a:r>
          </a:p>
          <a:p>
            <a:r>
              <a:rPr lang="fr-FR" dirty="0" err="1"/>
              <a:t>TensorFlow</a:t>
            </a:r>
            <a:r>
              <a:rPr lang="fr-FR" dirty="0"/>
              <a:t> est TPU</a:t>
            </a:r>
          </a:p>
          <a:p>
            <a:pPr lvl="1"/>
            <a:r>
              <a:rPr lang="fr-FR" dirty="0" err="1"/>
              <a:t>Tensor</a:t>
            </a:r>
            <a:r>
              <a:rPr lang="fr-FR" dirty="0"/>
              <a:t> </a:t>
            </a:r>
            <a:r>
              <a:rPr lang="fr-FR" dirty="0" err="1"/>
              <a:t>Processing</a:t>
            </a:r>
            <a:r>
              <a:rPr lang="fr-FR" dirty="0"/>
              <a:t> Unit</a:t>
            </a:r>
          </a:p>
          <a:p>
            <a:pPr lvl="1"/>
            <a:r>
              <a:rPr lang="fr-FR" dirty="0"/>
              <a:t>Uniquement pour le </a:t>
            </a:r>
            <a:r>
              <a:rPr lang="fr-FR" dirty="0" err="1"/>
              <a:t>deep</a:t>
            </a:r>
            <a:r>
              <a:rPr lang="fr-FR" dirty="0"/>
              <a:t> </a:t>
            </a:r>
            <a:r>
              <a:rPr lang="fr-FR" dirty="0" err="1"/>
              <a:t>learning</a:t>
            </a:r>
            <a:endParaRPr lang="fr-FR" dirty="0"/>
          </a:p>
          <a:p>
            <a:pPr lvl="1"/>
            <a:r>
              <a:rPr lang="fr-FR" dirty="0"/>
              <a:t>Format propriétaire Google Cloud ML</a:t>
            </a:r>
          </a:p>
          <a:p>
            <a:r>
              <a:rPr lang="fr-FR" dirty="0"/>
              <a:t>CPU, GPU et TPU sont génériques grâce à ABC</a:t>
            </a:r>
          </a:p>
          <a:p>
            <a:pPr lvl="1"/>
            <a:endParaRPr lang="fr-FR" dirty="0"/>
          </a:p>
          <a:p>
            <a:pPr lvl="1"/>
            <a:endParaRPr lang="fr-FR" dirty="0"/>
          </a:p>
        </p:txBody>
      </p:sp>
    </p:spTree>
    <p:extLst>
      <p:ext uri="{BB962C8B-B14F-4D97-AF65-F5344CB8AC3E}">
        <p14:creationId xmlns:p14="http://schemas.microsoft.com/office/powerpoint/2010/main" val="3524914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Installation</a:t>
            </a:r>
          </a:p>
        </p:txBody>
      </p:sp>
      <p:sp>
        <p:nvSpPr>
          <p:cNvPr id="3" name="Espace réservé du contenu 2"/>
          <p:cNvSpPr>
            <a:spLocks noGrp="1"/>
          </p:cNvSpPr>
          <p:nvPr>
            <p:ph idx="1"/>
          </p:nvPr>
        </p:nvSpPr>
        <p:spPr/>
        <p:txBody>
          <a:bodyPr/>
          <a:lstStyle/>
          <a:p>
            <a:r>
              <a:rPr lang="fr-FR" dirty="0" err="1"/>
              <a:t>pip</a:t>
            </a:r>
            <a:r>
              <a:rPr lang="fr-FR" dirty="0"/>
              <a:t> </a:t>
            </a:r>
            <a:r>
              <a:rPr lang="fr-FR" dirty="0" err="1"/>
              <a:t>install</a:t>
            </a:r>
            <a:r>
              <a:rPr lang="fr-FR" dirty="0"/>
              <a:t> </a:t>
            </a:r>
            <a:r>
              <a:rPr lang="fr-FR" dirty="0" err="1"/>
              <a:t>tensorflow</a:t>
            </a:r>
            <a:endParaRPr lang="fr-FR" dirty="0"/>
          </a:p>
          <a:p>
            <a:r>
              <a:rPr lang="fr-FR" dirty="0"/>
              <a:t>Test</a:t>
            </a:r>
          </a:p>
          <a:p>
            <a:pPr lvl="1"/>
            <a:r>
              <a:rPr lang="fr-FR" dirty="0"/>
              <a:t>import </a:t>
            </a:r>
            <a:r>
              <a:rPr lang="fr-FR" dirty="0" err="1"/>
              <a:t>tensorflow</a:t>
            </a:r>
            <a:r>
              <a:rPr lang="fr-FR" dirty="0"/>
              <a:t> as </a:t>
            </a:r>
            <a:r>
              <a:rPr lang="fr-FR" dirty="0" err="1"/>
              <a:t>tf</a:t>
            </a:r>
            <a:endParaRPr lang="fr-FR" dirty="0"/>
          </a:p>
        </p:txBody>
      </p:sp>
    </p:spTree>
    <p:extLst>
      <p:ext uri="{BB962C8B-B14F-4D97-AF65-F5344CB8AC3E}">
        <p14:creationId xmlns:p14="http://schemas.microsoft.com/office/powerpoint/2010/main" val="833785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EE2404-57D7-D1EC-9E6F-5470D3C2A03D}"/>
              </a:ext>
            </a:extLst>
          </p:cNvPr>
          <p:cNvSpPr>
            <a:spLocks noGrp="1"/>
          </p:cNvSpPr>
          <p:nvPr>
            <p:ph type="title"/>
          </p:nvPr>
        </p:nvSpPr>
        <p:spPr/>
        <p:txBody>
          <a:bodyPr/>
          <a:lstStyle/>
          <a:p>
            <a:r>
              <a:rPr lang="fr-FR" dirty="0" err="1"/>
              <a:t>PyTorch</a:t>
            </a:r>
            <a:endParaRPr lang="fr-FR" dirty="0"/>
          </a:p>
        </p:txBody>
      </p:sp>
      <p:sp>
        <p:nvSpPr>
          <p:cNvPr id="3" name="Espace réservé du contenu 2">
            <a:extLst>
              <a:ext uri="{FF2B5EF4-FFF2-40B4-BE49-F238E27FC236}">
                <a16:creationId xmlns:a16="http://schemas.microsoft.com/office/drawing/2014/main" id="{D8A266E1-4DB2-8A20-7FFB-C80ECC898030}"/>
              </a:ext>
            </a:extLst>
          </p:cNvPr>
          <p:cNvSpPr>
            <a:spLocks noGrp="1"/>
          </p:cNvSpPr>
          <p:nvPr>
            <p:ph idx="1"/>
          </p:nvPr>
        </p:nvSpPr>
        <p:spPr/>
        <p:txBody>
          <a:bodyPr/>
          <a:lstStyle/>
          <a:p>
            <a:r>
              <a:rPr lang="fr-FR" dirty="0"/>
              <a:t>Concurrent de Google </a:t>
            </a:r>
            <a:r>
              <a:rPr lang="fr-FR" dirty="0" err="1"/>
              <a:t>Tensorflow</a:t>
            </a:r>
            <a:endParaRPr lang="fr-FR" dirty="0"/>
          </a:p>
          <a:p>
            <a:pPr lvl="1"/>
            <a:r>
              <a:rPr lang="fr-FR" dirty="0"/>
              <a:t>Facebook</a:t>
            </a:r>
          </a:p>
          <a:p>
            <a:pPr lvl="1"/>
            <a:r>
              <a:rPr lang="fr-FR" dirty="0"/>
              <a:t>Installation identique</a:t>
            </a:r>
          </a:p>
          <a:p>
            <a:pPr lvl="1"/>
            <a:r>
              <a:rPr lang="fr-FR" dirty="0" err="1"/>
              <a:t>pip</a:t>
            </a:r>
            <a:r>
              <a:rPr lang="fr-FR" dirty="0"/>
              <a:t> </a:t>
            </a:r>
            <a:r>
              <a:rPr lang="fr-FR" dirty="0" err="1"/>
              <a:t>install</a:t>
            </a:r>
            <a:r>
              <a:rPr lang="fr-FR" dirty="0"/>
              <a:t> </a:t>
            </a:r>
            <a:r>
              <a:rPr lang="fr-FR" dirty="0" err="1"/>
              <a:t>pytorch</a:t>
            </a:r>
            <a:endParaRPr lang="fr-FR" dirty="0"/>
          </a:p>
          <a:p>
            <a:r>
              <a:rPr lang="fr-FR"/>
              <a:t>Très utilisé dans le monde du LLM</a:t>
            </a:r>
            <a:endParaRPr lang="fr-FR" dirty="0"/>
          </a:p>
          <a:p>
            <a:pPr lvl="1"/>
            <a:endParaRPr lang="fr-FR" dirty="0"/>
          </a:p>
        </p:txBody>
      </p:sp>
    </p:spTree>
    <p:extLst>
      <p:ext uri="{BB962C8B-B14F-4D97-AF65-F5344CB8AC3E}">
        <p14:creationId xmlns:p14="http://schemas.microsoft.com/office/powerpoint/2010/main" val="194904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9BF277-4E6B-9AED-DEBC-5281B82C0BFA}"/>
              </a:ext>
            </a:extLst>
          </p:cNvPr>
          <p:cNvSpPr>
            <a:spLocks noGrp="1"/>
          </p:cNvSpPr>
          <p:nvPr>
            <p:ph type="title"/>
          </p:nvPr>
        </p:nvSpPr>
        <p:spPr/>
        <p:txBody>
          <a:bodyPr/>
          <a:lstStyle/>
          <a:p>
            <a:r>
              <a:rPr lang="fr-FR" dirty="0"/>
              <a:t>API</a:t>
            </a:r>
          </a:p>
        </p:txBody>
      </p:sp>
      <p:sp>
        <p:nvSpPr>
          <p:cNvPr id="3" name="Espace réservé du contenu 2">
            <a:extLst>
              <a:ext uri="{FF2B5EF4-FFF2-40B4-BE49-F238E27FC236}">
                <a16:creationId xmlns:a16="http://schemas.microsoft.com/office/drawing/2014/main" id="{2E43B63A-BD7B-209E-DB7D-E98E9067CA9E}"/>
              </a:ext>
            </a:extLst>
          </p:cNvPr>
          <p:cNvSpPr>
            <a:spLocks noGrp="1"/>
          </p:cNvSpPr>
          <p:nvPr>
            <p:ph idx="1"/>
          </p:nvPr>
        </p:nvSpPr>
        <p:spPr/>
        <p:txBody>
          <a:bodyPr/>
          <a:lstStyle/>
          <a:p>
            <a:r>
              <a:rPr lang="fr-FR" dirty="0"/>
              <a:t>Chaque LLM est appelable par API</a:t>
            </a:r>
          </a:p>
          <a:p>
            <a:pPr lvl="1"/>
            <a:r>
              <a:rPr lang="fr-FR" dirty="0"/>
              <a:t>Sans installer en local</a:t>
            </a:r>
          </a:p>
          <a:p>
            <a:pPr lvl="1"/>
            <a:r>
              <a:rPr lang="fr-FR" dirty="0"/>
              <a:t>Adaptable aux données locales</a:t>
            </a:r>
          </a:p>
          <a:p>
            <a:pPr lvl="1"/>
            <a:r>
              <a:rPr lang="fr-FR" dirty="0"/>
              <a:t>Payant</a:t>
            </a:r>
          </a:p>
        </p:txBody>
      </p:sp>
    </p:spTree>
    <p:extLst>
      <p:ext uri="{BB962C8B-B14F-4D97-AF65-F5344CB8AC3E}">
        <p14:creationId xmlns:p14="http://schemas.microsoft.com/office/powerpoint/2010/main" val="4271723807"/>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3513</TotalTime>
  <Words>713</Words>
  <Application>Microsoft Office PowerPoint</Application>
  <PresentationFormat>Affichage à l'écran (4:3)</PresentationFormat>
  <Paragraphs>122</Paragraphs>
  <Slides>23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vt:i4>
      </vt:variant>
    </vt:vector>
  </HeadingPairs>
  <TitlesOfParts>
    <vt:vector size="27" baseType="lpstr">
      <vt:lpstr>Arial</vt:lpstr>
      <vt:lpstr>Monotype Sorts</vt:lpstr>
      <vt:lpstr>Times New Roman</vt:lpstr>
      <vt:lpstr>cvc</vt:lpstr>
      <vt:lpstr>Présentation PowerPoint</vt:lpstr>
      <vt:lpstr>Cloud</vt:lpstr>
      <vt:lpstr>IaaS</vt:lpstr>
      <vt:lpstr>PaaS</vt:lpstr>
      <vt:lpstr>SaaS</vt:lpstr>
      <vt:lpstr>Avantages</vt:lpstr>
      <vt:lpstr>Inconvénients</vt:lpstr>
      <vt:lpstr>AWS</vt:lpstr>
      <vt:lpstr>Google Cloud</vt:lpstr>
      <vt:lpstr>Microsoft Azure</vt:lpstr>
      <vt:lpstr>On Premise</vt:lpstr>
      <vt:lpstr>On Premise Hybride</vt:lpstr>
      <vt:lpstr>Abonnements</vt:lpstr>
      <vt:lpstr>GPU</vt:lpstr>
      <vt:lpstr>GPU</vt:lpstr>
      <vt:lpstr>NVidia</vt:lpstr>
      <vt:lpstr>CUDA</vt:lpstr>
      <vt:lpstr>CuDNN</vt:lpstr>
      <vt:lpstr>TensorFlow</vt:lpstr>
      <vt:lpstr>CPU, GPU, TPU</vt:lpstr>
      <vt:lpstr>Installation</vt:lpstr>
      <vt:lpstr>PyTorch</vt:lpstr>
      <vt:lpstr>API</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254</cp:revision>
  <dcterms:created xsi:type="dcterms:W3CDTF">2000-04-10T19:33:12Z</dcterms:created>
  <dcterms:modified xsi:type="dcterms:W3CDTF">2026-04-30T09:30:14Z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