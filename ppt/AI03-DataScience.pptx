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6"/>
  </p:notesMasterIdLst>
  <p:handoutMasterIdLst>
    <p:handoutMasterId r:id="rId47"/>
  </p:handoutMasterIdLst>
  <p:sldIdLst>
    <p:sldId id="264" r:id="rId2"/>
    <p:sldId id="279" r:id="rId3"/>
    <p:sldId id="280" r:id="rId4"/>
    <p:sldId id="281" r:id="rId5"/>
    <p:sldId id="282" r:id="rId6"/>
    <p:sldId id="364" r:id="rId7"/>
    <p:sldId id="283" r:id="rId8"/>
    <p:sldId id="363" r:id="rId9"/>
    <p:sldId id="258" r:id="rId10"/>
    <p:sldId id="284" r:id="rId11"/>
    <p:sldId id="285" r:id="rId12"/>
    <p:sldId id="293" r:id="rId13"/>
    <p:sldId id="345" r:id="rId14"/>
    <p:sldId id="294" r:id="rId15"/>
    <p:sldId id="295" r:id="rId16"/>
    <p:sldId id="296" r:id="rId17"/>
    <p:sldId id="374" r:id="rId18"/>
    <p:sldId id="297" r:id="rId19"/>
    <p:sldId id="300" r:id="rId20"/>
    <p:sldId id="336" r:id="rId21"/>
    <p:sldId id="314" r:id="rId22"/>
    <p:sldId id="333" r:id="rId23"/>
    <p:sldId id="322" r:id="rId24"/>
    <p:sldId id="340" r:id="rId25"/>
    <p:sldId id="341" r:id="rId26"/>
    <p:sldId id="346" r:id="rId27"/>
    <p:sldId id="347" r:id="rId28"/>
    <p:sldId id="270" r:id="rId29"/>
    <p:sldId id="353" r:id="rId30"/>
    <p:sldId id="354" r:id="rId31"/>
    <p:sldId id="356" r:id="rId32"/>
    <p:sldId id="357" r:id="rId33"/>
    <p:sldId id="358" r:id="rId34"/>
    <p:sldId id="359" r:id="rId35"/>
    <p:sldId id="360" r:id="rId36"/>
    <p:sldId id="369" r:id="rId37"/>
    <p:sldId id="370" r:id="rId38"/>
    <p:sldId id="365" r:id="rId39"/>
    <p:sldId id="366" r:id="rId40"/>
    <p:sldId id="368" r:id="rId41"/>
    <p:sldId id="367" r:id="rId42"/>
    <p:sldId id="371" r:id="rId43"/>
    <p:sldId id="372" r:id="rId44"/>
    <p:sldId id="373" r:id="rId45"/>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1" d="100"/>
          <a:sy n="71" d="100"/>
        </p:scale>
        <p:origin x="135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a:t>Data Science</a:t>
            </a:r>
            <a:endParaRPr lang="fr-FR" altLang="fr-FR" dirty="0"/>
          </a:p>
        </p:txBody>
      </p:sp>
      <p:sp>
        <p:nvSpPr>
          <p:cNvPr id="3" name="ZoneTexte 2"/>
          <p:cNvSpPr txBox="1"/>
          <p:nvPr/>
        </p:nvSpPr>
        <p:spPr>
          <a:xfrm>
            <a:off x="4427984"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F4FA3E-7C3F-E888-DD02-8A2AAF4AEC5A}"/>
              </a:ext>
            </a:extLst>
          </p:cNvPr>
          <p:cNvSpPr>
            <a:spLocks noGrp="1"/>
          </p:cNvSpPr>
          <p:nvPr>
            <p:ph type="title"/>
          </p:nvPr>
        </p:nvSpPr>
        <p:spPr/>
        <p:txBody>
          <a:bodyPr/>
          <a:lstStyle/>
          <a:p>
            <a:r>
              <a:rPr lang="fr-FR" dirty="0"/>
              <a:t>Principes clés</a:t>
            </a:r>
          </a:p>
        </p:txBody>
      </p:sp>
      <p:sp>
        <p:nvSpPr>
          <p:cNvPr id="3" name="Espace réservé du contenu 2">
            <a:extLst>
              <a:ext uri="{FF2B5EF4-FFF2-40B4-BE49-F238E27FC236}">
                <a16:creationId xmlns:a16="http://schemas.microsoft.com/office/drawing/2014/main" id="{C341DEB1-4AC9-C261-B8EE-1AE20567A6DE}"/>
              </a:ext>
            </a:extLst>
          </p:cNvPr>
          <p:cNvSpPr>
            <a:spLocks noGrp="1"/>
          </p:cNvSpPr>
          <p:nvPr>
            <p:ph idx="1"/>
          </p:nvPr>
        </p:nvSpPr>
        <p:spPr/>
        <p:txBody>
          <a:bodyPr/>
          <a:lstStyle/>
          <a:p>
            <a:r>
              <a:rPr lang="fr-FR" dirty="0"/>
              <a:t>Définir clairement le problème métier, formuler des hypothèses, sélectionner des variables pertinentes et expérimenter itérativement</a:t>
            </a:r>
          </a:p>
          <a:p>
            <a:r>
              <a:rPr lang="fr-FR" dirty="0"/>
              <a:t>Par exemple, segmenter des clients par comportements d’achat peut guider les campagnes marketing, réduire les coûts et améliorer la satisfaction mesurée après déploiement.</a:t>
            </a:r>
          </a:p>
          <a:p>
            <a:endParaRPr lang="fr-FR" dirty="0"/>
          </a:p>
        </p:txBody>
      </p:sp>
    </p:spTree>
    <p:extLst>
      <p:ext uri="{BB962C8B-B14F-4D97-AF65-F5344CB8AC3E}">
        <p14:creationId xmlns:p14="http://schemas.microsoft.com/office/powerpoint/2010/main" val="2319305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F4F412-FE86-3C0B-251C-574B341D8744}"/>
              </a:ext>
            </a:extLst>
          </p:cNvPr>
          <p:cNvSpPr>
            <a:spLocks noGrp="1"/>
          </p:cNvSpPr>
          <p:nvPr>
            <p:ph type="title"/>
          </p:nvPr>
        </p:nvSpPr>
        <p:spPr/>
        <p:txBody>
          <a:bodyPr/>
          <a:lstStyle/>
          <a:p>
            <a:r>
              <a:rPr lang="fr-FR" dirty="0"/>
              <a:t>Data Management</a:t>
            </a:r>
          </a:p>
        </p:txBody>
      </p:sp>
      <p:sp>
        <p:nvSpPr>
          <p:cNvPr id="3" name="Espace réservé du contenu 2">
            <a:extLst>
              <a:ext uri="{FF2B5EF4-FFF2-40B4-BE49-F238E27FC236}">
                <a16:creationId xmlns:a16="http://schemas.microsoft.com/office/drawing/2014/main" id="{0FC61D73-0EB1-695C-EB2E-3355859FB794}"/>
              </a:ext>
            </a:extLst>
          </p:cNvPr>
          <p:cNvSpPr>
            <a:spLocks noGrp="1"/>
          </p:cNvSpPr>
          <p:nvPr>
            <p:ph idx="1"/>
          </p:nvPr>
        </p:nvSpPr>
        <p:spPr/>
        <p:txBody>
          <a:bodyPr/>
          <a:lstStyle/>
          <a:p>
            <a:r>
              <a:rPr lang="fr-FR" dirty="0"/>
              <a:t>La gestion des données couvre l’ensemble des activités de collecte, stockage, préparation et utilisation. Une approche structurée permet d’améliorer la décision, renforcer la conformité et industrialiser les usages analytiques et d’intelligence artificielle dans l’entreprise, de façon mesurable.</a:t>
            </a:r>
          </a:p>
          <a:p>
            <a:endParaRPr lang="fr-FR" dirty="0"/>
          </a:p>
        </p:txBody>
      </p:sp>
    </p:spTree>
    <p:extLst>
      <p:ext uri="{BB962C8B-B14F-4D97-AF65-F5344CB8AC3E}">
        <p14:creationId xmlns:p14="http://schemas.microsoft.com/office/powerpoint/2010/main" val="1157520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Pourquoi la donnée est stratégique aujourd’hui ?</a:t>
            </a:r>
          </a:p>
        </p:txBody>
      </p:sp>
      <p:sp>
        <p:nvSpPr>
          <p:cNvPr id="3" name="Content Placeholder 2"/>
          <p:cNvSpPr>
            <a:spLocks noGrp="1"/>
          </p:cNvSpPr>
          <p:nvPr>
            <p:ph idx="1"/>
          </p:nvPr>
        </p:nvSpPr>
        <p:spPr/>
        <p:txBody>
          <a:bodyPr/>
          <a:lstStyle/>
          <a:p>
            <a:pPr>
              <a:defRPr sz="1800">
                <a:solidFill>
                  <a:srgbClr val="373B3F"/>
                </a:solidFill>
                <a:latin typeface="Calibri"/>
              </a:defRPr>
            </a:pPr>
            <a:r>
              <a:rPr sz="2400" dirty="0"/>
              <a:t>La donnée </a:t>
            </a:r>
            <a:r>
              <a:rPr sz="2400" dirty="0" err="1"/>
              <a:t>crée</a:t>
            </a:r>
            <a:r>
              <a:rPr sz="2400" dirty="0"/>
              <a:t> un </a:t>
            </a:r>
            <a:r>
              <a:rPr sz="2400" dirty="0" err="1"/>
              <a:t>avantage</a:t>
            </a:r>
            <a:r>
              <a:rPr sz="2400" dirty="0"/>
              <a:t> </a:t>
            </a:r>
            <a:r>
              <a:rPr sz="2400" dirty="0" err="1"/>
              <a:t>compétitif</a:t>
            </a:r>
            <a:r>
              <a:rPr sz="2400" dirty="0"/>
              <a:t> </a:t>
            </a:r>
            <a:r>
              <a:rPr sz="2400" dirty="0" err="1"/>
              <a:t>en</a:t>
            </a:r>
            <a:r>
              <a:rPr sz="2400" dirty="0"/>
              <a:t> </a:t>
            </a:r>
            <a:r>
              <a:rPr sz="2400" dirty="0" err="1"/>
              <a:t>réduisant</a:t>
            </a:r>
            <a:r>
              <a:rPr sz="2400" dirty="0"/>
              <a:t> le temps </a:t>
            </a:r>
            <a:r>
              <a:rPr sz="2400" dirty="0" err="1"/>
              <a:t>d’accès</a:t>
            </a:r>
            <a:r>
              <a:rPr sz="2400" dirty="0"/>
              <a:t> aux insights, </a:t>
            </a:r>
            <a:r>
              <a:rPr sz="2400" dirty="0" err="1"/>
              <a:t>en</a:t>
            </a:r>
            <a:r>
              <a:rPr sz="2400" dirty="0"/>
              <a:t> </a:t>
            </a:r>
            <a:r>
              <a:rPr sz="2400" dirty="0" err="1"/>
              <a:t>sécurisant</a:t>
            </a:r>
            <a:r>
              <a:rPr sz="2400" dirty="0"/>
              <a:t> les </a:t>
            </a:r>
            <a:r>
              <a:rPr sz="2400" dirty="0" err="1"/>
              <a:t>décisions</a:t>
            </a:r>
            <a:r>
              <a:rPr sz="2400" dirty="0"/>
              <a:t> et </a:t>
            </a:r>
            <a:r>
              <a:rPr sz="2400" dirty="0" err="1"/>
              <a:t>en</a:t>
            </a:r>
            <a:r>
              <a:rPr sz="2400" dirty="0"/>
              <a:t> </a:t>
            </a:r>
            <a:r>
              <a:rPr sz="2400" dirty="0" err="1"/>
              <a:t>favorisant</a:t>
            </a:r>
            <a:r>
              <a:rPr sz="2400" dirty="0"/>
              <a:t> </a:t>
            </a:r>
            <a:r>
              <a:rPr sz="2400" dirty="0" err="1"/>
              <a:t>l’innovation</a:t>
            </a:r>
            <a:endParaRPr lang="fr-FR" sz="2400" dirty="0"/>
          </a:p>
          <a:p>
            <a:pPr>
              <a:defRPr sz="1800">
                <a:solidFill>
                  <a:srgbClr val="373B3F"/>
                </a:solidFill>
                <a:latin typeface="Calibri"/>
              </a:defRPr>
            </a:pPr>
            <a:r>
              <a:rPr sz="2400" dirty="0"/>
              <a:t>Par </a:t>
            </a:r>
            <a:r>
              <a:rPr sz="2400" dirty="0" err="1"/>
              <a:t>exemple</a:t>
            </a:r>
            <a:r>
              <a:rPr sz="2400" dirty="0"/>
              <a:t>, un </a:t>
            </a:r>
            <a:r>
              <a:rPr sz="2400" dirty="0" err="1"/>
              <a:t>suivi</a:t>
            </a:r>
            <a:r>
              <a:rPr sz="2400" dirty="0"/>
              <a:t> </a:t>
            </a:r>
            <a:r>
              <a:rPr sz="2400" dirty="0" err="1"/>
              <a:t>produit</a:t>
            </a:r>
            <a:r>
              <a:rPr sz="2400" dirty="0"/>
              <a:t> </a:t>
            </a:r>
            <a:r>
              <a:rPr sz="2400" dirty="0" err="1"/>
              <a:t>en</a:t>
            </a:r>
            <a:r>
              <a:rPr sz="2400" dirty="0"/>
              <a:t> temps </a:t>
            </a:r>
            <a:r>
              <a:rPr sz="2400" dirty="0" err="1"/>
              <a:t>réel</a:t>
            </a:r>
            <a:r>
              <a:rPr sz="2400" dirty="0"/>
              <a:t> </a:t>
            </a:r>
            <a:r>
              <a:rPr sz="2400" dirty="0" err="1"/>
              <a:t>permet</a:t>
            </a:r>
            <a:r>
              <a:rPr sz="2400" dirty="0"/>
              <a:t> </a:t>
            </a:r>
            <a:r>
              <a:rPr sz="2400" dirty="0" err="1"/>
              <a:t>d’anticiper</a:t>
            </a:r>
            <a:r>
              <a:rPr sz="2400" dirty="0"/>
              <a:t> des ruptures, </a:t>
            </a:r>
            <a:r>
              <a:rPr sz="2400" dirty="0" err="1"/>
              <a:t>d’ajuster</a:t>
            </a:r>
            <a:r>
              <a:rPr sz="2400" dirty="0"/>
              <a:t> les prix et </a:t>
            </a:r>
            <a:r>
              <a:rPr sz="2400" dirty="0" err="1"/>
              <a:t>d’optimiser</a:t>
            </a:r>
            <a:r>
              <a:rPr sz="2400" dirty="0"/>
              <a:t> le service client </a:t>
            </a:r>
            <a:r>
              <a:rPr sz="2400" dirty="0" err="1"/>
              <a:t>localement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3/30</a:t>
            </a:r>
          </a:p>
        </p:txBody>
      </p:sp>
    </p:spTree>
    <p:extLst>
      <p:ext uri="{BB962C8B-B14F-4D97-AF65-F5344CB8AC3E}">
        <p14:creationId xmlns:p14="http://schemas.microsoft.com/office/powerpoint/2010/main" val="122220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Julia,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9CFF24-02BB-8CB5-A9B2-461E4AB91EF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36E5590-C92F-B865-F299-6371E802F630}"/>
              </a:ext>
            </a:extLst>
          </p:cNvPr>
          <p:cNvSpPr>
            <a:spLocks noGrp="1"/>
          </p:cNvSpPr>
          <p:nvPr>
            <p:ph idx="1"/>
          </p:nvPr>
        </p:nvSpPr>
        <p:spPr/>
        <p:txBody>
          <a:bodyPr/>
          <a:lstStyle/>
          <a:p>
            <a:r>
              <a:rPr lang="fr-FR" dirty="0"/>
              <a:t>f(x) = </a:t>
            </a:r>
            <a:r>
              <a:rPr lang="fr-FR" dirty="0" err="1"/>
              <a:t>ax</a:t>
            </a:r>
            <a:r>
              <a:rPr lang="fr-FR" dirty="0"/>
              <a:t> + b</a:t>
            </a:r>
          </a:p>
          <a:p>
            <a:r>
              <a:rPr lang="fr-FR" dirty="0"/>
              <a:t>f = modèle = fonction mathématique</a:t>
            </a:r>
          </a:p>
          <a:p>
            <a:r>
              <a:rPr lang="fr-FR" dirty="0"/>
              <a:t>a et b = variables = poids</a:t>
            </a:r>
          </a:p>
          <a:p>
            <a:endParaRPr lang="fr-FR" dirty="0"/>
          </a:p>
          <a:p>
            <a:r>
              <a:rPr lang="fr-FR" dirty="0" err="1"/>
              <a:t>ChatGPT</a:t>
            </a:r>
            <a:r>
              <a:rPr lang="fr-FR" dirty="0"/>
              <a:t> = fonction mathématique</a:t>
            </a:r>
          </a:p>
          <a:p>
            <a:r>
              <a:rPr lang="fr-FR" dirty="0"/>
              <a:t>GPT 2 = 500 lignes</a:t>
            </a:r>
          </a:p>
          <a:p>
            <a:r>
              <a:rPr lang="fr-FR" dirty="0"/>
              <a:t>GPT 5 = 800B poids</a:t>
            </a:r>
          </a:p>
        </p:txBody>
      </p:sp>
    </p:spTree>
    <p:extLst>
      <p:ext uri="{BB962C8B-B14F-4D97-AF65-F5344CB8AC3E}">
        <p14:creationId xmlns:p14="http://schemas.microsoft.com/office/powerpoint/2010/main" val="3485196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2000" dirty="0" err="1"/>
              <a:t>PyTorch</a:t>
            </a:r>
            <a:endParaRPr lang="fr-FR" sz="2000" dirty="0"/>
          </a:p>
          <a:p>
            <a:pPr lvl="2"/>
            <a:r>
              <a:rPr lang="fr-FR" sz="1400" dirty="0"/>
              <a:t>Facebook</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0D17-CF15-E635-3055-AFB7B66633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ED2F95-5320-B028-1543-B3DD02CEC73B}"/>
              </a:ext>
            </a:extLst>
          </p:cNvPr>
          <p:cNvSpPr>
            <a:spLocks noGrp="1"/>
          </p:cNvSpPr>
          <p:nvPr>
            <p:ph type="title"/>
          </p:nvPr>
        </p:nvSpPr>
        <p:spPr/>
        <p:txBody>
          <a:bodyPr/>
          <a:lstStyle/>
          <a:p>
            <a:r>
              <a:rPr lang="fr-FR" dirty="0"/>
              <a:t>Les jeux de données</a:t>
            </a:r>
          </a:p>
        </p:txBody>
      </p:sp>
      <p:sp>
        <p:nvSpPr>
          <p:cNvPr id="3" name="Espace réservé du contenu 2">
            <a:extLst>
              <a:ext uri="{FF2B5EF4-FFF2-40B4-BE49-F238E27FC236}">
                <a16:creationId xmlns:a16="http://schemas.microsoft.com/office/drawing/2014/main" id="{2BCF7F5F-F477-704E-1832-A3558954501F}"/>
              </a:ext>
            </a:extLst>
          </p:cNvPr>
          <p:cNvSpPr>
            <a:spLocks noGrp="1"/>
          </p:cNvSpPr>
          <p:nvPr>
            <p:ph idx="1"/>
          </p:nvPr>
        </p:nvSpPr>
        <p:spPr/>
        <p:txBody>
          <a:bodyPr/>
          <a:lstStyle/>
          <a:p>
            <a:r>
              <a:rPr lang="fr-FR" dirty="0"/>
              <a:t>Le jeu de données nécessaire à l'entrainement de l'IA est appelé </a:t>
            </a:r>
            <a:r>
              <a:rPr lang="fr-FR" dirty="0" err="1"/>
              <a:t>Dataset</a:t>
            </a:r>
            <a:endParaRPr lang="fr-FR" dirty="0"/>
          </a:p>
          <a:p>
            <a:r>
              <a:rPr lang="fr-FR" dirty="0"/>
              <a:t>Il doit être</a:t>
            </a:r>
          </a:p>
          <a:p>
            <a:pPr lvl="1"/>
            <a:r>
              <a:rPr lang="fr-FR" dirty="0"/>
              <a:t>Exhaustif</a:t>
            </a:r>
          </a:p>
          <a:p>
            <a:pPr lvl="1"/>
            <a:r>
              <a:rPr lang="fr-FR" dirty="0"/>
              <a:t>Volumineux</a:t>
            </a:r>
          </a:p>
          <a:p>
            <a:pPr lvl="1"/>
            <a:r>
              <a:rPr lang="fr-FR" dirty="0"/>
              <a:t>De qualité</a:t>
            </a:r>
          </a:p>
          <a:p>
            <a:r>
              <a:rPr lang="fr-FR" dirty="0"/>
              <a:t>Les données doivent être maitrisées</a:t>
            </a:r>
          </a:p>
          <a:p>
            <a:pPr lvl="1"/>
            <a:r>
              <a:rPr lang="fr-FR" dirty="0"/>
              <a:t>Statistiques</a:t>
            </a:r>
          </a:p>
          <a:p>
            <a:r>
              <a:rPr lang="fr-FR" dirty="0"/>
              <a:t>Exemples de </a:t>
            </a:r>
            <a:r>
              <a:rPr lang="fr-FR" dirty="0" err="1"/>
              <a:t>datasets</a:t>
            </a:r>
            <a:endParaRPr lang="fr-FR" dirty="0"/>
          </a:p>
          <a:p>
            <a:endParaRPr lang="fr-FR" dirty="0"/>
          </a:p>
          <a:p>
            <a:endParaRPr lang="fr-FR" dirty="0"/>
          </a:p>
        </p:txBody>
      </p:sp>
    </p:spTree>
    <p:extLst>
      <p:ext uri="{BB962C8B-B14F-4D97-AF65-F5344CB8AC3E}">
        <p14:creationId xmlns:p14="http://schemas.microsoft.com/office/powerpoint/2010/main" val="3631914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C621C4-271F-BCBF-47DB-1D4B9D67B68E}"/>
              </a:ext>
            </a:extLst>
          </p:cNvPr>
          <p:cNvSpPr>
            <a:spLocks noGrp="1"/>
          </p:cNvSpPr>
          <p:nvPr>
            <p:ph type="title"/>
          </p:nvPr>
        </p:nvSpPr>
        <p:spPr/>
        <p:txBody>
          <a:bodyPr/>
          <a:lstStyle/>
          <a:p>
            <a:r>
              <a:rPr lang="fr-FR" dirty="0"/>
              <a:t>Dataviz</a:t>
            </a:r>
          </a:p>
        </p:txBody>
      </p:sp>
      <p:sp>
        <p:nvSpPr>
          <p:cNvPr id="3" name="Espace réservé du contenu 2">
            <a:extLst>
              <a:ext uri="{FF2B5EF4-FFF2-40B4-BE49-F238E27FC236}">
                <a16:creationId xmlns:a16="http://schemas.microsoft.com/office/drawing/2014/main" id="{71C14DB0-BF73-B644-AD43-D8E0B922D17B}"/>
              </a:ext>
            </a:extLst>
          </p:cNvPr>
          <p:cNvSpPr>
            <a:spLocks noGrp="1"/>
          </p:cNvSpPr>
          <p:nvPr>
            <p:ph idx="1"/>
          </p:nvPr>
        </p:nvSpPr>
        <p:spPr/>
        <p:txBody>
          <a:bodyPr/>
          <a:lstStyle/>
          <a:p>
            <a:r>
              <a:rPr lang="fr-FR" dirty="0"/>
              <a:t>Représenter la donnée graphiquement</a:t>
            </a:r>
          </a:p>
          <a:p>
            <a:r>
              <a:rPr lang="fr-FR" dirty="0"/>
              <a:t>Outils commerciaux</a:t>
            </a:r>
          </a:p>
          <a:p>
            <a:pPr lvl="1"/>
            <a:r>
              <a:rPr lang="fr-FR" dirty="0"/>
              <a:t>Excel</a:t>
            </a:r>
          </a:p>
          <a:p>
            <a:pPr lvl="1"/>
            <a:r>
              <a:rPr lang="fr-FR" dirty="0"/>
              <a:t>Power BI</a:t>
            </a:r>
          </a:p>
          <a:p>
            <a:pPr lvl="1"/>
            <a:r>
              <a:rPr lang="fr-FR" dirty="0"/>
              <a:t>Tableau</a:t>
            </a:r>
          </a:p>
          <a:p>
            <a:pPr lvl="1"/>
            <a:r>
              <a:rPr lang="fr-FR" dirty="0"/>
              <a:t>Qlik</a:t>
            </a:r>
          </a:p>
          <a:p>
            <a:r>
              <a:rPr lang="fr-FR" dirty="0"/>
              <a:t>Outils libres de programmation</a:t>
            </a:r>
          </a:p>
          <a:p>
            <a:pPr lvl="1"/>
            <a:r>
              <a:rPr lang="fr-FR" dirty="0" err="1"/>
              <a:t>Matplotlib</a:t>
            </a:r>
            <a:endParaRPr lang="fr-FR" dirty="0"/>
          </a:p>
          <a:p>
            <a:pPr lvl="1"/>
            <a:r>
              <a:rPr lang="fr-FR" dirty="0" err="1"/>
              <a:t>Seaborn</a:t>
            </a:r>
            <a:endParaRPr lang="fr-FR" dirty="0"/>
          </a:p>
          <a:p>
            <a:r>
              <a:rPr lang="fr-FR" dirty="0"/>
              <a:t>Démonstration</a:t>
            </a:r>
          </a:p>
          <a:p>
            <a:endParaRPr lang="fr-FR" dirty="0"/>
          </a:p>
        </p:txBody>
      </p:sp>
    </p:spTree>
    <p:extLst>
      <p:ext uri="{BB962C8B-B14F-4D97-AF65-F5344CB8AC3E}">
        <p14:creationId xmlns:p14="http://schemas.microsoft.com/office/powerpoint/2010/main" val="3596355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Qualité des données : enjeux et indicateurs</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qualité se mesure par l’exactitude, la complétude, la cohérence et la fraîcheur. Par exemple, un tableau de bord hebdomadaire de qualité met en évidence des colonnes critiques, déclenche des corrections et sécurise la fiabilité des rapports exécutifs publiés.</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Ensembles d’entraînement, validation et test</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Séparer les ensembles évite la fuite d’information et garantit une estimation honnête de performance. Par exemple, réserver un jeu de test temporel permet de simuler une mise en production future et d’évaluer la robustesse réellement attendue.</a:t>
            </a:r>
          </a:p>
        </p:txBody>
      </p:sp>
      <p:pic>
        <p:nvPicPr>
          <p:cNvPr id="4" name="Picture 3" descr="chart_split.png"/>
          <p:cNvPicPr>
            <a:picLocks noChangeAspect="1"/>
          </p:cNvPicPr>
          <p:nvPr/>
        </p:nvPicPr>
        <p:blipFill>
          <a:blip r:embed="rId2"/>
          <a:stretch>
            <a:fillRect/>
          </a:stretch>
        </p:blipFill>
        <p:spPr>
          <a:xfrm>
            <a:off x="5220072" y="3212976"/>
            <a:ext cx="291677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16/30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Outils pour la visualisation (Dataviz)</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dataviz sert l’exploration, l’explication et la décision. Par exemple, un graphique en barres comparant des canaux marketing révèle immédiatement l’efficacité relative et guide la redistribution budgétaire vers les leviers les plus performants rapidement.</a:t>
            </a:r>
          </a:p>
        </p:txBody>
      </p:sp>
      <p:pic>
        <p:nvPicPr>
          <p:cNvPr id="4" name="Picture 3" descr="chart_histogram.png"/>
          <p:cNvPicPr>
            <a:picLocks noChangeAspect="1"/>
          </p:cNvPicPr>
          <p:nvPr/>
        </p:nvPicPr>
        <p:blipFill>
          <a:blip r:embed="rId2"/>
          <a:stretch>
            <a:fillRect/>
          </a:stretch>
        </p:blipFill>
        <p:spPr>
          <a:xfrm>
            <a:off x="2195736" y="3259994"/>
            <a:ext cx="4311574"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18/30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1 : Préparation d’un dataset pour l’IA</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À </a:t>
            </a:r>
            <a:r>
              <a:rPr sz="2400" dirty="0" err="1"/>
              <a:t>partir</a:t>
            </a:r>
            <a:r>
              <a:rPr sz="2400" dirty="0"/>
              <a:t> d’un </a:t>
            </a:r>
            <a:r>
              <a:rPr sz="2400" dirty="0" err="1"/>
              <a:t>fichier</a:t>
            </a:r>
            <a:r>
              <a:rPr sz="2400" dirty="0"/>
              <a:t> ventes, nous </a:t>
            </a:r>
            <a:r>
              <a:rPr sz="2400" dirty="0" err="1"/>
              <a:t>profilons</a:t>
            </a:r>
            <a:r>
              <a:rPr sz="2400" dirty="0"/>
              <a:t> les </a:t>
            </a:r>
            <a:r>
              <a:rPr sz="2400" dirty="0" err="1"/>
              <a:t>colonnes</a:t>
            </a:r>
            <a:r>
              <a:rPr sz="2400" dirty="0"/>
              <a:t>, </a:t>
            </a:r>
            <a:r>
              <a:rPr sz="2400" dirty="0" err="1"/>
              <a:t>traitons</a:t>
            </a:r>
            <a:r>
              <a:rPr sz="2400" dirty="0"/>
              <a:t> les </a:t>
            </a:r>
            <a:r>
              <a:rPr sz="2400" dirty="0" err="1"/>
              <a:t>valeurs</a:t>
            </a:r>
            <a:r>
              <a:rPr sz="2400" dirty="0"/>
              <a:t> </a:t>
            </a:r>
            <a:r>
              <a:rPr sz="2400" dirty="0" err="1"/>
              <a:t>manquantes</a:t>
            </a:r>
            <a:r>
              <a:rPr sz="2400" dirty="0"/>
              <a:t> et </a:t>
            </a:r>
            <a:r>
              <a:rPr sz="2400" dirty="0" err="1"/>
              <a:t>créons</a:t>
            </a:r>
            <a:r>
              <a:rPr sz="2400" dirty="0"/>
              <a:t> des variables </a:t>
            </a:r>
            <a:r>
              <a:rPr sz="2400" dirty="0" err="1"/>
              <a:t>dérivées</a:t>
            </a:r>
            <a:r>
              <a:rPr sz="2400" dirty="0"/>
              <a:t>. </a:t>
            </a:r>
            <a:endParaRPr lang="fr-FR" sz="2400" dirty="0"/>
          </a:p>
          <a:p>
            <a:pPr>
              <a:defRPr sz="1800">
                <a:solidFill>
                  <a:srgbClr val="373B3F"/>
                </a:solidFill>
                <a:latin typeface="Calibri"/>
              </a:defRPr>
            </a:pPr>
            <a:r>
              <a:rPr sz="2400" dirty="0"/>
              <a:t>Par </a:t>
            </a:r>
            <a:r>
              <a:rPr sz="2400" dirty="0" err="1"/>
              <a:t>exemple</a:t>
            </a:r>
            <a:r>
              <a:rPr sz="2400" dirty="0"/>
              <a:t>, la </a:t>
            </a:r>
            <a:r>
              <a:rPr sz="2400" dirty="0" err="1"/>
              <a:t>création</a:t>
            </a:r>
            <a:r>
              <a:rPr sz="2400" dirty="0"/>
              <a:t> d’un </a:t>
            </a:r>
            <a:r>
              <a:rPr sz="2400" dirty="0" err="1"/>
              <a:t>indicateur</a:t>
            </a:r>
            <a:r>
              <a:rPr sz="2400" dirty="0"/>
              <a:t> de </a:t>
            </a:r>
            <a:r>
              <a:rPr sz="2400" dirty="0" err="1"/>
              <a:t>récence</a:t>
            </a:r>
            <a:r>
              <a:rPr sz="2400" dirty="0"/>
              <a:t> </a:t>
            </a:r>
            <a:r>
              <a:rPr sz="2400" dirty="0" err="1"/>
              <a:t>améliore</a:t>
            </a:r>
            <a:r>
              <a:rPr sz="2400" dirty="0"/>
              <a:t> un </a:t>
            </a:r>
            <a:r>
              <a:rPr sz="2400" dirty="0" err="1"/>
              <a:t>modèle</a:t>
            </a:r>
            <a:r>
              <a:rPr sz="2400" dirty="0"/>
              <a:t> de churn </a:t>
            </a:r>
            <a:r>
              <a:rPr sz="2400" dirty="0" err="1"/>
              <a:t>en</a:t>
            </a:r>
            <a:r>
              <a:rPr sz="2400" dirty="0"/>
              <a:t> </a:t>
            </a:r>
            <a:r>
              <a:rPr sz="2400" dirty="0" err="1"/>
              <a:t>offrant</a:t>
            </a:r>
            <a:r>
              <a:rPr sz="2400" dirty="0"/>
              <a:t> un signal </a:t>
            </a:r>
            <a:r>
              <a:rPr sz="2400" dirty="0" err="1"/>
              <a:t>comportemental</a:t>
            </a:r>
            <a:r>
              <a:rPr sz="2400" dirty="0"/>
              <a:t> simple et puissant ensemble.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24/30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2 : Visualisation et interprétation</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Nous construisons un tableau de bord simple avec ventes, marge et taux de retour. Par exemple, un graphique lignes par semaine révèle une saisonnalité, tandis qu’une carte met en évidence des régions sous-performantes nécessitant un plan d’actions ciblé réactif.</a:t>
            </a:r>
          </a:p>
        </p:txBody>
      </p:sp>
      <p:pic>
        <p:nvPicPr>
          <p:cNvPr id="4" name="Picture 3" descr="chart_drift.png"/>
          <p:cNvPicPr>
            <a:picLocks noChangeAspect="1"/>
          </p:cNvPicPr>
          <p:nvPr/>
        </p:nvPicPr>
        <p:blipFill>
          <a:blip r:embed="rId2"/>
          <a:stretch>
            <a:fillRect/>
          </a:stretch>
        </p:blipFill>
        <p:spPr>
          <a:xfrm>
            <a:off x="2387398" y="3294342"/>
            <a:ext cx="4350278"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Étude de cas : projet Data Science en entreprise</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Sur un cas de prévision de demande, la consolidation des historiques et promotions a permis d’abaisser les ruptures. Par exemple, une réduction de dix pour cent des stocks dormants a été obtenue grâce à une meilleure allocation par entrepôt géographiquement adaptée efficacement.</a:t>
            </a:r>
          </a:p>
        </p:txBody>
      </p:sp>
      <p:pic>
        <p:nvPicPr>
          <p:cNvPr id="4" name="Picture 3" descr="chart_confusion.png"/>
          <p:cNvPicPr>
            <a:picLocks noChangeAspect="1"/>
          </p:cNvPicPr>
          <p:nvPr/>
        </p:nvPicPr>
        <p:blipFill>
          <a:blip r:embed="rId2"/>
          <a:stretch>
            <a:fillRect/>
          </a:stretch>
        </p:blipFill>
        <p:spPr>
          <a:xfrm>
            <a:off x="4860032" y="3237411"/>
            <a:ext cx="370160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26/30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Retour d’expérience : erreurs fréquentes</a:t>
            </a:r>
          </a:p>
        </p:txBody>
      </p:sp>
      <p:sp>
        <p:nvSpPr>
          <p:cNvPr id="3" name="Content Placeholder 2"/>
          <p:cNvSpPr>
            <a:spLocks noGrp="1"/>
          </p:cNvSpPr>
          <p:nvPr>
            <p:ph idx="1"/>
          </p:nvPr>
        </p:nvSpPr>
        <p:spPr/>
        <p:txBody>
          <a:bodyPr/>
          <a:lstStyle/>
          <a:p>
            <a:endParaRPr sz="4800" dirty="0"/>
          </a:p>
          <a:p>
            <a:pPr>
              <a:defRPr sz="1800">
                <a:solidFill>
                  <a:srgbClr val="373B3F"/>
                </a:solidFill>
                <a:latin typeface="Calibri"/>
              </a:defRPr>
            </a:pPr>
            <a:r>
              <a:rPr sz="2400" dirty="0"/>
              <a:t>Les </a:t>
            </a:r>
            <a:r>
              <a:rPr sz="2400" dirty="0" err="1"/>
              <a:t>écueils</a:t>
            </a:r>
            <a:r>
              <a:rPr sz="2400" dirty="0"/>
              <a:t> </a:t>
            </a:r>
            <a:r>
              <a:rPr sz="2400" dirty="0" err="1"/>
              <a:t>récurrents</a:t>
            </a:r>
            <a:r>
              <a:rPr sz="2400" dirty="0"/>
              <a:t> </a:t>
            </a:r>
            <a:r>
              <a:rPr sz="2400" dirty="0" err="1"/>
              <a:t>incluent</a:t>
            </a:r>
            <a:r>
              <a:rPr sz="2400" dirty="0"/>
              <a:t> la </a:t>
            </a:r>
            <a:r>
              <a:rPr sz="2400" dirty="0" err="1"/>
              <a:t>fuite</a:t>
            </a:r>
            <a:r>
              <a:rPr sz="2400" dirty="0"/>
              <a:t> de </a:t>
            </a:r>
            <a:r>
              <a:rPr sz="2400" dirty="0" err="1"/>
              <a:t>cibles</a:t>
            </a:r>
            <a:r>
              <a:rPr sz="2400" dirty="0"/>
              <a:t>, </a:t>
            </a:r>
            <a:r>
              <a:rPr sz="2400" dirty="0" err="1"/>
              <a:t>l’échantillon</a:t>
            </a:r>
            <a:r>
              <a:rPr sz="2400" dirty="0"/>
              <a:t> non </a:t>
            </a:r>
            <a:r>
              <a:rPr sz="2400" dirty="0" err="1"/>
              <a:t>représentatif</a:t>
            </a:r>
            <a:r>
              <a:rPr sz="2400" dirty="0"/>
              <a:t> et la </a:t>
            </a:r>
            <a:r>
              <a:rPr sz="2400" dirty="0" err="1"/>
              <a:t>métrique</a:t>
            </a:r>
            <a:r>
              <a:rPr sz="2400" dirty="0"/>
              <a:t> </a:t>
            </a:r>
            <a:r>
              <a:rPr sz="2400" dirty="0" err="1"/>
              <a:t>inadéquate</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optimiser</a:t>
            </a:r>
            <a:r>
              <a:rPr sz="2400" dirty="0"/>
              <a:t> </a:t>
            </a:r>
            <a:r>
              <a:rPr sz="2400" dirty="0" err="1"/>
              <a:t>une</a:t>
            </a:r>
            <a:r>
              <a:rPr sz="2400" dirty="0"/>
              <a:t> </a:t>
            </a:r>
            <a:r>
              <a:rPr sz="2400" dirty="0" err="1"/>
              <a:t>précision</a:t>
            </a:r>
            <a:r>
              <a:rPr sz="2400" dirty="0"/>
              <a:t> </a:t>
            </a:r>
            <a:r>
              <a:rPr sz="2400" dirty="0" err="1"/>
              <a:t>globale</a:t>
            </a:r>
            <a:r>
              <a:rPr sz="2400" dirty="0"/>
              <a:t> sur données </a:t>
            </a:r>
            <a:r>
              <a:rPr sz="2400" dirty="0" err="1"/>
              <a:t>déséquilibrées</a:t>
            </a:r>
            <a:r>
              <a:rPr sz="2400" dirty="0"/>
              <a:t> masque les faux </a:t>
            </a:r>
            <a:r>
              <a:rPr sz="2400" dirty="0" err="1"/>
              <a:t>négatifs</a:t>
            </a:r>
            <a:r>
              <a:rPr sz="2400" dirty="0"/>
              <a:t> critiques pour </a:t>
            </a:r>
            <a:r>
              <a:rPr sz="2400" dirty="0" err="1"/>
              <a:t>l’activité</a:t>
            </a:r>
            <a:r>
              <a:rPr sz="2400" dirty="0"/>
              <a:t>, </a:t>
            </a:r>
            <a:r>
              <a:rPr sz="2400" dirty="0" err="1"/>
              <a:t>provoquant</a:t>
            </a:r>
            <a:r>
              <a:rPr sz="2400" dirty="0"/>
              <a:t> des </a:t>
            </a:r>
            <a:r>
              <a:rPr sz="2400" dirty="0" err="1"/>
              <a:t>décisions</a:t>
            </a:r>
            <a:r>
              <a:rPr sz="2400" dirty="0"/>
              <a:t> </a:t>
            </a:r>
            <a:r>
              <a:rPr sz="2400" dirty="0" err="1"/>
              <a:t>risquées</a:t>
            </a:r>
            <a:r>
              <a:rPr sz="2400" dirty="0"/>
              <a:t> ensuite.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27/30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Gouvernance &amp; conformité (RGPD, sécurité)</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Assurer base </a:t>
            </a:r>
            <a:r>
              <a:rPr sz="2400" dirty="0" err="1"/>
              <a:t>légale</a:t>
            </a:r>
            <a:r>
              <a:rPr sz="2400" dirty="0"/>
              <a:t>, </a:t>
            </a:r>
            <a:r>
              <a:rPr sz="2400" dirty="0" err="1"/>
              <a:t>minimisation</a:t>
            </a:r>
            <a:r>
              <a:rPr sz="2400" dirty="0"/>
              <a:t> et droits des </a:t>
            </a:r>
            <a:r>
              <a:rPr sz="2400" dirty="0" err="1"/>
              <a:t>personnes</a:t>
            </a:r>
            <a:r>
              <a:rPr sz="2400" dirty="0"/>
              <a:t>, avec </a:t>
            </a:r>
            <a:r>
              <a:rPr sz="2400" dirty="0" err="1"/>
              <a:t>sécurité</a:t>
            </a:r>
            <a:r>
              <a:rPr sz="2400" dirty="0"/>
              <a:t> </a:t>
            </a:r>
            <a:r>
              <a:rPr sz="2400" dirty="0" err="1"/>
              <a:t>d’accès</a:t>
            </a:r>
            <a:r>
              <a:rPr sz="2400" dirty="0"/>
              <a:t> et </a:t>
            </a:r>
            <a:r>
              <a:rPr sz="2400" dirty="0" err="1"/>
              <a:t>journalisation</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pseudonymiser</a:t>
            </a:r>
            <a:r>
              <a:rPr sz="2400" dirty="0"/>
              <a:t> les </a:t>
            </a:r>
            <a:r>
              <a:rPr sz="2400" dirty="0" err="1"/>
              <a:t>identifiants</a:t>
            </a:r>
            <a:r>
              <a:rPr sz="2400" dirty="0"/>
              <a:t> clients </a:t>
            </a:r>
            <a:r>
              <a:rPr sz="2400" dirty="0" err="1"/>
              <a:t>en</a:t>
            </a:r>
            <a:r>
              <a:rPr sz="2400" dirty="0"/>
              <a:t> sandbox </a:t>
            </a:r>
            <a:r>
              <a:rPr sz="2400" dirty="0" err="1"/>
              <a:t>permet</a:t>
            </a:r>
            <a:r>
              <a:rPr sz="2400" dirty="0"/>
              <a:t> </a:t>
            </a:r>
            <a:r>
              <a:rPr sz="2400" dirty="0" err="1"/>
              <a:t>l’exploration</a:t>
            </a:r>
            <a:r>
              <a:rPr sz="2400" dirty="0"/>
              <a:t> des données sans exposition inutile </a:t>
            </a:r>
            <a:r>
              <a:rPr sz="2400" dirty="0" err="1"/>
              <a:t>d’informations</a:t>
            </a:r>
            <a:r>
              <a:rPr sz="2400" dirty="0"/>
              <a:t> </a:t>
            </a:r>
            <a:r>
              <a:rPr sz="2400" dirty="0" err="1"/>
              <a:t>personnelles</a:t>
            </a:r>
            <a:r>
              <a:rPr sz="2400" dirty="0"/>
              <a:t> </a:t>
            </a:r>
            <a:r>
              <a:rPr sz="2400" dirty="0" err="1"/>
              <a:t>sensibles</a:t>
            </a:r>
            <a:r>
              <a:rPr sz="2400" dirty="0"/>
              <a:t> </a:t>
            </a:r>
            <a:r>
              <a:rPr sz="2400" dirty="0" err="1"/>
              <a:t>effectivement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28/30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1C273C-0472-5821-B898-3CC2CD826084}"/>
              </a:ext>
            </a:extLst>
          </p:cNvPr>
          <p:cNvSpPr>
            <a:spLocks noGrp="1"/>
          </p:cNvSpPr>
          <p:nvPr>
            <p:ph type="title"/>
          </p:nvPr>
        </p:nvSpPr>
        <p:spPr/>
        <p:txBody>
          <a:bodyPr/>
          <a:lstStyle/>
          <a:p>
            <a:r>
              <a:rPr lang="fr-FR" dirty="0"/>
              <a:t>Cycles d'innovations</a:t>
            </a:r>
          </a:p>
        </p:txBody>
      </p:sp>
      <p:sp>
        <p:nvSpPr>
          <p:cNvPr id="3" name="Espace réservé du contenu 2">
            <a:extLst>
              <a:ext uri="{FF2B5EF4-FFF2-40B4-BE49-F238E27FC236}">
                <a16:creationId xmlns:a16="http://schemas.microsoft.com/office/drawing/2014/main" id="{F95BF43C-5FDF-7542-D856-9256ECA3C36E}"/>
              </a:ext>
            </a:extLst>
          </p:cNvPr>
          <p:cNvSpPr>
            <a:spLocks noGrp="1"/>
          </p:cNvSpPr>
          <p:nvPr>
            <p:ph idx="1"/>
          </p:nvPr>
        </p:nvSpPr>
        <p:spPr/>
        <p:txBody>
          <a:bodyPr/>
          <a:lstStyle/>
          <a:p>
            <a:r>
              <a:rPr lang="fr-FR" dirty="0"/>
              <a:t>Raccourcissent des cycles d'évolutions</a:t>
            </a:r>
          </a:p>
        </p:txBody>
      </p:sp>
      <p:pic>
        <p:nvPicPr>
          <p:cNvPr id="3074" name="Picture 2">
            <a:extLst>
              <a:ext uri="{FF2B5EF4-FFF2-40B4-BE49-F238E27FC236}">
                <a16:creationId xmlns:a16="http://schemas.microsoft.com/office/drawing/2014/main" id="{E248877E-8117-AE83-2369-AB6F04BD3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3" y="1873349"/>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698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575AA-3F3F-6684-0054-F0346438EC14}"/>
              </a:ext>
            </a:extLst>
          </p:cNvPr>
          <p:cNvSpPr>
            <a:spLocks noGrp="1"/>
          </p:cNvSpPr>
          <p:nvPr>
            <p:ph type="title"/>
          </p:nvPr>
        </p:nvSpPr>
        <p:spPr/>
        <p:txBody>
          <a:bodyPr/>
          <a:lstStyle/>
          <a:p>
            <a:r>
              <a:rPr lang="fr-FR" dirty="0"/>
              <a:t>Dates d'internet</a:t>
            </a:r>
          </a:p>
        </p:txBody>
      </p:sp>
      <p:sp>
        <p:nvSpPr>
          <p:cNvPr id="3" name="Espace réservé du contenu 2">
            <a:extLst>
              <a:ext uri="{FF2B5EF4-FFF2-40B4-BE49-F238E27FC236}">
                <a16:creationId xmlns:a16="http://schemas.microsoft.com/office/drawing/2014/main" id="{8AC13212-CA09-8B49-C8CE-DB32F1013BF2}"/>
              </a:ext>
            </a:extLst>
          </p:cNvPr>
          <p:cNvSpPr>
            <a:spLocks noGrp="1"/>
          </p:cNvSpPr>
          <p:nvPr>
            <p:ph idx="1"/>
          </p:nvPr>
        </p:nvSpPr>
        <p:spPr/>
        <p:txBody>
          <a:bodyPr/>
          <a:lstStyle/>
          <a:p>
            <a:r>
              <a:rPr lang="fr-FR" dirty="0"/>
              <a:t>Internet : 1989</a:t>
            </a:r>
          </a:p>
          <a:p>
            <a:r>
              <a:rPr lang="fr-FR" dirty="0"/>
              <a:t>Google : 1998 (9 ans)</a:t>
            </a:r>
          </a:p>
          <a:p>
            <a:r>
              <a:rPr lang="fr-FR" dirty="0"/>
              <a:t>ADSL pour tous : 2000 (11 ans)</a:t>
            </a:r>
          </a:p>
          <a:p>
            <a:r>
              <a:rPr lang="fr-FR" dirty="0"/>
              <a:t>Eclatement de la bulle internet : 2001</a:t>
            </a:r>
          </a:p>
          <a:p>
            <a:r>
              <a:rPr lang="fr-FR" dirty="0"/>
              <a:t>Facebook pour tous : 2004-2005 (7 ans depuis Google)</a:t>
            </a:r>
          </a:p>
          <a:p>
            <a:r>
              <a:rPr lang="fr-FR" dirty="0"/>
              <a:t>Internet sur </a:t>
            </a:r>
            <a:r>
              <a:rPr lang="fr-FR" dirty="0" err="1"/>
              <a:t>Smarphone</a:t>
            </a:r>
            <a:r>
              <a:rPr lang="fr-FR" dirty="0"/>
              <a:t> généralisé : 2008</a:t>
            </a:r>
          </a:p>
          <a:p>
            <a:r>
              <a:rPr lang="fr-FR" dirty="0"/>
              <a:t>Création d'Amazon : 1994</a:t>
            </a:r>
          </a:p>
          <a:p>
            <a:pPr lvl="1"/>
            <a:r>
              <a:rPr lang="fr-FR" dirty="0"/>
              <a:t>Rentabilité : 2013</a:t>
            </a:r>
          </a:p>
          <a:p>
            <a:endParaRPr lang="fr-FR" dirty="0"/>
          </a:p>
        </p:txBody>
      </p:sp>
    </p:spTree>
    <p:extLst>
      <p:ext uri="{BB962C8B-B14F-4D97-AF65-F5344CB8AC3E}">
        <p14:creationId xmlns:p14="http://schemas.microsoft.com/office/powerpoint/2010/main" val="1403401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9A4570-75A6-8E15-C2D6-DF97B9554C6E}"/>
              </a:ext>
            </a:extLst>
          </p:cNvPr>
          <p:cNvSpPr>
            <a:spLocks noGrp="1"/>
          </p:cNvSpPr>
          <p:nvPr>
            <p:ph type="title"/>
          </p:nvPr>
        </p:nvSpPr>
        <p:spPr/>
        <p:txBody>
          <a:bodyPr/>
          <a:lstStyle/>
          <a:p>
            <a:r>
              <a:rPr lang="fr-FR" dirty="0"/>
              <a:t>Loi de Moore</a:t>
            </a:r>
          </a:p>
        </p:txBody>
      </p:sp>
      <p:sp>
        <p:nvSpPr>
          <p:cNvPr id="3" name="Espace réservé du contenu 2">
            <a:extLst>
              <a:ext uri="{FF2B5EF4-FFF2-40B4-BE49-F238E27FC236}">
                <a16:creationId xmlns:a16="http://schemas.microsoft.com/office/drawing/2014/main" id="{7FD8E8BD-1EDC-883C-8AFE-296DB80FE6CB}"/>
              </a:ext>
            </a:extLst>
          </p:cNvPr>
          <p:cNvSpPr>
            <a:spLocks noGrp="1"/>
          </p:cNvSpPr>
          <p:nvPr>
            <p:ph idx="1"/>
          </p:nvPr>
        </p:nvSpPr>
        <p:spPr/>
        <p:txBody>
          <a:bodyPr/>
          <a:lstStyle/>
          <a:p>
            <a:r>
              <a:rPr lang="fr-FR" dirty="0"/>
              <a:t>Les lois de Moore sont des lois empiriques qui décrivent l'évolution de la puissance de calcul des ordinateurs et de la complexité du matériel informatique</a:t>
            </a:r>
          </a:p>
          <a:p>
            <a:r>
              <a:rPr lang="fr-FR" dirty="0"/>
              <a:t>En 1975 Gordon Moore (Co-fondateur de Intel) prédit un doublement du nombre de transistors présents sur une puce de microprocesseur tous les deux ans</a:t>
            </a:r>
          </a:p>
          <a:p>
            <a:pPr lvl="1"/>
            <a:r>
              <a:rPr lang="fr-FR" dirty="0"/>
              <a:t>Intel 4004 de 1971 était sur 4 bits</a:t>
            </a:r>
          </a:p>
          <a:p>
            <a:pPr lvl="1"/>
            <a:r>
              <a:rPr lang="fr-FR" dirty="0"/>
              <a:t>Cadencée à 108 kHz </a:t>
            </a:r>
          </a:p>
          <a:p>
            <a:pPr lvl="1"/>
            <a:r>
              <a:rPr lang="fr-FR" dirty="0"/>
              <a:t>Intégrant 2 300 transistors.</a:t>
            </a:r>
          </a:p>
        </p:txBody>
      </p:sp>
      <p:pic>
        <p:nvPicPr>
          <p:cNvPr id="5" name="Image 4">
            <a:extLst>
              <a:ext uri="{FF2B5EF4-FFF2-40B4-BE49-F238E27FC236}">
                <a16:creationId xmlns:a16="http://schemas.microsoft.com/office/drawing/2014/main" id="{8715A838-528A-9AE9-CEF0-54652F3EAC20}"/>
              </a:ext>
            </a:extLst>
          </p:cNvPr>
          <p:cNvPicPr>
            <a:picLocks noChangeAspect="1"/>
          </p:cNvPicPr>
          <p:nvPr/>
        </p:nvPicPr>
        <p:blipFill>
          <a:blip r:embed="rId2"/>
          <a:stretch>
            <a:fillRect/>
          </a:stretch>
        </p:blipFill>
        <p:spPr>
          <a:xfrm>
            <a:off x="5559842" y="4635239"/>
            <a:ext cx="3584158" cy="2209552"/>
          </a:xfrm>
          <a:prstGeom prst="rect">
            <a:avLst/>
          </a:prstGeom>
        </p:spPr>
      </p:pic>
    </p:spTree>
    <p:extLst>
      <p:ext uri="{BB962C8B-B14F-4D97-AF65-F5344CB8AC3E}">
        <p14:creationId xmlns:p14="http://schemas.microsoft.com/office/powerpoint/2010/main" val="1545931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CEB5B5-BA69-C8C7-62E1-436F46682164}"/>
              </a:ext>
            </a:extLst>
          </p:cNvPr>
          <p:cNvSpPr>
            <a:spLocks noGrp="1"/>
          </p:cNvSpPr>
          <p:nvPr>
            <p:ph type="title"/>
          </p:nvPr>
        </p:nvSpPr>
        <p:spPr/>
        <p:txBody>
          <a:bodyPr/>
          <a:lstStyle/>
          <a:p>
            <a:r>
              <a:rPr lang="fr-FR" dirty="0"/>
              <a:t>Courbe Gartner</a:t>
            </a:r>
          </a:p>
        </p:txBody>
      </p:sp>
      <p:sp>
        <p:nvSpPr>
          <p:cNvPr id="3" name="Espace réservé du contenu 2">
            <a:extLst>
              <a:ext uri="{FF2B5EF4-FFF2-40B4-BE49-F238E27FC236}">
                <a16:creationId xmlns:a16="http://schemas.microsoft.com/office/drawing/2014/main" id="{22405F89-0760-CDF5-DD3A-4727D1516B5B}"/>
              </a:ext>
            </a:extLst>
          </p:cNvPr>
          <p:cNvSpPr>
            <a:spLocks noGrp="1"/>
          </p:cNvSpPr>
          <p:nvPr>
            <p:ph idx="1"/>
          </p:nvPr>
        </p:nvSpPr>
        <p:spPr/>
        <p:txBody>
          <a:bodyPr/>
          <a:lstStyle/>
          <a:p>
            <a:r>
              <a:rPr lang="fr-FR" dirty="0"/>
              <a:t>Il s'agit de l'acceptation d'une innovation</a:t>
            </a:r>
          </a:p>
        </p:txBody>
      </p:sp>
      <p:pic>
        <p:nvPicPr>
          <p:cNvPr id="5" name="Image 4">
            <a:extLst>
              <a:ext uri="{FF2B5EF4-FFF2-40B4-BE49-F238E27FC236}">
                <a16:creationId xmlns:a16="http://schemas.microsoft.com/office/drawing/2014/main" id="{2A18D78E-E048-A5C2-A430-5B48AB26AE2D}"/>
              </a:ext>
            </a:extLst>
          </p:cNvPr>
          <p:cNvPicPr>
            <a:picLocks noChangeAspect="1"/>
          </p:cNvPicPr>
          <p:nvPr/>
        </p:nvPicPr>
        <p:blipFill>
          <a:blip r:embed="rId2"/>
          <a:stretch>
            <a:fillRect/>
          </a:stretch>
        </p:blipFill>
        <p:spPr>
          <a:xfrm>
            <a:off x="971600" y="2185540"/>
            <a:ext cx="6744641" cy="4267796"/>
          </a:xfrm>
          <a:prstGeom prst="rect">
            <a:avLst/>
          </a:prstGeom>
        </p:spPr>
      </p:pic>
    </p:spTree>
    <p:extLst>
      <p:ext uri="{BB962C8B-B14F-4D97-AF65-F5344CB8AC3E}">
        <p14:creationId xmlns:p14="http://schemas.microsoft.com/office/powerpoint/2010/main" val="37155932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47CBB9-D580-CEB6-062F-438F0F6F4C95}"/>
              </a:ext>
            </a:extLst>
          </p:cNvPr>
          <p:cNvSpPr>
            <a:spLocks noGrp="1"/>
          </p:cNvSpPr>
          <p:nvPr>
            <p:ph type="title"/>
          </p:nvPr>
        </p:nvSpPr>
        <p:spPr/>
        <p:txBody>
          <a:bodyPr/>
          <a:lstStyle/>
          <a:p>
            <a:r>
              <a:rPr lang="fr-FR" dirty="0"/>
              <a:t>Courbe Kubler Ross</a:t>
            </a:r>
          </a:p>
        </p:txBody>
      </p:sp>
      <p:sp>
        <p:nvSpPr>
          <p:cNvPr id="3" name="Espace réservé du contenu 2">
            <a:extLst>
              <a:ext uri="{FF2B5EF4-FFF2-40B4-BE49-F238E27FC236}">
                <a16:creationId xmlns:a16="http://schemas.microsoft.com/office/drawing/2014/main" id="{26B85BE1-5717-4CA6-DAD1-5F14B5AF6E01}"/>
              </a:ext>
            </a:extLst>
          </p:cNvPr>
          <p:cNvSpPr>
            <a:spLocks noGrp="1"/>
          </p:cNvSpPr>
          <p:nvPr>
            <p:ph idx="1"/>
          </p:nvPr>
        </p:nvSpPr>
        <p:spPr/>
        <p:txBody>
          <a:bodyPr/>
          <a:lstStyle/>
          <a:p>
            <a:r>
              <a:rPr lang="fr-FR" dirty="0"/>
              <a:t>Acceptation du changement</a:t>
            </a:r>
          </a:p>
        </p:txBody>
      </p:sp>
      <p:pic>
        <p:nvPicPr>
          <p:cNvPr id="2054" name="Picture 6" descr="Courbe innovation - courbe du changement Kubler Ross">
            <a:extLst>
              <a:ext uri="{FF2B5EF4-FFF2-40B4-BE49-F238E27FC236}">
                <a16:creationId xmlns:a16="http://schemas.microsoft.com/office/drawing/2014/main" id="{7D57FA48-72BD-3951-C399-DB0FB8E66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4864"/>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714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7C15DF-ED4D-90E5-66C4-D4CE51941029}"/>
              </a:ext>
            </a:extLst>
          </p:cNvPr>
          <p:cNvSpPr>
            <a:spLocks noGrp="1"/>
          </p:cNvSpPr>
          <p:nvPr>
            <p:ph type="title"/>
          </p:nvPr>
        </p:nvSpPr>
        <p:spPr/>
        <p:txBody>
          <a:bodyPr/>
          <a:lstStyle/>
          <a:p>
            <a:r>
              <a:rPr lang="fr-FR" dirty="0"/>
              <a:t>Evolution des LLM</a:t>
            </a:r>
          </a:p>
        </p:txBody>
      </p:sp>
      <p:sp>
        <p:nvSpPr>
          <p:cNvPr id="3" name="Espace réservé du contenu 2">
            <a:extLst>
              <a:ext uri="{FF2B5EF4-FFF2-40B4-BE49-F238E27FC236}">
                <a16:creationId xmlns:a16="http://schemas.microsoft.com/office/drawing/2014/main" id="{7C4F5BCB-AF23-3076-2B3E-D12CFB77D98C}"/>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256070E3-DD28-456B-2E5B-91B93DC3C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1588"/>
            <a:ext cx="9144000"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2577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B4984A-4F97-F81F-89AD-A83B12D69F44}"/>
              </a:ext>
            </a:extLst>
          </p:cNvPr>
          <p:cNvSpPr>
            <a:spLocks noGrp="1"/>
          </p:cNvSpPr>
          <p:nvPr>
            <p:ph type="title"/>
          </p:nvPr>
        </p:nvSpPr>
        <p:spPr/>
        <p:txBody>
          <a:bodyPr/>
          <a:lstStyle/>
          <a:p>
            <a:r>
              <a:rPr lang="fr-FR" dirty="0"/>
              <a:t>Coûts LLM</a:t>
            </a:r>
          </a:p>
        </p:txBody>
      </p:sp>
      <p:sp>
        <p:nvSpPr>
          <p:cNvPr id="4" name="Espace réservé du contenu 3">
            <a:extLst>
              <a:ext uri="{FF2B5EF4-FFF2-40B4-BE49-F238E27FC236}">
                <a16:creationId xmlns:a16="http://schemas.microsoft.com/office/drawing/2014/main" id="{D466D7F1-C85A-A0DF-9783-0D20EAF32F95}"/>
              </a:ext>
            </a:extLst>
          </p:cNvPr>
          <p:cNvSpPr>
            <a:spLocks noGrp="1"/>
          </p:cNvSpPr>
          <p:nvPr>
            <p:ph idx="1"/>
          </p:nvPr>
        </p:nvSpPr>
        <p:spPr/>
        <p:txBody>
          <a:bodyPr/>
          <a:lstStyle/>
          <a:p>
            <a:endParaRPr lang="fr-FR"/>
          </a:p>
        </p:txBody>
      </p:sp>
      <p:pic>
        <p:nvPicPr>
          <p:cNvPr id="4098" name="Picture 2" descr="Couts-IA-statista-epoch-ai">
            <a:extLst>
              <a:ext uri="{FF2B5EF4-FFF2-40B4-BE49-F238E27FC236}">
                <a16:creationId xmlns:a16="http://schemas.microsoft.com/office/drawing/2014/main" id="{EA77EC2A-B31C-D963-7FF7-37A7DA9E0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881336"/>
            <a:ext cx="6552728"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648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BC48DB-4917-4000-6ADE-9BDFFAA5C311}"/>
              </a:ext>
            </a:extLst>
          </p:cNvPr>
          <p:cNvSpPr>
            <a:spLocks noGrp="1"/>
          </p:cNvSpPr>
          <p:nvPr>
            <p:ph type="title"/>
          </p:nvPr>
        </p:nvSpPr>
        <p:spPr/>
        <p:txBody>
          <a:bodyPr/>
          <a:lstStyle/>
          <a:p>
            <a:r>
              <a:rPr lang="fr-FR" dirty="0" err="1"/>
              <a:t>ChatGPT</a:t>
            </a:r>
            <a:endParaRPr lang="fr-FR" dirty="0"/>
          </a:p>
        </p:txBody>
      </p:sp>
      <p:sp>
        <p:nvSpPr>
          <p:cNvPr id="3" name="Espace réservé du contenu 2">
            <a:extLst>
              <a:ext uri="{FF2B5EF4-FFF2-40B4-BE49-F238E27FC236}">
                <a16:creationId xmlns:a16="http://schemas.microsoft.com/office/drawing/2014/main" id="{2E9810CD-A28D-E5EA-5316-565B2D1E93BA}"/>
              </a:ext>
            </a:extLst>
          </p:cNvPr>
          <p:cNvSpPr>
            <a:spLocks noGrp="1"/>
          </p:cNvSpPr>
          <p:nvPr>
            <p:ph idx="1"/>
          </p:nvPr>
        </p:nvSpPr>
        <p:spPr/>
        <p:txBody>
          <a:bodyPr/>
          <a:lstStyle/>
          <a:p>
            <a:r>
              <a:rPr lang="fr-FR" dirty="0"/>
              <a:t>Cout de fonctionnement estimé</a:t>
            </a:r>
          </a:p>
          <a:p>
            <a:pPr lvl="1"/>
            <a:r>
              <a:rPr lang="fr-FR" dirty="0"/>
              <a:t>Entre 2 et 5 milliards $ par an</a:t>
            </a:r>
          </a:p>
          <a:p>
            <a:pPr lvl="1"/>
            <a:r>
              <a:rPr lang="fr-FR" dirty="0"/>
              <a:t>Chiffre d'affaires 2024 : Environ  5 milliards $</a:t>
            </a:r>
          </a:p>
          <a:p>
            <a:pPr lvl="1"/>
            <a:r>
              <a:rPr lang="fr-FR" dirty="0"/>
              <a:t>Projection 2025 : 10 Milliards ?</a:t>
            </a:r>
          </a:p>
        </p:txBody>
      </p:sp>
    </p:spTree>
    <p:extLst>
      <p:ext uri="{BB962C8B-B14F-4D97-AF65-F5344CB8AC3E}">
        <p14:creationId xmlns:p14="http://schemas.microsoft.com/office/powerpoint/2010/main" val="33459916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40BD2-CA80-7EC8-9A58-1435C4138B74}"/>
              </a:ext>
            </a:extLst>
          </p:cNvPr>
          <p:cNvSpPr>
            <a:spLocks noGrp="1"/>
          </p:cNvSpPr>
          <p:nvPr>
            <p:ph type="title"/>
          </p:nvPr>
        </p:nvSpPr>
        <p:spPr/>
        <p:txBody>
          <a:bodyPr/>
          <a:lstStyle/>
          <a:p>
            <a:r>
              <a:rPr lang="fr-FR" dirty="0"/>
              <a:t>Coding or not Coding</a:t>
            </a:r>
          </a:p>
        </p:txBody>
      </p:sp>
      <p:sp>
        <p:nvSpPr>
          <p:cNvPr id="3" name="Espace réservé du contenu 2">
            <a:extLst>
              <a:ext uri="{FF2B5EF4-FFF2-40B4-BE49-F238E27FC236}">
                <a16:creationId xmlns:a16="http://schemas.microsoft.com/office/drawing/2014/main" id="{14236FC1-A4C7-5990-49E0-ECDEBF8D745D}"/>
              </a:ext>
            </a:extLst>
          </p:cNvPr>
          <p:cNvSpPr>
            <a:spLocks noGrp="1"/>
          </p:cNvSpPr>
          <p:nvPr>
            <p:ph idx="1"/>
          </p:nvPr>
        </p:nvSpPr>
        <p:spPr/>
        <p:txBody>
          <a:bodyPr/>
          <a:lstStyle/>
          <a:p>
            <a:r>
              <a:rPr lang="fr-FR" sz="2400" dirty="0"/>
              <a:t>Full code</a:t>
            </a:r>
          </a:p>
          <a:p>
            <a:pPr lvl="1"/>
            <a:r>
              <a:rPr lang="fr-FR" sz="2000" dirty="0"/>
              <a:t>Solution de codage de l'IA</a:t>
            </a:r>
          </a:p>
          <a:p>
            <a:pPr lvl="1"/>
            <a:r>
              <a:rPr lang="fr-FR" sz="2000" dirty="0"/>
              <a:t>Basé sur Python</a:t>
            </a:r>
          </a:p>
          <a:p>
            <a:r>
              <a:rPr lang="fr-FR" sz="2400" dirty="0"/>
              <a:t>No code</a:t>
            </a:r>
          </a:p>
          <a:p>
            <a:pPr lvl="1"/>
            <a:r>
              <a:rPr lang="fr-FR" sz="2000" dirty="0"/>
              <a:t>Solution de mise en place d'agents IA sans code</a:t>
            </a:r>
          </a:p>
          <a:p>
            <a:pPr lvl="1"/>
            <a:r>
              <a:rPr lang="fr-FR" sz="2000" dirty="0"/>
              <a:t>Solution SaaS : AWS, Azure, GCP</a:t>
            </a:r>
          </a:p>
          <a:p>
            <a:pPr lvl="1"/>
            <a:r>
              <a:rPr lang="fr-FR" sz="2000" dirty="0"/>
              <a:t>Solution tiers : n8n, make.com, …</a:t>
            </a:r>
          </a:p>
          <a:p>
            <a:r>
              <a:rPr lang="fr-FR" sz="2400" dirty="0"/>
              <a:t>Low code</a:t>
            </a:r>
          </a:p>
          <a:p>
            <a:pPr lvl="1"/>
            <a:r>
              <a:rPr lang="fr-FR" sz="2000" dirty="0"/>
              <a:t>API fournit par les solutions No code pour adapter l'IA</a:t>
            </a:r>
          </a:p>
          <a:p>
            <a:r>
              <a:rPr lang="fr-FR" sz="2400" dirty="0" err="1"/>
              <a:t>Vibe</a:t>
            </a:r>
            <a:r>
              <a:rPr lang="fr-FR" sz="2400" dirty="0"/>
              <a:t> </a:t>
            </a:r>
            <a:r>
              <a:rPr lang="fr-FR" sz="2400" dirty="0" err="1"/>
              <a:t>coding</a:t>
            </a:r>
            <a:endParaRPr lang="fr-FR" sz="2400" dirty="0"/>
          </a:p>
          <a:p>
            <a:pPr lvl="1"/>
            <a:r>
              <a:rPr lang="fr-FR" sz="2000" dirty="0"/>
              <a:t>Full code mais en codant avec de l'IA dédié</a:t>
            </a:r>
          </a:p>
          <a:p>
            <a:pPr lvl="1"/>
            <a:r>
              <a:rPr lang="fr-FR" sz="2000" dirty="0" err="1"/>
              <a:t>Codestral</a:t>
            </a:r>
            <a:r>
              <a:rPr lang="fr-FR" sz="2000" dirty="0"/>
              <a:t>, Claude, </a:t>
            </a:r>
            <a:r>
              <a:rPr lang="fr-FR" sz="2000" dirty="0" err="1"/>
              <a:t>Cursor</a:t>
            </a:r>
            <a:endParaRPr lang="fr-FR" sz="2000" dirty="0"/>
          </a:p>
        </p:txBody>
      </p:sp>
    </p:spTree>
    <p:extLst>
      <p:ext uri="{BB962C8B-B14F-4D97-AF65-F5344CB8AC3E}">
        <p14:creationId xmlns:p14="http://schemas.microsoft.com/office/powerpoint/2010/main" val="69749048"/>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3595</TotalTime>
  <Words>1561</Words>
  <Application>Microsoft Office PowerPoint</Application>
  <PresentationFormat>Affichage à l'écran (4:3)</PresentationFormat>
  <Paragraphs>195</Paragraphs>
  <Slides>44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44</vt:i4>
      </vt:variant>
    </vt:vector>
  </HeadingPairs>
  <TitlesOfParts>
    <vt:vector size="48" baseType="lpstr">
      <vt:lpstr>Arial</vt:lpstr>
      <vt:lpstr>Monotype Sorts</vt:lpstr>
      <vt:lpstr>Times New Roman</vt:lpstr>
      <vt:lpstr>cvc</vt:lpstr>
      <vt:lpstr>Présentation PowerPoint</vt:lpstr>
      <vt:lpstr>Présentation PowerPoint</vt:lpstr>
      <vt:lpstr>Wikipedia</vt:lpstr>
      <vt:lpstr>Data Science</vt:lpstr>
      <vt:lpstr>Data Science</vt:lpstr>
      <vt:lpstr>Principes clés</vt:lpstr>
      <vt:lpstr>Présentation PowerPoint</vt:lpstr>
      <vt:lpstr>Data Management</vt:lpstr>
      <vt:lpstr>Pourquoi la donnée est stratégique aujourd’hui ?</vt:lpstr>
      <vt:lpstr>Les langages</vt:lpstr>
      <vt:lpstr>Data Scientist</vt:lpstr>
      <vt:lpstr>But</vt:lpstr>
      <vt:lpstr>Apprentissage non supervisé ou semi-supervisé</vt:lpstr>
      <vt:lpstr>Exemple</vt:lpstr>
      <vt:lpstr>Graphique</vt:lpstr>
      <vt:lpstr>Régression linéaire</vt:lpstr>
      <vt:lpstr>Présentation PowerPoint</vt:lpstr>
      <vt:lpstr>Classification</vt:lpstr>
      <vt:lpstr>Apprentissage</vt:lpstr>
      <vt:lpstr>Les langages et Frameworks</vt:lpstr>
      <vt:lpstr>Les Frameworks ML et DL</vt:lpstr>
      <vt:lpstr>Les enjeux 1/3</vt:lpstr>
      <vt:lpstr>Les nouvelles sources de données</vt:lpstr>
      <vt:lpstr>Les enjeux 2/3</vt:lpstr>
      <vt:lpstr>Les enjeux 3/3</vt:lpstr>
      <vt:lpstr>Les jeux de données</vt:lpstr>
      <vt:lpstr>Dataviz</vt:lpstr>
      <vt:lpstr>Qualité des données : enjeux et indicateurs</vt:lpstr>
      <vt:lpstr>Ensembles d’entraînement, validation et test</vt:lpstr>
      <vt:lpstr>Outils pour la visualisation (Dataviz)</vt:lpstr>
      <vt:lpstr>Cas pratique 1 : Préparation d’un dataset pour l’IA</vt:lpstr>
      <vt:lpstr>Cas pratique 2 : Visualisation et interprétation</vt:lpstr>
      <vt:lpstr>Étude de cas : projet Data Science en entreprise</vt:lpstr>
      <vt:lpstr>Retour d’expérience : erreurs fréquentes</vt:lpstr>
      <vt:lpstr>Gouvernance &amp; conformité (RGPD, sécurité)</vt:lpstr>
      <vt:lpstr>Cycles d'innovations</vt:lpstr>
      <vt:lpstr>Dates d'internet</vt:lpstr>
      <vt:lpstr>Loi de Moore</vt:lpstr>
      <vt:lpstr>Courbe Gartner</vt:lpstr>
      <vt:lpstr>Courbe Kubler Ross</vt:lpstr>
      <vt:lpstr>Evolution des LLM</vt:lpstr>
      <vt:lpstr>Coûts LLM</vt:lpstr>
      <vt:lpstr>ChatGPT</vt:lpstr>
      <vt:lpstr>Coding or not Coding</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247</cp:revision>
  <dcterms:created xsi:type="dcterms:W3CDTF">2000-04-10T19:33:12Z</dcterms:created>
  <dcterms:modified xsi:type="dcterms:W3CDTF">2026-06-22T13:23:25Z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