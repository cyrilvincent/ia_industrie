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0"/>
  </p:notesMasterIdLst>
  <p:handoutMasterIdLst>
    <p:handoutMasterId r:id="rId21"/>
  </p:handoutMasterIdLst>
  <p:sldIdLst>
    <p:sldId id="264" r:id="rId2"/>
    <p:sldId id="378" r:id="rId3"/>
    <p:sldId id="379" r:id="rId4"/>
    <p:sldId id="337" r:id="rId5"/>
    <p:sldId id="338" r:id="rId6"/>
    <p:sldId id="339" r:id="rId7"/>
    <p:sldId id="355" r:id="rId8"/>
    <p:sldId id="356" r:id="rId9"/>
    <p:sldId id="342" r:id="rId10"/>
    <p:sldId id="345" r:id="rId11"/>
    <p:sldId id="375" r:id="rId12"/>
    <p:sldId id="376" r:id="rId13"/>
    <p:sldId id="377" r:id="rId14"/>
    <p:sldId id="346" r:id="rId15"/>
    <p:sldId id="279" r:id="rId16"/>
    <p:sldId id="348" r:id="rId17"/>
    <p:sldId id="349" r:id="rId18"/>
    <p:sldId id="350" r:id="rId1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0ABDEA8-EB22-42D4-B8E2-0C26FFC92FC1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B6F03-2704-4FB7-B539-03DC9F576B43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4550228" cy="7674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634" y="29354"/>
            <a:ext cx="4284966" cy="72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Ecran xx</a:t>
            </a:r>
            <a:br>
              <a:rPr lang="fr-FR" dirty="0"/>
            </a:br>
            <a:r>
              <a:rPr lang="fr-FR" dirty="0"/>
              <a:t>Titre de l’écran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4550229" y="0"/>
            <a:ext cx="4593772" cy="7674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62245"/>
            <a:ext cx="4572000" cy="6578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350" baseline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825"/>
            </a:lvl2pPr>
            <a:lvl3pPr>
              <a:defRPr sz="788"/>
            </a:lvl3pPr>
            <a:lvl4pPr>
              <a:defRPr sz="675"/>
            </a:lvl4pPr>
            <a:lvl5pPr>
              <a:defRPr sz="600"/>
            </a:lvl5pPr>
          </a:lstStyle>
          <a:p>
            <a:pPr lvl="0"/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3720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microsoft.com/office/2007/relationships/hdphoto" Target="../media/hdphoto3.wdp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microsoft.com/office/2007/relationships/hdphoto" Target="../media/hdphoto3.wdp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microsoft.com/office/2007/relationships/hdphoto" Target="../media/hdphoto3.wdp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483768" y="864614"/>
            <a:ext cx="4467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Gestion de projet ML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B0E3DE-7929-40C3-8F88-CAF151B2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9" y="3429000"/>
            <a:ext cx="9142310" cy="2241220"/>
          </a:xfrm>
          <a:prstGeom prst="rect">
            <a:avLst/>
          </a:prstGeom>
        </p:spPr>
      </p:pic>
      <p:sp>
        <p:nvSpPr>
          <p:cNvPr id="2" name="Sous-titre 1">
            <a:extLst>
              <a:ext uri="{FF2B5EF4-FFF2-40B4-BE49-F238E27FC236}">
                <a16:creationId xmlns:a16="http://schemas.microsoft.com/office/drawing/2014/main" id="{6EAD2491-A082-B8C0-3676-3CBD05038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A92B2D-D834-2CD0-EDB0-467AD6EB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Apprentissage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01C1B0-4219-6691-BFE6-92B065559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DATA++</a:t>
            </a:r>
          </a:p>
          <a:p>
            <a:pPr lvl="1"/>
            <a:r>
              <a:rPr lang="fr-FR" dirty="0"/>
              <a:t>Qualité, exhaustivité, quantité</a:t>
            </a:r>
          </a:p>
          <a:p>
            <a:pPr lvl="1"/>
            <a:r>
              <a:rPr lang="fr-FR" dirty="0" err="1"/>
              <a:t>TrainingSet</a:t>
            </a:r>
            <a:r>
              <a:rPr lang="fr-FR" dirty="0"/>
              <a:t>, </a:t>
            </a:r>
            <a:r>
              <a:rPr lang="fr-FR" dirty="0" err="1"/>
              <a:t>ValidationSet</a:t>
            </a:r>
            <a:r>
              <a:rPr lang="fr-FR" dirty="0"/>
              <a:t>, </a:t>
            </a:r>
            <a:r>
              <a:rPr lang="fr-FR" dirty="0" err="1"/>
              <a:t>TestingSet</a:t>
            </a:r>
            <a:r>
              <a:rPr lang="fr-FR" dirty="0"/>
              <a:t> (le + tôt possible)</a:t>
            </a:r>
          </a:p>
          <a:p>
            <a:pPr lvl="1"/>
            <a:r>
              <a:rPr lang="fr-FR" dirty="0"/>
              <a:t>Choix d'un modèle : </a:t>
            </a:r>
            <a:r>
              <a:rPr lang="fr-FR" dirty="0" err="1"/>
              <a:t>kNN</a:t>
            </a:r>
            <a:r>
              <a:rPr lang="fr-FR" dirty="0"/>
              <a:t>, </a:t>
            </a:r>
            <a:r>
              <a:rPr lang="fr-FR" dirty="0" err="1"/>
              <a:t>Randomforest</a:t>
            </a:r>
            <a:r>
              <a:rPr lang="fr-FR" dirty="0"/>
              <a:t>, DNN</a:t>
            </a:r>
          </a:p>
          <a:p>
            <a:pPr lvl="1"/>
            <a:r>
              <a:rPr lang="fr-FR" dirty="0"/>
              <a:t>Apprentissage</a:t>
            </a:r>
          </a:p>
          <a:p>
            <a:pPr lvl="1"/>
            <a:r>
              <a:rPr lang="fr-FR" dirty="0" err="1"/>
              <a:t>Scoring</a:t>
            </a:r>
            <a:endParaRPr lang="fr-FR" dirty="0"/>
          </a:p>
          <a:p>
            <a:pPr lvl="1"/>
            <a:r>
              <a:rPr lang="fr-FR" dirty="0" err="1"/>
              <a:t>Prediction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841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9E97F-9445-9914-22ED-05311E79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Prédictives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24D9B1-6E0A-FF6A-6EF7-2D76B152E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LLM ou Modèle du commerce</a:t>
            </a:r>
          </a:p>
          <a:p>
            <a:pPr lvl="1"/>
            <a:r>
              <a:rPr lang="fr-FR" dirty="0"/>
              <a:t>$</a:t>
            </a:r>
          </a:p>
          <a:p>
            <a:pPr lvl="1"/>
            <a:r>
              <a:rPr lang="fr-FR" dirty="0"/>
              <a:t>RAG ou </a:t>
            </a:r>
            <a:r>
              <a:rPr lang="fr-FR" dirty="0" err="1"/>
              <a:t>FineTuning</a:t>
            </a:r>
            <a:r>
              <a:rPr lang="fr-FR" dirty="0"/>
              <a:t> ($++)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868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la photo de famille !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08153" y="2149189"/>
            <a:ext cx="6293047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Mon responsable DataLab me présente les profils </a:t>
            </a:r>
            <a:b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d’experts qui l’accompagnent dans sa tâche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8806" y="5380010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Steward</a:t>
            </a:r>
          </a:p>
        </p:txBody>
      </p:sp>
      <p:grpSp>
        <p:nvGrpSpPr>
          <p:cNvPr id="12" name="Groupe 11"/>
          <p:cNvGrpSpPr/>
          <p:nvPr/>
        </p:nvGrpSpPr>
        <p:grpSpPr>
          <a:xfrm>
            <a:off x="1430260" y="2871281"/>
            <a:ext cx="3833075" cy="2321499"/>
            <a:chOff x="1290034" y="2954428"/>
            <a:chExt cx="5110766" cy="3095332"/>
          </a:xfrm>
        </p:grpSpPr>
        <p:grpSp>
          <p:nvGrpSpPr>
            <p:cNvPr id="4" name="Groupe 3"/>
            <p:cNvGrpSpPr/>
            <p:nvPr/>
          </p:nvGrpSpPr>
          <p:grpSpPr>
            <a:xfrm>
              <a:off x="1639152" y="2954428"/>
              <a:ext cx="4761648" cy="3095332"/>
              <a:chOff x="1639152" y="2954428"/>
              <a:chExt cx="4761648" cy="3095332"/>
            </a:xfrm>
          </p:grpSpPr>
          <p:pic>
            <p:nvPicPr>
              <p:cNvPr id="37" name="Image 36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1" r="-26120"/>
              <a:stretch/>
            </p:blipFill>
            <p:spPr>
              <a:xfrm>
                <a:off x="1639152" y="2954428"/>
                <a:ext cx="4761648" cy="2922223"/>
              </a:xfrm>
              <a:prstGeom prst="rect">
                <a:avLst/>
              </a:prstGeom>
            </p:spPr>
          </p:pic>
          <p:pic>
            <p:nvPicPr>
              <p:cNvPr id="38" name="Image 37"/>
              <p:cNvPicPr>
                <a:picLocks noChangeAspect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75260"/>
              <a:stretch/>
            </p:blipFill>
            <p:spPr>
              <a:xfrm>
                <a:off x="5413244" y="2959065"/>
                <a:ext cx="781934" cy="3090695"/>
              </a:xfrm>
              <a:prstGeom prst="rect">
                <a:avLst/>
              </a:prstGeom>
            </p:spPr>
          </p:pic>
        </p:grpSp>
        <p:sp>
          <p:nvSpPr>
            <p:cNvPr id="8" name="Rectangle 7"/>
            <p:cNvSpPr/>
            <p:nvPr/>
          </p:nvSpPr>
          <p:spPr>
            <a:xfrm>
              <a:off x="1290034" y="3561999"/>
              <a:ext cx="456623" cy="38869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</p:grpSp>
      <p:cxnSp>
        <p:nvCxnSpPr>
          <p:cNvPr id="14" name="Connecteur droit 13"/>
          <p:cNvCxnSpPr/>
          <p:nvPr/>
        </p:nvCxnSpPr>
        <p:spPr>
          <a:xfrm flipV="1">
            <a:off x="2345631" y="5073185"/>
            <a:ext cx="232515" cy="45565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2141918" y="5527913"/>
            <a:ext cx="20807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Image 45"/>
          <p:cNvPicPr>
            <a:picLocks noChangeAspect="1"/>
          </p:cNvPicPr>
          <p:nvPr/>
        </p:nvPicPr>
        <p:blipFill rotWithShape="1">
          <a:blip r:embed="rId6"/>
          <a:srcRect l="20444"/>
          <a:stretch/>
        </p:blipFill>
        <p:spPr>
          <a:xfrm flipH="1">
            <a:off x="831322" y="3114015"/>
            <a:ext cx="779960" cy="2015299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008657" y="5319823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Scientist</a:t>
            </a:r>
          </a:p>
        </p:txBody>
      </p:sp>
      <p:grpSp>
        <p:nvGrpSpPr>
          <p:cNvPr id="18" name="Groupe 17"/>
          <p:cNvGrpSpPr/>
          <p:nvPr/>
        </p:nvGrpSpPr>
        <p:grpSpPr>
          <a:xfrm flipH="1">
            <a:off x="4746476" y="5238267"/>
            <a:ext cx="326438" cy="240499"/>
            <a:chOff x="6099805" y="6154395"/>
            <a:chExt cx="435250" cy="320665"/>
          </a:xfrm>
        </p:grpSpPr>
        <p:cxnSp>
          <p:nvCxnSpPr>
            <p:cNvPr id="56" name="Connecteur droit 55"/>
            <p:cNvCxnSpPr/>
            <p:nvPr/>
          </p:nvCxnSpPr>
          <p:spPr>
            <a:xfrm flipV="1">
              <a:off x="6371423" y="6154395"/>
              <a:ext cx="163632" cy="320665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/>
          <p:cNvSpPr/>
          <p:nvPr/>
        </p:nvSpPr>
        <p:spPr>
          <a:xfrm>
            <a:off x="2551392" y="5322080"/>
            <a:ext cx="1181690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Responsable DataLab</a:t>
            </a:r>
          </a:p>
        </p:txBody>
      </p:sp>
      <p:grpSp>
        <p:nvGrpSpPr>
          <p:cNvPr id="59" name="Groupe 58"/>
          <p:cNvGrpSpPr/>
          <p:nvPr/>
        </p:nvGrpSpPr>
        <p:grpSpPr>
          <a:xfrm>
            <a:off x="3724011" y="5069473"/>
            <a:ext cx="402524" cy="389603"/>
            <a:chOff x="6099805" y="5955590"/>
            <a:chExt cx="536698" cy="519471"/>
          </a:xfrm>
        </p:grpSpPr>
        <p:cxnSp>
          <p:nvCxnSpPr>
            <p:cNvPr id="60" name="Connecteur droit 59"/>
            <p:cNvCxnSpPr/>
            <p:nvPr/>
          </p:nvCxnSpPr>
          <p:spPr>
            <a:xfrm flipV="1">
              <a:off x="6371423" y="5955590"/>
              <a:ext cx="265080" cy="519471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/>
          <p:cNvSpPr/>
          <p:nvPr/>
        </p:nvSpPr>
        <p:spPr>
          <a:xfrm>
            <a:off x="193933" y="4527566"/>
            <a:ext cx="701387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CDMO</a:t>
            </a:r>
          </a:p>
        </p:txBody>
      </p:sp>
      <p:grpSp>
        <p:nvGrpSpPr>
          <p:cNvPr id="64" name="Groupe 63"/>
          <p:cNvGrpSpPr/>
          <p:nvPr/>
        </p:nvGrpSpPr>
        <p:grpSpPr>
          <a:xfrm>
            <a:off x="901644" y="4567471"/>
            <a:ext cx="290146" cy="106121"/>
            <a:chOff x="6099805" y="6332333"/>
            <a:chExt cx="386861" cy="141494"/>
          </a:xfrm>
        </p:grpSpPr>
        <p:cxnSp>
          <p:nvCxnSpPr>
            <p:cNvPr id="65" name="Connecteur droit 64"/>
            <p:cNvCxnSpPr/>
            <p:nvPr/>
          </p:nvCxnSpPr>
          <p:spPr>
            <a:xfrm flipV="1">
              <a:off x="6373804" y="6332333"/>
              <a:ext cx="112862" cy="14114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e 66"/>
          <p:cNvGrpSpPr/>
          <p:nvPr/>
        </p:nvGrpSpPr>
        <p:grpSpPr>
          <a:xfrm rot="10800000" flipH="1">
            <a:off x="1284844" y="2889520"/>
            <a:ext cx="592853" cy="307361"/>
            <a:chOff x="6099805" y="6065245"/>
            <a:chExt cx="790470" cy="409815"/>
          </a:xfrm>
        </p:grpSpPr>
        <p:cxnSp>
          <p:nvCxnSpPr>
            <p:cNvPr id="68" name="Connecteur droit 67"/>
            <p:cNvCxnSpPr/>
            <p:nvPr/>
          </p:nvCxnSpPr>
          <p:spPr>
            <a:xfrm rot="10800000" flipH="1">
              <a:off x="6371423" y="6065245"/>
              <a:ext cx="518852" cy="409815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68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/>
          <p:cNvSpPr/>
          <p:nvPr/>
        </p:nvSpPr>
        <p:spPr>
          <a:xfrm>
            <a:off x="150850" y="2731757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Engineer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49906" y="2342191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</a:t>
            </a:r>
            <a:b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Analyst</a:t>
            </a:r>
          </a:p>
        </p:txBody>
      </p:sp>
      <p:grpSp>
        <p:nvGrpSpPr>
          <p:cNvPr id="90" name="Groupe 89"/>
          <p:cNvGrpSpPr/>
          <p:nvPr/>
        </p:nvGrpSpPr>
        <p:grpSpPr>
          <a:xfrm flipH="1" flipV="1">
            <a:off x="5457405" y="2607824"/>
            <a:ext cx="301216" cy="329124"/>
            <a:chOff x="6099805" y="6036228"/>
            <a:chExt cx="401621" cy="438832"/>
          </a:xfrm>
        </p:grpSpPr>
        <p:cxnSp>
          <p:nvCxnSpPr>
            <p:cNvPr id="91" name="Connecteur droit 90"/>
            <p:cNvCxnSpPr/>
            <p:nvPr/>
          </p:nvCxnSpPr>
          <p:spPr>
            <a:xfrm flipV="1">
              <a:off x="6371423" y="6036228"/>
              <a:ext cx="130003" cy="438832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e 86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88" name="Groupe 87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98" name="Pentagone 97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99" name="Ellipse 98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00" name="Ellipse 99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01" name="Ellipse 100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02" name="Ellipse 101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103" name="Groupe 102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105" name="Ellipse 104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106" name="Image 105"/>
                <p:cNvPicPr>
                  <a:picLocks noChangeAspect="1"/>
                </p:cNvPicPr>
                <p:nvPr/>
              </p:nvPicPr>
              <p:blipFill>
                <a:blip r:embed="rId7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104" name="Ellipse 103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93" name="Image 92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94" name="Image 93"/>
            <p:cNvPicPr>
              <a:picLocks noChangeAspect="1"/>
            </p:cNvPicPr>
            <p:nvPr/>
          </p:nvPicPr>
          <p:blipFill>
            <a:blip r:embed="rId9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95" name="Image 94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96" name="Image 95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97" name="Image 96"/>
            <p:cNvPicPr>
              <a:picLocks noChangeAspect="1"/>
            </p:cNvPicPr>
            <p:nvPr/>
          </p:nvPicPr>
          <p:blipFill>
            <a:blip r:embed="rId1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0467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 95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9581" y="2884088"/>
            <a:ext cx="4430652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Data Scientist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008657" y="5319823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Scientist</a:t>
            </a:r>
          </a:p>
        </p:txBody>
      </p:sp>
      <p:grpSp>
        <p:nvGrpSpPr>
          <p:cNvPr id="18" name="Groupe 17"/>
          <p:cNvGrpSpPr/>
          <p:nvPr/>
        </p:nvGrpSpPr>
        <p:grpSpPr>
          <a:xfrm flipH="1">
            <a:off x="4746476" y="5238267"/>
            <a:ext cx="326438" cy="240499"/>
            <a:chOff x="6099805" y="6154395"/>
            <a:chExt cx="435250" cy="320665"/>
          </a:xfrm>
        </p:grpSpPr>
        <p:cxnSp>
          <p:nvCxnSpPr>
            <p:cNvPr id="56" name="Connecteur droit 55"/>
            <p:cNvCxnSpPr/>
            <p:nvPr/>
          </p:nvCxnSpPr>
          <p:spPr>
            <a:xfrm flipV="1">
              <a:off x="6371423" y="6154395"/>
              <a:ext cx="163632" cy="320665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3"/>
          <a:srcRect l="82695" r="2288"/>
          <a:stretch/>
        </p:blipFill>
        <p:spPr>
          <a:xfrm>
            <a:off x="4493521" y="2884088"/>
            <a:ext cx="665328" cy="2318205"/>
          </a:xfrm>
          <a:prstGeom prst="rect">
            <a:avLst/>
          </a:prstGeom>
        </p:spPr>
      </p:pic>
      <p:pic>
        <p:nvPicPr>
          <p:cNvPr id="95" name="Image 94"/>
          <p:cNvPicPr>
            <a:picLocks noChangeAspect="1"/>
          </p:cNvPicPr>
          <p:nvPr/>
        </p:nvPicPr>
        <p:blipFill rotWithShape="1">
          <a:blip r:embed="rId3"/>
          <a:srcRect l="79229" t="56069" r="16150"/>
          <a:stretch/>
        </p:blipFill>
        <p:spPr>
          <a:xfrm>
            <a:off x="4339983" y="4183892"/>
            <a:ext cx="204718" cy="1018401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135522" y="4483126"/>
            <a:ext cx="4203511" cy="972842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/>
              <a:t>Le </a:t>
            </a:r>
            <a:r>
              <a:rPr lang="fr-FR" sz="1800" b="1" dirty="0"/>
              <a:t>DATA SCIENTIST </a:t>
            </a:r>
            <a:r>
              <a:rPr lang="fr-FR" sz="1800" dirty="0"/>
              <a:t>met au point les modèles de traitement des données et de production d’indicateurs </a:t>
            </a:r>
            <a:endParaRPr lang="fr-FR" sz="1800" b="1" dirty="0"/>
          </a:p>
        </p:txBody>
      </p:sp>
      <p:grpSp>
        <p:nvGrpSpPr>
          <p:cNvPr id="33" name="Groupe 32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4" name="Groupe 33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40" name="Pentagone 39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5" name="Groupe 44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52" name="Ellipse 51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3" name="Image 52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46" name="Ellipse 45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5" name="Image 34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6" name="Image 35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050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53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053" y="2884088"/>
            <a:ext cx="4430652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Data Steward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98806" y="5380010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Steward</a:t>
            </a:r>
          </a:p>
        </p:txBody>
      </p:sp>
      <p:cxnSp>
        <p:nvCxnSpPr>
          <p:cNvPr id="14" name="Connecteur droit 13"/>
          <p:cNvCxnSpPr/>
          <p:nvPr/>
        </p:nvCxnSpPr>
        <p:spPr>
          <a:xfrm flipV="1">
            <a:off x="2345631" y="5073185"/>
            <a:ext cx="232515" cy="45565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2141918" y="5527913"/>
            <a:ext cx="20807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3"/>
          <a:srcRect l="33945" r="52655"/>
          <a:stretch/>
        </p:blipFill>
        <p:spPr>
          <a:xfrm>
            <a:off x="2354234" y="2884088"/>
            <a:ext cx="593678" cy="2318205"/>
          </a:xfrm>
          <a:prstGeom prst="rect">
            <a:avLst/>
          </a:prstGeom>
        </p:spPr>
      </p:pic>
      <p:sp>
        <p:nvSpPr>
          <p:cNvPr id="53" name="Rectangle à coins arrondis 52"/>
          <p:cNvSpPr/>
          <p:nvPr/>
        </p:nvSpPr>
        <p:spPr>
          <a:xfrm>
            <a:off x="3527164" y="4129135"/>
            <a:ext cx="2822322" cy="1542397"/>
          </a:xfrm>
          <a:prstGeom prst="roundRect">
            <a:avLst>
              <a:gd name="adj" fmla="val 10031"/>
            </a:avLst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Le </a:t>
            </a:r>
            <a:r>
              <a:rPr lang="fr-FR" sz="1400" b="1" dirty="0"/>
              <a:t>DATA STEWARD </a:t>
            </a:r>
            <a:r>
              <a:rPr lang="fr-FR" sz="1400" dirty="0"/>
              <a:t>vous accompagne sur l’organisation et </a:t>
            </a:r>
            <a:br>
              <a:rPr lang="fr-FR" sz="1400" dirty="0"/>
            </a:br>
            <a:r>
              <a:rPr lang="fr-FR" sz="1400" dirty="0"/>
              <a:t>la gestion des données </a:t>
            </a:r>
            <a:br>
              <a:rPr lang="fr-FR" sz="1400" dirty="0"/>
            </a:br>
            <a:r>
              <a:rPr lang="fr-FR" sz="1400" dirty="0"/>
              <a:t>dans le DataLake. Il vous guide pour identifier les données disponibles pour vos besoins.</a:t>
            </a:r>
            <a:endParaRPr lang="fr-FR" sz="1400" b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3" name="Groupe 3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40" name="Pentagone 39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6" name="Groupe 45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55" name="Ellipse 54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6" name="Image 55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52" name="Ellipse 51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5" name="Image 34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599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90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9817" y="2884088"/>
            <a:ext cx="4430652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Data Engineer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140614" y="2731757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Engineer</a:t>
            </a:r>
          </a:p>
        </p:txBody>
      </p:sp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3"/>
          <a:srcRect l="19857" r="65357"/>
          <a:stretch/>
        </p:blipFill>
        <p:spPr>
          <a:xfrm>
            <a:off x="1719614" y="2884088"/>
            <a:ext cx="655092" cy="2318205"/>
          </a:xfrm>
          <a:prstGeom prst="rect">
            <a:avLst/>
          </a:prstGeom>
        </p:spPr>
      </p:pic>
      <p:grpSp>
        <p:nvGrpSpPr>
          <p:cNvPr id="67" name="Groupe 66"/>
          <p:cNvGrpSpPr/>
          <p:nvPr/>
        </p:nvGrpSpPr>
        <p:grpSpPr>
          <a:xfrm rot="10800000" flipH="1">
            <a:off x="1274608" y="2889520"/>
            <a:ext cx="592853" cy="307361"/>
            <a:chOff x="6099805" y="6065245"/>
            <a:chExt cx="790470" cy="409815"/>
          </a:xfrm>
        </p:grpSpPr>
        <p:cxnSp>
          <p:nvCxnSpPr>
            <p:cNvPr id="68" name="Connecteur droit 67"/>
            <p:cNvCxnSpPr/>
            <p:nvPr/>
          </p:nvCxnSpPr>
          <p:spPr>
            <a:xfrm rot="10800000" flipH="1">
              <a:off x="6371423" y="6065245"/>
              <a:ext cx="518852" cy="409815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68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à coins arrondis 52"/>
          <p:cNvSpPr/>
          <p:nvPr/>
        </p:nvSpPr>
        <p:spPr>
          <a:xfrm>
            <a:off x="2794379" y="4231495"/>
            <a:ext cx="3555107" cy="1364942"/>
          </a:xfrm>
          <a:prstGeom prst="roundRect">
            <a:avLst>
              <a:gd name="adj" fmla="val 10031"/>
            </a:avLst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Le </a:t>
            </a:r>
            <a:r>
              <a:rPr lang="fr-FR" sz="1200" b="1" dirty="0"/>
              <a:t>DATA ENGINEER </a:t>
            </a:r>
            <a:r>
              <a:rPr lang="fr-FR" sz="1200" dirty="0"/>
              <a:t>prépare les données </a:t>
            </a:r>
            <a:br>
              <a:rPr lang="fr-FR" sz="1200" dirty="0"/>
            </a:br>
            <a:r>
              <a:rPr lang="fr-FR" sz="1200" dirty="0"/>
              <a:t>pour vos besoins d’analyse ou opérationnels.</a:t>
            </a:r>
            <a:br>
              <a:rPr lang="fr-FR" sz="1200" dirty="0"/>
            </a:br>
            <a:r>
              <a:rPr lang="fr-FR" sz="1200" dirty="0"/>
              <a:t> Il met en place les espaces DataLab et DataSpace ainsi que l’ensemble des traitements associés </a:t>
            </a:r>
            <a:r>
              <a:rPr lang="fr-FR" sz="1200" i="1" dirty="0"/>
              <a:t>(désensibilisation, industrialisation…).</a:t>
            </a:r>
            <a:endParaRPr lang="fr-FR" sz="1200" b="1" i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3" name="Groupe 3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39" name="Pentagone 3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0" name="Ellipse 3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4" name="Groupe 4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46" name="Ellipse 4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2" name="Image 51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45" name="Ellipse 4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5" name="Image 34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6" name="Image 35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587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9817" y="2884088"/>
            <a:ext cx="4430652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Data Engineer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53" name="Rectangle à coins arrondis 52"/>
          <p:cNvSpPr/>
          <p:nvPr/>
        </p:nvSpPr>
        <p:spPr>
          <a:xfrm>
            <a:off x="479092" y="3868059"/>
            <a:ext cx="4072436" cy="1257530"/>
          </a:xfrm>
          <a:prstGeom prst="roundRect">
            <a:avLst>
              <a:gd name="adj" fmla="val 10031"/>
            </a:avLst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Le </a:t>
            </a:r>
            <a:r>
              <a:rPr lang="fr-FR" sz="1600" b="1" dirty="0"/>
              <a:t>DATA ANALYST </a:t>
            </a:r>
            <a:r>
              <a:rPr lang="fr-FR" sz="1600" dirty="0"/>
              <a:t>industrialise </a:t>
            </a:r>
            <a:br>
              <a:rPr lang="fr-FR" sz="1600" dirty="0"/>
            </a:br>
            <a:r>
              <a:rPr lang="fr-FR" sz="1600" dirty="0"/>
              <a:t>des modèles de traitement des données et </a:t>
            </a:r>
            <a:br>
              <a:rPr lang="fr-FR" sz="1600" dirty="0"/>
            </a:br>
            <a:r>
              <a:rPr lang="fr-FR" sz="1600" dirty="0"/>
              <a:t>développe les écrans de restitutions </a:t>
            </a:r>
            <a:br>
              <a:rPr lang="fr-FR" sz="1600" dirty="0"/>
            </a:br>
            <a:r>
              <a:rPr lang="fr-FR" sz="1600" dirty="0"/>
              <a:t>des données et indicateurs.</a:t>
            </a:r>
            <a:endParaRPr lang="fr-FR" sz="1600" b="1" i="1" dirty="0"/>
          </a:p>
        </p:txBody>
      </p:sp>
      <p:sp>
        <p:nvSpPr>
          <p:cNvPr id="32" name="Rectangle 31"/>
          <p:cNvSpPr/>
          <p:nvPr/>
        </p:nvSpPr>
        <p:spPr>
          <a:xfrm>
            <a:off x="4156506" y="2440557"/>
            <a:ext cx="118169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 Analyst</a:t>
            </a:r>
          </a:p>
        </p:txBody>
      </p:sp>
      <p:grpSp>
        <p:nvGrpSpPr>
          <p:cNvPr id="33" name="Groupe 32"/>
          <p:cNvGrpSpPr/>
          <p:nvPr/>
        </p:nvGrpSpPr>
        <p:grpSpPr>
          <a:xfrm flipV="1">
            <a:off x="5212445" y="2589532"/>
            <a:ext cx="301216" cy="329124"/>
            <a:chOff x="6099805" y="6036228"/>
            <a:chExt cx="401621" cy="438832"/>
          </a:xfrm>
        </p:grpSpPr>
        <p:cxnSp>
          <p:nvCxnSpPr>
            <p:cNvPr id="34" name="Connecteur droit 33"/>
            <p:cNvCxnSpPr/>
            <p:nvPr/>
          </p:nvCxnSpPr>
          <p:spPr>
            <a:xfrm flipV="1">
              <a:off x="6371423" y="6036228"/>
              <a:ext cx="130003" cy="438832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e 35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7" name="Groupe 36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43" name="Pentagone 42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54" name="Groupe 5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7" name="Image 56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55" name="Ellipse 5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40" name="Image 39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41" name="Image 40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42" name="Image 41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612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88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053" y="2884088"/>
            <a:ext cx="4430652" cy="2318205"/>
          </a:xfrm>
          <a:prstGeom prst="rect">
            <a:avLst/>
          </a:prstGeom>
        </p:spPr>
      </p:pic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3"/>
          <a:srcRect l="-1169" r="81531"/>
          <a:stretch/>
        </p:blipFill>
        <p:spPr>
          <a:xfrm>
            <a:off x="798389" y="2884088"/>
            <a:ext cx="870045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Chief Data Management </a:t>
            </a:r>
            <a:r>
              <a:rPr lang="fr-FR" sz="1500" dirty="0" err="1">
                <a:latin typeface="+mn-lt"/>
              </a:rPr>
              <a:t>Officer</a:t>
            </a:r>
            <a:r>
              <a:rPr lang="fr-FR" sz="1500" dirty="0">
                <a:latin typeface="+mn-lt"/>
              </a:rPr>
              <a:t> 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91250" y="4527566"/>
            <a:ext cx="704071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CDMO</a:t>
            </a:r>
          </a:p>
        </p:txBody>
      </p:sp>
      <p:grpSp>
        <p:nvGrpSpPr>
          <p:cNvPr id="64" name="Groupe 63"/>
          <p:cNvGrpSpPr/>
          <p:nvPr/>
        </p:nvGrpSpPr>
        <p:grpSpPr>
          <a:xfrm>
            <a:off x="901644" y="4567471"/>
            <a:ext cx="290146" cy="106121"/>
            <a:chOff x="6099805" y="6332333"/>
            <a:chExt cx="386861" cy="141494"/>
          </a:xfrm>
        </p:grpSpPr>
        <p:cxnSp>
          <p:nvCxnSpPr>
            <p:cNvPr id="65" name="Connecteur droit 64"/>
            <p:cNvCxnSpPr/>
            <p:nvPr/>
          </p:nvCxnSpPr>
          <p:spPr>
            <a:xfrm flipV="1">
              <a:off x="6373804" y="6332333"/>
              <a:ext cx="112862" cy="14114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à coins arrondis 87"/>
          <p:cNvSpPr/>
          <p:nvPr/>
        </p:nvSpPr>
        <p:spPr>
          <a:xfrm>
            <a:off x="2078253" y="3412001"/>
            <a:ext cx="4203511" cy="1038022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Le </a:t>
            </a:r>
            <a:r>
              <a:rPr lang="fr-FR" sz="1400" b="1" dirty="0"/>
              <a:t>CHIEF DATA MANAGEMENT OFFICER </a:t>
            </a:r>
            <a:r>
              <a:rPr lang="fr-FR" sz="1400" dirty="0"/>
              <a:t>est responsable de la mise en œuvre et du respect des règles de gestion des données</a:t>
            </a:r>
            <a:r>
              <a:rPr lang="fr-FR" sz="1400" i="1" dirty="0"/>
              <a:t> (sécurité, conformité, réglementaire…)</a:t>
            </a:r>
            <a:r>
              <a:rPr lang="fr-FR" sz="1400" dirty="0"/>
              <a:t>.</a:t>
            </a:r>
            <a:endParaRPr lang="fr-FR" sz="1400" b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3" name="Groupe 3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39" name="Pentagone 3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0" name="Ellipse 3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4" name="Groupe 4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46" name="Ellipse 4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2" name="Image 51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45" name="Ellipse 4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5" name="Image 34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6" name="Image 35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628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Faciliter l’instruction de ma demande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  <a:p>
            <a:endParaRPr lang="fr-FR" sz="105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14313" indent="-214313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Calibri" panose="020F0502020204030204" pitchFamily="34" charset="0"/>
              </a:rPr>
              <a:t>Marc et le bureau reste affiché de l’écran précédent</a:t>
            </a:r>
          </a:p>
          <a:p>
            <a:pPr marL="214313" indent="-214313">
              <a:buFontTx/>
              <a:buChar char="-"/>
            </a:pPr>
            <a:r>
              <a:rPr lang="fr-FR" sz="1050" dirty="0">
                <a:solidFill>
                  <a:schemeClr val="bg1"/>
                </a:solidFill>
                <a:latin typeface="Calibri" panose="020F0502020204030204" pitchFamily="34" charset="0"/>
              </a:rPr>
              <a:t>Affichage du texte </a:t>
            </a:r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6" y="2207416"/>
            <a:ext cx="3103580" cy="3325265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946000" y="2422046"/>
            <a:ext cx="4192970" cy="187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Bien décrire mon besoin est essentiel </a:t>
            </a: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pour permettre une qualification améliorer de celui-ci par les équipes DataLab et </a:t>
            </a: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permettre de valider la pertinence de l’usage de la Plateforme </a:t>
            </a:r>
            <a:r>
              <a:rPr lang="fr-FR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DataLake</a:t>
            </a: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 et du DataLab.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27" name="Groupe 26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35" name="Pentagone 34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36" name="Ellipse 35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37" name="Ellipse 36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38" name="Ellipse 37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39" name="Ellipse 38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0" name="Groupe 39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42" name="Ellipse 41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43" name="Image 42"/>
                <p:cNvPicPr>
                  <a:picLocks noChangeAspect="1"/>
                </p:cNvPicPr>
                <p:nvPr/>
              </p:nvPicPr>
              <p:blipFill>
                <a:blip r:embed="rId3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41" name="Ellipse 40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6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2" name="Image 31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3" name="Image 32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9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  <p:pic>
        <p:nvPicPr>
          <p:cNvPr id="44" name="Imag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2884" y="5223488"/>
            <a:ext cx="1691986" cy="70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1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re 46"/>
          <p:cNvSpPr>
            <a:spLocks noGrp="1"/>
          </p:cNvSpPr>
          <p:nvPr>
            <p:ph type="title"/>
          </p:nvPr>
        </p:nvSpPr>
        <p:spPr>
          <a:xfrm>
            <a:off x="10312" y="116331"/>
            <a:ext cx="4284966" cy="542700"/>
          </a:xfrm>
        </p:spPr>
        <p:txBody>
          <a:bodyPr/>
          <a:lstStyle/>
          <a:p>
            <a:r>
              <a:rPr lang="fr-FR" sz="1500" dirty="0">
                <a:latin typeface="+mn-lt"/>
              </a:rPr>
              <a:t>Bilan et industrialisation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grpSp>
        <p:nvGrpSpPr>
          <p:cNvPr id="72" name="Groupe 7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73" name="Groupe 7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79" name="Pentagone 7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0" name="Ellipse 7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1" name="Ellipse 8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2" name="Ellipse 8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3" name="Ellipse 8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84" name="Groupe 8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86" name="Ellipse 8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87" name="Image 86"/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85" name="Ellipse 8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74" name="Image 73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75" name="Image 74"/>
            <p:cNvPicPr>
              <a:picLocks noChangeAspect="1"/>
            </p:cNvPicPr>
            <p:nvPr/>
          </p:nvPicPr>
          <p:blipFill>
            <a:blip r:embed="rId4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76" name="Image 75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77" name="Image 76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78" name="Image 77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  <p:sp>
        <p:nvSpPr>
          <p:cNvPr id="44" name="Rectangle 43"/>
          <p:cNvSpPr/>
          <p:nvPr/>
        </p:nvSpPr>
        <p:spPr>
          <a:xfrm>
            <a:off x="203281" y="4679339"/>
            <a:ext cx="6121285" cy="1730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Je planifie une rencontre avec mon responsable DataLab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pour faire le bilan </a:t>
            </a:r>
            <a:b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de mon expérimentation et travailler sur la suite de celle-ci.</a:t>
            </a:r>
          </a:p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Je lui indique que </a:t>
            </a:r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je souhaite disposer en production au quotidien des traitements et tableaux de bord mis en œuvre dans le cadre expérimental.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1315139" y="2231135"/>
            <a:ext cx="3593027" cy="2270076"/>
            <a:chOff x="1934734" y="2607598"/>
            <a:chExt cx="4790703" cy="3026768"/>
          </a:xfrm>
        </p:grpSpPr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81745" y="2695839"/>
              <a:ext cx="1243692" cy="2938527"/>
            </a:xfrm>
            <a:prstGeom prst="rect">
              <a:avLst/>
            </a:prstGeom>
          </p:spPr>
        </p:pic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4734" y="2607598"/>
              <a:ext cx="1697904" cy="2940771"/>
            </a:xfrm>
            <a:prstGeom prst="rect">
              <a:avLst/>
            </a:prstGeom>
          </p:spPr>
        </p:pic>
      </p:grpSp>
      <p:pic>
        <p:nvPicPr>
          <p:cNvPr id="29" name="Imag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8199" y="5218465"/>
            <a:ext cx="1691986" cy="69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9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re 46"/>
          <p:cNvSpPr>
            <a:spLocks noGrp="1"/>
          </p:cNvSpPr>
          <p:nvPr>
            <p:ph type="title"/>
          </p:nvPr>
        </p:nvSpPr>
        <p:spPr>
          <a:xfrm>
            <a:off x="156815" y="130809"/>
            <a:ext cx="4284966" cy="542700"/>
          </a:xfrm>
        </p:spPr>
        <p:txBody>
          <a:bodyPr/>
          <a:lstStyle/>
          <a:p>
            <a:r>
              <a:rPr lang="fr-FR" sz="1500" dirty="0">
                <a:latin typeface="+mn-lt"/>
              </a:rPr>
              <a:t>La demande d’industrialisation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grpSp>
        <p:nvGrpSpPr>
          <p:cNvPr id="72" name="Groupe 7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73" name="Groupe 7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79" name="Pentagone 7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0" name="Ellipse 7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1" name="Ellipse 8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2" name="Ellipse 8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3" name="Ellipse 8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84" name="Groupe 8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86" name="Ellipse 8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87" name="Image 86"/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85" name="Ellipse 8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74" name="Image 73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75" name="Image 74"/>
            <p:cNvPicPr>
              <a:picLocks noChangeAspect="1"/>
            </p:cNvPicPr>
            <p:nvPr/>
          </p:nvPicPr>
          <p:blipFill>
            <a:blip r:embed="rId4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76" name="Image 75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77" name="Image 76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78" name="Image 77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  <p:sp>
        <p:nvSpPr>
          <p:cNvPr id="44" name="Rectangle 43"/>
          <p:cNvSpPr/>
          <p:nvPr/>
        </p:nvSpPr>
        <p:spPr>
          <a:xfrm>
            <a:off x="203281" y="4607151"/>
            <a:ext cx="6121285" cy="1467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Mon responsable DataLab m’indique que nous allons faire une demande pour industrialiser les livrables de mon expérimentation.</a:t>
            </a:r>
          </a:p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Ces travaux d’industrialisation vont permettre de rendre </a:t>
            </a:r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robustes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 et </a:t>
            </a:r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sécurisés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 les traitements conçus et de </a:t>
            </a:r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permettre l’automatisation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de leur exécution sur des </a:t>
            </a:r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données rafraichies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1315139" y="2231135"/>
            <a:ext cx="3593027" cy="2270076"/>
            <a:chOff x="1934734" y="2607598"/>
            <a:chExt cx="4790703" cy="3026768"/>
          </a:xfrm>
        </p:grpSpPr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81745" y="2695839"/>
              <a:ext cx="1243692" cy="2938527"/>
            </a:xfrm>
            <a:prstGeom prst="rect">
              <a:avLst/>
            </a:prstGeom>
          </p:spPr>
        </p:pic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4734" y="2607598"/>
              <a:ext cx="1697904" cy="2940771"/>
            </a:xfrm>
            <a:prstGeom prst="rect">
              <a:avLst/>
            </a:prstGeom>
          </p:spPr>
        </p:pic>
      </p:grpSp>
      <p:pic>
        <p:nvPicPr>
          <p:cNvPr id="29" name="Imag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8199" y="5218465"/>
            <a:ext cx="1691986" cy="69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0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re 46"/>
          <p:cNvSpPr>
            <a:spLocks noGrp="1"/>
          </p:cNvSpPr>
          <p:nvPr>
            <p:ph type="title"/>
          </p:nvPr>
        </p:nvSpPr>
        <p:spPr>
          <a:xfrm>
            <a:off x="67759" y="138778"/>
            <a:ext cx="4284966" cy="542700"/>
          </a:xfrm>
        </p:spPr>
        <p:txBody>
          <a:bodyPr/>
          <a:lstStyle/>
          <a:p>
            <a:r>
              <a:rPr lang="fr-FR" sz="1500" dirty="0">
                <a:latin typeface="+mn-lt"/>
              </a:rPr>
              <a:t>Passage par la Data Factory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grpSp>
        <p:nvGrpSpPr>
          <p:cNvPr id="72" name="Groupe 7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73" name="Groupe 7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79" name="Pentagone 7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0" name="Ellipse 7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1" name="Ellipse 8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2" name="Ellipse 8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83" name="Ellipse 8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84" name="Groupe 8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86" name="Ellipse 8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87" name="Image 86"/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85" name="Ellipse 8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74" name="Image 73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75" name="Image 74"/>
            <p:cNvPicPr>
              <a:picLocks noChangeAspect="1"/>
            </p:cNvPicPr>
            <p:nvPr/>
          </p:nvPicPr>
          <p:blipFill>
            <a:blip r:embed="rId4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76" name="Image 75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77" name="Image 76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78" name="Image 77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  <p:sp>
        <p:nvSpPr>
          <p:cNvPr id="44" name="Rectangle 43"/>
          <p:cNvSpPr/>
          <p:nvPr/>
        </p:nvSpPr>
        <p:spPr>
          <a:xfrm>
            <a:off x="-102784" y="4607150"/>
            <a:ext cx="6733413" cy="1782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Il m’indique que </a:t>
            </a: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c’est la Data Factory qui va prendre en charge ces travaux </a:t>
            </a:r>
            <a:b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d’industrialisation et mettre en conformité mon travail avec les exigences de production.</a:t>
            </a:r>
          </a:p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Ce chantier vise à intégrer complétement mon travail à la chaîne opérationnelle du SI.</a:t>
            </a:r>
            <a:b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Il me précise que cela peut donc</a:t>
            </a: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 nécessiter un délai plus long que l’expérimentation.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1315139" y="2231135"/>
            <a:ext cx="3593027" cy="2270076"/>
            <a:chOff x="1934734" y="2607598"/>
            <a:chExt cx="4790703" cy="3026768"/>
          </a:xfrm>
        </p:grpSpPr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81745" y="2695839"/>
              <a:ext cx="1243692" cy="2938527"/>
            </a:xfrm>
            <a:prstGeom prst="rect">
              <a:avLst/>
            </a:prstGeom>
          </p:spPr>
        </p:pic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4734" y="2607598"/>
              <a:ext cx="1697904" cy="2940771"/>
            </a:xfrm>
            <a:prstGeom prst="rect">
              <a:avLst/>
            </a:prstGeom>
          </p:spPr>
        </p:pic>
      </p:grpSp>
      <p:pic>
        <p:nvPicPr>
          <p:cNvPr id="29" name="Imag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8199" y="5218465"/>
            <a:ext cx="1691986" cy="69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05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D7E48-4372-254C-18E1-9FE8ECF4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MLOps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E56BCD-5891-7793-EDDA-58281F532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 dirty="0" err="1"/>
              <a:t>Operational</a:t>
            </a:r>
            <a:endParaRPr lang="fr-FR" dirty="0"/>
          </a:p>
          <a:p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 err="1"/>
              <a:t>MLOps</a:t>
            </a:r>
            <a:r>
              <a:rPr lang="fr-FR" dirty="0"/>
              <a:t> est un ensemble de pratiques qui vise à déployer et maintenir des modèles de Machine Learning en production de manière fiable et efficace</a:t>
            </a:r>
          </a:p>
          <a:p>
            <a:pPr lvl="1"/>
            <a:r>
              <a:rPr lang="fr-FR" dirty="0"/>
              <a:t>Ce terme est composé de Machine Learning et de la pratique de développement continu de </a:t>
            </a:r>
            <a:r>
              <a:rPr lang="fr-FR" dirty="0" err="1"/>
              <a:t>devops</a:t>
            </a:r>
            <a:r>
              <a:rPr lang="fr-FR" dirty="0"/>
              <a:t> dans le domaine des logiciels</a:t>
            </a:r>
          </a:p>
        </p:txBody>
      </p:sp>
    </p:spTree>
    <p:extLst>
      <p:ext uri="{BB962C8B-B14F-4D97-AF65-F5344CB8AC3E}">
        <p14:creationId xmlns:p14="http://schemas.microsoft.com/office/powerpoint/2010/main" val="1353044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34886B57-CFA4-B182-0DD9-92B983D5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54" y="764704"/>
            <a:ext cx="7978291" cy="573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559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ADE81-96B1-1054-A0E8-BDF6D81D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DE6DE-1C41-6938-2F22-19D9EE7EA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phase d’apprentissage consiste à estimer un modèle à partir de données, appelées observations, qui sont disponibles et en nombre fini, lors de la phase de conception du système</a:t>
            </a:r>
          </a:p>
          <a:p>
            <a:r>
              <a:rPr lang="fr-FR" dirty="0"/>
              <a:t>Cette phase est généralement réalisée préalablement à l'utilisation pratique du modèle</a:t>
            </a:r>
          </a:p>
        </p:txBody>
      </p:sp>
    </p:spTree>
    <p:extLst>
      <p:ext uri="{BB962C8B-B14F-4D97-AF65-F5344CB8AC3E}">
        <p14:creationId xmlns:p14="http://schemas.microsoft.com/office/powerpoint/2010/main" val="19938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E8E8F-5715-5783-5BFC-E0889C24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BAE4E8-C46C-1612-D06A-AA82B8DE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seconde phase à la prédiction</a:t>
            </a:r>
          </a:p>
          <a:p>
            <a:r>
              <a:rPr lang="fr-FR" dirty="0"/>
              <a:t>Le modèle étant déterminé, de nouvelles données peuvent alors être soumises afin d'obtenir le résultat correspondant à la tâche souhaitée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4754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E8E8F-5715-5783-5BFC-E0889C24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BAE4E8-C46C-1612-D06A-AA82B8DE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3</a:t>
            </a:r>
            <a:r>
              <a:rPr lang="fr-FR" baseline="30000" dirty="0"/>
              <a:t>ème</a:t>
            </a:r>
            <a:r>
              <a:rPr lang="fr-FR" dirty="0"/>
              <a:t> phase correspond à la mise en production</a:t>
            </a:r>
          </a:p>
          <a:p>
            <a:r>
              <a:rPr lang="fr-FR" dirty="0"/>
              <a:t>Le modèle figé, de nouvelles données peuvent alors être soumises afin d'obtenir le résultat correspondant à la tâche souhaitée dans un environnement de production</a:t>
            </a:r>
          </a:p>
          <a:p>
            <a:pPr lvl="1"/>
            <a:r>
              <a:rPr lang="fr-FR" dirty="0"/>
              <a:t>En pratique, certains systèmes peuvent poursuivre leur apprentissage une fois en production, pour peu qu'ils aient un moyen d'obtenir un retour sur la qualité des résultats produits.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278454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3393</TotalTime>
  <Words>807</Words>
  <Application>Microsoft Office PowerPoint</Application>
  <PresentationFormat>Affichage à l'écran (4:3)</PresentationFormat>
  <Paragraphs>75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Yu Gothic Light</vt:lpstr>
      <vt:lpstr>Arial</vt:lpstr>
      <vt:lpstr>Calibri</vt:lpstr>
      <vt:lpstr>Monotype Sorts</vt:lpstr>
      <vt:lpstr>Times New Roman</vt:lpstr>
      <vt:lpstr>cvc</vt:lpstr>
      <vt:lpstr>Présentation PowerPoint</vt:lpstr>
      <vt:lpstr>IA Apprentissage</vt:lpstr>
      <vt:lpstr>IA Prédictives</vt:lpstr>
      <vt:lpstr>L’équipe DataLab – la photo de famille ! </vt:lpstr>
      <vt:lpstr>L’équipe DataLab – le Data Scientist </vt:lpstr>
      <vt:lpstr>L’équipe DataLab – le Data Steward </vt:lpstr>
      <vt:lpstr>L’équipe DataLab – le Data Engineer </vt:lpstr>
      <vt:lpstr>L’équipe DataLab – le Data Engineer </vt:lpstr>
      <vt:lpstr>L’équipe DataLab – le Chief Data Management Officer  </vt:lpstr>
      <vt:lpstr>Faciliter l’instruction de ma demande</vt:lpstr>
      <vt:lpstr>Bilan et industrialisation</vt:lpstr>
      <vt:lpstr>La demande d’industrialisation</vt:lpstr>
      <vt:lpstr>Passage par la Data Factory</vt:lpstr>
      <vt:lpstr>MLOps</vt:lpstr>
      <vt:lpstr>Présentation PowerPoint</vt:lpstr>
      <vt:lpstr>Apprentissage</vt:lpstr>
      <vt:lpstr>Prédiction</vt:lpstr>
      <vt:lpstr>Production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244</cp:revision>
  <dcterms:created xsi:type="dcterms:W3CDTF">2000-04-10T19:33:12Z</dcterms:created>
  <dcterms:modified xsi:type="dcterms:W3CDTF">2025-12-16T13:21:23Z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