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1"/>
  </p:notesMasterIdLst>
  <p:handoutMasterIdLst>
    <p:handoutMasterId r:id="rId22"/>
  </p:handoutMasterIdLst>
  <p:sldIdLst>
    <p:sldId id="264" r:id="rId2"/>
    <p:sldId id="342" r:id="rId3"/>
    <p:sldId id="343" r:id="rId4"/>
    <p:sldId id="344" r:id="rId5"/>
    <p:sldId id="345" r:id="rId6"/>
    <p:sldId id="347" r:id="rId7"/>
    <p:sldId id="348" r:id="rId8"/>
    <p:sldId id="358" r:id="rId9"/>
    <p:sldId id="349" r:id="rId10"/>
    <p:sldId id="350" r:id="rId11"/>
    <p:sldId id="346" r:id="rId12"/>
    <p:sldId id="352" r:id="rId13"/>
    <p:sldId id="354" r:id="rId14"/>
    <p:sldId id="353" r:id="rId15"/>
    <p:sldId id="356" r:id="rId16"/>
    <p:sldId id="324" r:id="rId17"/>
    <p:sldId id="325" r:id="rId18"/>
    <p:sldId id="326" r:id="rId19"/>
    <p:sldId id="359" r:id="rId20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1956" y="-1386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0ABDEA8-EB22-42D4-B8E2-0C26FFC92FC1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3B6F03-2704-4FB7-B539-03DC9F576B43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0" y="0"/>
            <a:ext cx="4550228" cy="7674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3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4634" y="29354"/>
            <a:ext cx="4284966" cy="72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>
              <a:defRPr sz="1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fr-FR" dirty="0"/>
              <a:t>Ecran xx</a:t>
            </a:r>
            <a:br>
              <a:rPr lang="fr-FR" dirty="0"/>
            </a:br>
            <a:r>
              <a:rPr lang="fr-FR" dirty="0"/>
              <a:t>Titre de l’écran</a:t>
            </a:r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4550229" y="0"/>
            <a:ext cx="4593772" cy="7674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3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0" y="62245"/>
            <a:ext cx="4572000" cy="65781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350" baseline="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825"/>
            </a:lvl2pPr>
            <a:lvl3pPr>
              <a:defRPr sz="788"/>
            </a:lvl3pPr>
            <a:lvl4pPr>
              <a:defRPr sz="675"/>
            </a:lvl4pPr>
            <a:lvl5pPr>
              <a:defRPr sz="600"/>
            </a:lvl5pPr>
          </a:lstStyle>
          <a:p>
            <a:pPr lvl="0"/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480488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MDM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11" Type="http://schemas.microsoft.com/office/2007/relationships/hdphoto" Target="../media/hdphoto1.wdp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2</a:t>
            </a:r>
          </a:p>
          <a:p>
            <a:pPr eaLnBrk="1" hangingPunct="1"/>
            <a:r>
              <a:rPr lang="fr-FR" altLang="fr-FR" dirty="0"/>
              <a:t>Data Management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699792" y="2060848"/>
            <a:ext cx="398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C3D03-4819-3428-B519-FBF5F96A6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Data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B6AC47-C50C-26CE-2EA2-BC10765FF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définitions classiques des données mettent l'accent sur leur rôle dans la représentation des faits concernant le monde</a:t>
            </a:r>
          </a:p>
          <a:p>
            <a:r>
              <a:rPr lang="fr-FR" dirty="0"/>
              <a:t>En lien avec les technologies de l'information, les données sont également comprises comme des informations stockées sous forme numérique</a:t>
            </a:r>
          </a:p>
        </p:txBody>
      </p:sp>
    </p:spTree>
    <p:extLst>
      <p:ext uri="{BB962C8B-B14F-4D97-AF65-F5344CB8AC3E}">
        <p14:creationId xmlns:p14="http://schemas.microsoft.com/office/powerpoint/2010/main" val="1383352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139B80-99B7-1789-A197-6C500B00B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2814F9-3F32-30D9-C3AB-5CD22E072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données en tant qu'actif organisationnel</a:t>
            </a:r>
          </a:p>
          <a:p>
            <a:r>
              <a:rPr lang="fr-FR" dirty="0"/>
              <a:t>Les données représentent un actif (asset) de la société</a:t>
            </a:r>
          </a:p>
          <a:p>
            <a:pPr lvl="1"/>
            <a:r>
              <a:rPr lang="fr-FR" dirty="0"/>
              <a:t>Essor de l'IA</a:t>
            </a:r>
          </a:p>
        </p:txBody>
      </p:sp>
    </p:spTree>
    <p:extLst>
      <p:ext uri="{BB962C8B-B14F-4D97-AF65-F5344CB8AC3E}">
        <p14:creationId xmlns:p14="http://schemas.microsoft.com/office/powerpoint/2010/main" val="2573031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D3F0F2-0338-3B32-44A8-E4952B65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755F80-BAB7-3F50-E7A1-40C2AB89D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donnée est un actif avec des propriétés uniques</a:t>
            </a:r>
          </a:p>
          <a:p>
            <a:pPr lvl="1"/>
            <a:r>
              <a:rPr lang="fr-FR" dirty="0"/>
              <a:t>Contrairement aux autres actifs, la data n'est pas consommée quand elle est utilisée</a:t>
            </a:r>
          </a:p>
          <a:p>
            <a:r>
              <a:rPr lang="fr-FR" dirty="0"/>
              <a:t>La donnée a une valeur</a:t>
            </a:r>
          </a:p>
          <a:p>
            <a:pPr lvl="1"/>
            <a:r>
              <a:rPr lang="fr-FR" dirty="0"/>
              <a:t>Qui doit être exprimée</a:t>
            </a:r>
          </a:p>
          <a:p>
            <a:r>
              <a:rPr lang="fr-FR" dirty="0"/>
              <a:t>Data management = </a:t>
            </a:r>
            <a:r>
              <a:rPr lang="fr-FR" dirty="0" err="1"/>
              <a:t>quality</a:t>
            </a:r>
            <a:r>
              <a:rPr lang="fr-FR" dirty="0"/>
              <a:t> management</a:t>
            </a:r>
          </a:p>
          <a:p>
            <a:pPr lvl="1"/>
            <a:r>
              <a:rPr lang="fr-FR" dirty="0"/>
              <a:t>Gérer la donnée c'est géré sa qualité</a:t>
            </a:r>
          </a:p>
          <a:p>
            <a:r>
              <a:rPr lang="fr-FR" dirty="0"/>
              <a:t>Il faut des métadonnées pour gérer les données</a:t>
            </a:r>
          </a:p>
          <a:p>
            <a:pPr lvl="1"/>
            <a:r>
              <a:rPr lang="fr-FR" dirty="0"/>
              <a:t>Tout actif a des données (nombre d'employé, CA, …)</a:t>
            </a:r>
          </a:p>
          <a:p>
            <a:pPr lvl="1"/>
            <a:r>
              <a:rPr lang="fr-FR" dirty="0"/>
              <a:t>Les données des données = </a:t>
            </a:r>
            <a:r>
              <a:rPr lang="fr-FR" dirty="0" err="1"/>
              <a:t>metadata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88732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9F48BC-1C9B-077D-04EA-9864583D7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2D9CC5-FAE0-9D48-218F-383954341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Planification</a:t>
            </a:r>
          </a:p>
          <a:p>
            <a:pPr lvl="1"/>
            <a:r>
              <a:rPr lang="fr-FR" dirty="0"/>
              <a:t>La gestion des données nécessite une planification</a:t>
            </a:r>
          </a:p>
          <a:p>
            <a:r>
              <a:rPr lang="fr-FR" dirty="0"/>
              <a:t>La gestion des données est transversale</a:t>
            </a:r>
          </a:p>
          <a:p>
            <a:pPr lvl="1"/>
            <a:r>
              <a:rPr lang="fr-FR" dirty="0"/>
              <a:t>Elle requiert un large éventail de compétences et d'expertises</a:t>
            </a:r>
          </a:p>
          <a:p>
            <a:r>
              <a:rPr lang="fr-FR" dirty="0"/>
              <a:t>Nécessite une perspective d'entreprise</a:t>
            </a:r>
          </a:p>
          <a:p>
            <a:pPr lvl="1"/>
            <a:r>
              <a:rPr lang="fr-FR" dirty="0"/>
              <a:t>Cycle de vie</a:t>
            </a:r>
          </a:p>
          <a:p>
            <a:pPr lvl="1"/>
            <a:r>
              <a:rPr lang="fr-FR" dirty="0"/>
              <a:t>Gestion du risque</a:t>
            </a:r>
          </a:p>
          <a:p>
            <a:pPr lvl="1"/>
            <a:r>
              <a:rPr lang="fr-FR" dirty="0"/>
              <a:t>Décisions techniques</a:t>
            </a:r>
          </a:p>
          <a:p>
            <a:pPr lvl="1"/>
            <a:r>
              <a:rPr lang="fr-FR" dirty="0"/>
              <a:t>Gouvernance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0554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F307D3-EB18-05D6-B49F-21BBA6A3F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BD3E84-F37E-E578-61D7-1D6762243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5BE99C2D-0573-68FA-70DA-C4CB03615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919" y="0"/>
            <a:ext cx="46521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207ED9-7C47-1600-C821-A96996D01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Cycle de vie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C752A0-1221-5E63-6F8A-D8D335FE6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donnée a un cycle de vie qui peut être complexe</a:t>
            </a:r>
          </a:p>
        </p:txBody>
      </p:sp>
      <p:pic>
        <p:nvPicPr>
          <p:cNvPr id="5" name="Image 4" descr="Une image contenant texte, cercl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33B1D7EE-C540-66B6-4909-0D7060161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534" y="1847778"/>
            <a:ext cx="4344006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082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6BAF54-86CC-87DD-76BA-BF00E9B79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Cycle de </a:t>
            </a:r>
            <a:r>
              <a:rPr lang="fr-FR"/>
              <a:t>vie détaillé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EEEE10-5455-E415-7334-370E6698E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Data Life Cycle">
            <a:extLst>
              <a:ext uri="{FF2B5EF4-FFF2-40B4-BE49-F238E27FC236}">
                <a16:creationId xmlns:a16="http://schemas.microsoft.com/office/drawing/2014/main" id="{E2796AE9-8780-6E55-8E4E-147C31E14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908720"/>
            <a:ext cx="5733256" cy="573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1692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836691-1484-E1AE-EFD8-2AD895616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Création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A0B18E-8919-E9F9-2ED2-E59BFCB69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création est une des étapes la plus critique du cycle de vie des données</a:t>
            </a:r>
          </a:p>
          <a:p>
            <a:r>
              <a:rPr lang="fr-FR" dirty="0"/>
              <a:t>La gestion des données doit être menée en comprenant comment elles sont produites ou obtenues</a:t>
            </a:r>
          </a:p>
          <a:p>
            <a:r>
              <a:rPr lang="fr-FR" dirty="0"/>
              <a:t>Produire des données a un coût</a:t>
            </a:r>
          </a:p>
        </p:txBody>
      </p:sp>
    </p:spTree>
    <p:extLst>
      <p:ext uri="{BB962C8B-B14F-4D97-AF65-F5344CB8AC3E}">
        <p14:creationId xmlns:p14="http://schemas.microsoft.com/office/powerpoint/2010/main" val="2789016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282C2B-4DF8-7E20-595E-5F96A18C7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1759E4-33C4-D5F7-D3C8-190A2843B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L'utilisation est également une des étapes la plus critique du cycle de vie des données</a:t>
            </a:r>
          </a:p>
          <a:p>
            <a:r>
              <a:rPr lang="fr-FR" dirty="0"/>
              <a:t>La gestion des données doit être menée en comprenant comment elles sont utilisées</a:t>
            </a:r>
          </a:p>
          <a:p>
            <a:r>
              <a:rPr lang="fr-FR" dirty="0"/>
              <a:t>Les données n'ont de valeur que lorsqu'elles sont utilisées ou mises en application</a:t>
            </a:r>
          </a:p>
          <a:p>
            <a:r>
              <a:rPr lang="fr-FR" dirty="0"/>
              <a:t>La gestion de la qualité des données doit être gérée dans tous le cycle de vie</a:t>
            </a:r>
          </a:p>
          <a:p>
            <a:pPr lvl="1"/>
            <a:r>
              <a:rPr lang="fr-FR" dirty="0"/>
              <a:t>Ainsi que leur </a:t>
            </a:r>
            <a:r>
              <a:rPr lang="fr-FR" dirty="0" err="1"/>
              <a:t>metadata</a:t>
            </a:r>
            <a:endParaRPr lang="fr-FR" dirty="0"/>
          </a:p>
          <a:p>
            <a:pPr lvl="1"/>
            <a:r>
              <a:rPr lang="fr-FR" dirty="0"/>
              <a:t>Leur sécurité</a:t>
            </a:r>
          </a:p>
        </p:txBody>
      </p:sp>
    </p:spTree>
    <p:extLst>
      <p:ext uri="{BB962C8B-B14F-4D97-AF65-F5344CB8AC3E}">
        <p14:creationId xmlns:p14="http://schemas.microsoft.com/office/powerpoint/2010/main" val="2637399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76B2F7-4411-F28A-7918-9683A7AE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valeur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FC2983-6516-6404-4AAA-4E8F7E61A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Contrairement aux autres actifs il est parfois difficile de connaitre la valeur d'une donnée</a:t>
            </a:r>
          </a:p>
          <a:p>
            <a:r>
              <a:rPr lang="fr-FR" dirty="0"/>
              <a:t>Comment connaitre son coût ?</a:t>
            </a:r>
          </a:p>
          <a:p>
            <a:pPr lvl="1"/>
            <a:r>
              <a:rPr lang="fr-FR" dirty="0"/>
              <a:t>Acquisition</a:t>
            </a:r>
          </a:p>
          <a:p>
            <a:pPr lvl="1"/>
            <a:r>
              <a:rPr lang="fr-FR" dirty="0"/>
              <a:t>Stockage</a:t>
            </a:r>
          </a:p>
          <a:p>
            <a:pPr lvl="1"/>
            <a:r>
              <a:rPr lang="fr-FR" dirty="0"/>
              <a:t>Coût de remplacement en cas de perte</a:t>
            </a:r>
          </a:p>
          <a:p>
            <a:pPr lvl="1"/>
            <a:r>
              <a:rPr lang="fr-FR" dirty="0"/>
              <a:t>Impact en cas de perte</a:t>
            </a:r>
          </a:p>
          <a:p>
            <a:pPr lvl="1"/>
            <a:r>
              <a:rPr lang="fr-FR" dirty="0"/>
              <a:t>Qui peut payer pour la data ?</a:t>
            </a:r>
          </a:p>
          <a:p>
            <a:pPr lvl="1"/>
            <a:r>
              <a:rPr lang="fr-FR" dirty="0"/>
              <a:t>Quel est ma perte si la data fuite ?</a:t>
            </a:r>
          </a:p>
          <a:p>
            <a:pPr lvl="1"/>
            <a:r>
              <a:rPr lang="fr-FR" dirty="0"/>
              <a:t>…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6421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C85E5-0ECF-F8D4-B2ED-D1D6AC0E9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Stratégie Data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9C55B2-B86B-0CB6-3870-DAFAADDBC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stratégie de données doit inclure des plans d'affaires visant à exploiter l'information pour obtenir un avantage concurrentiel et soutenir les objectifs de l'entreprise</a:t>
            </a:r>
          </a:p>
          <a:p>
            <a:r>
              <a:rPr lang="fr-FR" dirty="0"/>
              <a:t>Cette stratégie doit découler d'une compréhension des besoins en données</a:t>
            </a:r>
          </a:p>
          <a:p>
            <a:pPr lvl="1"/>
            <a:r>
              <a:rPr lang="fr-FR" dirty="0"/>
              <a:t>quelles données l'organisation a-t-elle besoin</a:t>
            </a:r>
          </a:p>
          <a:p>
            <a:pPr lvl="1"/>
            <a:r>
              <a:rPr lang="fr-FR" dirty="0"/>
              <a:t>comment les obtiendra-t-elle</a:t>
            </a:r>
          </a:p>
          <a:p>
            <a:pPr lvl="1"/>
            <a:r>
              <a:rPr lang="fr-FR" dirty="0"/>
              <a:t>comment les gérera-t-elle et garantira-t-elle leur fiabilité dans le temps</a:t>
            </a:r>
          </a:p>
          <a:p>
            <a:pPr lvl="1"/>
            <a:r>
              <a:rPr lang="fr-FR" dirty="0"/>
              <a:t>comment les utilisera-t-elle ?</a:t>
            </a:r>
          </a:p>
        </p:txBody>
      </p:sp>
    </p:spTree>
    <p:extLst>
      <p:ext uri="{BB962C8B-B14F-4D97-AF65-F5344CB8AC3E}">
        <p14:creationId xmlns:p14="http://schemas.microsoft.com/office/powerpoint/2010/main" val="450165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Image 88"/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53903" y="2929768"/>
            <a:ext cx="937196" cy="1989877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0053" y="2884088"/>
            <a:ext cx="4430652" cy="2318205"/>
          </a:xfrm>
          <a:prstGeom prst="rect">
            <a:avLst/>
          </a:prstGeom>
        </p:spPr>
      </p:pic>
      <p:pic>
        <p:nvPicPr>
          <p:cNvPr id="93" name="Image 92"/>
          <p:cNvPicPr>
            <a:picLocks noChangeAspect="1"/>
          </p:cNvPicPr>
          <p:nvPr/>
        </p:nvPicPr>
        <p:blipFill rotWithShape="1">
          <a:blip r:embed="rId3"/>
          <a:srcRect l="-1169" r="81531"/>
          <a:stretch/>
        </p:blipFill>
        <p:spPr>
          <a:xfrm>
            <a:off x="798389" y="2884088"/>
            <a:ext cx="870045" cy="2318205"/>
          </a:xfrm>
          <a:prstGeom prst="rect">
            <a:avLst/>
          </a:prstGeom>
        </p:spPr>
      </p:pic>
      <p:sp>
        <p:nvSpPr>
          <p:cNvPr id="47" name="Titre 4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500" dirty="0">
                <a:latin typeface="+mn-lt"/>
              </a:rPr>
              <a:t>L’équipe DataLab – le Chief Data </a:t>
            </a:r>
            <a:r>
              <a:rPr lang="fr-FR" sz="1500" dirty="0" err="1">
                <a:latin typeface="+mn-lt"/>
              </a:rPr>
              <a:t>Officer</a:t>
            </a:r>
            <a:r>
              <a:rPr lang="fr-FR" sz="1500" dirty="0">
                <a:latin typeface="+mn-lt"/>
              </a:rPr>
              <a:t>  </a:t>
            </a:r>
          </a:p>
        </p:txBody>
      </p:sp>
      <p:sp>
        <p:nvSpPr>
          <p:cNvPr id="48" name="Espace réservé du texte 4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50" name="Espace réservé du texte 11"/>
          <p:cNvSpPr txBox="1">
            <a:spLocks/>
          </p:cNvSpPr>
          <p:nvPr/>
        </p:nvSpPr>
        <p:spPr>
          <a:xfrm>
            <a:off x="6593482" y="1953938"/>
            <a:ext cx="2455916" cy="3888969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5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indent="-214313" algn="l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6553404" y="1460730"/>
            <a:ext cx="24959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Notes pour la mise en œuvre (explication animation, images, effets…) :</a:t>
            </a:r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934" y="5223488"/>
            <a:ext cx="1689112" cy="698341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-108520" y="4527566"/>
            <a:ext cx="1003841" cy="367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600"/>
              </a:spcAft>
            </a:pPr>
            <a:r>
              <a:rPr lang="fr-FR" sz="1800" b="1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CDO</a:t>
            </a:r>
          </a:p>
        </p:txBody>
      </p:sp>
      <p:grpSp>
        <p:nvGrpSpPr>
          <p:cNvPr id="64" name="Groupe 63"/>
          <p:cNvGrpSpPr/>
          <p:nvPr/>
        </p:nvGrpSpPr>
        <p:grpSpPr>
          <a:xfrm>
            <a:off x="901644" y="4567471"/>
            <a:ext cx="290146" cy="106121"/>
            <a:chOff x="6099805" y="6332333"/>
            <a:chExt cx="386861" cy="141494"/>
          </a:xfrm>
        </p:grpSpPr>
        <p:cxnSp>
          <p:nvCxnSpPr>
            <p:cNvPr id="65" name="Connecteur droit 64"/>
            <p:cNvCxnSpPr/>
            <p:nvPr/>
          </p:nvCxnSpPr>
          <p:spPr>
            <a:xfrm flipV="1">
              <a:off x="6373804" y="6332333"/>
              <a:ext cx="112862" cy="14114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eur droit 65"/>
            <p:cNvCxnSpPr/>
            <p:nvPr/>
          </p:nvCxnSpPr>
          <p:spPr>
            <a:xfrm>
              <a:off x="6099805" y="6473827"/>
              <a:ext cx="277432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Rectangle à coins arrondis 87"/>
          <p:cNvSpPr/>
          <p:nvPr/>
        </p:nvSpPr>
        <p:spPr>
          <a:xfrm>
            <a:off x="2078253" y="3412001"/>
            <a:ext cx="4203511" cy="1038022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Le </a:t>
            </a:r>
            <a:r>
              <a:rPr lang="fr-FR" sz="1400" b="1" dirty="0"/>
              <a:t>CHIEF DATA OFFICER </a:t>
            </a:r>
            <a:r>
              <a:rPr lang="fr-FR" sz="1400" dirty="0"/>
              <a:t>est responsable de la mise en œuvre et du respect des règles de gestion des données</a:t>
            </a:r>
            <a:r>
              <a:rPr lang="fr-FR" sz="1400" i="1" dirty="0"/>
              <a:t> (sécurité, conformité, réglementaire…)</a:t>
            </a:r>
            <a:r>
              <a:rPr lang="fr-FR" sz="1400" dirty="0"/>
              <a:t>.</a:t>
            </a:r>
            <a:endParaRPr lang="fr-FR" sz="1400" b="1" dirty="0"/>
          </a:p>
        </p:txBody>
      </p:sp>
      <p:grpSp>
        <p:nvGrpSpPr>
          <p:cNvPr id="32" name="Groupe 31"/>
          <p:cNvGrpSpPr/>
          <p:nvPr/>
        </p:nvGrpSpPr>
        <p:grpSpPr>
          <a:xfrm>
            <a:off x="559081" y="1597264"/>
            <a:ext cx="5299520" cy="414060"/>
            <a:chOff x="745442" y="986685"/>
            <a:chExt cx="7066026" cy="552080"/>
          </a:xfrm>
        </p:grpSpPr>
        <p:grpSp>
          <p:nvGrpSpPr>
            <p:cNvPr id="33" name="Groupe 32"/>
            <p:cNvGrpSpPr/>
            <p:nvPr/>
          </p:nvGrpSpPr>
          <p:grpSpPr>
            <a:xfrm>
              <a:off x="745442" y="986685"/>
              <a:ext cx="7066026" cy="552080"/>
              <a:chOff x="2691257" y="529120"/>
              <a:chExt cx="7066026" cy="552080"/>
            </a:xfrm>
          </p:grpSpPr>
          <p:sp>
            <p:nvSpPr>
              <p:cNvPr id="39" name="Pentagone 38"/>
              <p:cNvSpPr/>
              <p:nvPr/>
            </p:nvSpPr>
            <p:spPr>
              <a:xfrm>
                <a:off x="2691257" y="667723"/>
                <a:ext cx="7066026" cy="288000"/>
              </a:xfrm>
              <a:prstGeom prst="homePlat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0" name="Ellipse 39"/>
              <p:cNvSpPr/>
              <p:nvPr/>
            </p:nvSpPr>
            <p:spPr>
              <a:xfrm>
                <a:off x="5381632" y="529121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1" name="Ellipse 40"/>
              <p:cNvSpPr/>
              <p:nvPr/>
            </p:nvSpPr>
            <p:spPr>
              <a:xfrm>
                <a:off x="4264756" y="52912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2" name="Ellipse 41"/>
              <p:cNvSpPr/>
              <p:nvPr/>
            </p:nvSpPr>
            <p:spPr>
              <a:xfrm>
                <a:off x="3147880" y="529120"/>
                <a:ext cx="551453" cy="54903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43" name="Ellipse 42"/>
              <p:cNvSpPr/>
              <p:nvPr/>
            </p:nvSpPr>
            <p:spPr>
              <a:xfrm>
                <a:off x="6498508" y="529122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grpSp>
            <p:nvGrpSpPr>
              <p:cNvPr id="44" name="Groupe 43"/>
              <p:cNvGrpSpPr/>
              <p:nvPr/>
            </p:nvGrpSpPr>
            <p:grpSpPr>
              <a:xfrm>
                <a:off x="8732261" y="529120"/>
                <a:ext cx="551453" cy="549030"/>
                <a:chOff x="9401004" y="529120"/>
                <a:chExt cx="551453" cy="549030"/>
              </a:xfrm>
            </p:grpSpPr>
            <p:sp>
              <p:nvSpPr>
                <p:cNvPr id="46" name="Ellipse 45"/>
                <p:cNvSpPr/>
                <p:nvPr/>
              </p:nvSpPr>
              <p:spPr>
                <a:xfrm>
                  <a:off x="9401004" y="529120"/>
                  <a:ext cx="551453" cy="5490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800"/>
                </a:p>
              </p:txBody>
            </p:sp>
            <p:pic>
              <p:nvPicPr>
                <p:cNvPr id="52" name="Image 51"/>
                <p:cNvPicPr>
                  <a:picLocks noChangeAspect="1"/>
                </p:cNvPicPr>
                <p:nvPr/>
              </p:nvPicPr>
              <p:blipFill>
                <a:blip r:embed="rId5" cstate="print">
                  <a:duotone>
                    <a:schemeClr val="accent3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54466" y="667723"/>
                  <a:ext cx="288000" cy="288000"/>
                </a:xfrm>
                <a:prstGeom prst="rect">
                  <a:avLst/>
                </a:prstGeom>
              </p:spPr>
            </p:pic>
          </p:grpSp>
          <p:sp>
            <p:nvSpPr>
              <p:cNvPr id="45" name="Ellipse 44"/>
              <p:cNvSpPr/>
              <p:nvPr/>
            </p:nvSpPr>
            <p:spPr>
              <a:xfrm>
                <a:off x="7615384" y="53217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</p:grpSp>
        <p:pic>
          <p:nvPicPr>
            <p:cNvPr id="34" name="Image 33"/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3731" y="1100614"/>
              <a:ext cx="327273" cy="327273"/>
            </a:xfrm>
            <a:prstGeom prst="rect">
              <a:avLst/>
            </a:prstGeom>
          </p:spPr>
        </p:pic>
        <p:pic>
          <p:nvPicPr>
            <p:cNvPr id="35" name="Image 34"/>
            <p:cNvPicPr>
              <a:picLocks noChangeAspect="1"/>
            </p:cNvPicPr>
            <p:nvPr/>
          </p:nvPicPr>
          <p:blipFill>
            <a:blip r:embed="rId7" cstate="email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4243" y="1090534"/>
              <a:ext cx="360000" cy="360000"/>
            </a:xfrm>
            <a:prstGeom prst="rect">
              <a:avLst/>
            </a:prstGeom>
          </p:spPr>
        </p:pic>
        <p:pic>
          <p:nvPicPr>
            <p:cNvPr id="36" name="Image 35"/>
            <p:cNvPicPr>
              <a:picLocks noChangeAspect="1"/>
            </p:cNvPicPr>
            <p:nvPr/>
          </p:nvPicPr>
          <p:blipFill>
            <a:blip r:embed="rId8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803634" y="1115767"/>
              <a:ext cx="297521" cy="297521"/>
            </a:xfrm>
            <a:prstGeom prst="rect">
              <a:avLst/>
            </a:prstGeom>
          </p:spPr>
        </p:pic>
        <p:pic>
          <p:nvPicPr>
            <p:cNvPr id="37" name="Image 36"/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1461" y="1079779"/>
              <a:ext cx="360000" cy="360000"/>
            </a:xfrm>
            <a:prstGeom prst="rect">
              <a:avLst/>
            </a:prstGeom>
          </p:spPr>
        </p:pic>
        <p:pic>
          <p:nvPicPr>
            <p:cNvPr id="38" name="Image 37"/>
            <p:cNvPicPr>
              <a:picLocks noChangeAspect="1"/>
            </p:cNvPicPr>
            <p:nvPr/>
          </p:nvPicPr>
          <p:blipFill>
            <a:blip r:embed="rId10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1883" y="1097935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6281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91C49-385D-8CA3-3809-DCE697E73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composants de la stratégie </a:t>
            </a:r>
            <a:r>
              <a:rPr lang="fr-FR"/>
              <a:t>du CDO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33F503-C57C-23F0-20B1-2D49FB3A8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1800" dirty="0"/>
              <a:t>Une vision convaincante de la gestion des données</a:t>
            </a:r>
          </a:p>
          <a:p>
            <a:r>
              <a:rPr lang="fr-FR" sz="1800" dirty="0"/>
              <a:t>Un argumentaire commercial synthétique pour la gestion des données, illustré d'exemples concrets</a:t>
            </a:r>
          </a:p>
          <a:p>
            <a:r>
              <a:rPr lang="fr-FR" sz="1800" dirty="0"/>
              <a:t>Principes directeurs, valeurs et perspectives de gestion</a:t>
            </a:r>
          </a:p>
          <a:p>
            <a:r>
              <a:rPr lang="fr-FR" sz="1800" dirty="0"/>
              <a:t>Mission et objectifs stratégiques à long terme de la gestion des données</a:t>
            </a:r>
          </a:p>
          <a:p>
            <a:r>
              <a:rPr lang="fr-FR" sz="1800" dirty="0"/>
              <a:t>Indicateurs de réussite proposés pour la gestion des données</a:t>
            </a:r>
          </a:p>
          <a:p>
            <a:r>
              <a:rPr lang="fr-FR" sz="1800" dirty="0"/>
              <a:t>Objectifs SMART (spécifiques, mesurables, atteignables, réalistes et temporellement définis) du programme de gestion des données</a:t>
            </a:r>
          </a:p>
          <a:p>
            <a:r>
              <a:rPr lang="fr-FR" sz="1800" dirty="0"/>
              <a:t>Description des rôles et des organisations en charge de la gestion des données, ainsi qu'un résumé de leurs responsabilités et pouvoirs de décision</a:t>
            </a:r>
          </a:p>
          <a:p>
            <a:r>
              <a:rPr lang="fr-FR" sz="1800" dirty="0"/>
              <a:t>Description des composantes et initiatives du programme de gestion des données</a:t>
            </a:r>
          </a:p>
          <a:p>
            <a:r>
              <a:rPr lang="fr-FR" sz="1800" dirty="0"/>
              <a:t>Un programme de travail priorisé, délimité par un périmètre défini</a:t>
            </a:r>
          </a:p>
          <a:p>
            <a:r>
              <a:rPr lang="fr-FR" sz="1800" dirty="0"/>
              <a:t>Une feuille de route préliminaire pour la mise en œuvre, incluant les projets et les actions à entreprendre</a:t>
            </a:r>
          </a:p>
        </p:txBody>
      </p:sp>
    </p:spTree>
    <p:extLst>
      <p:ext uri="{BB962C8B-B14F-4D97-AF65-F5344CB8AC3E}">
        <p14:creationId xmlns:p14="http://schemas.microsoft.com/office/powerpoint/2010/main" val="2448363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C3DDF5-24D6-75B1-7A06-74BBFF70A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Ethique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8C2660-96AE-BBF3-2BCB-3A5C36175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Impact sur les personnes</a:t>
            </a:r>
          </a:p>
          <a:p>
            <a:r>
              <a:rPr lang="fr-FR" dirty="0"/>
              <a:t>Risque de mauvaise utilisation</a:t>
            </a:r>
          </a:p>
          <a:p>
            <a:r>
              <a:rPr lang="fr-FR" dirty="0"/>
              <a:t>La data a une valeur</a:t>
            </a:r>
          </a:p>
          <a:p>
            <a:pPr lvl="1"/>
            <a:r>
              <a:rPr lang="fr-FR" dirty="0"/>
              <a:t>Qui peut y accéder ?</a:t>
            </a:r>
          </a:p>
          <a:p>
            <a:pPr lvl="1"/>
            <a:r>
              <a:rPr lang="fr-FR" dirty="0"/>
              <a:t>Comment ?</a:t>
            </a:r>
          </a:p>
          <a:p>
            <a:r>
              <a:rPr lang="fr-FR" dirty="0"/>
              <a:t>La loi</a:t>
            </a:r>
          </a:p>
          <a:p>
            <a:pPr lvl="1"/>
            <a:r>
              <a:rPr lang="fr-FR" dirty="0"/>
              <a:t>RGPD</a:t>
            </a:r>
          </a:p>
          <a:p>
            <a:pPr lvl="1"/>
            <a:r>
              <a:rPr lang="fr-FR" dirty="0"/>
              <a:t>CNIL</a:t>
            </a:r>
          </a:p>
          <a:p>
            <a:pPr lvl="1"/>
            <a:r>
              <a:rPr lang="fr-FR" dirty="0"/>
              <a:t>AI </a:t>
            </a:r>
            <a:r>
              <a:rPr lang="fr-FR"/>
              <a:t>Act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3462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0E0232-3E22-D9CB-C262-676848976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DAMA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24447B-1021-8449-B069-9884319BD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Data Management Association est une organisation mondiale à but non lucratif qui vise à promouvoir les concepts et les pratiques de gestion de l'information et des données.</a:t>
            </a:r>
          </a:p>
          <a:p>
            <a:r>
              <a:rPr lang="fr-FR" dirty="0"/>
              <a:t>Elle se décrit comme une organisation indépendante des fournisseurs et entièrement composée de bénévoles et ses membres sont des professionnels techniques et commerciaux</a:t>
            </a:r>
          </a:p>
        </p:txBody>
      </p:sp>
      <p:pic>
        <p:nvPicPr>
          <p:cNvPr id="7" name="Image 6" descr="Une image contenant logo, Police, cercle, Graphique&#10;&#10;Le contenu généré par l’IA peut être incorrect.">
            <a:extLst>
              <a:ext uri="{FF2B5EF4-FFF2-40B4-BE49-F238E27FC236}">
                <a16:creationId xmlns:a16="http://schemas.microsoft.com/office/drawing/2014/main" id="{56AA0E7D-0C15-2FC4-2BC1-BB6FEFFAA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6" y="2879"/>
            <a:ext cx="1838582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6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EF3DDA-B19D-6D99-512B-C5AC06667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DMBOK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971620-518E-72F0-AB51-B3B3FB593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412776"/>
            <a:ext cx="4795831" cy="5040560"/>
          </a:xfrm>
        </p:spPr>
        <p:txBody>
          <a:bodyPr/>
          <a:lstStyle/>
          <a:p>
            <a:r>
              <a:rPr lang="en-US" dirty="0"/>
              <a:t>Data management body of knowledge est un livre qui </a:t>
            </a:r>
            <a:r>
              <a:rPr lang="en-US" dirty="0" err="1"/>
              <a:t>regroupe</a:t>
            </a:r>
            <a:r>
              <a:rPr lang="en-US" dirty="0"/>
              <a:t> les </a:t>
            </a:r>
            <a:r>
              <a:rPr lang="en-US" dirty="0" err="1"/>
              <a:t>bonnes</a:t>
            </a:r>
            <a:r>
              <a:rPr lang="en-US" dirty="0"/>
              <a:t> pratiques du data management</a:t>
            </a:r>
            <a:endParaRPr lang="fr-FR" dirty="0"/>
          </a:p>
        </p:txBody>
      </p:sp>
      <p:pic>
        <p:nvPicPr>
          <p:cNvPr id="5" name="Image 4" descr="Une image contenant texte, livre, Police, graphisme&#10;&#10;Le contenu généré par l’IA peut être incorrect.">
            <a:extLst>
              <a:ext uri="{FF2B5EF4-FFF2-40B4-BE49-F238E27FC236}">
                <a16:creationId xmlns:a16="http://schemas.microsoft.com/office/drawing/2014/main" id="{B75F1888-801F-1952-FDAC-8E0DB7991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3" y="1356234"/>
            <a:ext cx="4283968" cy="552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48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EF338D-4F6A-117C-3397-841931588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DAMA Wheel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1E5649-988E-01D0-7CE4-715B24386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ercl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0276598C-16E8-E651-21DC-04F1346BC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285" y="1156209"/>
            <a:ext cx="5401429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018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56A831-9FD2-1415-9B67-A48A95330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06C44F-22D7-3D6A-B5B3-8E57AB4A7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Comprendre la Dama Wheel</a:t>
            </a:r>
          </a:p>
          <a:p>
            <a:r>
              <a:rPr lang="fr-FR" dirty="0"/>
              <a:t>Parcourir le sommaire du </a:t>
            </a:r>
            <a:r>
              <a:rPr lang="fr-FR" dirty="0" err="1"/>
              <a:t>DMBok</a:t>
            </a:r>
            <a:endParaRPr lang="fr-FR" dirty="0"/>
          </a:p>
          <a:p>
            <a:r>
              <a:rPr lang="fr-FR" dirty="0"/>
              <a:t>Noter les </a:t>
            </a:r>
            <a:r>
              <a:rPr lang="fr-FR"/>
              <a:t>points essentiels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51425184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3292</TotalTime>
  <Words>712</Words>
  <Application>Microsoft Office PowerPoint</Application>
  <PresentationFormat>Affichage à l'écran (4:3)</PresentationFormat>
  <Paragraphs>96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5" baseType="lpstr">
      <vt:lpstr>Yu Gothic Light</vt:lpstr>
      <vt:lpstr>Arial</vt:lpstr>
      <vt:lpstr>Calibri</vt:lpstr>
      <vt:lpstr>Monotype Sorts</vt:lpstr>
      <vt:lpstr>Times New Roman</vt:lpstr>
      <vt:lpstr>cvc</vt:lpstr>
      <vt:lpstr>Présentation PowerPoint</vt:lpstr>
      <vt:lpstr>La Data</vt:lpstr>
      <vt:lpstr>Actif</vt:lpstr>
      <vt:lpstr>Principes</vt:lpstr>
      <vt:lpstr>Principes</vt:lpstr>
      <vt:lpstr>Présentation PowerPoint</vt:lpstr>
      <vt:lpstr>Cycle de vie</vt:lpstr>
      <vt:lpstr>Cycle de vie détaillé</vt:lpstr>
      <vt:lpstr>Création</vt:lpstr>
      <vt:lpstr>Utilisation</vt:lpstr>
      <vt:lpstr>La valeur des données</vt:lpstr>
      <vt:lpstr>Stratégie Data</vt:lpstr>
      <vt:lpstr>L’équipe DataLab – le Chief Data Officer  </vt:lpstr>
      <vt:lpstr>Les composants de la stratégie du CDO</vt:lpstr>
      <vt:lpstr>Ethique</vt:lpstr>
      <vt:lpstr>DAMA</vt:lpstr>
      <vt:lpstr>DMBOK</vt:lpstr>
      <vt:lpstr>La DAMA Wheel</vt:lpstr>
      <vt:lpstr>TP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268</cp:revision>
  <dcterms:created xsi:type="dcterms:W3CDTF">2000-04-10T19:33:12Z</dcterms:created>
  <dcterms:modified xsi:type="dcterms:W3CDTF">2026-01-07T12:48:35Z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