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5"/>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 id="2581" r:id="rId25"/>
    <p:sldId id="2582" r:id="rId26"/>
    <p:sldId id="2583" r:id="rId27"/>
    <p:sldId id="2584" r:id="rId28"/>
    <p:sldId id="2585" r:id="rId29"/>
    <p:sldId id="2586" r:id="rId30"/>
    <p:sldId id="2587" r:id="rId31"/>
    <p:sldId id="2588" r:id="rId32"/>
    <p:sldId id="2589" r:id="rId33"/>
    <p:sldId id="2590" r:id="rId3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 dynamique des cas d’usage de l’IA en environnement professionnel" id="{5AE006A1-E824-4E82-805C-358622FFD62D}">
          <p14:sldIdLst>
            <p14:sldId id="2561"/>
            <p14:sldId id="2562"/>
          </p14:sldIdLst>
        </p14:section>
        <p14:section name="Objectif pédagogique et introduction aux cas d’usage" id="{CABF1663-B288-4FD2-BCC1-9CD2BE7FB78A}">
          <p14:sldIdLst>
            <p14:sldId id="2563"/>
            <p14:sldId id="2564"/>
          </p14:sldIdLst>
        </p14:section>
        <p14:section name="Scénario 1 : Exploiter un rapport PDF complexe avec l’IA" id="{592C2E69-65DC-4981-80DD-8D741EFBF803}">
          <p14:sldIdLst>
            <p14:sldId id="2565"/>
            <p14:sldId id="2566"/>
            <p14:sldId id="2567"/>
          </p14:sldIdLst>
        </p14:section>
        <p14:section name="Scénario 2 : Rédiger un mail efficace grâce à l’IA" id="{084975D1-8B96-4157-B3CC-B2D4321A4696}">
          <p14:sldIdLst>
            <p14:sldId id="2568"/>
            <p14:sldId id="2569"/>
            <p14:sldId id="2570"/>
          </p14:sldIdLst>
        </p14:section>
        <p14:section name="Scénario 4 : Créer un contenu à forte valeur ajoutée avec l’IA" id="{29D5D0AD-B960-44C9-AE6A-265F771B3552}">
          <p14:sldIdLst>
            <p14:sldId id="2571"/>
            <p14:sldId id="2572"/>
            <p14:sldId id="2573"/>
          </p14:sldIdLst>
        </p14:section>
        <p14:section name="Scénario 5 : Sécuriser une infographie générée par l’IA" id="{F79D54A0-E786-444A-BDCA-083A21AF4998}">
          <p14:sldIdLst>
            <p14:sldId id="2574"/>
            <p14:sldId id="2575"/>
            <p14:sldId id="2576"/>
          </p14:sldIdLst>
        </p14:section>
        <p14:section name="Se faire coacher par l’IA : posture professionnelle et limites" id="{85E1F6BC-E1EC-46A7-8D38-8F5E29273738}">
          <p14:sldIdLst>
            <p14:sldId id="2577"/>
            <p14:sldId id="2578"/>
            <p14:sldId id="2579"/>
          </p14:sldIdLst>
        </p14:section>
        <p14:section name="Atelier bac à sable : imaginer un cas d’usage IA" id="{31D6EEA0-AC24-40CB-AD2C-6FB548053808}">
          <p14:sldIdLst>
            <p14:sldId id="2580"/>
            <p14:sldId id="2581"/>
            <p14:sldId id="2582"/>
          </p14:sldIdLst>
        </p14:section>
        <p14:section name="Créer un support rapidement avec l’IA" id="{0A49C488-15BA-472B-A8AA-E1DFD6E29B11}">
          <p14:sldIdLst>
            <p14:sldId id="2583"/>
            <p14:sldId id="2584"/>
            <p14:sldId id="2585"/>
          </p14:sldIdLst>
        </p14:section>
        <p14:section name="Réécrire pour mieux communiquer grâce à l’IA" id="{2CE021D9-16B0-4B0F-BA1E-507190E41C7B}">
          <p14:sldIdLst>
            <p14:sldId id="2586"/>
            <p14:sldId id="2587"/>
            <p14:sldId id="2588"/>
          </p14:sldIdLst>
        </p14:section>
        <p14:section name="Restitution possible : présentation flash" id="{5ADE687B-A46B-4332-8C66-1BD64FFCA010}">
          <p14:sldIdLst>
            <p14:sldId id="2589"/>
            <p14:sldId id="25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DFF389-31B7-BB68-45DC-D08B71ED8C0C}" v="85" dt="2025-09-16T13:29:23.2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8959" autoAdjust="0"/>
    <p:restoredTop sz="94660" autoAdjust="0"/>
  </p:normalViewPr>
  <p:slideViewPr>
    <p:cSldViewPr snapToGrid="0">
      <p:cViewPr varScale="1">
        <p:scale>
          <a:sx n="83" d="100"/>
          <a:sy n="83" d="100"/>
        </p:scale>
        <p:origin x="504" y="67"/>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diagrams/_rels/data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F83F22-90A0-40E7-859A-8FF8BDA9782A}"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fr-FR"/>
        </a:p>
      </dgm:t>
    </dgm:pt>
    <dgm:pt modelId="{3FB5AECF-95D6-4674-B872-673B19638316}">
      <dgm:prSet/>
      <dgm:spPr/>
      <dgm:t>
        <a:bodyPr/>
        <a:lstStyle/>
        <a:p>
          <a:pPr>
            <a:lnSpc>
              <a:spcPct val="100000"/>
            </a:lnSpc>
            <a:defRPr b="1"/>
          </a:pPr>
          <a:r>
            <a:rPr lang="fr-FR"/>
            <a:t>Contexte de la relance</a:t>
          </a:r>
        </a:p>
      </dgm:t>
    </dgm:pt>
    <dgm:pt modelId="{A23DBCEA-BE67-423D-B166-959B4B15F1F2}" type="parTrans" cxnId="{81FCC335-2CC5-4F06-87EA-83D9C7272ECC}">
      <dgm:prSet/>
      <dgm:spPr/>
      <dgm:t>
        <a:bodyPr/>
        <a:lstStyle/>
        <a:p>
          <a:endParaRPr lang="fr-FR"/>
        </a:p>
      </dgm:t>
    </dgm:pt>
    <dgm:pt modelId="{2009AEB0-D5C3-44CF-9150-A3DDB27EAEFF}" type="sibTrans" cxnId="{81FCC335-2CC5-4F06-87EA-83D9C7272ECC}">
      <dgm:prSet/>
      <dgm:spPr/>
      <dgm:t>
        <a:bodyPr/>
        <a:lstStyle/>
        <a:p>
          <a:pPr>
            <a:lnSpc>
              <a:spcPct val="100000"/>
            </a:lnSpc>
            <a:defRPr b="1"/>
          </a:pPr>
          <a:endParaRPr lang="fr-FR"/>
        </a:p>
      </dgm:t>
    </dgm:pt>
    <dgm:pt modelId="{F64A389B-F47B-4208-AF9B-673443843CF7}">
      <dgm:prSet/>
      <dgm:spPr/>
      <dgm:t>
        <a:bodyPr/>
        <a:lstStyle/>
        <a:p>
          <a:pPr>
            <a:lnSpc>
              <a:spcPct val="100000"/>
            </a:lnSpc>
          </a:pPr>
          <a:r>
            <a:rPr lang="fr-FR"/>
            <a:t>Relancer un fournisseur, client ou partenaire nécessite un message clair, structuré et engageant pour capter l’attention rapidement.</a:t>
          </a:r>
        </a:p>
      </dgm:t>
    </dgm:pt>
    <dgm:pt modelId="{3EE8EF53-2BF9-4AE9-9587-BB033D1B816A}" type="parTrans" cxnId="{C50C3D7D-7964-4C6A-9748-1ACC1422002A}">
      <dgm:prSet/>
      <dgm:spPr/>
      <dgm:t>
        <a:bodyPr/>
        <a:lstStyle/>
        <a:p>
          <a:endParaRPr lang="fr-FR"/>
        </a:p>
      </dgm:t>
    </dgm:pt>
    <dgm:pt modelId="{CEF9E682-4117-42C6-A819-72294399CA98}" type="sibTrans" cxnId="{C50C3D7D-7964-4C6A-9748-1ACC1422002A}">
      <dgm:prSet/>
      <dgm:spPr/>
      <dgm:t>
        <a:bodyPr/>
        <a:lstStyle/>
        <a:p>
          <a:endParaRPr lang="fr-FR"/>
        </a:p>
      </dgm:t>
    </dgm:pt>
    <dgm:pt modelId="{6E6B92C5-0007-4B7C-B821-708AF1255734}">
      <dgm:prSet/>
      <dgm:spPr/>
      <dgm:t>
        <a:bodyPr/>
        <a:lstStyle/>
        <a:p>
          <a:pPr>
            <a:lnSpc>
              <a:spcPct val="100000"/>
            </a:lnSpc>
            <a:defRPr b="1"/>
          </a:pPr>
          <a:r>
            <a:rPr lang="fr-FR"/>
            <a:t>Objectif du message</a:t>
          </a:r>
        </a:p>
      </dgm:t>
    </dgm:pt>
    <dgm:pt modelId="{C206BE3A-6ADA-446B-A4D7-0D1450F8EB00}" type="parTrans" cxnId="{44B5E3BA-E4C0-45DC-95E9-777C202C67FE}">
      <dgm:prSet/>
      <dgm:spPr/>
      <dgm:t>
        <a:bodyPr/>
        <a:lstStyle/>
        <a:p>
          <a:endParaRPr lang="fr-FR"/>
        </a:p>
      </dgm:t>
    </dgm:pt>
    <dgm:pt modelId="{B169AB28-3874-498E-BBC4-C5AA4107D1CB}" type="sibTrans" cxnId="{44B5E3BA-E4C0-45DC-95E9-777C202C67FE}">
      <dgm:prSet/>
      <dgm:spPr/>
      <dgm:t>
        <a:bodyPr/>
        <a:lstStyle/>
        <a:p>
          <a:pPr>
            <a:lnSpc>
              <a:spcPct val="100000"/>
            </a:lnSpc>
            <a:defRPr b="1"/>
          </a:pPr>
          <a:endParaRPr lang="fr-FR"/>
        </a:p>
      </dgm:t>
    </dgm:pt>
    <dgm:pt modelId="{2B170A48-A423-4894-9A82-6C0195F96D38}">
      <dgm:prSet/>
      <dgm:spPr/>
      <dgm:t>
        <a:bodyPr/>
        <a:lstStyle/>
        <a:p>
          <a:pPr>
            <a:lnSpc>
              <a:spcPct val="100000"/>
            </a:lnSpc>
          </a:pPr>
          <a:r>
            <a:rPr lang="fr-FR"/>
            <a:t>Gagner du temps tout en conservant un ton adapté et professionnel dans le mail de relance.</a:t>
          </a:r>
        </a:p>
      </dgm:t>
    </dgm:pt>
    <dgm:pt modelId="{93737D68-708B-4533-8193-B280905DE2D8}" type="parTrans" cxnId="{F2D44FC2-E46C-4F64-86A6-D74B735E1E79}">
      <dgm:prSet/>
      <dgm:spPr/>
      <dgm:t>
        <a:bodyPr/>
        <a:lstStyle/>
        <a:p>
          <a:endParaRPr lang="fr-FR"/>
        </a:p>
      </dgm:t>
    </dgm:pt>
    <dgm:pt modelId="{064D40D1-C8F5-434E-8916-CFD97F6FD121}" type="sibTrans" cxnId="{F2D44FC2-E46C-4F64-86A6-D74B735E1E79}">
      <dgm:prSet/>
      <dgm:spPr/>
      <dgm:t>
        <a:bodyPr/>
        <a:lstStyle/>
        <a:p>
          <a:endParaRPr lang="fr-FR"/>
        </a:p>
      </dgm:t>
    </dgm:pt>
    <dgm:pt modelId="{DA9EBEA3-0EBB-4395-AF83-3B88B6838889}">
      <dgm:prSet/>
      <dgm:spPr/>
      <dgm:t>
        <a:bodyPr/>
        <a:lstStyle/>
        <a:p>
          <a:pPr>
            <a:lnSpc>
              <a:spcPct val="100000"/>
            </a:lnSpc>
            <a:defRPr b="1"/>
          </a:pPr>
          <a:r>
            <a:rPr lang="fr-FR"/>
            <a:t>Utilisation de l’IA</a:t>
          </a:r>
        </a:p>
      </dgm:t>
    </dgm:pt>
    <dgm:pt modelId="{1014C155-73E1-40CC-B46D-9792466EA445}" type="parTrans" cxnId="{082C7EB0-BFD5-443C-BF7E-2484072F473E}">
      <dgm:prSet/>
      <dgm:spPr/>
      <dgm:t>
        <a:bodyPr/>
        <a:lstStyle/>
        <a:p>
          <a:endParaRPr lang="fr-FR"/>
        </a:p>
      </dgm:t>
    </dgm:pt>
    <dgm:pt modelId="{AA5164F2-7740-4236-AD70-39F20020DD9A}" type="sibTrans" cxnId="{082C7EB0-BFD5-443C-BF7E-2484072F473E}">
      <dgm:prSet/>
      <dgm:spPr/>
      <dgm:t>
        <a:bodyPr/>
        <a:lstStyle/>
        <a:p>
          <a:endParaRPr lang="fr-FR"/>
        </a:p>
      </dgm:t>
    </dgm:pt>
    <dgm:pt modelId="{C188E4F5-5123-4FE9-B7A9-E9397CEA62D7}">
      <dgm:prSet/>
      <dgm:spPr/>
      <dgm:t>
        <a:bodyPr/>
        <a:lstStyle/>
        <a:p>
          <a:pPr>
            <a:lnSpc>
              <a:spcPct val="100000"/>
            </a:lnSpc>
          </a:pPr>
          <a:r>
            <a:rPr lang="fr-FR"/>
            <a:t>L’IA aide à créer un mail efficace, respectant le ton adéquat et facilitant la rédaction rapide et soignée.</a:t>
          </a:r>
        </a:p>
      </dgm:t>
    </dgm:pt>
    <dgm:pt modelId="{C095B2DA-ED5C-4038-B4BA-5FFE7F2B31A0}" type="parTrans" cxnId="{B5E9B9CC-EFCB-46CA-94E1-02EC838E6946}">
      <dgm:prSet/>
      <dgm:spPr/>
      <dgm:t>
        <a:bodyPr/>
        <a:lstStyle/>
        <a:p>
          <a:endParaRPr lang="fr-FR"/>
        </a:p>
      </dgm:t>
    </dgm:pt>
    <dgm:pt modelId="{24396F64-90E7-4B01-854B-1F5F83947ECF}" type="sibTrans" cxnId="{B5E9B9CC-EFCB-46CA-94E1-02EC838E6946}">
      <dgm:prSet/>
      <dgm:spPr/>
      <dgm:t>
        <a:bodyPr/>
        <a:lstStyle/>
        <a:p>
          <a:endParaRPr lang="fr-FR"/>
        </a:p>
      </dgm:t>
    </dgm:pt>
    <dgm:pt modelId="{49D50527-FEC6-4BB1-ABAC-25871F88DC12}" type="pres">
      <dgm:prSet presAssocID="{C5F83F22-90A0-40E7-859A-8FF8BDA9782A}" presName="Root" presStyleCnt="0">
        <dgm:presLayoutVars>
          <dgm:dir/>
          <dgm:resizeHandles val="exact"/>
        </dgm:presLayoutVars>
      </dgm:prSet>
      <dgm:spPr/>
    </dgm:pt>
    <dgm:pt modelId="{D1639F2C-10BA-43A7-BB3E-34739A80DB99}" type="pres">
      <dgm:prSet presAssocID="{3FB5AECF-95D6-4674-B872-673B19638316}" presName="Composite" presStyleCnt="0"/>
      <dgm:spPr/>
    </dgm:pt>
    <dgm:pt modelId="{78A36231-382C-49D5-A20B-C8622414BE54}" type="pres">
      <dgm:prSet presAssocID="{3FB5AECF-95D6-4674-B872-673B19638316}" presName="Picture"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l="10329" r="14669" b="-3"/>
          <a:stretch/>
        </a:blipFill>
      </dgm:spPr>
      <dgm:extLst>
        <a:ext uri="{E40237B7-FDA0-4F09-8148-C483321AD2D9}">
          <dgm14:cNvPr xmlns:dgm14="http://schemas.microsoft.com/office/drawing/2010/diagram" id="0" name="" descr="Lettres sur affichage numérique"/>
        </a:ext>
      </dgm:extLst>
    </dgm:pt>
    <dgm:pt modelId="{E3249548-ED5D-4427-9178-EC487E59B896}" type="pres">
      <dgm:prSet presAssocID="{3FB5AECF-95D6-4674-B872-673B19638316}" presName="Subtitle" presStyleLbl="revTx" presStyleIdx="0" presStyleCnt="6">
        <dgm:presLayoutVars>
          <dgm:chMax val="0"/>
          <dgm:bulletEnabled/>
        </dgm:presLayoutVars>
      </dgm:prSet>
      <dgm:spPr/>
    </dgm:pt>
    <dgm:pt modelId="{E42E39D0-FEB5-468A-BB06-8490B8373016}" type="pres">
      <dgm:prSet presAssocID="{3FB5AECF-95D6-4674-B872-673B19638316}" presName="Description" presStyleLbl="revTx" presStyleIdx="1" presStyleCnt="6">
        <dgm:presLayoutVars>
          <dgm:bulletEnabled/>
        </dgm:presLayoutVars>
      </dgm:prSet>
      <dgm:spPr/>
    </dgm:pt>
    <dgm:pt modelId="{762751FB-510C-4496-B292-51C9386EA5F6}" type="pres">
      <dgm:prSet presAssocID="{2009AEB0-D5C3-44CF-9150-A3DDB27EAEFF}" presName="sibTrans" presStyleLbl="sibTrans2D1" presStyleIdx="0" presStyleCnt="0"/>
      <dgm:spPr/>
    </dgm:pt>
    <dgm:pt modelId="{1E0BE9FD-4A4F-4520-879F-BB40E49E0545}" type="pres">
      <dgm:prSet presAssocID="{6E6B92C5-0007-4B7C-B821-708AF1255734}" presName="Composite" presStyleCnt="0"/>
      <dgm:spPr/>
    </dgm:pt>
    <dgm:pt modelId="{87795B1D-8D63-4506-9918-8AC03D84D36D}" type="pres">
      <dgm:prSet presAssocID="{6E6B92C5-0007-4B7C-B821-708AF1255734}" presName="Picture" presStyleLbl="nod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l="42444" r="5808" b="3"/>
          <a:stretch/>
        </a:blipFill>
      </dgm:spPr>
      <dgm:extLst>
        <a:ext uri="{E40237B7-FDA0-4F09-8148-C483321AD2D9}">
          <dgm14:cNvPr xmlns:dgm14="http://schemas.microsoft.com/office/drawing/2010/diagram" id="0" name="" descr="Messagerie électronique"/>
        </a:ext>
      </dgm:extLst>
    </dgm:pt>
    <dgm:pt modelId="{B0998292-B02C-4DA1-A430-A923DD6037AC}" type="pres">
      <dgm:prSet presAssocID="{6E6B92C5-0007-4B7C-B821-708AF1255734}" presName="Subtitle" presStyleLbl="revTx" presStyleIdx="2" presStyleCnt="6">
        <dgm:presLayoutVars>
          <dgm:chMax val="0"/>
          <dgm:bulletEnabled/>
        </dgm:presLayoutVars>
      </dgm:prSet>
      <dgm:spPr/>
    </dgm:pt>
    <dgm:pt modelId="{113B3B29-398E-475E-B407-C1EE45698CB7}" type="pres">
      <dgm:prSet presAssocID="{6E6B92C5-0007-4B7C-B821-708AF1255734}" presName="Description" presStyleLbl="revTx" presStyleIdx="3" presStyleCnt="6">
        <dgm:presLayoutVars>
          <dgm:bulletEnabled/>
        </dgm:presLayoutVars>
      </dgm:prSet>
      <dgm:spPr/>
    </dgm:pt>
    <dgm:pt modelId="{0DA776CC-7D9A-4E7C-87EB-05206621A87E}" type="pres">
      <dgm:prSet presAssocID="{B169AB28-3874-498E-BBC4-C5AA4107D1CB}" presName="sibTrans" presStyleLbl="sibTrans2D1" presStyleIdx="0" presStyleCnt="0"/>
      <dgm:spPr/>
    </dgm:pt>
    <dgm:pt modelId="{667369A7-ABA1-4411-B963-BF25B31881BC}" type="pres">
      <dgm:prSet presAssocID="{DA9EBEA3-0EBB-4395-AF83-3B88B6838889}" presName="Composite" presStyleCnt="0"/>
      <dgm:spPr/>
    </dgm:pt>
    <dgm:pt modelId="{FF6689D0-5E7B-433D-B655-609766A9B876}" type="pres">
      <dgm:prSet presAssocID="{DA9EBEA3-0EBB-4395-AF83-3B88B6838889}" presName="Picture" presStyleLbl="nod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l="16721" r="27027" b="-3"/>
          <a:stretch/>
        </a:blipFill>
      </dgm:spPr>
      <dgm:extLst>
        <a:ext uri="{E40237B7-FDA0-4F09-8148-C483321AD2D9}">
          <dgm14:cNvPr xmlns:dgm14="http://schemas.microsoft.com/office/drawing/2010/diagram" id="0" name="" descr="Marketing par e-mail messagerie en ligne sécurité réseau internet"/>
        </a:ext>
      </dgm:extLst>
    </dgm:pt>
    <dgm:pt modelId="{8320EDE4-6D68-49DF-9140-8A46D44F4AEA}" type="pres">
      <dgm:prSet presAssocID="{DA9EBEA3-0EBB-4395-AF83-3B88B6838889}" presName="Subtitle" presStyleLbl="revTx" presStyleIdx="4" presStyleCnt="6">
        <dgm:presLayoutVars>
          <dgm:chMax val="0"/>
          <dgm:bulletEnabled/>
        </dgm:presLayoutVars>
      </dgm:prSet>
      <dgm:spPr/>
    </dgm:pt>
    <dgm:pt modelId="{FC49183D-D276-47FE-B653-DD1AC425C838}" type="pres">
      <dgm:prSet presAssocID="{DA9EBEA3-0EBB-4395-AF83-3B88B6838889}" presName="Description" presStyleLbl="revTx" presStyleIdx="5" presStyleCnt="6">
        <dgm:presLayoutVars>
          <dgm:bulletEnabled/>
        </dgm:presLayoutVars>
      </dgm:prSet>
      <dgm:spPr/>
    </dgm:pt>
  </dgm:ptLst>
  <dgm:cxnLst>
    <dgm:cxn modelId="{973BBE0F-61D3-4246-9FD7-9CCA1982BBC6}" type="presOf" srcId="{DA9EBEA3-0EBB-4395-AF83-3B88B6838889}" destId="{8320EDE4-6D68-49DF-9140-8A46D44F4AEA}" srcOrd="0" destOrd="0" presId="urn:microsoft.com/office/officeart/2024/3/layout/verticalVisualTextBlock1"/>
    <dgm:cxn modelId="{81FCC335-2CC5-4F06-87EA-83D9C7272ECC}" srcId="{C5F83F22-90A0-40E7-859A-8FF8BDA9782A}" destId="{3FB5AECF-95D6-4674-B872-673B19638316}" srcOrd="0" destOrd="0" parTransId="{A23DBCEA-BE67-423D-B166-959B4B15F1F2}" sibTransId="{2009AEB0-D5C3-44CF-9150-A3DDB27EAEFF}"/>
    <dgm:cxn modelId="{AC2EF238-85FC-43E4-9E66-297BAE834A83}" type="presOf" srcId="{F64A389B-F47B-4208-AF9B-673443843CF7}" destId="{E42E39D0-FEB5-468A-BB06-8490B8373016}" srcOrd="0" destOrd="0" presId="urn:microsoft.com/office/officeart/2024/3/layout/verticalVisualTextBlock1"/>
    <dgm:cxn modelId="{CBB3583E-ABD2-49F1-9AF9-43D2C16FF8FA}" type="presOf" srcId="{C5F83F22-90A0-40E7-859A-8FF8BDA9782A}" destId="{49D50527-FEC6-4BB1-ABAC-25871F88DC12}" srcOrd="0" destOrd="0" presId="urn:microsoft.com/office/officeart/2024/3/layout/verticalVisualTextBlock1"/>
    <dgm:cxn modelId="{488E4575-5E41-49F7-BA15-BEA9EBCCF39E}" type="presOf" srcId="{3FB5AECF-95D6-4674-B872-673B19638316}" destId="{E3249548-ED5D-4427-9178-EC487E59B896}" srcOrd="0" destOrd="0" presId="urn:microsoft.com/office/officeart/2024/3/layout/verticalVisualTextBlock1"/>
    <dgm:cxn modelId="{C50C3D7D-7964-4C6A-9748-1ACC1422002A}" srcId="{3FB5AECF-95D6-4674-B872-673B19638316}" destId="{F64A389B-F47B-4208-AF9B-673443843CF7}" srcOrd="0" destOrd="0" parTransId="{3EE8EF53-2BF9-4AE9-9587-BB033D1B816A}" sibTransId="{CEF9E682-4117-42C6-A819-72294399CA98}"/>
    <dgm:cxn modelId="{BE32E98F-4203-4E0B-BEB4-73C3AB027C23}" type="presOf" srcId="{2009AEB0-D5C3-44CF-9150-A3DDB27EAEFF}" destId="{762751FB-510C-4496-B292-51C9386EA5F6}" srcOrd="0" destOrd="0" presId="urn:microsoft.com/office/officeart/2024/3/layout/verticalVisualTextBlock1"/>
    <dgm:cxn modelId="{914E4CAF-C151-4872-91D5-9434579A0E4B}" type="presOf" srcId="{2B170A48-A423-4894-9A82-6C0195F96D38}" destId="{113B3B29-398E-475E-B407-C1EE45698CB7}" srcOrd="0" destOrd="0" presId="urn:microsoft.com/office/officeart/2024/3/layout/verticalVisualTextBlock1"/>
    <dgm:cxn modelId="{082C7EB0-BFD5-443C-BF7E-2484072F473E}" srcId="{C5F83F22-90A0-40E7-859A-8FF8BDA9782A}" destId="{DA9EBEA3-0EBB-4395-AF83-3B88B6838889}" srcOrd="2" destOrd="0" parTransId="{1014C155-73E1-40CC-B46D-9792466EA445}" sibTransId="{AA5164F2-7740-4236-AD70-39F20020DD9A}"/>
    <dgm:cxn modelId="{72368AB1-60FC-45EA-9FAD-723E412D0823}" type="presOf" srcId="{6E6B92C5-0007-4B7C-B821-708AF1255734}" destId="{B0998292-B02C-4DA1-A430-A923DD6037AC}" srcOrd="0" destOrd="0" presId="urn:microsoft.com/office/officeart/2024/3/layout/verticalVisualTextBlock1"/>
    <dgm:cxn modelId="{66759EB2-DB17-423D-A0C0-7BFF595FFD53}" type="presOf" srcId="{C188E4F5-5123-4FE9-B7A9-E9397CEA62D7}" destId="{FC49183D-D276-47FE-B653-DD1AC425C838}" srcOrd="0" destOrd="0" presId="urn:microsoft.com/office/officeart/2024/3/layout/verticalVisualTextBlock1"/>
    <dgm:cxn modelId="{44B5E3BA-E4C0-45DC-95E9-777C202C67FE}" srcId="{C5F83F22-90A0-40E7-859A-8FF8BDA9782A}" destId="{6E6B92C5-0007-4B7C-B821-708AF1255734}" srcOrd="1" destOrd="0" parTransId="{C206BE3A-6ADA-446B-A4D7-0D1450F8EB00}" sibTransId="{B169AB28-3874-498E-BBC4-C5AA4107D1CB}"/>
    <dgm:cxn modelId="{F2D44FC2-E46C-4F64-86A6-D74B735E1E79}" srcId="{6E6B92C5-0007-4B7C-B821-708AF1255734}" destId="{2B170A48-A423-4894-9A82-6C0195F96D38}" srcOrd="0" destOrd="0" parTransId="{93737D68-708B-4533-8193-B280905DE2D8}" sibTransId="{064D40D1-C8F5-434E-8916-CFD97F6FD121}"/>
    <dgm:cxn modelId="{7FF5CCC5-5A06-4212-876D-E11F9CACE23B}" type="presOf" srcId="{B169AB28-3874-498E-BBC4-C5AA4107D1CB}" destId="{0DA776CC-7D9A-4E7C-87EB-05206621A87E}" srcOrd="0" destOrd="0" presId="urn:microsoft.com/office/officeart/2024/3/layout/verticalVisualTextBlock1"/>
    <dgm:cxn modelId="{B5E9B9CC-EFCB-46CA-94E1-02EC838E6946}" srcId="{DA9EBEA3-0EBB-4395-AF83-3B88B6838889}" destId="{C188E4F5-5123-4FE9-B7A9-E9397CEA62D7}" srcOrd="0" destOrd="0" parTransId="{C095B2DA-ED5C-4038-B4BA-5FFE7F2B31A0}" sibTransId="{24396F64-90E7-4B01-854B-1F5F83947ECF}"/>
    <dgm:cxn modelId="{B8E0BB92-2908-47DE-88BE-D1F71ADAC847}" type="presParOf" srcId="{49D50527-FEC6-4BB1-ABAC-25871F88DC12}" destId="{D1639F2C-10BA-43A7-BB3E-34739A80DB99}" srcOrd="0" destOrd="0" presId="urn:microsoft.com/office/officeart/2024/3/layout/verticalVisualTextBlock1"/>
    <dgm:cxn modelId="{A7A131D6-EA4E-4E4B-9274-C7D121A09F80}" type="presParOf" srcId="{D1639F2C-10BA-43A7-BB3E-34739A80DB99}" destId="{78A36231-382C-49D5-A20B-C8622414BE54}" srcOrd="0" destOrd="0" presId="urn:microsoft.com/office/officeart/2024/3/layout/verticalVisualTextBlock1"/>
    <dgm:cxn modelId="{68F320F5-3D3A-4EFC-AB5E-CC8B64911687}" type="presParOf" srcId="{D1639F2C-10BA-43A7-BB3E-34739A80DB99}" destId="{E3249548-ED5D-4427-9178-EC487E59B896}" srcOrd="1" destOrd="0" presId="urn:microsoft.com/office/officeart/2024/3/layout/verticalVisualTextBlock1"/>
    <dgm:cxn modelId="{1A035864-AA33-4554-8FDF-E41116474244}" type="presParOf" srcId="{D1639F2C-10BA-43A7-BB3E-34739A80DB99}" destId="{E42E39D0-FEB5-468A-BB06-8490B8373016}" srcOrd="2" destOrd="0" presId="urn:microsoft.com/office/officeart/2024/3/layout/verticalVisualTextBlock1"/>
    <dgm:cxn modelId="{3FCCB725-5E02-411E-8816-E091AC7BA45F}" type="presParOf" srcId="{49D50527-FEC6-4BB1-ABAC-25871F88DC12}" destId="{762751FB-510C-4496-B292-51C9386EA5F6}" srcOrd="1" destOrd="0" presId="urn:microsoft.com/office/officeart/2024/3/layout/verticalVisualTextBlock1"/>
    <dgm:cxn modelId="{DEE0B100-A415-407B-AA34-3493DCF98979}" type="presParOf" srcId="{49D50527-FEC6-4BB1-ABAC-25871F88DC12}" destId="{1E0BE9FD-4A4F-4520-879F-BB40E49E0545}" srcOrd="2" destOrd="0" presId="urn:microsoft.com/office/officeart/2024/3/layout/verticalVisualTextBlock1"/>
    <dgm:cxn modelId="{8C3812B5-181D-489B-A93F-E22F460339DC}" type="presParOf" srcId="{1E0BE9FD-4A4F-4520-879F-BB40E49E0545}" destId="{87795B1D-8D63-4506-9918-8AC03D84D36D}" srcOrd="0" destOrd="0" presId="urn:microsoft.com/office/officeart/2024/3/layout/verticalVisualTextBlock1"/>
    <dgm:cxn modelId="{22957DC4-AB70-4BED-81DE-96FB9DDF8482}" type="presParOf" srcId="{1E0BE9FD-4A4F-4520-879F-BB40E49E0545}" destId="{B0998292-B02C-4DA1-A430-A923DD6037AC}" srcOrd="1" destOrd="0" presId="urn:microsoft.com/office/officeart/2024/3/layout/verticalVisualTextBlock1"/>
    <dgm:cxn modelId="{6E3C9DC8-D065-47D0-9034-4C9AC79DA684}" type="presParOf" srcId="{1E0BE9FD-4A4F-4520-879F-BB40E49E0545}" destId="{113B3B29-398E-475E-B407-C1EE45698CB7}" srcOrd="2" destOrd="0" presId="urn:microsoft.com/office/officeart/2024/3/layout/verticalVisualTextBlock1"/>
    <dgm:cxn modelId="{A53C20ED-2DC1-4B94-B845-12ECEECFF548}" type="presParOf" srcId="{49D50527-FEC6-4BB1-ABAC-25871F88DC12}" destId="{0DA776CC-7D9A-4E7C-87EB-05206621A87E}" srcOrd="3" destOrd="0" presId="urn:microsoft.com/office/officeart/2024/3/layout/verticalVisualTextBlock1"/>
    <dgm:cxn modelId="{BD233DF5-048E-4A90-B1F7-D277C689CB4B}" type="presParOf" srcId="{49D50527-FEC6-4BB1-ABAC-25871F88DC12}" destId="{667369A7-ABA1-4411-B963-BF25B31881BC}" srcOrd="4" destOrd="0" presId="urn:microsoft.com/office/officeart/2024/3/layout/verticalVisualTextBlock1"/>
    <dgm:cxn modelId="{9662EA82-C035-40E3-B83E-6E069F8C26C3}" type="presParOf" srcId="{667369A7-ABA1-4411-B963-BF25B31881BC}" destId="{FF6689D0-5E7B-433D-B655-609766A9B876}" srcOrd="0" destOrd="0" presId="urn:microsoft.com/office/officeart/2024/3/layout/verticalVisualTextBlock1"/>
    <dgm:cxn modelId="{7B424ACC-1636-409E-98ED-24AAF4C6ABC4}" type="presParOf" srcId="{667369A7-ABA1-4411-B963-BF25B31881BC}" destId="{8320EDE4-6D68-49DF-9140-8A46D44F4AEA}" srcOrd="1" destOrd="0" presId="urn:microsoft.com/office/officeart/2024/3/layout/verticalVisualTextBlock1"/>
    <dgm:cxn modelId="{FBA43EF3-F398-4D43-A053-94FB46A3BD1C}" type="presParOf" srcId="{667369A7-ABA1-4411-B963-BF25B31881BC}" destId="{FC49183D-D276-47FE-B653-DD1AC425C838}"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A36231-382C-49D5-A20B-C8622414BE54}">
      <dsp:nvSpPr>
        <dsp:cNvPr id="0" name=""/>
        <dsp:cNvSpPr/>
      </dsp:nvSpPr>
      <dsp:spPr>
        <a:xfrm>
          <a:off x="0" y="0"/>
          <a:ext cx="1481451" cy="1481451"/>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l="10329" r="14669" b="-3"/>
          <a:stretch/>
        </a:blipFill>
        <a:ln>
          <a:noFill/>
        </a:ln>
        <a:effectLst/>
      </dsp:spPr>
      <dsp:style>
        <a:lnRef idx="0">
          <a:scrgbClr r="0" g="0" b="0"/>
        </a:lnRef>
        <a:fillRef idx="3">
          <a:scrgbClr r="0" g="0" b="0"/>
        </a:fillRef>
        <a:effectRef idx="2">
          <a:scrgbClr r="0" g="0" b="0"/>
        </a:effectRef>
        <a:fontRef idx="minor">
          <a:schemeClr val="lt1"/>
        </a:fontRef>
      </dsp:style>
    </dsp:sp>
    <dsp:sp modelId="{E3249548-ED5D-4427-9178-EC487E59B896}">
      <dsp:nvSpPr>
        <dsp:cNvPr id="0" name=""/>
        <dsp:cNvSpPr/>
      </dsp:nvSpPr>
      <dsp:spPr>
        <a:xfrm>
          <a:off x="1661451" y="0"/>
          <a:ext cx="8854148" cy="360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Contexte de la relance</a:t>
          </a:r>
        </a:p>
      </dsp:txBody>
      <dsp:txXfrm>
        <a:off x="1661451" y="0"/>
        <a:ext cx="8854148" cy="360239"/>
      </dsp:txXfrm>
    </dsp:sp>
    <dsp:sp modelId="{E42E39D0-FEB5-468A-BB06-8490B8373016}">
      <dsp:nvSpPr>
        <dsp:cNvPr id="0" name=""/>
        <dsp:cNvSpPr/>
      </dsp:nvSpPr>
      <dsp:spPr>
        <a:xfrm>
          <a:off x="1661451" y="360239"/>
          <a:ext cx="8854148" cy="1121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Relancer un fournisseur, client ou partenaire nécessite un message clair, structuré et engageant pour capter l’attention rapidement.</a:t>
          </a:r>
        </a:p>
      </dsp:txBody>
      <dsp:txXfrm>
        <a:off x="1661451" y="360239"/>
        <a:ext cx="8854148" cy="1121211"/>
      </dsp:txXfrm>
    </dsp:sp>
    <dsp:sp modelId="{87795B1D-8D63-4506-9918-8AC03D84D36D}">
      <dsp:nvSpPr>
        <dsp:cNvPr id="0" name=""/>
        <dsp:cNvSpPr/>
      </dsp:nvSpPr>
      <dsp:spPr>
        <a:xfrm>
          <a:off x="0" y="1599967"/>
          <a:ext cx="1481451" cy="1481451"/>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rcRect l="42444" r="5808" b="3"/>
          <a:stretch/>
        </a:blipFill>
        <a:ln>
          <a:noFill/>
        </a:ln>
        <a:effectLst/>
      </dsp:spPr>
      <dsp:style>
        <a:lnRef idx="0">
          <a:scrgbClr r="0" g="0" b="0"/>
        </a:lnRef>
        <a:fillRef idx="3">
          <a:scrgbClr r="0" g="0" b="0"/>
        </a:fillRef>
        <a:effectRef idx="2">
          <a:scrgbClr r="0" g="0" b="0"/>
        </a:effectRef>
        <a:fontRef idx="minor">
          <a:schemeClr val="lt1"/>
        </a:fontRef>
      </dsp:style>
    </dsp:sp>
    <dsp:sp modelId="{B0998292-B02C-4DA1-A430-A923DD6037AC}">
      <dsp:nvSpPr>
        <dsp:cNvPr id="0" name=""/>
        <dsp:cNvSpPr/>
      </dsp:nvSpPr>
      <dsp:spPr>
        <a:xfrm>
          <a:off x="1661451" y="1599967"/>
          <a:ext cx="8854148" cy="360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Objectif du message</a:t>
          </a:r>
        </a:p>
      </dsp:txBody>
      <dsp:txXfrm>
        <a:off x="1661451" y="1599967"/>
        <a:ext cx="8854148" cy="360239"/>
      </dsp:txXfrm>
    </dsp:sp>
    <dsp:sp modelId="{113B3B29-398E-475E-B407-C1EE45698CB7}">
      <dsp:nvSpPr>
        <dsp:cNvPr id="0" name=""/>
        <dsp:cNvSpPr/>
      </dsp:nvSpPr>
      <dsp:spPr>
        <a:xfrm>
          <a:off x="1661451" y="1960207"/>
          <a:ext cx="8854148" cy="1121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Gagner du temps tout en conservant un ton adapté et professionnel dans le mail de relance.</a:t>
          </a:r>
        </a:p>
      </dsp:txBody>
      <dsp:txXfrm>
        <a:off x="1661451" y="1960207"/>
        <a:ext cx="8854148" cy="1121211"/>
      </dsp:txXfrm>
    </dsp:sp>
    <dsp:sp modelId="{FF6689D0-5E7B-433D-B655-609766A9B876}">
      <dsp:nvSpPr>
        <dsp:cNvPr id="0" name=""/>
        <dsp:cNvSpPr/>
      </dsp:nvSpPr>
      <dsp:spPr>
        <a:xfrm>
          <a:off x="0" y="3199935"/>
          <a:ext cx="1481451" cy="1481451"/>
        </a:xfrm>
        <a:prstGeom prst="rect">
          <a:avLst/>
        </a:prstGeom>
        <a:blipFill>
          <a:blip xmlns:r="http://schemas.openxmlformats.org/officeDocument/2006/relationships" r:embed="rId3" cstate="print">
            <a:extLst>
              <a:ext uri="{28A0092B-C50C-407E-A947-70E740481C1C}">
                <a14:useLocalDpi xmlns:a14="http://schemas.microsoft.com/office/drawing/2010/main" val="0"/>
              </a:ext>
            </a:extLst>
          </a:blip>
          <a:srcRect l="16721" r="27027" b="-3"/>
          <a:stretch/>
        </a:blipFill>
        <a:ln>
          <a:noFill/>
        </a:ln>
        <a:effectLst/>
      </dsp:spPr>
      <dsp:style>
        <a:lnRef idx="0">
          <a:scrgbClr r="0" g="0" b="0"/>
        </a:lnRef>
        <a:fillRef idx="3">
          <a:scrgbClr r="0" g="0" b="0"/>
        </a:fillRef>
        <a:effectRef idx="2">
          <a:scrgbClr r="0" g="0" b="0"/>
        </a:effectRef>
        <a:fontRef idx="minor">
          <a:schemeClr val="lt1"/>
        </a:fontRef>
      </dsp:style>
    </dsp:sp>
    <dsp:sp modelId="{8320EDE4-6D68-49DF-9140-8A46D44F4AEA}">
      <dsp:nvSpPr>
        <dsp:cNvPr id="0" name=""/>
        <dsp:cNvSpPr/>
      </dsp:nvSpPr>
      <dsp:spPr>
        <a:xfrm>
          <a:off x="1661451" y="3199935"/>
          <a:ext cx="8854148" cy="360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Utilisation de l’IA</a:t>
          </a:r>
        </a:p>
      </dsp:txBody>
      <dsp:txXfrm>
        <a:off x="1661451" y="3199935"/>
        <a:ext cx="8854148" cy="360239"/>
      </dsp:txXfrm>
    </dsp:sp>
    <dsp:sp modelId="{FC49183D-D276-47FE-B653-DD1AC425C838}">
      <dsp:nvSpPr>
        <dsp:cNvPr id="0" name=""/>
        <dsp:cNvSpPr/>
      </dsp:nvSpPr>
      <dsp:spPr>
        <a:xfrm>
          <a:off x="1661451" y="3560174"/>
          <a:ext cx="8854148" cy="1121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L’IA aide à créer un mail efficace, respectant le ton adéquat et facilitant la rédaction rapide et soignée.</a:t>
          </a:r>
        </a:p>
      </dsp:txBody>
      <dsp:txXfrm>
        <a:off x="1661451" y="3560174"/>
        <a:ext cx="8854148" cy="1121211"/>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445530-105F-437C-AB08-E88E95660ACA}" type="datetimeFigureOut">
              <a:t>08/04/2026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B38A4-27E6-4A2A-8562-F62085EA4222}" type="slidenum">
              <a:t>‹N°›</a:t>
            </a:fld>
            <a:endParaRPr lang="fr-FR"/>
          </a:p>
        </p:txBody>
      </p:sp>
    </p:spTree>
    <p:extLst>
      <p:ext uri="{BB962C8B-B14F-4D97-AF65-F5344CB8AC3E}">
        <p14:creationId xmlns:p14="http://schemas.microsoft.com/office/powerpoint/2010/main" val="2079945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contenu généré par l’IA peut être incorrect.
---
Cette présentation explore les différents cas d’usage de l’intelligence artificielle (IA) en milieu professionnel. Elle vise à stimuler la compréhension et l’application concrète de l’IA pour améliorer les processus et la communication au travail.
</a:t>
            </a:r>
          </a:p>
        </p:txBody>
      </p:sp>
      <p:sp>
        <p:nvSpPr>
          <p:cNvPr id="4" name="Espace réservé du numéro de diapositive 3"/>
          <p:cNvSpPr>
            <a:spLocks noGrp="1"/>
          </p:cNvSpPr>
          <p:nvPr>
            <p:ph type="sldNum" sz="quarter" idx="5"/>
          </p:nvPr>
        </p:nvSpPr>
        <p:spPr/>
        <p:txBody>
          <a:bodyPr/>
          <a:lstStyle/>
          <a:p>
            <a:fld id="{3C0A7E92-2FCB-49EF-A54B-C3E444AC5AF0}" type="slidenum">
              <a:t>1</a:t>
            </a:fld>
            <a:endParaRPr lang="fr-FR"/>
          </a:p>
        </p:txBody>
      </p:sp>
    </p:spTree>
    <p:extLst>
      <p:ext uri="{BB962C8B-B14F-4D97-AF65-F5344CB8AC3E}">
        <p14:creationId xmlns:p14="http://schemas.microsoft.com/office/powerpoint/2010/main" val="1148882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Nous aborderons les objectifs pédagogiques, plusieurs scénarios pratiques d’utilisation de l’IA en entreprise, ainsi que des ateliers interactifs pour stimuler la créativité. Enfin, nous conclurons avec des outils pour faciliter la mise en œuvre rapide de supports et la communication optimisée.</a:t>
            </a:r>
          </a:p>
        </p:txBody>
      </p:sp>
      <p:sp>
        <p:nvSpPr>
          <p:cNvPr id="4" name="Espace réservé du numéro de diapositive 3"/>
          <p:cNvSpPr>
            <a:spLocks noGrp="1"/>
          </p:cNvSpPr>
          <p:nvPr>
            <p:ph type="sldNum" sz="quarter" idx="5"/>
          </p:nvPr>
        </p:nvSpPr>
        <p:spPr/>
        <p:txBody>
          <a:bodyPr/>
          <a:lstStyle/>
          <a:p>
            <a:fld id="{3C0A7E92-2FCB-49EF-A54B-C3E444AC5AF0}" type="slidenum">
              <a:t>2</a:t>
            </a:fld>
            <a:endParaRPr lang="fr-FR"/>
          </a:p>
        </p:txBody>
      </p:sp>
    </p:spTree>
    <p:extLst>
      <p:ext uri="{BB962C8B-B14F-4D97-AF65-F5344CB8AC3E}">
        <p14:creationId xmlns:p14="http://schemas.microsoft.com/office/powerpoint/2010/main" val="2216682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Objectif de la formation : stimuler l’identification d’usages pertinents de l’IA
</a:t>
            </a:r>
          </a:p>
        </p:txBody>
      </p:sp>
      <p:sp>
        <p:nvSpPr>
          <p:cNvPr id="4" name="Espace réservé du numéro de diapositive 3"/>
          <p:cNvSpPr>
            <a:spLocks noGrp="1"/>
          </p:cNvSpPr>
          <p:nvPr>
            <p:ph type="sldNum" sz="quarter" idx="5"/>
          </p:nvPr>
        </p:nvSpPr>
        <p:spPr/>
        <p:txBody>
          <a:bodyPr/>
          <a:lstStyle/>
          <a:p>
            <a:fld id="{3C0A7E92-2FCB-49EF-A54B-C3E444AC5AF0}" type="slidenum">
              <a:t>3</a:t>
            </a:fld>
            <a:endParaRPr lang="fr-FR"/>
          </a:p>
        </p:txBody>
      </p:sp>
    </p:spTree>
    <p:extLst>
      <p:ext uri="{BB962C8B-B14F-4D97-AF65-F5344CB8AC3E}">
        <p14:creationId xmlns:p14="http://schemas.microsoft.com/office/powerpoint/2010/main" val="2434163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 Objectif pédagogique :
Projeter les participants dans des situations concrètes pour stimuler leur capacité à identifier un usage pertinent, réaliste et utile de l’IA dans leur environnement professionnel.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4</a:t>
            </a:fld>
            <a:endParaRPr lang="fr-FR"/>
          </a:p>
        </p:txBody>
      </p:sp>
    </p:spTree>
    <p:extLst>
      <p:ext uri="{BB962C8B-B14F-4D97-AF65-F5344CB8AC3E}">
        <p14:creationId xmlns:p14="http://schemas.microsoft.com/office/powerpoint/2010/main" val="2532071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Contexte et mission : transformer un rapport PDF en tableau synthétique, Questions guide : prompt, outils, limites et vérifications
</a:t>
            </a:r>
          </a:p>
        </p:txBody>
      </p:sp>
      <p:sp>
        <p:nvSpPr>
          <p:cNvPr id="4" name="Espace réservé du numéro de diapositive 3"/>
          <p:cNvSpPr>
            <a:spLocks noGrp="1"/>
          </p:cNvSpPr>
          <p:nvPr>
            <p:ph type="sldNum" sz="quarter" idx="5"/>
          </p:nvPr>
        </p:nvSpPr>
        <p:spPr/>
        <p:txBody>
          <a:bodyPr/>
          <a:lstStyle/>
          <a:p>
            <a:fld id="{3C0A7E92-2FCB-49EF-A54B-C3E444AC5AF0}" type="slidenum">
              <a:t>5</a:t>
            </a:fld>
            <a:endParaRPr lang="fr-FR"/>
          </a:p>
        </p:txBody>
      </p:sp>
    </p:spTree>
    <p:extLst>
      <p:ext uri="{BB962C8B-B14F-4D97-AF65-F5344CB8AC3E}">
        <p14:creationId xmlns:p14="http://schemas.microsoft.com/office/powerpoint/2010/main" val="4092457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 Scénario 1 – Le tableau impossible
Contexte : Vous recevez chaque mois un rapport PDF complexe (RH, finance, satisfaction client…). Votre manager vous demande de l'exploiter sous forme de tableau synthétique dans Excel pour lundi matin.
Mission : Comment pourriez-vous utiliser une IA (ChatGPT, Copilot…) pour gagner du temps ?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6</a:t>
            </a:fld>
            <a:endParaRPr lang="fr-FR"/>
          </a:p>
        </p:txBody>
      </p:sp>
    </p:spTree>
    <p:extLst>
      <p:ext uri="{BB962C8B-B14F-4D97-AF65-F5344CB8AC3E}">
        <p14:creationId xmlns:p14="http://schemas.microsoft.com/office/powerpoint/2010/main" val="1131856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Questions guide :
Quel prompt serait pertinent ?
Quel(s) outil(s) mobiliser ?
Quelles limites ou vérifications envisager ?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7</a:t>
            </a:fld>
            <a:endParaRPr lang="fr-FR"/>
          </a:p>
        </p:txBody>
      </p:sp>
    </p:spTree>
    <p:extLst>
      <p:ext uri="{BB962C8B-B14F-4D97-AF65-F5344CB8AC3E}">
        <p14:creationId xmlns:p14="http://schemas.microsoft.com/office/powerpoint/2010/main" val="1284779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Contexte et mission : relancer un interlocuteur avec un message structuré, Questions guide : personnalisation, contrôle de la formulation, interdits
</a:t>
            </a:r>
          </a:p>
        </p:txBody>
      </p:sp>
      <p:sp>
        <p:nvSpPr>
          <p:cNvPr id="4" name="Espace réservé du numéro de diapositive 3"/>
          <p:cNvSpPr>
            <a:spLocks noGrp="1"/>
          </p:cNvSpPr>
          <p:nvPr>
            <p:ph type="sldNum" sz="quarter" idx="5"/>
          </p:nvPr>
        </p:nvSpPr>
        <p:spPr/>
        <p:txBody>
          <a:bodyPr/>
          <a:lstStyle/>
          <a:p>
            <a:fld id="{3C0A7E92-2FCB-49EF-A54B-C3E444AC5AF0}" type="slidenum">
              <a:t>8</a:t>
            </a:fld>
            <a:endParaRPr lang="fr-FR"/>
          </a:p>
        </p:txBody>
      </p:sp>
    </p:spTree>
    <p:extLst>
      <p:ext uri="{BB962C8B-B14F-4D97-AF65-F5344CB8AC3E}">
        <p14:creationId xmlns:p14="http://schemas.microsoft.com/office/powerpoint/2010/main" val="258199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 Scénario 2 – Le mail qui fait gagner du temps
Contexte : Vous devez relancer un fournisseur/client/partenaire avec un message structuré, engageant, sans perdre de temps.
Mission : Créez une version de ce mail avec l’aide d’une IA, en respectant le ton adapté.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9</a:t>
            </a:fld>
            <a:endParaRPr lang="fr-FR"/>
          </a:p>
        </p:txBody>
      </p:sp>
    </p:spTree>
    <p:extLst>
      <p:ext uri="{BB962C8B-B14F-4D97-AF65-F5344CB8AC3E}">
        <p14:creationId xmlns:p14="http://schemas.microsoft.com/office/powerpoint/2010/main" val="1572525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Questions guide :
Quel niveau de personnalisation demander ?
Comment contrôler la formulation ?
Que ne doit surtout pas faire l’IA ici ?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10</a:t>
            </a:fld>
            <a:endParaRPr lang="fr-FR"/>
          </a:p>
        </p:txBody>
      </p:sp>
    </p:spTree>
    <p:extLst>
      <p:ext uri="{BB962C8B-B14F-4D97-AF65-F5344CB8AC3E}">
        <p14:creationId xmlns:p14="http://schemas.microsoft.com/office/powerpoint/2010/main" val="3983598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Contexte et mission : publication LinkedIn ou newsletter optimisée, Questions guide : mots-clés, ton/style, délégation de la création
</a:t>
            </a:r>
          </a:p>
        </p:txBody>
      </p:sp>
      <p:sp>
        <p:nvSpPr>
          <p:cNvPr id="4" name="Espace réservé du numéro de diapositive 3"/>
          <p:cNvSpPr>
            <a:spLocks noGrp="1"/>
          </p:cNvSpPr>
          <p:nvPr>
            <p:ph type="sldNum" sz="quarter" idx="5"/>
          </p:nvPr>
        </p:nvSpPr>
        <p:spPr/>
        <p:txBody>
          <a:bodyPr/>
          <a:lstStyle/>
          <a:p>
            <a:fld id="{3C0A7E92-2FCB-49EF-A54B-C3E444AC5AF0}" type="slidenum">
              <a:t>11</a:t>
            </a:fld>
            <a:endParaRPr lang="fr-FR"/>
          </a:p>
        </p:txBody>
      </p:sp>
    </p:spTree>
    <p:extLst>
      <p:ext uri="{BB962C8B-B14F-4D97-AF65-F5344CB8AC3E}">
        <p14:creationId xmlns:p14="http://schemas.microsoft.com/office/powerpoint/2010/main" val="2740154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 Scénario 4 – Le contenu qui cartonne
Contexte : Vous devez créer une publication LinkedIn ou une newsletter client à forte valeur ajoutée. Vous avez le fond, mais pas le temps.
Mission : Utilisez une IA pour structurer, rédiger, reformuler, optimiser la diffusion.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12</a:t>
            </a:fld>
            <a:endParaRPr lang="fr-FR"/>
          </a:p>
        </p:txBody>
      </p:sp>
    </p:spTree>
    <p:extLst>
      <p:ext uri="{BB962C8B-B14F-4D97-AF65-F5344CB8AC3E}">
        <p14:creationId xmlns:p14="http://schemas.microsoft.com/office/powerpoint/2010/main" val="2459845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Questions guide :
Quels mots-clés donner à l’IA ?
Comment vérifier le ton / style ?
Jusqu’où déléguer la création ?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13</a:t>
            </a:fld>
            <a:endParaRPr lang="fr-FR"/>
          </a:p>
        </p:txBody>
      </p:sp>
    </p:spTree>
    <p:extLst>
      <p:ext uri="{BB962C8B-B14F-4D97-AF65-F5344CB8AC3E}">
        <p14:creationId xmlns:p14="http://schemas.microsoft.com/office/powerpoint/2010/main" val="5803813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Contexte et mission : vérifier un livrable IA avant envoi, Questions guide : limites franchies, éléments humains, règles internes
</a:t>
            </a:r>
          </a:p>
        </p:txBody>
      </p:sp>
      <p:sp>
        <p:nvSpPr>
          <p:cNvPr id="4" name="Espace réservé du numéro de diapositive 3"/>
          <p:cNvSpPr>
            <a:spLocks noGrp="1"/>
          </p:cNvSpPr>
          <p:nvPr>
            <p:ph type="sldNum" sz="quarter" idx="5"/>
          </p:nvPr>
        </p:nvSpPr>
        <p:spPr/>
        <p:txBody>
          <a:bodyPr/>
          <a:lstStyle/>
          <a:p>
            <a:fld id="{3C0A7E92-2FCB-49EF-A54B-C3E444AC5AF0}" type="slidenum">
              <a:t>14</a:t>
            </a:fld>
            <a:endParaRPr lang="fr-FR"/>
          </a:p>
        </p:txBody>
      </p:sp>
    </p:spTree>
    <p:extLst>
      <p:ext uri="{BB962C8B-B14F-4D97-AF65-F5344CB8AC3E}">
        <p14:creationId xmlns:p14="http://schemas.microsoft.com/office/powerpoint/2010/main" val="40901493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 Scénario 5 – Création d’une infographie
Contexte : Vous avez utilisé l’IA pour rédiger un livrable (note, rapport, synthèse client). Il semble bon… mais il y a un risque.
Mission : Identifiez ce qui doit absolument être vérifié ou réécrit avant envoi.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15</a:t>
            </a:fld>
            <a:endParaRPr lang="fr-FR"/>
          </a:p>
        </p:txBody>
      </p:sp>
    </p:spTree>
    <p:extLst>
      <p:ext uri="{BB962C8B-B14F-4D97-AF65-F5344CB8AC3E}">
        <p14:creationId xmlns:p14="http://schemas.microsoft.com/office/powerpoint/2010/main" val="721119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Questions guide :
Quelles limites ont été franchies ?
Quels éléments doivent rester humains ?
Quelles règles internes faut-il respecter ?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16</a:t>
            </a:fld>
            <a:endParaRPr lang="fr-FR"/>
          </a:p>
        </p:txBody>
      </p:sp>
    </p:spTree>
    <p:extLst>
      <p:ext uri="{BB962C8B-B14F-4D97-AF65-F5344CB8AC3E}">
        <p14:creationId xmlns:p14="http://schemas.microsoft.com/office/powerpoint/2010/main" val="30714818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Contexte, tâche et objectif : IA comme coach ou simulateur, Débrief : confiance, limites éthiques et RH
</a:t>
            </a:r>
          </a:p>
        </p:txBody>
      </p:sp>
      <p:sp>
        <p:nvSpPr>
          <p:cNvPr id="4" name="Espace réservé du numéro de diapositive 3"/>
          <p:cNvSpPr>
            <a:spLocks noGrp="1"/>
          </p:cNvSpPr>
          <p:nvPr>
            <p:ph type="sldNum" sz="quarter" idx="5"/>
          </p:nvPr>
        </p:nvSpPr>
        <p:spPr/>
        <p:txBody>
          <a:bodyPr/>
          <a:lstStyle/>
          <a:p>
            <a:fld id="{3C0A7E92-2FCB-49EF-A54B-C3E444AC5AF0}" type="slidenum">
              <a:t>17</a:t>
            </a:fld>
            <a:endParaRPr lang="fr-FR"/>
          </a:p>
        </p:txBody>
      </p:sp>
    </p:spTree>
    <p:extLst>
      <p:ext uri="{BB962C8B-B14F-4D97-AF65-F5344CB8AC3E}">
        <p14:creationId xmlns:p14="http://schemas.microsoft.com/office/powerpoint/2010/main" val="18422766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6. "Je me fais coacher par l’IA"
Contexte : Le salarié veut améliorer sa posture pro (prise de parole, négociation, gestion du stress).
Tâche : Utiliser un chatbot IA comme coach ou simulateur de situation (ex. : GPT Coach).
Objectif : Tester la pertinence des conseils, la posture de l’IA, le réalisme des simulations.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18</a:t>
            </a:fld>
            <a:endParaRPr lang="fr-FR"/>
          </a:p>
        </p:txBody>
      </p:sp>
    </p:spTree>
    <p:extLst>
      <p:ext uri="{BB962C8B-B14F-4D97-AF65-F5344CB8AC3E}">
        <p14:creationId xmlns:p14="http://schemas.microsoft.com/office/powerpoint/2010/main" val="2916973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Débrief : Jusqu’où peut-on faire confiance à un "coach" IA ? Quelles limites éthiques ou RH ?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19</a:t>
            </a:fld>
            <a:endParaRPr lang="fr-FR"/>
          </a:p>
        </p:txBody>
      </p:sp>
    </p:spTree>
    <p:extLst>
      <p:ext uri="{BB962C8B-B14F-4D97-AF65-F5344CB8AC3E}">
        <p14:creationId xmlns:p14="http://schemas.microsoft.com/office/powerpoint/2010/main" val="1516568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Contexte, tâche et objectif : co-construction d’idées d’usage IA, Débrief : vote collectif, pitch, registre IA ou plan d’expérimentation
</a:t>
            </a:r>
          </a:p>
        </p:txBody>
      </p:sp>
      <p:sp>
        <p:nvSpPr>
          <p:cNvPr id="4" name="Espace réservé du numéro de diapositive 3"/>
          <p:cNvSpPr>
            <a:spLocks noGrp="1"/>
          </p:cNvSpPr>
          <p:nvPr>
            <p:ph type="sldNum" sz="quarter" idx="5"/>
          </p:nvPr>
        </p:nvSpPr>
        <p:spPr/>
        <p:txBody>
          <a:bodyPr/>
          <a:lstStyle/>
          <a:p>
            <a:fld id="{3C0A7E92-2FCB-49EF-A54B-C3E444AC5AF0}" type="slidenum">
              <a:t>20</a:t>
            </a:fld>
            <a:endParaRPr lang="fr-FR"/>
          </a:p>
        </p:txBody>
      </p:sp>
    </p:spTree>
    <p:extLst>
      <p:ext uri="{BB962C8B-B14F-4D97-AF65-F5344CB8AC3E}">
        <p14:creationId xmlns:p14="http://schemas.microsoft.com/office/powerpoint/2010/main" val="13554888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7. "Bac à sable : propose ton idée d’usage"
Contexte : Atelier de co-construction ou d’idéation collective.
Tâche : En binôme ou petit groupe, les participants formulent une idée d’usage IA utile dans leur métier.
Objectif : Imaginer des cas d’usage, réfléchir à l’impact, les risques, les garde-fous.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21</a:t>
            </a:fld>
            <a:endParaRPr lang="fr-FR"/>
          </a:p>
        </p:txBody>
      </p:sp>
    </p:spTree>
    <p:extLst>
      <p:ext uri="{BB962C8B-B14F-4D97-AF65-F5344CB8AC3E}">
        <p14:creationId xmlns:p14="http://schemas.microsoft.com/office/powerpoint/2010/main" val="19755902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Débrief : Vote collectif ou pitch des idées. Peut déboucher sur le registre IA ou un plan d’expérimentation.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22</a:t>
            </a:fld>
            <a:endParaRPr lang="fr-FR"/>
          </a:p>
        </p:txBody>
      </p:sp>
    </p:spTree>
    <p:extLst>
      <p:ext uri="{BB962C8B-B14F-4D97-AF65-F5344CB8AC3E}">
        <p14:creationId xmlns:p14="http://schemas.microsoft.com/office/powerpoint/2010/main" val="40373419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Contexte, tâche et objectif : création de support en 20 minutes, Débrief : automatisation vs qualité
</a:t>
            </a:r>
          </a:p>
        </p:txBody>
      </p:sp>
      <p:sp>
        <p:nvSpPr>
          <p:cNvPr id="4" name="Espace réservé du numéro de diapositive 3"/>
          <p:cNvSpPr>
            <a:spLocks noGrp="1"/>
          </p:cNvSpPr>
          <p:nvPr>
            <p:ph type="sldNum" sz="quarter" idx="5"/>
          </p:nvPr>
        </p:nvSpPr>
        <p:spPr/>
        <p:txBody>
          <a:bodyPr/>
          <a:lstStyle/>
          <a:p>
            <a:fld id="{3C0A7E92-2FCB-49EF-A54B-C3E444AC5AF0}" type="slidenum">
              <a:t>23</a:t>
            </a:fld>
            <a:endParaRPr lang="fr-FR"/>
          </a:p>
        </p:txBody>
      </p:sp>
    </p:spTree>
    <p:extLst>
      <p:ext uri="{BB962C8B-B14F-4D97-AF65-F5344CB8AC3E}">
        <p14:creationId xmlns:p14="http://schemas.microsoft.com/office/powerpoint/2010/main" val="24039415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8. "Créer un support en 20 minutes"
Contexte : Un formateur ou un manager doit créer un support PowerPoint / Canva / Word / Notion rapidement.
Tâche : Demander à Copilot / ChatGPT de créer le plan et le contenu d’un support sur un sujet métier.
Objectif : Évaluer le gain de temps VS le besoin de relecture et d’adaptation.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24</a:t>
            </a:fld>
            <a:endParaRPr lang="fr-FR"/>
          </a:p>
        </p:txBody>
      </p:sp>
    </p:spTree>
    <p:extLst>
      <p:ext uri="{BB962C8B-B14F-4D97-AF65-F5344CB8AC3E}">
        <p14:creationId xmlns:p14="http://schemas.microsoft.com/office/powerpoint/2010/main" val="23154789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Débrief : Quelle part du travail peut réellement être automatisée sans perte de qualité ?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25</a:t>
            </a:fld>
            <a:endParaRPr lang="fr-FR"/>
          </a:p>
        </p:txBody>
      </p:sp>
    </p:spTree>
    <p:extLst>
      <p:ext uri="{BB962C8B-B14F-4D97-AF65-F5344CB8AC3E}">
        <p14:creationId xmlns:p14="http://schemas.microsoft.com/office/powerpoint/2010/main" val="22285593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Contexte, tâche et objectif : reformulation de messages sensibles, Débrief : ton adapté, risques et limites des propositions IA
</a:t>
            </a:r>
          </a:p>
        </p:txBody>
      </p:sp>
      <p:sp>
        <p:nvSpPr>
          <p:cNvPr id="4" name="Espace réservé du numéro de diapositive 3"/>
          <p:cNvSpPr>
            <a:spLocks noGrp="1"/>
          </p:cNvSpPr>
          <p:nvPr>
            <p:ph type="sldNum" sz="quarter" idx="5"/>
          </p:nvPr>
        </p:nvSpPr>
        <p:spPr/>
        <p:txBody>
          <a:bodyPr/>
          <a:lstStyle/>
          <a:p>
            <a:fld id="{3C0A7E92-2FCB-49EF-A54B-C3E444AC5AF0}" type="slidenum">
              <a:t>26</a:t>
            </a:fld>
            <a:endParaRPr lang="fr-FR"/>
          </a:p>
        </p:txBody>
      </p:sp>
    </p:spTree>
    <p:extLst>
      <p:ext uri="{BB962C8B-B14F-4D97-AF65-F5344CB8AC3E}">
        <p14:creationId xmlns:p14="http://schemas.microsoft.com/office/powerpoint/2010/main" val="11253225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9. "Réécrire pour mieux communiquer"
Contexte : Un salarié doit reformuler un mail client délicat, un message RH ou une réponse à une plainte.
Tâche : Tester plusieurs IA (ChatGPT, Mistral, Gemini...) pour obtenir des propositions de rédaction.
Objectif : Identifier les nuances, les biais, les erreurs ou les hallucinations possibles.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27</a:t>
            </a:fld>
            <a:endParaRPr lang="fr-FR"/>
          </a:p>
        </p:txBody>
      </p:sp>
    </p:spTree>
    <p:extLst>
      <p:ext uri="{BB962C8B-B14F-4D97-AF65-F5344CB8AC3E}">
        <p14:creationId xmlns:p14="http://schemas.microsoft.com/office/powerpoint/2010/main" val="28129680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Débrief : Quelle IA a proposé le ton le plus adapté ? Quels risques à reprendre la proposition telle quelle ?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28</a:t>
            </a:fld>
            <a:endParaRPr lang="fr-FR"/>
          </a:p>
        </p:txBody>
      </p:sp>
    </p:spTree>
    <p:extLst>
      <p:ext uri="{BB962C8B-B14F-4D97-AF65-F5344CB8AC3E}">
        <p14:creationId xmlns:p14="http://schemas.microsoft.com/office/powerpoint/2010/main" val="29952030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Présentation flash : “Mon cas d’usage IA à tester demain”
</a:t>
            </a:r>
          </a:p>
        </p:txBody>
      </p:sp>
      <p:sp>
        <p:nvSpPr>
          <p:cNvPr id="4" name="Espace réservé du numéro de diapositive 3"/>
          <p:cNvSpPr>
            <a:spLocks noGrp="1"/>
          </p:cNvSpPr>
          <p:nvPr>
            <p:ph type="sldNum" sz="quarter" idx="5"/>
          </p:nvPr>
        </p:nvSpPr>
        <p:spPr/>
        <p:txBody>
          <a:bodyPr/>
          <a:lstStyle/>
          <a:p>
            <a:fld id="{3C0A7E92-2FCB-49EF-A54B-C3E444AC5AF0}" type="slidenum">
              <a:t>29</a:t>
            </a:fld>
            <a:endParaRPr lang="fr-FR"/>
          </a:p>
        </p:txBody>
      </p:sp>
    </p:spTree>
    <p:extLst>
      <p:ext uri="{BB962C8B-B14F-4D97-AF65-F5344CB8AC3E}">
        <p14:creationId xmlns:p14="http://schemas.microsoft.com/office/powerpoint/2010/main" val="10213793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Cette diapositive fait référence aux informations du fichier suivant : https://atpformation.sharepoint.com/sites/IA/_layouts/15/Doc.aspx?sourcedoc=%7B577938B3-6166-4118-BA83-3A57F6A39421%7D&amp;file=MODULE%206%20CAS%20D%27USAGE.docx&amp;action=default&amp;mobileredirect=true&amp;DefaultItemOpen=1
✅ Restitution possible :
Présentation flash : “Mon cas d’usage IA à tester demain”
Source de l’image : bibliothèque de contenu Microsoft 365
</a:t>
            </a:r>
          </a:p>
        </p:txBody>
      </p:sp>
      <p:sp>
        <p:nvSpPr>
          <p:cNvPr id="4" name="Espace réservé du numéro de diapositive 3"/>
          <p:cNvSpPr>
            <a:spLocks noGrp="1"/>
          </p:cNvSpPr>
          <p:nvPr>
            <p:ph type="sldNum" sz="quarter" idx="5"/>
          </p:nvPr>
        </p:nvSpPr>
        <p:spPr/>
        <p:txBody>
          <a:bodyPr/>
          <a:lstStyle/>
          <a:p>
            <a:fld id="{3C0A7E92-2FCB-49EF-A54B-C3E444AC5AF0}" type="slidenum">
              <a:t>30</a:t>
            </a:fld>
            <a:endParaRPr lang="fr-FR"/>
          </a:p>
        </p:txBody>
      </p:sp>
    </p:spTree>
    <p:extLst>
      <p:ext uri="{BB962C8B-B14F-4D97-AF65-F5344CB8AC3E}">
        <p14:creationId xmlns:p14="http://schemas.microsoft.com/office/powerpoint/2010/main" val="3426829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C615B0-C62E-4301-E268-C675493CB5F0}"/>
              </a:ext>
            </a:extLst>
          </p:cNvPr>
          <p:cNvSpPr/>
          <p:nvPr userDrawn="1"/>
        </p:nvSpPr>
        <p:spPr>
          <a:xfrm>
            <a:off x="1" y="4416831"/>
            <a:ext cx="12192000" cy="7594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861A6CB7-1F48-9C45-A8FC-D15E4243A9FF}"/>
              </a:ext>
            </a:extLst>
          </p:cNvPr>
          <p:cNvSpPr/>
          <p:nvPr userDrawn="1"/>
        </p:nvSpPr>
        <p:spPr>
          <a:xfrm>
            <a:off x="0" y="-1"/>
            <a:ext cx="12192000" cy="44168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3991A4F1-D816-B327-1038-D5141753B785}"/>
              </a:ext>
            </a:extLst>
          </p:cNvPr>
          <p:cNvSpPr>
            <a:spLocks noGrp="1"/>
          </p:cNvSpPr>
          <p:nvPr>
            <p:ph type="ctrTitle"/>
          </p:nvPr>
        </p:nvSpPr>
        <p:spPr>
          <a:xfrm>
            <a:off x="1524000" y="1122362"/>
            <a:ext cx="9144000" cy="3219050"/>
          </a:xfrm>
        </p:spPr>
        <p:txBody>
          <a:bodyPr anchor="b"/>
          <a:lstStyle>
            <a:lvl1pPr algn="ctr">
              <a:defRPr sz="6000">
                <a:solidFill>
                  <a:schemeClr val="bg1"/>
                </a:solidFill>
              </a:defRPr>
            </a:lvl1pPr>
          </a:lstStyle>
          <a:p>
            <a:r>
              <a:rPr lang="fr-FR" dirty="0"/>
              <a:t>Modifiez le style du titre</a:t>
            </a:r>
          </a:p>
        </p:txBody>
      </p:sp>
      <p:sp>
        <p:nvSpPr>
          <p:cNvPr id="3" name="Sous-titre 2">
            <a:extLst>
              <a:ext uri="{FF2B5EF4-FFF2-40B4-BE49-F238E27FC236}">
                <a16:creationId xmlns:a16="http://schemas.microsoft.com/office/drawing/2014/main" id="{21CA3725-3FB9-8F0C-9083-B8DCF7659CE3}"/>
              </a:ext>
            </a:extLst>
          </p:cNvPr>
          <p:cNvSpPr>
            <a:spLocks noGrp="1"/>
          </p:cNvSpPr>
          <p:nvPr>
            <p:ph type="subTitle" idx="1"/>
          </p:nvPr>
        </p:nvSpPr>
        <p:spPr>
          <a:xfrm>
            <a:off x="1524000" y="4416830"/>
            <a:ext cx="9144000" cy="759469"/>
          </a:xfrm>
        </p:spPr>
        <p:txBody>
          <a:bodyPr anchor="ct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p>
        </p:txBody>
      </p:sp>
      <p:sp>
        <p:nvSpPr>
          <p:cNvPr id="4" name="Espace réservé de la date 3">
            <a:extLst>
              <a:ext uri="{FF2B5EF4-FFF2-40B4-BE49-F238E27FC236}">
                <a16:creationId xmlns:a16="http://schemas.microsoft.com/office/drawing/2014/main" id="{EFF07C55-6380-551F-2F15-1F99B34E6622}"/>
              </a:ext>
            </a:extLst>
          </p:cNvPr>
          <p:cNvSpPr>
            <a:spLocks noGrp="1"/>
          </p:cNvSpPr>
          <p:nvPr>
            <p:ph type="dt" sz="half" idx="10"/>
          </p:nvPr>
        </p:nvSpPr>
        <p:spPr/>
        <p:txBody>
          <a:bodyPr/>
          <a:lstStyle>
            <a:lvl1pPr>
              <a:defRPr>
                <a:solidFill>
                  <a:schemeClr val="bg1"/>
                </a:solidFill>
              </a:defRPr>
            </a:lvl1pPr>
          </a:lstStyle>
          <a:p>
            <a:fld id="{ECA158B7-8507-4363-B068-E4BAF1FF403D}" type="datetimeFigureOut">
              <a:rPr lang="fr-FR" smtClean="0"/>
              <a:pPr/>
              <a:t>08/04/2026</a:t>
            </a:fld>
            <a:endParaRPr lang="fr-FR" dirty="0"/>
          </a:p>
        </p:txBody>
      </p:sp>
      <p:sp>
        <p:nvSpPr>
          <p:cNvPr id="5" name="Espace réservé du pied de page 4">
            <a:extLst>
              <a:ext uri="{FF2B5EF4-FFF2-40B4-BE49-F238E27FC236}">
                <a16:creationId xmlns:a16="http://schemas.microsoft.com/office/drawing/2014/main" id="{F7F3BE26-63B9-D4EB-D93B-E2B31CB56662}"/>
              </a:ext>
            </a:extLst>
          </p:cNvPr>
          <p:cNvSpPr>
            <a:spLocks noGrp="1"/>
          </p:cNvSpPr>
          <p:nvPr>
            <p:ph type="ftr" sz="quarter" idx="11"/>
          </p:nvPr>
        </p:nvSpPr>
        <p:spPr>
          <a:solidFill>
            <a:srgbClr val="FFFFFF">
              <a:alpha val="50196"/>
            </a:srgbClr>
          </a:solidFill>
        </p:spPr>
        <p:txBody>
          <a:bodyPr/>
          <a:lstStyle/>
          <a:p>
            <a:endParaRPr lang="fr-FR"/>
          </a:p>
        </p:txBody>
      </p:sp>
      <p:sp>
        <p:nvSpPr>
          <p:cNvPr id="6" name="Espace réservé du numéro de diapositive 5">
            <a:extLst>
              <a:ext uri="{FF2B5EF4-FFF2-40B4-BE49-F238E27FC236}">
                <a16:creationId xmlns:a16="http://schemas.microsoft.com/office/drawing/2014/main" id="{D4039AEC-8D5C-3DA8-40D0-11E26DF9FBD2}"/>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3680818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70AFE-3229-F0A3-F51C-F17D88361DF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7AE7D7B-1890-BCAE-626D-327B20AAF220}"/>
              </a:ext>
            </a:extLst>
          </p:cNvPr>
          <p:cNvSpPr>
            <a:spLocks noGrp="1"/>
          </p:cNvSpPr>
          <p:nvPr>
            <p:ph idx="1"/>
          </p:nvPr>
        </p:nvSpPr>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582DF0BA-5A95-5F3A-04B6-535857E774A5}"/>
              </a:ext>
            </a:extLst>
          </p:cNvPr>
          <p:cNvSpPr>
            <a:spLocks noGrp="1"/>
          </p:cNvSpPr>
          <p:nvPr>
            <p:ph type="dt" sz="half" idx="10"/>
          </p:nvPr>
        </p:nvSpPr>
        <p:spPr/>
        <p:txBody>
          <a:bodyPr/>
          <a:lstStyle/>
          <a:p>
            <a:fld id="{ECA158B7-8507-4363-B068-E4BAF1FF403D}" type="datetimeFigureOut">
              <a:rPr lang="fr-FR" smtClean="0"/>
              <a:t>08/04/2026</a:t>
            </a:fld>
            <a:endParaRPr lang="fr-FR"/>
          </a:p>
        </p:txBody>
      </p:sp>
      <p:sp>
        <p:nvSpPr>
          <p:cNvPr id="5" name="Espace réservé du pied de page 4">
            <a:extLst>
              <a:ext uri="{FF2B5EF4-FFF2-40B4-BE49-F238E27FC236}">
                <a16:creationId xmlns:a16="http://schemas.microsoft.com/office/drawing/2014/main" id="{1247A217-93A7-5459-5022-C725DAE67D3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B7951B-E41A-CAB5-5A49-393867047726}"/>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1964716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re et contenu Bleu foncé">
    <p:spTree>
      <p:nvGrpSpPr>
        <p:cNvPr id="1" name=""/>
        <p:cNvGrpSpPr/>
        <p:nvPr/>
      </p:nvGrpSpPr>
      <p:grpSpPr>
        <a:xfrm>
          <a:off x="0" y="0"/>
          <a:ext cx="0" cy="0"/>
          <a:chOff x="0" y="0"/>
          <a:chExt cx="0" cy="0"/>
        </a:xfrm>
      </p:grpSpPr>
      <p:sp>
        <p:nvSpPr>
          <p:cNvPr id="14" name="Forme libre : forme 13">
            <a:extLst>
              <a:ext uri="{FF2B5EF4-FFF2-40B4-BE49-F238E27FC236}">
                <a16:creationId xmlns:a16="http://schemas.microsoft.com/office/drawing/2014/main" id="{8947D476-8E0E-CB48-AB5D-446FF06B6884}"/>
              </a:ext>
            </a:extLst>
          </p:cNvPr>
          <p:cNvSpPr/>
          <p:nvPr userDrawn="1"/>
        </p:nvSpPr>
        <p:spPr>
          <a:xfrm rot="120000">
            <a:off x="-107788" y="-48436"/>
            <a:ext cx="3088748" cy="6974554"/>
          </a:xfrm>
          <a:custGeom>
            <a:avLst/>
            <a:gdLst>
              <a:gd name="connsiteX0" fmla="*/ 0 w 3310062"/>
              <a:gd name="connsiteY0" fmla="*/ 115590 h 7026528"/>
              <a:gd name="connsiteX1" fmla="*/ 3310062 w 3310062"/>
              <a:gd name="connsiteY1" fmla="*/ 0 h 7026528"/>
              <a:gd name="connsiteX2" fmla="*/ 3310062 w 3310062"/>
              <a:gd name="connsiteY2" fmla="*/ 6919365 h 7026528"/>
              <a:gd name="connsiteX3" fmla="*/ 241335 w 3310062"/>
              <a:gd name="connsiteY3" fmla="*/ 7026528 h 7026528"/>
              <a:gd name="connsiteX4" fmla="*/ 0 w 3310062"/>
              <a:gd name="connsiteY4" fmla="*/ 115590 h 7026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0062" h="7026528">
                <a:moveTo>
                  <a:pt x="0" y="115590"/>
                </a:moveTo>
                <a:lnTo>
                  <a:pt x="3310062" y="0"/>
                </a:lnTo>
                <a:lnTo>
                  <a:pt x="3310062" y="6919365"/>
                </a:lnTo>
                <a:lnTo>
                  <a:pt x="241335" y="7026528"/>
                </a:lnTo>
                <a:lnTo>
                  <a:pt x="0" y="11559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75270AFE-3229-F0A3-F51C-F17D88361DFB}"/>
              </a:ext>
            </a:extLst>
          </p:cNvPr>
          <p:cNvSpPr>
            <a:spLocks noGrp="1"/>
          </p:cNvSpPr>
          <p:nvPr>
            <p:ph type="title"/>
          </p:nvPr>
        </p:nvSpPr>
        <p:spPr>
          <a:xfrm>
            <a:off x="136074" y="206700"/>
            <a:ext cx="2762250" cy="6444599"/>
          </a:xfrm>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97AE7D7B-1890-BCAE-626D-327B20AAF220}"/>
              </a:ext>
            </a:extLst>
          </p:cNvPr>
          <p:cNvSpPr>
            <a:spLocks noGrp="1"/>
          </p:cNvSpPr>
          <p:nvPr>
            <p:ph idx="1"/>
          </p:nvPr>
        </p:nvSpPr>
        <p:spPr>
          <a:xfrm>
            <a:off x="3187339" y="206700"/>
            <a:ext cx="8531679" cy="600632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82DF0BA-5A95-5F3A-04B6-535857E774A5}"/>
              </a:ext>
            </a:extLst>
          </p:cNvPr>
          <p:cNvSpPr>
            <a:spLocks noGrp="1"/>
          </p:cNvSpPr>
          <p:nvPr>
            <p:ph type="dt" sz="half" idx="10"/>
          </p:nvPr>
        </p:nvSpPr>
        <p:spPr/>
        <p:txBody>
          <a:bodyPr/>
          <a:lstStyle>
            <a:lvl1pPr>
              <a:defRPr>
                <a:solidFill>
                  <a:schemeClr val="bg1"/>
                </a:solidFill>
              </a:defRPr>
            </a:lvl1pPr>
          </a:lstStyle>
          <a:p>
            <a:fld id="{ECA158B7-8507-4363-B068-E4BAF1FF403D}" type="datetimeFigureOut">
              <a:rPr lang="fr-FR" smtClean="0"/>
              <a:pPr/>
              <a:t>08/04/2026</a:t>
            </a:fld>
            <a:endParaRPr lang="fr-FR" dirty="0"/>
          </a:p>
        </p:txBody>
      </p:sp>
      <p:sp>
        <p:nvSpPr>
          <p:cNvPr id="5" name="Espace réservé du pied de page 4">
            <a:extLst>
              <a:ext uri="{FF2B5EF4-FFF2-40B4-BE49-F238E27FC236}">
                <a16:creationId xmlns:a16="http://schemas.microsoft.com/office/drawing/2014/main" id="{1247A217-93A7-5459-5022-C725DAE67D30}"/>
              </a:ext>
            </a:extLst>
          </p:cNvPr>
          <p:cNvSpPr>
            <a:spLocks noGrp="1"/>
          </p:cNvSpPr>
          <p:nvPr>
            <p:ph type="ftr" sz="quarter" idx="11"/>
          </p:nvPr>
        </p:nvSpPr>
        <p:spPr/>
        <p:txBody>
          <a:bodyPr/>
          <a:lstStyle>
            <a:lvl1pPr>
              <a:defRPr>
                <a:solidFill>
                  <a:schemeClr val="bg1"/>
                </a:solidFill>
              </a:defRPr>
            </a:lvl1pPr>
          </a:lstStyle>
          <a:p>
            <a:endParaRPr lang="fr-FR"/>
          </a:p>
        </p:txBody>
      </p:sp>
      <p:sp>
        <p:nvSpPr>
          <p:cNvPr id="6" name="Espace réservé du numéro de diapositive 5">
            <a:extLst>
              <a:ext uri="{FF2B5EF4-FFF2-40B4-BE49-F238E27FC236}">
                <a16:creationId xmlns:a16="http://schemas.microsoft.com/office/drawing/2014/main" id="{16B7951B-E41A-CAB5-5A49-393867047726}"/>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3560723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re et contenu Rose">
    <p:spTree>
      <p:nvGrpSpPr>
        <p:cNvPr id="1" name=""/>
        <p:cNvGrpSpPr/>
        <p:nvPr/>
      </p:nvGrpSpPr>
      <p:grpSpPr>
        <a:xfrm>
          <a:off x="0" y="0"/>
          <a:ext cx="0" cy="0"/>
          <a:chOff x="0" y="0"/>
          <a:chExt cx="0" cy="0"/>
        </a:xfrm>
      </p:grpSpPr>
      <p:sp>
        <p:nvSpPr>
          <p:cNvPr id="14" name="Forme libre : forme 13">
            <a:extLst>
              <a:ext uri="{FF2B5EF4-FFF2-40B4-BE49-F238E27FC236}">
                <a16:creationId xmlns:a16="http://schemas.microsoft.com/office/drawing/2014/main" id="{8947D476-8E0E-CB48-AB5D-446FF06B6884}"/>
              </a:ext>
            </a:extLst>
          </p:cNvPr>
          <p:cNvSpPr/>
          <p:nvPr userDrawn="1"/>
        </p:nvSpPr>
        <p:spPr>
          <a:xfrm rot="120000">
            <a:off x="-107724" y="-52994"/>
            <a:ext cx="3088800" cy="6974554"/>
          </a:xfrm>
          <a:custGeom>
            <a:avLst/>
            <a:gdLst>
              <a:gd name="connsiteX0" fmla="*/ 0 w 3310062"/>
              <a:gd name="connsiteY0" fmla="*/ 115590 h 7026528"/>
              <a:gd name="connsiteX1" fmla="*/ 3310062 w 3310062"/>
              <a:gd name="connsiteY1" fmla="*/ 0 h 7026528"/>
              <a:gd name="connsiteX2" fmla="*/ 3310062 w 3310062"/>
              <a:gd name="connsiteY2" fmla="*/ 6919365 h 7026528"/>
              <a:gd name="connsiteX3" fmla="*/ 241335 w 3310062"/>
              <a:gd name="connsiteY3" fmla="*/ 7026528 h 7026528"/>
              <a:gd name="connsiteX4" fmla="*/ 0 w 3310062"/>
              <a:gd name="connsiteY4" fmla="*/ 115590 h 7026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0062" h="7026528">
                <a:moveTo>
                  <a:pt x="0" y="115590"/>
                </a:moveTo>
                <a:lnTo>
                  <a:pt x="3310062" y="0"/>
                </a:lnTo>
                <a:lnTo>
                  <a:pt x="3310062" y="6919365"/>
                </a:lnTo>
                <a:lnTo>
                  <a:pt x="241335" y="7026528"/>
                </a:lnTo>
                <a:lnTo>
                  <a:pt x="0" y="115590"/>
                </a:lnTo>
                <a:close/>
              </a:path>
            </a:pathLst>
          </a:cu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75270AFE-3229-F0A3-F51C-F17D88361DFB}"/>
              </a:ext>
            </a:extLst>
          </p:cNvPr>
          <p:cNvSpPr>
            <a:spLocks noGrp="1"/>
          </p:cNvSpPr>
          <p:nvPr>
            <p:ph type="title"/>
          </p:nvPr>
        </p:nvSpPr>
        <p:spPr>
          <a:xfrm>
            <a:off x="95253" y="206700"/>
            <a:ext cx="2762250" cy="6444599"/>
          </a:xfrm>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97AE7D7B-1890-BCAE-626D-327B20AAF220}"/>
              </a:ext>
            </a:extLst>
          </p:cNvPr>
          <p:cNvSpPr>
            <a:spLocks noGrp="1"/>
          </p:cNvSpPr>
          <p:nvPr>
            <p:ph idx="1"/>
          </p:nvPr>
        </p:nvSpPr>
        <p:spPr>
          <a:xfrm>
            <a:off x="3200404" y="206699"/>
            <a:ext cx="8531679" cy="600632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82DF0BA-5A95-5F3A-04B6-535857E774A5}"/>
              </a:ext>
            </a:extLst>
          </p:cNvPr>
          <p:cNvSpPr>
            <a:spLocks noGrp="1"/>
          </p:cNvSpPr>
          <p:nvPr>
            <p:ph type="dt" sz="half" idx="10"/>
          </p:nvPr>
        </p:nvSpPr>
        <p:spPr/>
        <p:txBody>
          <a:bodyPr/>
          <a:lstStyle>
            <a:lvl1pPr>
              <a:defRPr>
                <a:solidFill>
                  <a:schemeClr val="bg1"/>
                </a:solidFill>
              </a:defRPr>
            </a:lvl1pPr>
          </a:lstStyle>
          <a:p>
            <a:fld id="{ECA158B7-8507-4363-B068-E4BAF1FF403D}" type="datetimeFigureOut">
              <a:rPr lang="fr-FR" smtClean="0"/>
              <a:pPr/>
              <a:t>08/04/2026</a:t>
            </a:fld>
            <a:endParaRPr lang="fr-FR" dirty="0"/>
          </a:p>
        </p:txBody>
      </p:sp>
      <p:sp>
        <p:nvSpPr>
          <p:cNvPr id="5" name="Espace réservé du pied de page 4">
            <a:extLst>
              <a:ext uri="{FF2B5EF4-FFF2-40B4-BE49-F238E27FC236}">
                <a16:creationId xmlns:a16="http://schemas.microsoft.com/office/drawing/2014/main" id="{1247A217-93A7-5459-5022-C725DAE67D30}"/>
              </a:ext>
            </a:extLst>
          </p:cNvPr>
          <p:cNvSpPr>
            <a:spLocks noGrp="1"/>
          </p:cNvSpPr>
          <p:nvPr>
            <p:ph type="ftr" sz="quarter" idx="11"/>
          </p:nvPr>
        </p:nvSpPr>
        <p:spPr/>
        <p:txBody>
          <a:bodyPr/>
          <a:lstStyle>
            <a:lvl1pPr>
              <a:defRPr>
                <a:solidFill>
                  <a:schemeClr val="bg1"/>
                </a:solidFill>
              </a:defRPr>
            </a:lvl1pPr>
          </a:lstStyle>
          <a:p>
            <a:endParaRPr lang="fr-FR"/>
          </a:p>
        </p:txBody>
      </p:sp>
      <p:sp>
        <p:nvSpPr>
          <p:cNvPr id="6" name="Espace réservé du numéro de diapositive 5">
            <a:extLst>
              <a:ext uri="{FF2B5EF4-FFF2-40B4-BE49-F238E27FC236}">
                <a16:creationId xmlns:a16="http://schemas.microsoft.com/office/drawing/2014/main" id="{16B7951B-E41A-CAB5-5A49-393867047726}"/>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2950596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Titre et contenu Bleu clair">
    <p:spTree>
      <p:nvGrpSpPr>
        <p:cNvPr id="1" name=""/>
        <p:cNvGrpSpPr/>
        <p:nvPr/>
      </p:nvGrpSpPr>
      <p:grpSpPr>
        <a:xfrm>
          <a:off x="0" y="0"/>
          <a:ext cx="0" cy="0"/>
          <a:chOff x="0" y="0"/>
          <a:chExt cx="0" cy="0"/>
        </a:xfrm>
      </p:grpSpPr>
      <p:sp>
        <p:nvSpPr>
          <p:cNvPr id="14" name="Forme libre : forme 13">
            <a:extLst>
              <a:ext uri="{FF2B5EF4-FFF2-40B4-BE49-F238E27FC236}">
                <a16:creationId xmlns:a16="http://schemas.microsoft.com/office/drawing/2014/main" id="{8947D476-8E0E-CB48-AB5D-446FF06B6884}"/>
              </a:ext>
            </a:extLst>
          </p:cNvPr>
          <p:cNvSpPr/>
          <p:nvPr userDrawn="1"/>
        </p:nvSpPr>
        <p:spPr>
          <a:xfrm rot="120000">
            <a:off x="-107724" y="-52994"/>
            <a:ext cx="3088800" cy="6974554"/>
          </a:xfrm>
          <a:custGeom>
            <a:avLst/>
            <a:gdLst>
              <a:gd name="connsiteX0" fmla="*/ 0 w 3310062"/>
              <a:gd name="connsiteY0" fmla="*/ 115590 h 7026528"/>
              <a:gd name="connsiteX1" fmla="*/ 3310062 w 3310062"/>
              <a:gd name="connsiteY1" fmla="*/ 0 h 7026528"/>
              <a:gd name="connsiteX2" fmla="*/ 3310062 w 3310062"/>
              <a:gd name="connsiteY2" fmla="*/ 6919365 h 7026528"/>
              <a:gd name="connsiteX3" fmla="*/ 241335 w 3310062"/>
              <a:gd name="connsiteY3" fmla="*/ 7026528 h 7026528"/>
              <a:gd name="connsiteX4" fmla="*/ 0 w 3310062"/>
              <a:gd name="connsiteY4" fmla="*/ 115590 h 7026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0062" h="7026528">
                <a:moveTo>
                  <a:pt x="0" y="115590"/>
                </a:moveTo>
                <a:lnTo>
                  <a:pt x="3310062" y="0"/>
                </a:lnTo>
                <a:lnTo>
                  <a:pt x="3310062" y="6919365"/>
                </a:lnTo>
                <a:lnTo>
                  <a:pt x="241335" y="7026528"/>
                </a:lnTo>
                <a:lnTo>
                  <a:pt x="0" y="115590"/>
                </a:lnTo>
                <a:close/>
              </a:path>
            </a:pathLst>
          </a:cu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75270AFE-3229-F0A3-F51C-F17D88361DFB}"/>
              </a:ext>
            </a:extLst>
          </p:cNvPr>
          <p:cNvSpPr>
            <a:spLocks noGrp="1"/>
          </p:cNvSpPr>
          <p:nvPr>
            <p:ph type="title"/>
          </p:nvPr>
        </p:nvSpPr>
        <p:spPr>
          <a:xfrm>
            <a:off x="94665" y="206699"/>
            <a:ext cx="2762250" cy="6444599"/>
          </a:xfrm>
        </p:spPr>
        <p:txBody>
          <a:bodyPr/>
          <a:lstStyle>
            <a:lvl1pPr>
              <a:defRPr>
                <a:solidFill>
                  <a:schemeClr val="accent1"/>
                </a:solidFill>
              </a:defRPr>
            </a:lvl1pPr>
          </a:lstStyle>
          <a:p>
            <a:r>
              <a:rPr lang="fr-FR" dirty="0"/>
              <a:t>Modifiez le style du titre</a:t>
            </a:r>
          </a:p>
        </p:txBody>
      </p:sp>
      <p:sp>
        <p:nvSpPr>
          <p:cNvPr id="3" name="Espace réservé du contenu 2">
            <a:extLst>
              <a:ext uri="{FF2B5EF4-FFF2-40B4-BE49-F238E27FC236}">
                <a16:creationId xmlns:a16="http://schemas.microsoft.com/office/drawing/2014/main" id="{97AE7D7B-1890-BCAE-626D-327B20AAF220}"/>
              </a:ext>
            </a:extLst>
          </p:cNvPr>
          <p:cNvSpPr>
            <a:spLocks noGrp="1"/>
          </p:cNvSpPr>
          <p:nvPr>
            <p:ph idx="1"/>
          </p:nvPr>
        </p:nvSpPr>
        <p:spPr>
          <a:xfrm>
            <a:off x="3200397" y="206699"/>
            <a:ext cx="8531679" cy="600632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82DF0BA-5A95-5F3A-04B6-535857E774A5}"/>
              </a:ext>
            </a:extLst>
          </p:cNvPr>
          <p:cNvSpPr>
            <a:spLocks noGrp="1"/>
          </p:cNvSpPr>
          <p:nvPr>
            <p:ph type="dt" sz="half" idx="10"/>
          </p:nvPr>
        </p:nvSpPr>
        <p:spPr/>
        <p:txBody>
          <a:bodyPr/>
          <a:lstStyle>
            <a:lvl1pPr>
              <a:defRPr>
                <a:solidFill>
                  <a:schemeClr val="accent1"/>
                </a:solidFill>
              </a:defRPr>
            </a:lvl1pPr>
          </a:lstStyle>
          <a:p>
            <a:fld id="{ECA158B7-8507-4363-B068-E4BAF1FF403D}" type="datetimeFigureOut">
              <a:rPr lang="fr-FR" smtClean="0"/>
              <a:pPr/>
              <a:t>08/04/2026</a:t>
            </a:fld>
            <a:endParaRPr lang="fr-FR" dirty="0"/>
          </a:p>
        </p:txBody>
      </p:sp>
      <p:sp>
        <p:nvSpPr>
          <p:cNvPr id="5" name="Espace réservé du pied de page 4">
            <a:extLst>
              <a:ext uri="{FF2B5EF4-FFF2-40B4-BE49-F238E27FC236}">
                <a16:creationId xmlns:a16="http://schemas.microsoft.com/office/drawing/2014/main" id="{1247A217-93A7-5459-5022-C725DAE67D30}"/>
              </a:ext>
            </a:extLst>
          </p:cNvPr>
          <p:cNvSpPr>
            <a:spLocks noGrp="1"/>
          </p:cNvSpPr>
          <p:nvPr>
            <p:ph type="ftr" sz="quarter" idx="11"/>
          </p:nvPr>
        </p:nvSpPr>
        <p:spPr/>
        <p:txBody>
          <a:bodyPr/>
          <a:lstStyle>
            <a:lvl1pPr>
              <a:defRPr>
                <a:solidFill>
                  <a:schemeClr val="accent1"/>
                </a:solidFill>
              </a:defRPr>
            </a:lvl1pPr>
          </a:lstStyle>
          <a:p>
            <a:endParaRPr lang="fr-FR"/>
          </a:p>
        </p:txBody>
      </p:sp>
      <p:sp>
        <p:nvSpPr>
          <p:cNvPr id="6" name="Espace réservé du numéro de diapositive 5">
            <a:extLst>
              <a:ext uri="{FF2B5EF4-FFF2-40B4-BE49-F238E27FC236}">
                <a16:creationId xmlns:a16="http://schemas.microsoft.com/office/drawing/2014/main" id="{16B7951B-E41A-CAB5-5A49-393867047726}"/>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2054793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de section Bleu foncé">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6B2066-22E0-5691-6A3A-77F8BD101D06}"/>
              </a:ext>
            </a:extLst>
          </p:cNvPr>
          <p:cNvSpPr>
            <a:spLocks noGrp="1"/>
          </p:cNvSpPr>
          <p:nvPr>
            <p:ph type="title"/>
          </p:nvPr>
        </p:nvSpPr>
        <p:spPr>
          <a:xfrm>
            <a:off x="831850" y="1709738"/>
            <a:ext cx="10515600" cy="2852737"/>
          </a:xfrm>
          <a:solidFill>
            <a:schemeClr val="accent1"/>
          </a:solidFill>
        </p:spPr>
        <p:txBody>
          <a:bodyPr anchor="ctr"/>
          <a:lstStyle>
            <a:lvl1pPr algn="ctr">
              <a:defRPr sz="6000">
                <a:solidFill>
                  <a:schemeClr val="bg1"/>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FE3EAFC6-53D7-6D85-F9FD-DAAB42BA89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428E3C9-816E-7EAE-F0D7-C88A30F00F07}"/>
              </a:ext>
            </a:extLst>
          </p:cNvPr>
          <p:cNvSpPr>
            <a:spLocks noGrp="1"/>
          </p:cNvSpPr>
          <p:nvPr>
            <p:ph type="dt" sz="half" idx="10"/>
          </p:nvPr>
        </p:nvSpPr>
        <p:spPr/>
        <p:txBody>
          <a:bodyPr/>
          <a:lstStyle/>
          <a:p>
            <a:fld id="{ECA158B7-8507-4363-B068-E4BAF1FF403D}" type="datetimeFigureOut">
              <a:rPr lang="fr-FR" smtClean="0"/>
              <a:t>08/04/2026</a:t>
            </a:fld>
            <a:endParaRPr lang="fr-FR"/>
          </a:p>
        </p:txBody>
      </p:sp>
      <p:sp>
        <p:nvSpPr>
          <p:cNvPr id="5" name="Espace réservé du pied de page 4">
            <a:extLst>
              <a:ext uri="{FF2B5EF4-FFF2-40B4-BE49-F238E27FC236}">
                <a16:creationId xmlns:a16="http://schemas.microsoft.com/office/drawing/2014/main" id="{7A3216CC-67F6-136B-EC09-103A9BE54B3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4C6675-DAD0-95AD-8CC1-0F64EC9A93E2}"/>
              </a:ext>
            </a:extLst>
          </p:cNvPr>
          <p:cNvSpPr>
            <a:spLocks noGrp="1"/>
          </p:cNvSpPr>
          <p:nvPr>
            <p:ph type="sldNum" sz="quarter" idx="12"/>
          </p:nvPr>
        </p:nvSpPr>
        <p:spPr/>
        <p:txBody>
          <a:bodyPr/>
          <a:lstStyle/>
          <a:p>
            <a:fld id="{CB97889E-34D5-43FB-B9E5-AC8A7ED2CA30}" type="slidenum">
              <a:rPr lang="fr-FR" smtClean="0"/>
              <a:t>‹N°›</a:t>
            </a:fld>
            <a:endParaRPr lang="fr-FR"/>
          </a:p>
        </p:txBody>
      </p:sp>
      <p:sp>
        <p:nvSpPr>
          <p:cNvPr id="7" name="Rectangle 6">
            <a:extLst>
              <a:ext uri="{FF2B5EF4-FFF2-40B4-BE49-F238E27FC236}">
                <a16:creationId xmlns:a16="http://schemas.microsoft.com/office/drawing/2014/main" id="{6A63E6CF-35F4-E4D6-59CC-8AE4DE558D15}"/>
              </a:ext>
            </a:extLst>
          </p:cNvPr>
          <p:cNvSpPr/>
          <p:nvPr userDrawn="1"/>
        </p:nvSpPr>
        <p:spPr>
          <a:xfrm>
            <a:off x="508883" y="286247"/>
            <a:ext cx="322967" cy="8984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texte 8">
            <a:extLst>
              <a:ext uri="{FF2B5EF4-FFF2-40B4-BE49-F238E27FC236}">
                <a16:creationId xmlns:a16="http://schemas.microsoft.com/office/drawing/2014/main" id="{BCFC6A9E-3BFD-30C5-EFB2-E1D029162E1C}"/>
              </a:ext>
            </a:extLst>
          </p:cNvPr>
          <p:cNvSpPr>
            <a:spLocks noGrp="1"/>
          </p:cNvSpPr>
          <p:nvPr>
            <p:ph type="body" sz="quarter" idx="13"/>
          </p:nvPr>
        </p:nvSpPr>
        <p:spPr>
          <a:xfrm>
            <a:off x="831850" y="1276350"/>
            <a:ext cx="2627313" cy="433388"/>
          </a:xfrm>
          <a:solidFill>
            <a:schemeClr val="accent2"/>
          </a:solidFill>
        </p:spPr>
        <p:txBody>
          <a:bodyPr anchor="ctr"/>
          <a:lstStyle>
            <a:lvl1pPr marL="0" indent="0" algn="ctr">
              <a:buNone/>
              <a:defRPr>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026580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de section Ros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6B2066-22E0-5691-6A3A-77F8BD101D06}"/>
              </a:ext>
            </a:extLst>
          </p:cNvPr>
          <p:cNvSpPr>
            <a:spLocks noGrp="1"/>
          </p:cNvSpPr>
          <p:nvPr>
            <p:ph type="title"/>
          </p:nvPr>
        </p:nvSpPr>
        <p:spPr>
          <a:xfrm>
            <a:off x="831850" y="1709738"/>
            <a:ext cx="10515600" cy="2852737"/>
          </a:xfrm>
          <a:solidFill>
            <a:schemeClr val="accent2"/>
          </a:solidFill>
        </p:spPr>
        <p:txBody>
          <a:bodyPr anchor="ctr"/>
          <a:lstStyle>
            <a:lvl1pPr algn="ctr">
              <a:defRPr sz="6000">
                <a:solidFill>
                  <a:schemeClr val="bg1"/>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FE3EAFC6-53D7-6D85-F9FD-DAAB42BA89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428E3C9-816E-7EAE-F0D7-C88A30F00F07}"/>
              </a:ext>
            </a:extLst>
          </p:cNvPr>
          <p:cNvSpPr>
            <a:spLocks noGrp="1"/>
          </p:cNvSpPr>
          <p:nvPr>
            <p:ph type="dt" sz="half" idx="10"/>
          </p:nvPr>
        </p:nvSpPr>
        <p:spPr/>
        <p:txBody>
          <a:bodyPr/>
          <a:lstStyle/>
          <a:p>
            <a:fld id="{ECA158B7-8507-4363-B068-E4BAF1FF403D}" type="datetimeFigureOut">
              <a:rPr lang="fr-FR" smtClean="0"/>
              <a:t>08/04/2026</a:t>
            </a:fld>
            <a:endParaRPr lang="fr-FR"/>
          </a:p>
        </p:txBody>
      </p:sp>
      <p:sp>
        <p:nvSpPr>
          <p:cNvPr id="5" name="Espace réservé du pied de page 4">
            <a:extLst>
              <a:ext uri="{FF2B5EF4-FFF2-40B4-BE49-F238E27FC236}">
                <a16:creationId xmlns:a16="http://schemas.microsoft.com/office/drawing/2014/main" id="{7A3216CC-67F6-136B-EC09-103A9BE54B3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4C6675-DAD0-95AD-8CC1-0F64EC9A93E2}"/>
              </a:ext>
            </a:extLst>
          </p:cNvPr>
          <p:cNvSpPr>
            <a:spLocks noGrp="1"/>
          </p:cNvSpPr>
          <p:nvPr>
            <p:ph type="sldNum" sz="quarter" idx="12"/>
          </p:nvPr>
        </p:nvSpPr>
        <p:spPr/>
        <p:txBody>
          <a:bodyPr/>
          <a:lstStyle/>
          <a:p>
            <a:fld id="{CB97889E-34D5-43FB-B9E5-AC8A7ED2CA30}" type="slidenum">
              <a:rPr lang="fr-FR" smtClean="0"/>
              <a:t>‹N°›</a:t>
            </a:fld>
            <a:endParaRPr lang="fr-FR"/>
          </a:p>
        </p:txBody>
      </p:sp>
      <p:sp>
        <p:nvSpPr>
          <p:cNvPr id="7" name="Rectangle 6">
            <a:extLst>
              <a:ext uri="{FF2B5EF4-FFF2-40B4-BE49-F238E27FC236}">
                <a16:creationId xmlns:a16="http://schemas.microsoft.com/office/drawing/2014/main" id="{6A63E6CF-35F4-E4D6-59CC-8AE4DE558D15}"/>
              </a:ext>
            </a:extLst>
          </p:cNvPr>
          <p:cNvSpPr/>
          <p:nvPr userDrawn="1"/>
        </p:nvSpPr>
        <p:spPr>
          <a:xfrm>
            <a:off x="508883" y="286247"/>
            <a:ext cx="322967" cy="8984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texte 8">
            <a:extLst>
              <a:ext uri="{FF2B5EF4-FFF2-40B4-BE49-F238E27FC236}">
                <a16:creationId xmlns:a16="http://schemas.microsoft.com/office/drawing/2014/main" id="{E6450C9A-C453-BE2D-7F6E-766AA3D0269C}"/>
              </a:ext>
            </a:extLst>
          </p:cNvPr>
          <p:cNvSpPr>
            <a:spLocks noGrp="1"/>
          </p:cNvSpPr>
          <p:nvPr>
            <p:ph type="body" sz="quarter" idx="13"/>
          </p:nvPr>
        </p:nvSpPr>
        <p:spPr>
          <a:xfrm>
            <a:off x="831850" y="1276350"/>
            <a:ext cx="2627313" cy="433388"/>
          </a:xfrm>
          <a:solidFill>
            <a:schemeClr val="tx2"/>
          </a:solidFill>
        </p:spPr>
        <p:txBody>
          <a:bodyPr anchor="ctr"/>
          <a:lstStyle>
            <a:lvl1pPr marL="0" indent="0" algn="ctr">
              <a:buNone/>
              <a:defRPr>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2291786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de section Bleu Clai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6B2066-22E0-5691-6A3A-77F8BD101D06}"/>
              </a:ext>
            </a:extLst>
          </p:cNvPr>
          <p:cNvSpPr>
            <a:spLocks noGrp="1"/>
          </p:cNvSpPr>
          <p:nvPr>
            <p:ph type="title"/>
          </p:nvPr>
        </p:nvSpPr>
        <p:spPr>
          <a:xfrm>
            <a:off x="831850" y="1709738"/>
            <a:ext cx="10515600" cy="2852737"/>
          </a:xfrm>
          <a:solidFill>
            <a:schemeClr val="accent3"/>
          </a:solidFill>
        </p:spPr>
        <p:txBody>
          <a:bodyPr anchor="ctr"/>
          <a:lstStyle>
            <a:lvl1pPr algn="ctr">
              <a:defRPr sz="6000">
                <a:solidFill>
                  <a:schemeClr val="accent1"/>
                </a:solidFill>
              </a:defRPr>
            </a:lvl1pPr>
          </a:lstStyle>
          <a:p>
            <a:r>
              <a:rPr lang="fr-FR"/>
              <a:t>Modifiez le style du titre</a:t>
            </a:r>
          </a:p>
        </p:txBody>
      </p:sp>
      <p:sp>
        <p:nvSpPr>
          <p:cNvPr id="3" name="Espace réservé du texte 2">
            <a:extLst>
              <a:ext uri="{FF2B5EF4-FFF2-40B4-BE49-F238E27FC236}">
                <a16:creationId xmlns:a16="http://schemas.microsoft.com/office/drawing/2014/main" id="{FE3EAFC6-53D7-6D85-F9FD-DAAB42BA89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428E3C9-816E-7EAE-F0D7-C88A30F00F07}"/>
              </a:ext>
            </a:extLst>
          </p:cNvPr>
          <p:cNvSpPr>
            <a:spLocks noGrp="1"/>
          </p:cNvSpPr>
          <p:nvPr>
            <p:ph type="dt" sz="half" idx="10"/>
          </p:nvPr>
        </p:nvSpPr>
        <p:spPr/>
        <p:txBody>
          <a:bodyPr/>
          <a:lstStyle/>
          <a:p>
            <a:fld id="{ECA158B7-8507-4363-B068-E4BAF1FF403D}" type="datetimeFigureOut">
              <a:rPr lang="fr-FR" smtClean="0"/>
              <a:t>08/04/2026</a:t>
            </a:fld>
            <a:endParaRPr lang="fr-FR"/>
          </a:p>
        </p:txBody>
      </p:sp>
      <p:sp>
        <p:nvSpPr>
          <p:cNvPr id="5" name="Espace réservé du pied de page 4">
            <a:extLst>
              <a:ext uri="{FF2B5EF4-FFF2-40B4-BE49-F238E27FC236}">
                <a16:creationId xmlns:a16="http://schemas.microsoft.com/office/drawing/2014/main" id="{7A3216CC-67F6-136B-EC09-103A9BE54B3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4C6675-DAD0-95AD-8CC1-0F64EC9A93E2}"/>
              </a:ext>
            </a:extLst>
          </p:cNvPr>
          <p:cNvSpPr>
            <a:spLocks noGrp="1"/>
          </p:cNvSpPr>
          <p:nvPr>
            <p:ph type="sldNum" sz="quarter" idx="12"/>
          </p:nvPr>
        </p:nvSpPr>
        <p:spPr/>
        <p:txBody>
          <a:bodyPr/>
          <a:lstStyle/>
          <a:p>
            <a:fld id="{CB97889E-34D5-43FB-B9E5-AC8A7ED2CA30}" type="slidenum">
              <a:rPr lang="fr-FR" smtClean="0"/>
              <a:t>‹N°›</a:t>
            </a:fld>
            <a:endParaRPr lang="fr-FR"/>
          </a:p>
        </p:txBody>
      </p:sp>
      <p:sp>
        <p:nvSpPr>
          <p:cNvPr id="7" name="Rectangle 6">
            <a:extLst>
              <a:ext uri="{FF2B5EF4-FFF2-40B4-BE49-F238E27FC236}">
                <a16:creationId xmlns:a16="http://schemas.microsoft.com/office/drawing/2014/main" id="{6A63E6CF-35F4-E4D6-59CC-8AE4DE558D15}"/>
              </a:ext>
            </a:extLst>
          </p:cNvPr>
          <p:cNvSpPr/>
          <p:nvPr userDrawn="1"/>
        </p:nvSpPr>
        <p:spPr>
          <a:xfrm>
            <a:off x="508883" y="286247"/>
            <a:ext cx="322967" cy="8984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texte 8">
            <a:extLst>
              <a:ext uri="{FF2B5EF4-FFF2-40B4-BE49-F238E27FC236}">
                <a16:creationId xmlns:a16="http://schemas.microsoft.com/office/drawing/2014/main" id="{99C43EA1-30EF-B705-73DC-75804CAE7E79}"/>
              </a:ext>
            </a:extLst>
          </p:cNvPr>
          <p:cNvSpPr>
            <a:spLocks noGrp="1"/>
          </p:cNvSpPr>
          <p:nvPr>
            <p:ph type="body" sz="quarter" idx="13"/>
          </p:nvPr>
        </p:nvSpPr>
        <p:spPr>
          <a:xfrm>
            <a:off x="831850" y="1276350"/>
            <a:ext cx="2627313" cy="433388"/>
          </a:xfrm>
          <a:solidFill>
            <a:schemeClr val="tx2"/>
          </a:solidFill>
        </p:spPr>
        <p:txBody>
          <a:bodyPr anchor="ctr"/>
          <a:lstStyle>
            <a:lvl1pPr marL="0" indent="0" algn="ctr">
              <a:buNone/>
              <a:defRPr>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2742318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C5A792-0B05-500B-0674-4062ACB9D00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CC8A323-A347-2523-041F-BECE1AA9FB5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4A7EA5F-C967-0E2F-75E3-4EB85162E20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06DBF783-F2FE-100C-E8D9-AEE270E1A935}"/>
              </a:ext>
            </a:extLst>
          </p:cNvPr>
          <p:cNvSpPr>
            <a:spLocks noGrp="1"/>
          </p:cNvSpPr>
          <p:nvPr>
            <p:ph type="dt" sz="half" idx="10"/>
          </p:nvPr>
        </p:nvSpPr>
        <p:spPr/>
        <p:txBody>
          <a:bodyPr/>
          <a:lstStyle/>
          <a:p>
            <a:fld id="{ECA158B7-8507-4363-B068-E4BAF1FF403D}" type="datetimeFigureOut">
              <a:rPr lang="fr-FR" smtClean="0"/>
              <a:t>08/04/2026</a:t>
            </a:fld>
            <a:endParaRPr lang="fr-FR"/>
          </a:p>
        </p:txBody>
      </p:sp>
      <p:sp>
        <p:nvSpPr>
          <p:cNvPr id="6" name="Espace réservé du pied de page 5">
            <a:extLst>
              <a:ext uri="{FF2B5EF4-FFF2-40B4-BE49-F238E27FC236}">
                <a16:creationId xmlns:a16="http://schemas.microsoft.com/office/drawing/2014/main" id="{F2E61F3D-D06C-355B-654D-BFCD0332282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31B5AA5-1F82-63B6-7C7B-D3A3B0760F9A}"/>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2237853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A550DB-FF0F-2163-E3AA-75538932F092}"/>
              </a:ext>
            </a:extLst>
          </p:cNvPr>
          <p:cNvSpPr>
            <a:spLocks noGrp="1"/>
          </p:cNvSpPr>
          <p:nvPr>
            <p:ph type="title"/>
          </p:nvPr>
        </p:nvSpPr>
        <p:spPr>
          <a:xfrm>
            <a:off x="838200" y="141403"/>
            <a:ext cx="10515600" cy="1236547"/>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4D067C4-3C58-17D1-BE6D-37F1BB8D075E}"/>
              </a:ext>
            </a:extLst>
          </p:cNvPr>
          <p:cNvSpPr>
            <a:spLocks noGrp="1"/>
          </p:cNvSpPr>
          <p:nvPr>
            <p:ph type="body" idx="1"/>
          </p:nvPr>
        </p:nvSpPr>
        <p:spPr>
          <a:xfrm>
            <a:off x="839788" y="1538045"/>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EBB27F74-256D-9162-705B-B6F398F59BD1}"/>
              </a:ext>
            </a:extLst>
          </p:cNvPr>
          <p:cNvSpPr>
            <a:spLocks noGrp="1"/>
          </p:cNvSpPr>
          <p:nvPr>
            <p:ph sz="half" idx="2"/>
          </p:nvPr>
        </p:nvSpPr>
        <p:spPr>
          <a:xfrm>
            <a:off x="839788" y="2361957"/>
            <a:ext cx="5157787" cy="38277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4CF10F7-0479-7CDF-7B76-C4DD98A93007}"/>
              </a:ext>
            </a:extLst>
          </p:cNvPr>
          <p:cNvSpPr>
            <a:spLocks noGrp="1"/>
          </p:cNvSpPr>
          <p:nvPr>
            <p:ph type="body" sz="quarter" idx="3"/>
          </p:nvPr>
        </p:nvSpPr>
        <p:spPr>
          <a:xfrm>
            <a:off x="6172200" y="1538045"/>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FF8EAEB-38A1-7457-B5B5-C0997F23E9E1}"/>
              </a:ext>
            </a:extLst>
          </p:cNvPr>
          <p:cNvSpPr>
            <a:spLocks noGrp="1"/>
          </p:cNvSpPr>
          <p:nvPr>
            <p:ph sz="quarter" idx="4"/>
          </p:nvPr>
        </p:nvSpPr>
        <p:spPr>
          <a:xfrm>
            <a:off x="6172200" y="2361957"/>
            <a:ext cx="5183188" cy="3827706"/>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7" name="Espace réservé de la date 6">
            <a:extLst>
              <a:ext uri="{FF2B5EF4-FFF2-40B4-BE49-F238E27FC236}">
                <a16:creationId xmlns:a16="http://schemas.microsoft.com/office/drawing/2014/main" id="{8177F34A-629B-8EE9-3322-D05BFF655B71}"/>
              </a:ext>
            </a:extLst>
          </p:cNvPr>
          <p:cNvSpPr>
            <a:spLocks noGrp="1"/>
          </p:cNvSpPr>
          <p:nvPr>
            <p:ph type="dt" sz="half" idx="10"/>
          </p:nvPr>
        </p:nvSpPr>
        <p:spPr/>
        <p:txBody>
          <a:bodyPr/>
          <a:lstStyle/>
          <a:p>
            <a:fld id="{ECA158B7-8507-4363-B068-E4BAF1FF403D}" type="datetimeFigureOut">
              <a:rPr lang="fr-FR" smtClean="0"/>
              <a:t>08/04/2026</a:t>
            </a:fld>
            <a:endParaRPr lang="fr-FR"/>
          </a:p>
        </p:txBody>
      </p:sp>
      <p:sp>
        <p:nvSpPr>
          <p:cNvPr id="8" name="Espace réservé du pied de page 7">
            <a:extLst>
              <a:ext uri="{FF2B5EF4-FFF2-40B4-BE49-F238E27FC236}">
                <a16:creationId xmlns:a16="http://schemas.microsoft.com/office/drawing/2014/main" id="{E3E4AA94-111C-9F4A-162B-59BA961C6E8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6B2E77A5-BAD5-1B1C-C249-AF977BAA783B}"/>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725360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45E89D-BA6F-DBA4-CAC6-D70D4DCBE15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4BD53D8-9B6C-5B5B-0425-17705442359B}"/>
              </a:ext>
            </a:extLst>
          </p:cNvPr>
          <p:cNvSpPr>
            <a:spLocks noGrp="1"/>
          </p:cNvSpPr>
          <p:nvPr>
            <p:ph type="dt" sz="half" idx="10"/>
          </p:nvPr>
        </p:nvSpPr>
        <p:spPr/>
        <p:txBody>
          <a:bodyPr/>
          <a:lstStyle/>
          <a:p>
            <a:fld id="{ECA158B7-8507-4363-B068-E4BAF1FF403D}" type="datetimeFigureOut">
              <a:rPr lang="fr-FR" smtClean="0"/>
              <a:t>08/04/2026</a:t>
            </a:fld>
            <a:endParaRPr lang="fr-FR"/>
          </a:p>
        </p:txBody>
      </p:sp>
      <p:sp>
        <p:nvSpPr>
          <p:cNvPr id="4" name="Espace réservé du pied de page 3">
            <a:extLst>
              <a:ext uri="{FF2B5EF4-FFF2-40B4-BE49-F238E27FC236}">
                <a16:creationId xmlns:a16="http://schemas.microsoft.com/office/drawing/2014/main" id="{59DC8141-6D8B-7347-0519-C3F44D5B60B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98BD1BE-19F9-B0E4-FB1E-E73A5266E141}"/>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3903606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BE1CB38-4E2D-D929-5667-D42029E7611C}"/>
              </a:ext>
            </a:extLst>
          </p:cNvPr>
          <p:cNvSpPr>
            <a:spLocks noGrp="1"/>
          </p:cNvSpPr>
          <p:nvPr>
            <p:ph type="dt" sz="half" idx="10"/>
          </p:nvPr>
        </p:nvSpPr>
        <p:spPr/>
        <p:txBody>
          <a:bodyPr/>
          <a:lstStyle/>
          <a:p>
            <a:fld id="{ECA158B7-8507-4363-B068-E4BAF1FF403D}" type="datetimeFigureOut">
              <a:rPr lang="fr-FR" smtClean="0"/>
              <a:t>08/04/2026</a:t>
            </a:fld>
            <a:endParaRPr lang="fr-FR"/>
          </a:p>
        </p:txBody>
      </p:sp>
      <p:sp>
        <p:nvSpPr>
          <p:cNvPr id="3" name="Espace réservé du pied de page 2">
            <a:extLst>
              <a:ext uri="{FF2B5EF4-FFF2-40B4-BE49-F238E27FC236}">
                <a16:creationId xmlns:a16="http://schemas.microsoft.com/office/drawing/2014/main" id="{A9F1A97D-959C-0727-3387-066A38F47C2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6A751DAD-A7DC-5593-431F-73E065C88E27}"/>
              </a:ext>
            </a:extLst>
          </p:cNvPr>
          <p:cNvSpPr>
            <a:spLocks noGrp="1"/>
          </p:cNvSpPr>
          <p:nvPr>
            <p:ph type="sldNum" sz="quarter" idx="12"/>
          </p:nvPr>
        </p:nvSpPr>
        <p:spPr/>
        <p:txBody>
          <a:bodyPr/>
          <a:lstStyle/>
          <a:p>
            <a:fld id="{CB97889E-34D5-43FB-B9E5-AC8A7ED2CA30}" type="slidenum">
              <a:rPr lang="fr-FR" smtClean="0"/>
              <a:t>‹N°›</a:t>
            </a:fld>
            <a:endParaRPr lang="fr-FR"/>
          </a:p>
        </p:txBody>
      </p:sp>
      <p:sp>
        <p:nvSpPr>
          <p:cNvPr id="5" name="Rectangle 4">
            <a:extLst>
              <a:ext uri="{FF2B5EF4-FFF2-40B4-BE49-F238E27FC236}">
                <a16:creationId xmlns:a16="http://schemas.microsoft.com/office/drawing/2014/main" id="{D0B8EC54-DA80-31E2-0D5E-6D9A045AA695}"/>
              </a:ext>
            </a:extLst>
          </p:cNvPr>
          <p:cNvSpPr/>
          <p:nvPr userDrawn="1"/>
        </p:nvSpPr>
        <p:spPr>
          <a:xfrm>
            <a:off x="524786" y="302150"/>
            <a:ext cx="230588" cy="9541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5328468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768A2E-BD11-7BE6-04DB-76C1508B73B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D18822A-CE22-3A8E-DD51-1EB57BF4EF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06B3D74-DF80-02B6-1E9F-BAC195DAC6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0118C92-5C72-71ED-1932-CAF2D0B071A7}"/>
              </a:ext>
            </a:extLst>
          </p:cNvPr>
          <p:cNvSpPr>
            <a:spLocks noGrp="1"/>
          </p:cNvSpPr>
          <p:nvPr>
            <p:ph type="dt" sz="half" idx="10"/>
          </p:nvPr>
        </p:nvSpPr>
        <p:spPr/>
        <p:txBody>
          <a:bodyPr/>
          <a:lstStyle/>
          <a:p>
            <a:fld id="{ECA158B7-8507-4363-B068-E4BAF1FF403D}" type="datetimeFigureOut">
              <a:rPr lang="fr-FR" smtClean="0"/>
              <a:t>08/04/2026</a:t>
            </a:fld>
            <a:endParaRPr lang="fr-FR"/>
          </a:p>
        </p:txBody>
      </p:sp>
      <p:sp>
        <p:nvSpPr>
          <p:cNvPr id="6" name="Espace réservé du pied de page 5">
            <a:extLst>
              <a:ext uri="{FF2B5EF4-FFF2-40B4-BE49-F238E27FC236}">
                <a16:creationId xmlns:a16="http://schemas.microsoft.com/office/drawing/2014/main" id="{D61C9EBF-C190-9215-EF70-8EE06A6C9AF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85EC658-C096-62BC-BC9A-83F2BF11FB9D}"/>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5868785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11519A-A302-576E-0F92-397C530D361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4C270A9-9ED2-92EA-B7F0-E94DB5BE06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29B5BF8B-8255-D063-324D-0432BAE0FF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9FA7962-E1FF-B8B5-728F-9EF6842A8E6D}"/>
              </a:ext>
            </a:extLst>
          </p:cNvPr>
          <p:cNvSpPr>
            <a:spLocks noGrp="1"/>
          </p:cNvSpPr>
          <p:nvPr>
            <p:ph type="dt" sz="half" idx="10"/>
          </p:nvPr>
        </p:nvSpPr>
        <p:spPr/>
        <p:txBody>
          <a:bodyPr/>
          <a:lstStyle/>
          <a:p>
            <a:fld id="{ECA158B7-8507-4363-B068-E4BAF1FF403D}" type="datetimeFigureOut">
              <a:rPr lang="fr-FR" smtClean="0"/>
              <a:t>08/04/2026</a:t>
            </a:fld>
            <a:endParaRPr lang="fr-FR"/>
          </a:p>
        </p:txBody>
      </p:sp>
      <p:sp>
        <p:nvSpPr>
          <p:cNvPr id="6" name="Espace réservé du pied de page 5">
            <a:extLst>
              <a:ext uri="{FF2B5EF4-FFF2-40B4-BE49-F238E27FC236}">
                <a16:creationId xmlns:a16="http://schemas.microsoft.com/office/drawing/2014/main" id="{EDD16478-ED51-8A3E-DC7F-66122BD8334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EC183FE-B217-D0E8-133E-41AE40E23841}"/>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2645636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A63A06-BAEF-5552-3431-1E149575A1C8}"/>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219EEF0-B980-3A33-F700-E4343085E52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B65B7FF-EEB3-EFDD-399E-D873340E8B9C}"/>
              </a:ext>
            </a:extLst>
          </p:cNvPr>
          <p:cNvSpPr>
            <a:spLocks noGrp="1"/>
          </p:cNvSpPr>
          <p:nvPr>
            <p:ph type="dt" sz="half" idx="10"/>
          </p:nvPr>
        </p:nvSpPr>
        <p:spPr/>
        <p:txBody>
          <a:bodyPr/>
          <a:lstStyle/>
          <a:p>
            <a:fld id="{ECA158B7-8507-4363-B068-E4BAF1FF403D}" type="datetimeFigureOut">
              <a:rPr lang="fr-FR" smtClean="0"/>
              <a:t>08/04/2026</a:t>
            </a:fld>
            <a:endParaRPr lang="fr-FR"/>
          </a:p>
        </p:txBody>
      </p:sp>
      <p:sp>
        <p:nvSpPr>
          <p:cNvPr id="5" name="Espace réservé du pied de page 4">
            <a:extLst>
              <a:ext uri="{FF2B5EF4-FFF2-40B4-BE49-F238E27FC236}">
                <a16:creationId xmlns:a16="http://schemas.microsoft.com/office/drawing/2014/main" id="{56BC179B-1D59-8B74-E8F4-0AF2A6ED261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924CBC1-E6B6-6757-43C3-0D1943FAFC62}"/>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34028952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B465151-7401-00A8-48D9-5122C2AF458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11F2251-9912-3EC2-CB9A-E131B99604B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6716FA-137D-754C-7F7C-74EE49D0D8ED}"/>
              </a:ext>
            </a:extLst>
          </p:cNvPr>
          <p:cNvSpPr>
            <a:spLocks noGrp="1"/>
          </p:cNvSpPr>
          <p:nvPr>
            <p:ph type="dt" sz="half" idx="10"/>
          </p:nvPr>
        </p:nvSpPr>
        <p:spPr/>
        <p:txBody>
          <a:bodyPr/>
          <a:lstStyle/>
          <a:p>
            <a:fld id="{ECA158B7-8507-4363-B068-E4BAF1FF403D}" type="datetimeFigureOut">
              <a:rPr lang="fr-FR" smtClean="0"/>
              <a:t>08/04/2026</a:t>
            </a:fld>
            <a:endParaRPr lang="fr-FR"/>
          </a:p>
        </p:txBody>
      </p:sp>
      <p:sp>
        <p:nvSpPr>
          <p:cNvPr id="5" name="Espace réservé du pied de page 4">
            <a:extLst>
              <a:ext uri="{FF2B5EF4-FFF2-40B4-BE49-F238E27FC236}">
                <a16:creationId xmlns:a16="http://schemas.microsoft.com/office/drawing/2014/main" id="{34092EBC-BF5D-E08C-8B0E-6A1965A476A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7E201A7-27DC-EF07-B42D-328265CC3F38}"/>
              </a:ext>
            </a:extLst>
          </p:cNvPr>
          <p:cNvSpPr>
            <a:spLocks noGrp="1"/>
          </p:cNvSpPr>
          <p:nvPr>
            <p:ph type="sldNum" sz="quarter" idx="12"/>
          </p:nvPr>
        </p:nvSpPr>
        <p:spPr/>
        <p:txBody>
          <a:bodyPr/>
          <a:lstStyle/>
          <a:p>
            <a:fld id="{CB97889E-34D5-43FB-B9E5-AC8A7ED2CA30}" type="slidenum">
              <a:rPr lang="fr-FR" smtClean="0"/>
              <a:t>‹N°›</a:t>
            </a:fld>
            <a:endParaRPr lang="fr-FR"/>
          </a:p>
        </p:txBody>
      </p:sp>
    </p:spTree>
    <p:extLst>
      <p:ext uri="{BB962C8B-B14F-4D97-AF65-F5344CB8AC3E}">
        <p14:creationId xmlns:p14="http://schemas.microsoft.com/office/powerpoint/2010/main" val="1540702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1D423F7-0FBF-D938-6CFD-6CEFE6BDB5AF}"/>
              </a:ext>
            </a:extLst>
          </p:cNvPr>
          <p:cNvSpPr/>
          <p:nvPr userDrawn="1"/>
        </p:nvSpPr>
        <p:spPr>
          <a:xfrm>
            <a:off x="6769758" y="6678384"/>
            <a:ext cx="5400000" cy="50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u titre 1">
            <a:extLst>
              <a:ext uri="{FF2B5EF4-FFF2-40B4-BE49-F238E27FC236}">
                <a16:creationId xmlns:a16="http://schemas.microsoft.com/office/drawing/2014/main" id="{C412EFCF-850C-E58A-2396-084D576F1146}"/>
              </a:ext>
            </a:extLst>
          </p:cNvPr>
          <p:cNvSpPr>
            <a:spLocks noGrp="1"/>
          </p:cNvSpPr>
          <p:nvPr>
            <p:ph type="title"/>
          </p:nvPr>
        </p:nvSpPr>
        <p:spPr>
          <a:xfrm>
            <a:off x="838200" y="86833"/>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1822B43-B5F6-94C8-DE71-D1AFE2646E8E}"/>
              </a:ext>
            </a:extLst>
          </p:cNvPr>
          <p:cNvSpPr>
            <a:spLocks noGrp="1"/>
          </p:cNvSpPr>
          <p:nvPr>
            <p:ph type="body" idx="1"/>
          </p:nvPr>
        </p:nvSpPr>
        <p:spPr>
          <a:xfrm>
            <a:off x="838200" y="1494845"/>
            <a:ext cx="10515600" cy="468211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163926E5-DD35-907A-B649-F9B478803E23}"/>
              </a:ext>
            </a:extLst>
          </p:cNvPr>
          <p:cNvSpPr>
            <a:spLocks noGrp="1"/>
          </p:cNvSpPr>
          <p:nvPr>
            <p:ph type="dt" sz="half" idx="2"/>
          </p:nvPr>
        </p:nvSpPr>
        <p:spPr>
          <a:xfrm rot="16200000">
            <a:off x="10756598" y="1048036"/>
            <a:ext cx="2461196" cy="365125"/>
          </a:xfrm>
          <a:prstGeom prst="rect">
            <a:avLst/>
          </a:prstGeom>
        </p:spPr>
        <p:txBody>
          <a:bodyPr vert="horz" lIns="91440" tIns="45720" rIns="91440" bIns="45720" rtlCol="0" anchor="ctr"/>
          <a:lstStyle>
            <a:lvl1pPr algn="l">
              <a:defRPr sz="1200">
                <a:solidFill>
                  <a:schemeClr val="accent1"/>
                </a:solidFill>
              </a:defRPr>
            </a:lvl1pPr>
          </a:lstStyle>
          <a:p>
            <a:fld id="{ECA158B7-8507-4363-B068-E4BAF1FF403D}" type="datetimeFigureOut">
              <a:rPr lang="fr-FR" smtClean="0"/>
              <a:pPr/>
              <a:t>08/04/2026</a:t>
            </a:fld>
            <a:endParaRPr lang="fr-FR"/>
          </a:p>
        </p:txBody>
      </p:sp>
      <p:sp>
        <p:nvSpPr>
          <p:cNvPr id="5" name="Espace réservé du pied de page 4">
            <a:extLst>
              <a:ext uri="{FF2B5EF4-FFF2-40B4-BE49-F238E27FC236}">
                <a16:creationId xmlns:a16="http://schemas.microsoft.com/office/drawing/2014/main" id="{23046EE5-E202-A68A-2150-6DDB55D3CECD}"/>
              </a:ext>
            </a:extLst>
          </p:cNvPr>
          <p:cNvSpPr>
            <a:spLocks noGrp="1"/>
          </p:cNvSpPr>
          <p:nvPr>
            <p:ph type="ftr" sz="quarter" idx="3"/>
          </p:nvPr>
        </p:nvSpPr>
        <p:spPr>
          <a:xfrm rot="16200000">
            <a:off x="10060436" y="4352375"/>
            <a:ext cx="3853519" cy="365125"/>
          </a:xfrm>
          <a:prstGeom prst="rect">
            <a:avLst/>
          </a:prstGeom>
        </p:spPr>
        <p:txBody>
          <a:bodyPr vert="horz" lIns="91440" tIns="45720" rIns="91440" bIns="45720" rtlCol="0" anchor="ctr"/>
          <a:lstStyle>
            <a:lvl1pPr algn="l">
              <a:defRPr sz="1200">
                <a:solidFill>
                  <a:schemeClr val="accent1"/>
                </a:solidFill>
              </a:defRPr>
            </a:lvl1pPr>
          </a:lstStyle>
          <a:p>
            <a:endParaRPr lang="fr-FR" dirty="0"/>
          </a:p>
        </p:txBody>
      </p:sp>
      <p:sp>
        <p:nvSpPr>
          <p:cNvPr id="6" name="Espace réservé du numéro de diapositive 5">
            <a:extLst>
              <a:ext uri="{FF2B5EF4-FFF2-40B4-BE49-F238E27FC236}">
                <a16:creationId xmlns:a16="http://schemas.microsoft.com/office/drawing/2014/main" id="{829C786C-020B-24A8-CF7B-2595D249E937}"/>
              </a:ext>
            </a:extLst>
          </p:cNvPr>
          <p:cNvSpPr>
            <a:spLocks noGrp="1"/>
          </p:cNvSpPr>
          <p:nvPr>
            <p:ph type="sldNum" sz="quarter" idx="4"/>
          </p:nvPr>
        </p:nvSpPr>
        <p:spPr>
          <a:xfrm>
            <a:off x="11353800" y="6492875"/>
            <a:ext cx="487136" cy="365125"/>
          </a:xfrm>
          <a:prstGeom prst="rect">
            <a:avLst/>
          </a:prstGeom>
          <a:solidFill>
            <a:schemeClr val="bg1"/>
          </a:solidFill>
        </p:spPr>
        <p:txBody>
          <a:bodyPr vert="horz" lIns="91440" tIns="45720" rIns="91440" bIns="45720" rtlCol="0" anchor="ctr"/>
          <a:lstStyle>
            <a:lvl1pPr algn="r">
              <a:defRPr sz="1200">
                <a:solidFill>
                  <a:schemeClr val="accent1"/>
                </a:solidFill>
              </a:defRPr>
            </a:lvl1pPr>
          </a:lstStyle>
          <a:p>
            <a:fld id="{CB97889E-34D5-43FB-B9E5-AC8A7ED2CA30}" type="slidenum">
              <a:rPr lang="fr-FR" smtClean="0"/>
              <a:pPr/>
              <a:t>‹N°›</a:t>
            </a:fld>
            <a:endParaRPr lang="fr-FR"/>
          </a:p>
        </p:txBody>
      </p:sp>
      <p:sp>
        <p:nvSpPr>
          <p:cNvPr id="10" name="Rectangle 9">
            <a:extLst>
              <a:ext uri="{FF2B5EF4-FFF2-40B4-BE49-F238E27FC236}">
                <a16:creationId xmlns:a16="http://schemas.microsoft.com/office/drawing/2014/main" id="{519B50D6-4E80-7118-84FF-22CA9C26BB40}"/>
              </a:ext>
            </a:extLst>
          </p:cNvPr>
          <p:cNvSpPr/>
          <p:nvPr userDrawn="1"/>
        </p:nvSpPr>
        <p:spPr>
          <a:xfrm>
            <a:off x="0" y="6678384"/>
            <a:ext cx="5400000" cy="50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8F3027DB-0DD4-77F8-3DEB-49AD0AC9A225}"/>
              </a:ext>
            </a:extLst>
          </p:cNvPr>
          <p:cNvSpPr/>
          <p:nvPr userDrawn="1"/>
        </p:nvSpPr>
        <p:spPr>
          <a:xfrm>
            <a:off x="586233" y="402345"/>
            <a:ext cx="108000" cy="720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646061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4"/>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5"/>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6F7F3F-3B8B-9CEB-7B09-8E4870C80A0D}"/>
              </a:ext>
            </a:extLst>
          </p:cNvPr>
          <p:cNvSpPr>
            <a:spLocks noGrp="1"/>
          </p:cNvSpPr>
          <p:nvPr>
            <p:ph type="ctrTitle"/>
          </p:nvPr>
        </p:nvSpPr>
        <p:spPr>
          <a:xfrm>
            <a:off x="1524000" y="1122362"/>
            <a:ext cx="9144000" cy="3219050"/>
          </a:xfrm>
        </p:spPr>
        <p:txBody>
          <a:bodyPr anchor="b">
            <a:normAutofit/>
          </a:bodyPr>
          <a:lstStyle/>
          <a:p>
            <a:r>
              <a:rPr lang="fr-FR" sz="5600" dirty="0"/>
              <a:t>Présentation dynamique des cas d’usage de l’IA en environnement professionnel</a:t>
            </a:r>
          </a:p>
        </p:txBody>
      </p:sp>
      <p:sp>
        <p:nvSpPr>
          <p:cNvPr id="3" name="Sous-titre 2">
            <a:extLst>
              <a:ext uri="{FF2B5EF4-FFF2-40B4-BE49-F238E27FC236}">
                <a16:creationId xmlns:a16="http://schemas.microsoft.com/office/drawing/2014/main" id="{DB1D0313-29A4-DB16-A6A8-CF4EFE8B777B}"/>
              </a:ext>
            </a:extLst>
          </p:cNvPr>
          <p:cNvSpPr>
            <a:spLocks noGrp="1"/>
          </p:cNvSpPr>
          <p:nvPr>
            <p:ph type="subTitle" idx="1"/>
          </p:nvPr>
        </p:nvSpPr>
        <p:spPr>
          <a:xfrm>
            <a:off x="1524000" y="4416830"/>
            <a:ext cx="9144000" cy="759469"/>
          </a:xfrm>
        </p:spPr>
        <p:txBody>
          <a:bodyPr anchor="ctr">
            <a:normAutofit/>
          </a:bodyPr>
          <a:lstStyle/>
          <a:p>
            <a:r>
              <a:rPr lang="fr-FR"/>
              <a:t>Exploration des applications pratiques de l’intelligence artificielle</a:t>
            </a:r>
          </a:p>
        </p:txBody>
      </p:sp>
    </p:spTree>
    <p:extLst>
      <p:ext uri="{BB962C8B-B14F-4D97-AF65-F5344CB8AC3E}">
        <p14:creationId xmlns:p14="http://schemas.microsoft.com/office/powerpoint/2010/main" val="2102205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416204-2340-49A7-ABCF-60043C272A15}"/>
              </a:ext>
            </a:extLst>
          </p:cNvPr>
          <p:cNvSpPr>
            <a:spLocks noGrp="1"/>
          </p:cNvSpPr>
          <p:nvPr>
            <p:ph type="title"/>
          </p:nvPr>
        </p:nvSpPr>
        <p:spPr>
          <a:xfrm>
            <a:off x="95253" y="206700"/>
            <a:ext cx="2762250" cy="6444599"/>
          </a:xfrm>
        </p:spPr>
        <p:txBody>
          <a:bodyPr anchor="ctr">
            <a:normAutofit/>
          </a:bodyPr>
          <a:lstStyle/>
          <a:p>
            <a:r>
              <a:rPr lang="fr-FR" sz="3400"/>
              <a:t>Plan de la présentation</a:t>
            </a:r>
          </a:p>
        </p:txBody>
      </p:sp>
      <p:sp>
        <p:nvSpPr>
          <p:cNvPr id="3" name="Espace réservé du contenu 2">
            <a:extLst>
              <a:ext uri="{FF2B5EF4-FFF2-40B4-BE49-F238E27FC236}">
                <a16:creationId xmlns:a16="http://schemas.microsoft.com/office/drawing/2014/main" id="{B5F5CA5C-91F5-4DFF-04D5-38E7FEBECCAD}"/>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3200404" y="206699"/>
            <a:ext cx="8531679" cy="6006321"/>
          </a:xfrm>
        </p:spPr>
        <p:txBody>
          <a:bodyPr>
            <a:normAutofit/>
          </a:bodyPr>
          <a:lstStyle/>
          <a:p>
            <a:pPr>
              <a:buFont typeface="Arial" panose="020B0604020202020204" pitchFamily="34" charset="0"/>
              <a:buChar char="•"/>
            </a:pPr>
            <a:r>
              <a:rPr lang="fr-FR" sz="2600"/>
              <a:t>Objectif pédagogique et introduction aux cas d’usage</a:t>
            </a:r>
          </a:p>
          <a:p>
            <a:pPr>
              <a:buFont typeface="Arial" panose="020B0604020202020204" pitchFamily="34" charset="0"/>
              <a:buChar char="•"/>
            </a:pPr>
            <a:r>
              <a:rPr lang="fr-FR" sz="2600"/>
              <a:t>Scénario 1 : Exploiter un rapport PDF complexe avec l’IA</a:t>
            </a:r>
          </a:p>
          <a:p>
            <a:pPr>
              <a:buFont typeface="Arial" panose="020B0604020202020204" pitchFamily="34" charset="0"/>
              <a:buChar char="•"/>
            </a:pPr>
            <a:r>
              <a:rPr lang="fr-FR" sz="2600"/>
              <a:t>Scénario 2 : Rédiger un mail efficace grâce à l’IA</a:t>
            </a:r>
          </a:p>
          <a:p>
            <a:pPr>
              <a:buFont typeface="Arial" panose="020B0604020202020204" pitchFamily="34" charset="0"/>
              <a:buChar char="•"/>
            </a:pPr>
            <a:r>
              <a:rPr lang="fr-FR" sz="2600"/>
              <a:t>Scénario 4 : Créer un contenu à forte valeur ajoutée avec l’IA</a:t>
            </a:r>
          </a:p>
          <a:p>
            <a:pPr>
              <a:buFont typeface="Arial" panose="020B0604020202020204" pitchFamily="34" charset="0"/>
              <a:buChar char="•"/>
            </a:pPr>
            <a:r>
              <a:rPr lang="fr-FR" sz="2600"/>
              <a:t>Scénario 5 : Sécuriser une infographie générée par l’IA</a:t>
            </a:r>
          </a:p>
          <a:p>
            <a:pPr>
              <a:buFont typeface="Arial" panose="020B0604020202020204" pitchFamily="34" charset="0"/>
              <a:buChar char="•"/>
            </a:pPr>
            <a:r>
              <a:rPr lang="fr-FR" sz="2600"/>
              <a:t>Se faire coacher par l’IA : posture professionnelle et limites</a:t>
            </a:r>
          </a:p>
          <a:p>
            <a:pPr>
              <a:buFont typeface="Arial" panose="020B0604020202020204" pitchFamily="34" charset="0"/>
              <a:buChar char="•"/>
            </a:pPr>
            <a:r>
              <a:rPr lang="fr-FR" sz="2600"/>
              <a:t>Atelier bac à sable : imaginer un cas d’usage IA</a:t>
            </a:r>
          </a:p>
          <a:p>
            <a:pPr>
              <a:buFont typeface="Arial" panose="020B0604020202020204" pitchFamily="34" charset="0"/>
              <a:buChar char="•"/>
            </a:pPr>
            <a:r>
              <a:rPr lang="fr-FR" sz="2600"/>
              <a:t>Créer un support rapidement avec l’IA</a:t>
            </a:r>
          </a:p>
          <a:p>
            <a:pPr>
              <a:buFont typeface="Arial" panose="020B0604020202020204" pitchFamily="34" charset="0"/>
              <a:buChar char="•"/>
            </a:pPr>
            <a:r>
              <a:rPr lang="fr-FR" sz="2600"/>
              <a:t>Réécrire pour mieux communiquer grâce à l’IA</a:t>
            </a:r>
          </a:p>
          <a:p>
            <a:pPr>
              <a:buFont typeface="Arial" panose="020B0604020202020204" pitchFamily="34" charset="0"/>
              <a:buChar char="•"/>
            </a:pPr>
            <a:r>
              <a:rPr lang="fr-FR" sz="2600"/>
              <a:t>Restitution possible : présentation flash</a:t>
            </a:r>
          </a:p>
        </p:txBody>
      </p:sp>
    </p:spTree>
    <p:extLst>
      <p:ext uri="{BB962C8B-B14F-4D97-AF65-F5344CB8AC3E}">
        <p14:creationId xmlns:p14="http://schemas.microsoft.com/office/powerpoint/2010/main" val="19472179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BA32EA-20C5-0A79-870D-69DA0D60900E}"/>
              </a:ext>
            </a:extLst>
          </p:cNvPr>
          <p:cNvSpPr>
            <a:spLocks noGrp="1"/>
          </p:cNvSpPr>
          <p:nvPr>
            <p:ph type="title"/>
          </p:nvPr>
        </p:nvSpPr>
        <p:spPr>
          <a:xfrm>
            <a:off x="831850" y="1709738"/>
            <a:ext cx="10515600" cy="2852737"/>
          </a:xfrm>
        </p:spPr>
        <p:txBody>
          <a:bodyPr anchor="ctr">
            <a:normAutofit/>
          </a:bodyPr>
          <a:lstStyle/>
          <a:p>
            <a:r>
              <a:rPr lang="fr-FR"/>
              <a:t>Objectif pédagogique et introduction aux cas d’usage</a:t>
            </a:r>
          </a:p>
        </p:txBody>
      </p:sp>
      <p:sp>
        <p:nvSpPr>
          <p:cNvPr id="7" name="Text Placeholder 2">
            <a:extLst>
              <a:ext uri="{FF2B5EF4-FFF2-40B4-BE49-F238E27FC236}">
                <a16:creationId xmlns:a16="http://schemas.microsoft.com/office/drawing/2014/main" id="{4061AB0B-8200-F528-BDE3-2B1F31CFF4E3}"/>
              </a:ext>
            </a:extLst>
          </p:cNvPr>
          <p:cNvSpPr>
            <a:spLocks noGrp="1"/>
          </p:cNvSpPr>
          <p:nvPr>
            <p:ph type="body" idx="1"/>
          </p:nvPr>
        </p:nvSpPr>
        <p:spPr>
          <a:xfrm>
            <a:off x="831850" y="4589463"/>
            <a:ext cx="10515600" cy="1500187"/>
          </a:xfrm>
        </p:spPr>
        <p:txBody>
          <a:bodyPr/>
          <a:lstStyle/>
          <a:p>
            <a:endParaRPr lang="en-US"/>
          </a:p>
        </p:txBody>
      </p:sp>
      <p:sp>
        <p:nvSpPr>
          <p:cNvPr id="9" name="Text Placeholder 3">
            <a:extLst>
              <a:ext uri="{FF2B5EF4-FFF2-40B4-BE49-F238E27FC236}">
                <a16:creationId xmlns:a16="http://schemas.microsoft.com/office/drawing/2014/main" id="{C3CD558D-7B9B-DFF7-5961-64B32C1070A7}"/>
              </a:ext>
            </a:extLst>
          </p:cNvPr>
          <p:cNvSpPr>
            <a:spLocks noGrp="1"/>
          </p:cNvSpPr>
          <p:nvPr>
            <p:ph type="body" sz="quarter" idx="13"/>
          </p:nvPr>
        </p:nvSpPr>
        <p:spPr>
          <a:xfrm>
            <a:off x="831850" y="1276350"/>
            <a:ext cx="2627313" cy="433388"/>
          </a:xfrm>
        </p:spPr>
        <p:txBody>
          <a:bodyPr/>
          <a:lstStyle/>
          <a:p>
            <a:endParaRPr lang="en-US"/>
          </a:p>
        </p:txBody>
      </p:sp>
    </p:spTree>
    <p:extLst>
      <p:ext uri="{BB962C8B-B14F-4D97-AF65-F5344CB8AC3E}">
        <p14:creationId xmlns:p14="http://schemas.microsoft.com/office/powerpoint/2010/main" val="36355741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5DE46-0AAD-EF61-C20F-B22EED79126E}"/>
              </a:ext>
            </a:extLst>
          </p:cNvPr>
          <p:cNvSpPr>
            <a:spLocks noGrp="1"/>
          </p:cNvSpPr>
          <p:nvPr>
            <p:ph type="title"/>
          </p:nvPr>
        </p:nvSpPr>
        <p:spPr>
          <a:xfrm>
            <a:off x="838200" y="86833"/>
            <a:ext cx="10515600" cy="1325563"/>
          </a:xfrm>
        </p:spPr>
        <p:txBody>
          <a:bodyPr anchor="ctr">
            <a:normAutofit/>
          </a:bodyPr>
          <a:lstStyle/>
          <a:p>
            <a:r>
              <a:rPr lang="fr-FR" sz="4100"/>
              <a:t>Objectif de la formation : stimuler l’identification d’usages pertinents de l’IA</a:t>
            </a:r>
          </a:p>
        </p:txBody>
      </p:sp>
      <p:pic>
        <p:nvPicPr>
          <p:cNvPr id="5" name="Espace réservé du contenu 4" descr="Cinq exemplaires du même homme d’affaires dans une salle de réunion où l’un fait une présentation et les 4 autres font autre chose autour de la table. L’un envoie des SMS, un autre boit, un autre travaille sur un ordinateur portable et le dernier est le seul à écouter...">
            <a:extLst>
              <a:ext uri="{FF2B5EF4-FFF2-40B4-BE49-F238E27FC236}">
                <a16:creationId xmlns:a16="http://schemas.microsoft.com/office/drawing/2014/main" id="{8F54EA90-4638-49E9-AEB9-AF6D83DFDB7C}"/>
              </a:ext>
            </a:extLst>
          </p:cNvPr>
          <p:cNvPicPr>
            <a:picLocks noGrp="1" noChangeAspect="1"/>
          </p:cNvPicPr>
          <p:nvPr>
            <p:ph sz="half" idx="1"/>
          </p:nvPr>
        </p:nvPicPr>
        <p:blipFill>
          <a:blip r:embed="rId3"/>
          <a:srcRect l="4404" r="16704"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AF4C6654-B20B-1E2E-3F61-0510A08AF4B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Objectif pédagogique clair</a:t>
            </a:r>
          </a:p>
          <a:p>
            <a:pPr marL="0" lvl="1" indent="0">
              <a:buFont typeface="Arial" panose="020B0604020202020204" pitchFamily="34" charset="0"/>
              <a:buNone/>
            </a:pPr>
            <a:r>
              <a:rPr lang="fr-FR" sz="1400"/>
              <a:t>Stimuler l’identification d’usages pertinents de l’IA adaptés aux environnements professionnels réels.</a:t>
            </a:r>
          </a:p>
          <a:p>
            <a:pPr marL="0" indent="0">
              <a:spcBef>
                <a:spcPts val="2500"/>
              </a:spcBef>
              <a:buFont typeface="Arial" panose="020B0604020202020204" pitchFamily="34" charset="0"/>
              <a:buNone/>
            </a:pPr>
            <a:r>
              <a:rPr lang="fr-FR" sz="1400" b="1"/>
              <a:t>Situations concrètes</a:t>
            </a:r>
          </a:p>
          <a:p>
            <a:pPr marL="0" lvl="1" indent="0">
              <a:buFont typeface="Arial" panose="020B0604020202020204" pitchFamily="34" charset="0"/>
              <a:buNone/>
            </a:pPr>
            <a:r>
              <a:rPr lang="fr-FR" sz="1400"/>
              <a:t>Utiliser des cas pratiques pour engager les participants dans des scénarios réels d’application de l’IA.</a:t>
            </a:r>
          </a:p>
        </p:txBody>
      </p:sp>
    </p:spTree>
    <p:extLst>
      <p:ext uri="{BB962C8B-B14F-4D97-AF65-F5344CB8AC3E}">
        <p14:creationId xmlns:p14="http://schemas.microsoft.com/office/powerpoint/2010/main" val="25519053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FE34A3-A0E9-6E68-F92E-D66F47251219}"/>
              </a:ext>
            </a:extLst>
          </p:cNvPr>
          <p:cNvSpPr>
            <a:spLocks noGrp="1"/>
          </p:cNvSpPr>
          <p:nvPr>
            <p:ph type="title"/>
          </p:nvPr>
        </p:nvSpPr>
        <p:spPr>
          <a:xfrm>
            <a:off x="831850" y="1709738"/>
            <a:ext cx="10515600" cy="2852737"/>
          </a:xfrm>
        </p:spPr>
        <p:txBody>
          <a:bodyPr anchor="ctr">
            <a:normAutofit/>
          </a:bodyPr>
          <a:lstStyle/>
          <a:p>
            <a:r>
              <a:rPr lang="fr-FR"/>
              <a:t>Scénario 1 : Exploiter un rapport PDF complexe avec l’IA</a:t>
            </a:r>
          </a:p>
        </p:txBody>
      </p:sp>
      <p:sp>
        <p:nvSpPr>
          <p:cNvPr id="7" name="Text Placeholder 2">
            <a:extLst>
              <a:ext uri="{FF2B5EF4-FFF2-40B4-BE49-F238E27FC236}">
                <a16:creationId xmlns:a16="http://schemas.microsoft.com/office/drawing/2014/main" id="{6A3B2F9F-42FA-5398-52C3-1DB2D06CA0FA}"/>
              </a:ext>
            </a:extLst>
          </p:cNvPr>
          <p:cNvSpPr>
            <a:spLocks noGrp="1"/>
          </p:cNvSpPr>
          <p:nvPr>
            <p:ph type="body" idx="1"/>
          </p:nvPr>
        </p:nvSpPr>
        <p:spPr>
          <a:xfrm>
            <a:off x="831850" y="4589463"/>
            <a:ext cx="10515600" cy="1500187"/>
          </a:xfrm>
        </p:spPr>
        <p:txBody>
          <a:bodyPr/>
          <a:lstStyle/>
          <a:p>
            <a:endParaRPr lang="en-US"/>
          </a:p>
        </p:txBody>
      </p:sp>
      <p:sp>
        <p:nvSpPr>
          <p:cNvPr id="9" name="Text Placeholder 3">
            <a:extLst>
              <a:ext uri="{FF2B5EF4-FFF2-40B4-BE49-F238E27FC236}">
                <a16:creationId xmlns:a16="http://schemas.microsoft.com/office/drawing/2014/main" id="{FCF7BA1D-2529-6B3F-BE13-FB09F4A970E8}"/>
              </a:ext>
            </a:extLst>
          </p:cNvPr>
          <p:cNvSpPr>
            <a:spLocks noGrp="1"/>
          </p:cNvSpPr>
          <p:nvPr>
            <p:ph type="body" sz="quarter" idx="13"/>
          </p:nvPr>
        </p:nvSpPr>
        <p:spPr>
          <a:xfrm>
            <a:off x="831850" y="1276350"/>
            <a:ext cx="2627313" cy="433388"/>
          </a:xfrm>
        </p:spPr>
        <p:txBody>
          <a:bodyPr/>
          <a:lstStyle/>
          <a:p>
            <a:endParaRPr lang="en-US"/>
          </a:p>
        </p:txBody>
      </p:sp>
    </p:spTree>
    <p:extLst>
      <p:ext uri="{BB962C8B-B14F-4D97-AF65-F5344CB8AC3E}">
        <p14:creationId xmlns:p14="http://schemas.microsoft.com/office/powerpoint/2010/main" val="5685848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7C9A8B-C8EB-B99F-CC23-C86F49916728}"/>
              </a:ext>
            </a:extLst>
          </p:cNvPr>
          <p:cNvSpPr>
            <a:spLocks noGrp="1"/>
          </p:cNvSpPr>
          <p:nvPr>
            <p:ph type="title"/>
          </p:nvPr>
        </p:nvSpPr>
        <p:spPr>
          <a:xfrm>
            <a:off x="838200" y="86833"/>
            <a:ext cx="10515600" cy="1325563"/>
          </a:xfrm>
        </p:spPr>
        <p:txBody>
          <a:bodyPr anchor="ctr">
            <a:normAutofit/>
          </a:bodyPr>
          <a:lstStyle/>
          <a:p>
            <a:r>
              <a:rPr lang="fr-FR"/>
              <a:t>Contexte et mission : transformer un rapport PDF en tableau synthétique</a:t>
            </a:r>
          </a:p>
        </p:txBody>
      </p:sp>
      <p:pic>
        <p:nvPicPr>
          <p:cNvPr id="5" name="Espace réservé du contenu 4" descr="Homme travaillant sur ordinateur">
            <a:extLst>
              <a:ext uri="{FF2B5EF4-FFF2-40B4-BE49-F238E27FC236}">
                <a16:creationId xmlns:a16="http://schemas.microsoft.com/office/drawing/2014/main" id="{AAAA441D-1E27-4D10-9E65-6982B91744FF}"/>
              </a:ext>
            </a:extLst>
          </p:cNvPr>
          <p:cNvPicPr>
            <a:picLocks noGrp="1" noChangeAspect="1"/>
          </p:cNvPicPr>
          <p:nvPr>
            <p:ph sz="half" idx="1"/>
          </p:nvPr>
        </p:nvPicPr>
        <p:blipFill>
          <a:blip r:embed="rId3"/>
          <a:srcRect l="8052" r="12461"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2A6F327A-9599-0DD1-E0FF-962402819B4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Défi du rapport PDF</a:t>
            </a:r>
          </a:p>
          <a:p>
            <a:pPr marL="0" lvl="1" indent="0">
              <a:buFont typeface="Arial" panose="020B0604020202020204" pitchFamily="34" charset="0"/>
              <a:buNone/>
            </a:pPr>
            <a:r>
              <a:rPr lang="fr-FR" sz="1400"/>
              <a:t>Le rapport mensuel PDF est complexe et difficile à convertir manuellement en tableau synthétique dans Excel.</a:t>
            </a:r>
          </a:p>
          <a:p>
            <a:pPr marL="0" indent="0">
              <a:spcBef>
                <a:spcPts val="2500"/>
              </a:spcBef>
              <a:buFont typeface="Arial" panose="020B0604020202020204" pitchFamily="34" charset="0"/>
              <a:buNone/>
            </a:pPr>
            <a:r>
              <a:rPr lang="fr-FR" sz="1400" b="1"/>
              <a:t>Utilisation de l’IA</a:t>
            </a:r>
          </a:p>
          <a:p>
            <a:pPr marL="0" lvl="1" indent="0">
              <a:buFont typeface="Arial" panose="020B0604020202020204" pitchFamily="34" charset="0"/>
              <a:buNone/>
            </a:pPr>
            <a:r>
              <a:rPr lang="fr-FR" sz="1400"/>
              <a:t>L’intelligence artificielle peut automatiser l’extraction et la transformation des données pour gagner du temps.</a:t>
            </a:r>
          </a:p>
          <a:p>
            <a:pPr marL="0" indent="0">
              <a:spcBef>
                <a:spcPts val="2500"/>
              </a:spcBef>
              <a:buFont typeface="Arial" panose="020B0604020202020204" pitchFamily="34" charset="0"/>
              <a:buNone/>
            </a:pPr>
            <a:r>
              <a:rPr lang="fr-FR" sz="1400" b="1"/>
              <a:t>Résultat attendu</a:t>
            </a:r>
          </a:p>
          <a:p>
            <a:pPr marL="0" lvl="1" indent="0">
              <a:buFont typeface="Arial" panose="020B0604020202020204" pitchFamily="34" charset="0"/>
              <a:buNone/>
            </a:pPr>
            <a:r>
              <a:rPr lang="fr-FR" sz="1400"/>
              <a:t>Produire un tableau synthétique clair et exploitable rapidement pour répondre aux besoins du manager.</a:t>
            </a:r>
          </a:p>
        </p:txBody>
      </p:sp>
    </p:spTree>
    <p:extLst>
      <p:ext uri="{BB962C8B-B14F-4D97-AF65-F5344CB8AC3E}">
        <p14:creationId xmlns:p14="http://schemas.microsoft.com/office/powerpoint/2010/main" val="13096437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C457C9-9376-4BE4-B8F6-EA5A8D4B8A33}"/>
              </a:ext>
            </a:extLst>
          </p:cNvPr>
          <p:cNvSpPr>
            <a:spLocks noGrp="1"/>
          </p:cNvSpPr>
          <p:nvPr>
            <p:ph type="title"/>
          </p:nvPr>
        </p:nvSpPr>
        <p:spPr>
          <a:xfrm>
            <a:off x="838200" y="86833"/>
            <a:ext cx="10515600" cy="1325563"/>
          </a:xfrm>
        </p:spPr>
        <p:txBody>
          <a:bodyPr anchor="ctr">
            <a:normAutofit/>
          </a:bodyPr>
          <a:lstStyle/>
          <a:p>
            <a:r>
              <a:rPr lang="fr-FR"/>
              <a:t>Questions guide : prompt, outils, limites et vérifications</a:t>
            </a:r>
          </a:p>
        </p:txBody>
      </p:sp>
      <p:pic>
        <p:nvPicPr>
          <p:cNvPr id="5" name="Espace réservé du contenu 4" descr="Panneau de liste de contrôle et surligneur isolé sur fond blanc">
            <a:extLst>
              <a:ext uri="{FF2B5EF4-FFF2-40B4-BE49-F238E27FC236}">
                <a16:creationId xmlns:a16="http://schemas.microsoft.com/office/drawing/2014/main" id="{D6042C7B-490C-4564-AA98-BB59A02AB9B1}"/>
              </a:ext>
            </a:extLst>
          </p:cNvPr>
          <p:cNvPicPr>
            <a:picLocks noGrp="1" noChangeAspect="1"/>
          </p:cNvPicPr>
          <p:nvPr>
            <p:ph sz="half" idx="1"/>
          </p:nvPr>
        </p:nvPicPr>
        <p:blipFill>
          <a:blip r:embed="rId3"/>
          <a:srcRect t="35375" r="2" b="1224"/>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736D6807-C86A-C305-413A-6E14A5CC0D5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Choix du prompt</a:t>
            </a:r>
          </a:p>
          <a:p>
            <a:pPr marL="0" lvl="1" indent="0">
              <a:buFont typeface="Arial" panose="020B0604020202020204" pitchFamily="34" charset="0"/>
              <a:buNone/>
            </a:pPr>
            <a:r>
              <a:rPr lang="fr-FR" sz="1400"/>
              <a:t>Déterminer un prompt pertinent pour orienter efficacement la recherche ou l’analyse.</a:t>
            </a:r>
          </a:p>
          <a:p>
            <a:pPr marL="0" indent="0">
              <a:spcBef>
                <a:spcPts val="2500"/>
              </a:spcBef>
              <a:buFont typeface="Arial" panose="020B0604020202020204" pitchFamily="34" charset="0"/>
              <a:buNone/>
            </a:pPr>
            <a:r>
              <a:rPr lang="fr-FR" sz="1400" b="1"/>
              <a:t>Outils mobilisés</a:t>
            </a:r>
          </a:p>
          <a:p>
            <a:pPr marL="0" lvl="1" indent="0">
              <a:buFont typeface="Arial" panose="020B0604020202020204" pitchFamily="34" charset="0"/>
              <a:buNone/>
            </a:pPr>
            <a:r>
              <a:rPr lang="fr-FR" sz="1400"/>
              <a:t>Identifier les outils adaptés pour répondre aux besoins et aux objectifs du projet.</a:t>
            </a:r>
          </a:p>
          <a:p>
            <a:pPr marL="0" indent="0">
              <a:spcBef>
                <a:spcPts val="2500"/>
              </a:spcBef>
              <a:buFont typeface="Arial" panose="020B0604020202020204" pitchFamily="34" charset="0"/>
              <a:buNone/>
            </a:pPr>
            <a:r>
              <a:rPr lang="fr-FR" sz="1400" b="1"/>
              <a:t>Limites et vérifications</a:t>
            </a:r>
          </a:p>
          <a:p>
            <a:pPr marL="0" lvl="1" indent="0">
              <a:buFont typeface="Arial" panose="020B0604020202020204" pitchFamily="34" charset="0"/>
              <a:buNone/>
            </a:pPr>
            <a:r>
              <a:rPr lang="fr-FR" sz="1400"/>
              <a:t>Reconnaître les limites possibles et prévoir des étapes de vérification rigoureuses.</a:t>
            </a:r>
          </a:p>
        </p:txBody>
      </p:sp>
    </p:spTree>
    <p:extLst>
      <p:ext uri="{BB962C8B-B14F-4D97-AF65-F5344CB8AC3E}">
        <p14:creationId xmlns:p14="http://schemas.microsoft.com/office/powerpoint/2010/main" val="12722883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EF224C-8665-5C8D-2D96-9426D07700AC}"/>
              </a:ext>
            </a:extLst>
          </p:cNvPr>
          <p:cNvSpPr>
            <a:spLocks noGrp="1"/>
          </p:cNvSpPr>
          <p:nvPr>
            <p:ph type="title"/>
          </p:nvPr>
        </p:nvSpPr>
        <p:spPr>
          <a:xfrm>
            <a:off x="831850" y="1709738"/>
            <a:ext cx="10515600" cy="2852737"/>
          </a:xfrm>
        </p:spPr>
        <p:txBody>
          <a:bodyPr anchor="ctr">
            <a:normAutofit/>
          </a:bodyPr>
          <a:lstStyle/>
          <a:p>
            <a:r>
              <a:rPr lang="fr-FR"/>
              <a:t>Scénario 2 : Rédiger un mail efficace grâce à l’IA</a:t>
            </a:r>
          </a:p>
        </p:txBody>
      </p:sp>
      <p:sp>
        <p:nvSpPr>
          <p:cNvPr id="7" name="Text Placeholder 2">
            <a:extLst>
              <a:ext uri="{FF2B5EF4-FFF2-40B4-BE49-F238E27FC236}">
                <a16:creationId xmlns:a16="http://schemas.microsoft.com/office/drawing/2014/main" id="{14D64B7B-A785-BEF8-7347-7EC8474456EF}"/>
              </a:ext>
            </a:extLst>
          </p:cNvPr>
          <p:cNvSpPr>
            <a:spLocks noGrp="1"/>
          </p:cNvSpPr>
          <p:nvPr>
            <p:ph type="body" idx="1"/>
          </p:nvPr>
        </p:nvSpPr>
        <p:spPr>
          <a:xfrm>
            <a:off x="831850" y="4589463"/>
            <a:ext cx="10515600" cy="1500187"/>
          </a:xfrm>
        </p:spPr>
        <p:txBody>
          <a:bodyPr/>
          <a:lstStyle/>
          <a:p>
            <a:endParaRPr lang="en-US"/>
          </a:p>
        </p:txBody>
      </p:sp>
      <p:sp>
        <p:nvSpPr>
          <p:cNvPr id="9" name="Text Placeholder 3">
            <a:extLst>
              <a:ext uri="{FF2B5EF4-FFF2-40B4-BE49-F238E27FC236}">
                <a16:creationId xmlns:a16="http://schemas.microsoft.com/office/drawing/2014/main" id="{00E42846-0B2A-8899-10D1-ADFE0B3E167D}"/>
              </a:ext>
            </a:extLst>
          </p:cNvPr>
          <p:cNvSpPr>
            <a:spLocks noGrp="1"/>
          </p:cNvSpPr>
          <p:nvPr>
            <p:ph type="body" sz="quarter" idx="13"/>
          </p:nvPr>
        </p:nvSpPr>
        <p:spPr>
          <a:xfrm>
            <a:off x="831850" y="1276350"/>
            <a:ext cx="2627313" cy="433388"/>
          </a:xfrm>
        </p:spPr>
        <p:txBody>
          <a:bodyPr/>
          <a:lstStyle/>
          <a:p>
            <a:endParaRPr lang="en-US"/>
          </a:p>
        </p:txBody>
      </p:sp>
    </p:spTree>
    <p:extLst>
      <p:ext uri="{BB962C8B-B14F-4D97-AF65-F5344CB8AC3E}">
        <p14:creationId xmlns:p14="http://schemas.microsoft.com/office/powerpoint/2010/main" val="20204510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FDEA55-5C47-7756-AA62-E890567931C9}"/>
              </a:ext>
            </a:extLst>
          </p:cNvPr>
          <p:cNvSpPr>
            <a:spLocks noGrp="1"/>
          </p:cNvSpPr>
          <p:nvPr>
            <p:ph type="title"/>
          </p:nvPr>
        </p:nvSpPr>
        <p:spPr>
          <a:xfrm>
            <a:off x="838200" y="86833"/>
            <a:ext cx="10515600" cy="1325563"/>
          </a:xfrm>
        </p:spPr>
        <p:txBody>
          <a:bodyPr anchor="ctr">
            <a:normAutofit/>
          </a:bodyPr>
          <a:lstStyle/>
          <a:p>
            <a:r>
              <a:rPr lang="fr-FR"/>
              <a:t>Contexte et mission : relancer un interlocuteur avec un message structuré</a:t>
            </a:r>
          </a:p>
        </p:txBody>
      </p:sp>
      <p:graphicFrame>
        <p:nvGraphicFramePr>
          <p:cNvPr id="4" name="Espace réservé du contenu 3">
            <a:extLst>
              <a:ext uri="{FF2B5EF4-FFF2-40B4-BE49-F238E27FC236}">
                <a16:creationId xmlns:a16="http://schemas.microsoft.com/office/drawing/2014/main" id="{87F96E4C-2733-44E7-B02E-8B147F535959}"/>
              </a:ext>
            </a:extLst>
          </p:cNvPr>
          <p:cNvGraphicFramePr>
            <a:graphicFrameLocks noGrp="1"/>
          </p:cNvGraphicFramePr>
          <p:nvPr>
            <p:ph idx="1"/>
            <p:extLst>
              <p:ext uri="{D42A27DB-BD31-4B8C-83A1-F6EECF244321}">
                <p14:modId xmlns:p14="http://schemas.microsoft.com/office/powerpoint/2010/main" val="3292962217"/>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838200" y="1494845"/>
          <a:ext cx="10515600" cy="46821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157613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3E76AF-8A4D-A821-FF89-25DBB279179A}"/>
              </a:ext>
            </a:extLst>
          </p:cNvPr>
          <p:cNvSpPr>
            <a:spLocks noGrp="1"/>
          </p:cNvSpPr>
          <p:nvPr>
            <p:ph type="title"/>
          </p:nvPr>
        </p:nvSpPr>
        <p:spPr>
          <a:xfrm>
            <a:off x="838200" y="86833"/>
            <a:ext cx="10515600" cy="1325563"/>
          </a:xfrm>
        </p:spPr>
        <p:txBody>
          <a:bodyPr anchor="ctr">
            <a:normAutofit/>
          </a:bodyPr>
          <a:lstStyle/>
          <a:p>
            <a:r>
              <a:rPr lang="fr-FR"/>
              <a:t>Questions guide : personnalisation, contrôle de la formulation, interdits</a:t>
            </a:r>
          </a:p>
        </p:txBody>
      </p:sp>
      <p:pic>
        <p:nvPicPr>
          <p:cNvPr id="5" name="Espace réservé du contenu 4" descr="Concept de créativité">
            <a:extLst>
              <a:ext uri="{FF2B5EF4-FFF2-40B4-BE49-F238E27FC236}">
                <a16:creationId xmlns:a16="http://schemas.microsoft.com/office/drawing/2014/main" id="{34BAA83F-2CD5-400E-8408-B386D4559747}"/>
              </a:ext>
            </a:extLst>
          </p:cNvPr>
          <p:cNvPicPr>
            <a:picLocks noGrp="1" noChangeAspect="1"/>
          </p:cNvPicPr>
          <p:nvPr>
            <p:ph sz="half" idx="1"/>
          </p:nvPr>
        </p:nvPicPr>
        <p:blipFill>
          <a:blip r:embed="rId3"/>
          <a:srcRect r="33016"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FFF6E38C-52FD-4159-758D-1015DB4CFF0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Niveau de personnalisation</a:t>
            </a:r>
          </a:p>
          <a:p>
            <a:pPr marL="0" lvl="1" indent="0">
              <a:buFont typeface="Arial" panose="020B0604020202020204" pitchFamily="34" charset="0"/>
              <a:buNone/>
            </a:pPr>
            <a:r>
              <a:rPr lang="fr-FR" sz="1400"/>
              <a:t>Déterminer le degré de personnalisation approprié pour répondre aux besoins spécifiques des utilisateurs.</a:t>
            </a:r>
          </a:p>
          <a:p>
            <a:pPr marL="0" indent="0">
              <a:spcBef>
                <a:spcPts val="2500"/>
              </a:spcBef>
              <a:buFont typeface="Arial" panose="020B0604020202020204" pitchFamily="34" charset="0"/>
              <a:buNone/>
            </a:pPr>
            <a:r>
              <a:rPr lang="fr-FR" sz="1400" b="1"/>
              <a:t>Contrôle de la formulation</a:t>
            </a:r>
          </a:p>
          <a:p>
            <a:pPr marL="0" lvl="1" indent="0">
              <a:buFont typeface="Arial" panose="020B0604020202020204" pitchFamily="34" charset="0"/>
              <a:buNone/>
            </a:pPr>
            <a:r>
              <a:rPr lang="fr-FR" sz="1400"/>
              <a:t>Assurer une formulation claire et adaptée pour garantir la compréhension et l’efficacité des réponses.</a:t>
            </a:r>
          </a:p>
          <a:p>
            <a:pPr marL="0" indent="0">
              <a:spcBef>
                <a:spcPts val="2500"/>
              </a:spcBef>
              <a:buFont typeface="Arial" panose="020B0604020202020204" pitchFamily="34" charset="0"/>
              <a:buNone/>
            </a:pPr>
            <a:r>
              <a:rPr lang="fr-FR" sz="1400" b="1"/>
              <a:t>Limites et interdits</a:t>
            </a:r>
          </a:p>
          <a:p>
            <a:pPr marL="0" lvl="1" indent="0">
              <a:buFont typeface="Arial" panose="020B0604020202020204" pitchFamily="34" charset="0"/>
              <a:buNone/>
            </a:pPr>
            <a:r>
              <a:rPr lang="fr-FR" sz="1400"/>
              <a:t>Identifier ce que l’IA doit éviter pour respecter l’éthique et les règles établies.</a:t>
            </a:r>
          </a:p>
        </p:txBody>
      </p:sp>
    </p:spTree>
    <p:extLst>
      <p:ext uri="{BB962C8B-B14F-4D97-AF65-F5344CB8AC3E}">
        <p14:creationId xmlns:p14="http://schemas.microsoft.com/office/powerpoint/2010/main" val="12280484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CEC2B4-C853-A3D7-50DB-3E017BED5B66}"/>
              </a:ext>
            </a:extLst>
          </p:cNvPr>
          <p:cNvSpPr>
            <a:spLocks noGrp="1"/>
          </p:cNvSpPr>
          <p:nvPr>
            <p:ph type="title"/>
          </p:nvPr>
        </p:nvSpPr>
        <p:spPr>
          <a:xfrm>
            <a:off x="831850" y="1709738"/>
            <a:ext cx="10515600" cy="2852737"/>
          </a:xfrm>
        </p:spPr>
        <p:txBody>
          <a:bodyPr anchor="ctr">
            <a:normAutofit/>
          </a:bodyPr>
          <a:lstStyle/>
          <a:p>
            <a:r>
              <a:rPr lang="fr-FR"/>
              <a:t>Scénario 4 : Créer un contenu à forte valeur ajoutée avec l’IA</a:t>
            </a:r>
          </a:p>
        </p:txBody>
      </p:sp>
      <p:sp>
        <p:nvSpPr>
          <p:cNvPr id="7" name="Text Placeholder 2">
            <a:extLst>
              <a:ext uri="{FF2B5EF4-FFF2-40B4-BE49-F238E27FC236}">
                <a16:creationId xmlns:a16="http://schemas.microsoft.com/office/drawing/2014/main" id="{FE8C3A2B-6096-6DF0-2FA5-330B4079E016}"/>
              </a:ext>
            </a:extLst>
          </p:cNvPr>
          <p:cNvSpPr>
            <a:spLocks noGrp="1"/>
          </p:cNvSpPr>
          <p:nvPr>
            <p:ph type="body" idx="1"/>
          </p:nvPr>
        </p:nvSpPr>
        <p:spPr>
          <a:xfrm>
            <a:off x="831850" y="4589463"/>
            <a:ext cx="10515600" cy="1500187"/>
          </a:xfrm>
        </p:spPr>
        <p:txBody>
          <a:bodyPr/>
          <a:lstStyle/>
          <a:p>
            <a:endParaRPr lang="en-US"/>
          </a:p>
        </p:txBody>
      </p:sp>
      <p:sp>
        <p:nvSpPr>
          <p:cNvPr id="9" name="Text Placeholder 3">
            <a:extLst>
              <a:ext uri="{FF2B5EF4-FFF2-40B4-BE49-F238E27FC236}">
                <a16:creationId xmlns:a16="http://schemas.microsoft.com/office/drawing/2014/main" id="{57D55AFE-F48C-745D-CFC5-324348E0BDC2}"/>
              </a:ext>
            </a:extLst>
          </p:cNvPr>
          <p:cNvSpPr>
            <a:spLocks noGrp="1"/>
          </p:cNvSpPr>
          <p:nvPr>
            <p:ph type="body" sz="quarter" idx="13"/>
          </p:nvPr>
        </p:nvSpPr>
        <p:spPr>
          <a:xfrm>
            <a:off x="831850" y="1276350"/>
            <a:ext cx="2627313" cy="433388"/>
          </a:xfrm>
        </p:spPr>
        <p:txBody>
          <a:bodyPr/>
          <a:lstStyle/>
          <a:p>
            <a:endParaRPr lang="en-US"/>
          </a:p>
        </p:txBody>
      </p:sp>
    </p:spTree>
    <p:extLst>
      <p:ext uri="{BB962C8B-B14F-4D97-AF65-F5344CB8AC3E}">
        <p14:creationId xmlns:p14="http://schemas.microsoft.com/office/powerpoint/2010/main" val="35399083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9DB935-2E91-F75A-9402-DA99B56065D4}"/>
              </a:ext>
            </a:extLst>
          </p:cNvPr>
          <p:cNvSpPr>
            <a:spLocks noGrp="1"/>
          </p:cNvSpPr>
          <p:nvPr>
            <p:ph type="title"/>
          </p:nvPr>
        </p:nvSpPr>
        <p:spPr>
          <a:xfrm>
            <a:off x="838200" y="86833"/>
            <a:ext cx="10515600" cy="1325563"/>
          </a:xfrm>
        </p:spPr>
        <p:txBody>
          <a:bodyPr anchor="ctr">
            <a:normAutofit/>
          </a:bodyPr>
          <a:lstStyle/>
          <a:p>
            <a:r>
              <a:rPr lang="fr-FR"/>
              <a:t>Contexte et mission : publication LinkedIn ou newsletter optimisée</a:t>
            </a:r>
          </a:p>
        </p:txBody>
      </p:sp>
      <p:pic>
        <p:nvPicPr>
          <p:cNvPr id="5" name="Espace réservé du contenu 4" descr="Panneaux de plexiglas entre les bureaux d’un bureau vide">
            <a:extLst>
              <a:ext uri="{FF2B5EF4-FFF2-40B4-BE49-F238E27FC236}">
                <a16:creationId xmlns:a16="http://schemas.microsoft.com/office/drawing/2014/main" id="{79B6C40D-D3A2-4071-99E2-C1425168FC9F}"/>
              </a:ext>
            </a:extLst>
          </p:cNvPr>
          <p:cNvPicPr>
            <a:picLocks noGrp="1" noChangeAspect="1"/>
          </p:cNvPicPr>
          <p:nvPr>
            <p:ph sz="half" idx="1"/>
          </p:nvPr>
        </p:nvPicPr>
        <p:blipFill>
          <a:blip r:embed="rId3"/>
          <a:srcRect l="6672" r="13841"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0BCA4CAF-ED3F-547C-B58D-4DECE1339A6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Création de contenu efficace</a:t>
            </a:r>
          </a:p>
          <a:p>
            <a:pPr marL="0" lvl="1" indent="0">
              <a:buFont typeface="Arial" panose="020B0604020202020204" pitchFamily="34" charset="0"/>
              <a:buNone/>
            </a:pPr>
            <a:r>
              <a:rPr lang="fr-FR" sz="1400"/>
              <a:t>Utiliser l'IA permet de structurer et rédiger rapidement du contenu pertinent pour LinkedIn ou newsletters.</a:t>
            </a:r>
          </a:p>
          <a:p>
            <a:pPr marL="0" indent="0">
              <a:spcBef>
                <a:spcPts val="2500"/>
              </a:spcBef>
              <a:buFont typeface="Arial" panose="020B0604020202020204" pitchFamily="34" charset="0"/>
              <a:buNone/>
            </a:pPr>
            <a:r>
              <a:rPr lang="fr-FR" sz="1400" b="1"/>
              <a:t>Optimisation et reformulation</a:t>
            </a:r>
          </a:p>
          <a:p>
            <a:pPr marL="0" lvl="1" indent="0">
              <a:buFont typeface="Arial" panose="020B0604020202020204" pitchFamily="34" charset="0"/>
              <a:buNone/>
            </a:pPr>
            <a:r>
              <a:rPr lang="fr-FR" sz="1400"/>
              <a:t>L'IA aide à reformuler et optimiser le texte pour maximiser l'impact et l'engagement des lecteurs.</a:t>
            </a:r>
          </a:p>
          <a:p>
            <a:pPr marL="0" indent="0">
              <a:spcBef>
                <a:spcPts val="2500"/>
              </a:spcBef>
              <a:buFont typeface="Arial" panose="020B0604020202020204" pitchFamily="34" charset="0"/>
              <a:buNone/>
            </a:pPr>
            <a:r>
              <a:rPr lang="fr-FR" sz="1400" b="1"/>
              <a:t>Diffusion ciblée</a:t>
            </a:r>
          </a:p>
          <a:p>
            <a:pPr marL="0" lvl="1" indent="0">
              <a:buFont typeface="Arial" panose="020B0604020202020204" pitchFamily="34" charset="0"/>
              <a:buNone/>
            </a:pPr>
            <a:r>
              <a:rPr lang="fr-FR" sz="1400"/>
              <a:t>Automatiser la diffusion pour atteindre efficacement une audience spécifique via LinkedIn ou newsletters.</a:t>
            </a:r>
          </a:p>
        </p:txBody>
      </p:sp>
    </p:spTree>
    <p:extLst>
      <p:ext uri="{BB962C8B-B14F-4D97-AF65-F5344CB8AC3E}">
        <p14:creationId xmlns:p14="http://schemas.microsoft.com/office/powerpoint/2010/main" val="19545721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FEC649-A300-CEA5-72A8-03879135FF63}"/>
              </a:ext>
            </a:extLst>
          </p:cNvPr>
          <p:cNvSpPr>
            <a:spLocks noGrp="1"/>
          </p:cNvSpPr>
          <p:nvPr>
            <p:ph type="title"/>
          </p:nvPr>
        </p:nvSpPr>
        <p:spPr>
          <a:xfrm>
            <a:off x="838200" y="86833"/>
            <a:ext cx="10515600" cy="1325563"/>
          </a:xfrm>
        </p:spPr>
        <p:txBody>
          <a:bodyPr anchor="ctr">
            <a:normAutofit/>
          </a:bodyPr>
          <a:lstStyle/>
          <a:p>
            <a:r>
              <a:rPr lang="fr-FR"/>
              <a:t>Questions guide : mots-clés, ton/style, délégation de la création</a:t>
            </a:r>
          </a:p>
        </p:txBody>
      </p:sp>
      <p:pic>
        <p:nvPicPr>
          <p:cNvPr id="5" name="Espace réservé du contenu 4" descr="Réseaux sociaux">
            <a:extLst>
              <a:ext uri="{FF2B5EF4-FFF2-40B4-BE49-F238E27FC236}">
                <a16:creationId xmlns:a16="http://schemas.microsoft.com/office/drawing/2014/main" id="{C34928D3-9098-4FBA-A5BC-56A296521B21}"/>
              </a:ext>
            </a:extLst>
          </p:cNvPr>
          <p:cNvPicPr>
            <a:picLocks noGrp="1" noChangeAspect="1"/>
          </p:cNvPicPr>
          <p:nvPr>
            <p:ph sz="half" idx="1"/>
          </p:nvPr>
        </p:nvPicPr>
        <p:blipFill>
          <a:blip r:embed="rId3"/>
          <a:srcRect l="11671" r="8842"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EEEF4F3D-4B84-B279-E104-03B2FC238B5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Mots-clés pour l’IA</a:t>
            </a:r>
          </a:p>
          <a:p>
            <a:pPr marL="0" lvl="1" indent="0">
              <a:buFont typeface="Arial" panose="020B0604020202020204" pitchFamily="34" charset="0"/>
              <a:buNone/>
            </a:pPr>
            <a:r>
              <a:rPr lang="fr-FR" sz="1400"/>
              <a:t>Choisir des mots-clés précis aide l’IA à comprendre et générer des résultats pertinents et ciblés.</a:t>
            </a:r>
          </a:p>
          <a:p>
            <a:pPr marL="0" indent="0">
              <a:spcBef>
                <a:spcPts val="2500"/>
              </a:spcBef>
              <a:buFont typeface="Arial" panose="020B0604020202020204" pitchFamily="34" charset="0"/>
              <a:buNone/>
            </a:pPr>
            <a:r>
              <a:rPr lang="fr-FR" sz="1400" b="1"/>
              <a:t>Vérification du ton et style</a:t>
            </a:r>
          </a:p>
          <a:p>
            <a:pPr marL="0" lvl="1" indent="0">
              <a:buFont typeface="Arial" panose="020B0604020202020204" pitchFamily="34" charset="0"/>
              <a:buNone/>
            </a:pPr>
            <a:r>
              <a:rPr lang="fr-FR" sz="1400"/>
              <a:t>Contrôler le ton et le style assure que le contenu correspond à l’audience et aux objectifs souhaités.</a:t>
            </a:r>
          </a:p>
          <a:p>
            <a:pPr marL="0" indent="0">
              <a:spcBef>
                <a:spcPts val="2500"/>
              </a:spcBef>
              <a:buFont typeface="Arial" panose="020B0604020202020204" pitchFamily="34" charset="0"/>
              <a:buNone/>
            </a:pPr>
            <a:r>
              <a:rPr lang="fr-FR" sz="1400" b="1"/>
              <a:t>Délégation de la création</a:t>
            </a:r>
          </a:p>
          <a:p>
            <a:pPr marL="0" lvl="1" indent="0">
              <a:buFont typeface="Arial" panose="020B0604020202020204" pitchFamily="34" charset="0"/>
              <a:buNone/>
            </a:pPr>
            <a:r>
              <a:rPr lang="fr-FR" sz="1400"/>
              <a:t>Définir clairement les limites de la délégation garantit une collaboration efficace entre humain et IA.</a:t>
            </a:r>
          </a:p>
        </p:txBody>
      </p:sp>
    </p:spTree>
    <p:extLst>
      <p:ext uri="{BB962C8B-B14F-4D97-AF65-F5344CB8AC3E}">
        <p14:creationId xmlns:p14="http://schemas.microsoft.com/office/powerpoint/2010/main" val="30664687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DA2443-5F7C-FDBF-DA2B-526E68B1CE48}"/>
              </a:ext>
            </a:extLst>
          </p:cNvPr>
          <p:cNvSpPr>
            <a:spLocks noGrp="1"/>
          </p:cNvSpPr>
          <p:nvPr>
            <p:ph type="title"/>
          </p:nvPr>
        </p:nvSpPr>
        <p:spPr>
          <a:xfrm>
            <a:off x="831850" y="1709738"/>
            <a:ext cx="10515600" cy="2852737"/>
          </a:xfrm>
        </p:spPr>
        <p:txBody>
          <a:bodyPr anchor="ctr">
            <a:normAutofit/>
          </a:bodyPr>
          <a:lstStyle/>
          <a:p>
            <a:r>
              <a:rPr lang="fr-FR"/>
              <a:t>Scénario 5 : Sécuriser une infographie générée par l’IA</a:t>
            </a:r>
          </a:p>
        </p:txBody>
      </p:sp>
      <p:sp>
        <p:nvSpPr>
          <p:cNvPr id="7" name="Text Placeholder 2">
            <a:extLst>
              <a:ext uri="{FF2B5EF4-FFF2-40B4-BE49-F238E27FC236}">
                <a16:creationId xmlns:a16="http://schemas.microsoft.com/office/drawing/2014/main" id="{B0E0760A-3470-DE3A-881C-E9521F760C15}"/>
              </a:ext>
            </a:extLst>
          </p:cNvPr>
          <p:cNvSpPr>
            <a:spLocks noGrp="1"/>
          </p:cNvSpPr>
          <p:nvPr>
            <p:ph type="body" idx="1"/>
          </p:nvPr>
        </p:nvSpPr>
        <p:spPr>
          <a:xfrm>
            <a:off x="831850" y="4589463"/>
            <a:ext cx="10515600" cy="1500187"/>
          </a:xfrm>
        </p:spPr>
        <p:txBody>
          <a:bodyPr/>
          <a:lstStyle/>
          <a:p>
            <a:endParaRPr lang="en-US"/>
          </a:p>
        </p:txBody>
      </p:sp>
      <p:sp>
        <p:nvSpPr>
          <p:cNvPr id="9" name="Text Placeholder 3">
            <a:extLst>
              <a:ext uri="{FF2B5EF4-FFF2-40B4-BE49-F238E27FC236}">
                <a16:creationId xmlns:a16="http://schemas.microsoft.com/office/drawing/2014/main" id="{8DC441D4-E812-6191-97D3-ECE099F16830}"/>
              </a:ext>
            </a:extLst>
          </p:cNvPr>
          <p:cNvSpPr>
            <a:spLocks noGrp="1"/>
          </p:cNvSpPr>
          <p:nvPr>
            <p:ph type="body" sz="quarter" idx="13"/>
          </p:nvPr>
        </p:nvSpPr>
        <p:spPr>
          <a:xfrm>
            <a:off x="831850" y="1276350"/>
            <a:ext cx="2627313" cy="433388"/>
          </a:xfrm>
        </p:spPr>
        <p:txBody>
          <a:bodyPr/>
          <a:lstStyle/>
          <a:p>
            <a:endParaRPr lang="en-US"/>
          </a:p>
        </p:txBody>
      </p:sp>
    </p:spTree>
    <p:extLst>
      <p:ext uri="{BB962C8B-B14F-4D97-AF65-F5344CB8AC3E}">
        <p14:creationId xmlns:p14="http://schemas.microsoft.com/office/powerpoint/2010/main" val="5831991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CDB319-B5DA-D7E8-E458-616282F189D3}"/>
              </a:ext>
            </a:extLst>
          </p:cNvPr>
          <p:cNvSpPr>
            <a:spLocks noGrp="1"/>
          </p:cNvSpPr>
          <p:nvPr>
            <p:ph type="title"/>
          </p:nvPr>
        </p:nvSpPr>
        <p:spPr>
          <a:xfrm>
            <a:off x="838200" y="86833"/>
            <a:ext cx="10515600" cy="1325563"/>
          </a:xfrm>
        </p:spPr>
        <p:txBody>
          <a:bodyPr anchor="ctr">
            <a:normAutofit/>
          </a:bodyPr>
          <a:lstStyle/>
          <a:p>
            <a:r>
              <a:rPr lang="fr-FR"/>
              <a:t>Contexte et mission : vérifier un livrable IA avant envoi</a:t>
            </a:r>
          </a:p>
        </p:txBody>
      </p:sp>
      <p:pic>
        <p:nvPicPr>
          <p:cNvPr id="5" name="Espace réservé du contenu 4" descr="Vue en plongée d’une image recadrée de la main d’un homme d’affaires montrant une tablette numérique avec loupe zoomant message d’alerte sur le téléchargement de documents.">
            <a:extLst>
              <a:ext uri="{FF2B5EF4-FFF2-40B4-BE49-F238E27FC236}">
                <a16:creationId xmlns:a16="http://schemas.microsoft.com/office/drawing/2014/main" id="{AC0C25EA-63CA-4314-8C44-9881E570B0BD}"/>
              </a:ext>
            </a:extLst>
          </p:cNvPr>
          <p:cNvPicPr>
            <a:picLocks noGrp="1" noChangeAspect="1"/>
          </p:cNvPicPr>
          <p:nvPr>
            <p:ph sz="half" idx="1"/>
          </p:nvPr>
        </p:nvPicPr>
        <p:blipFill>
          <a:blip r:embed="rId3"/>
          <a:srcRect l="5388" r="8875"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9B626183-07EA-6827-5616-20B54808823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Contexte du livrable IA</a:t>
            </a:r>
          </a:p>
          <a:p>
            <a:pPr marL="0" lvl="1" indent="0">
              <a:buFont typeface="Arial" panose="020B0604020202020204" pitchFamily="34" charset="0"/>
              <a:buNone/>
            </a:pPr>
            <a:r>
              <a:rPr lang="fr-FR" sz="1400"/>
              <a:t>Le livrable a été créé avec l’aide d’une intelligence artificielle et semble correct au premier abord mais présente un risque potentiel.</a:t>
            </a:r>
          </a:p>
          <a:p>
            <a:pPr marL="0" indent="0">
              <a:spcBef>
                <a:spcPts val="2500"/>
              </a:spcBef>
              <a:buFont typeface="Arial" panose="020B0604020202020204" pitchFamily="34" charset="0"/>
              <a:buNone/>
            </a:pPr>
            <a:r>
              <a:rPr lang="fr-FR" sz="1400" b="1"/>
              <a:t>Objectif de la vérification</a:t>
            </a:r>
          </a:p>
          <a:p>
            <a:pPr marL="0" lvl="1" indent="0">
              <a:buFont typeface="Arial" panose="020B0604020202020204" pitchFamily="34" charset="0"/>
              <a:buNone/>
            </a:pPr>
            <a:r>
              <a:rPr lang="fr-FR" sz="1400"/>
              <a:t>Il est essentiel d’identifier les éléments qui nécessitent une vérification ou une réécriture avant de transmettre le livrable au client.</a:t>
            </a:r>
          </a:p>
        </p:txBody>
      </p:sp>
    </p:spTree>
    <p:extLst>
      <p:ext uri="{BB962C8B-B14F-4D97-AF65-F5344CB8AC3E}">
        <p14:creationId xmlns:p14="http://schemas.microsoft.com/office/powerpoint/2010/main" val="11378518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DD3E69-A239-601E-E4FE-650E38A5559A}"/>
              </a:ext>
            </a:extLst>
          </p:cNvPr>
          <p:cNvSpPr>
            <a:spLocks noGrp="1"/>
          </p:cNvSpPr>
          <p:nvPr>
            <p:ph type="title"/>
          </p:nvPr>
        </p:nvSpPr>
        <p:spPr>
          <a:xfrm>
            <a:off x="838200" y="86833"/>
            <a:ext cx="10515600" cy="1325563"/>
          </a:xfrm>
        </p:spPr>
        <p:txBody>
          <a:bodyPr anchor="ctr">
            <a:normAutofit/>
          </a:bodyPr>
          <a:lstStyle/>
          <a:p>
            <a:r>
              <a:rPr lang="fr-FR"/>
              <a:t>Questions guide : limites franchies, éléments humains, règles internes</a:t>
            </a:r>
          </a:p>
        </p:txBody>
      </p:sp>
      <p:pic>
        <p:nvPicPr>
          <p:cNvPr id="5" name="Espace réservé du contenu 4" descr="Fond abstrait créatif avec des lignes légères">
            <a:extLst>
              <a:ext uri="{FF2B5EF4-FFF2-40B4-BE49-F238E27FC236}">
                <a16:creationId xmlns:a16="http://schemas.microsoft.com/office/drawing/2014/main" id="{3970AF02-C9FA-4FEE-B83C-7FA3B6F5FA0E}"/>
              </a:ext>
            </a:extLst>
          </p:cNvPr>
          <p:cNvPicPr>
            <a:picLocks noGrp="1" noChangeAspect="1"/>
          </p:cNvPicPr>
          <p:nvPr>
            <p:ph sz="half" idx="1"/>
          </p:nvPr>
        </p:nvPicPr>
        <p:blipFill>
          <a:blip r:embed="rId3"/>
          <a:srcRect l="11800" r="8713"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2E0EA66C-53AF-C647-F4A2-B25E05EB308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Limites franchies</a:t>
            </a:r>
          </a:p>
          <a:p>
            <a:pPr marL="0" lvl="1" indent="0">
              <a:buFont typeface="Arial" panose="020B0604020202020204" pitchFamily="34" charset="0"/>
              <a:buNone/>
            </a:pPr>
            <a:r>
              <a:rPr lang="fr-FR" sz="1400"/>
              <a:t>Identifier les frontières dépassées pour mieux comprendre les enjeux actuels.</a:t>
            </a:r>
          </a:p>
          <a:p>
            <a:pPr marL="0" indent="0">
              <a:spcBef>
                <a:spcPts val="2500"/>
              </a:spcBef>
              <a:buFont typeface="Arial" panose="020B0604020202020204" pitchFamily="34" charset="0"/>
              <a:buNone/>
            </a:pPr>
            <a:r>
              <a:rPr lang="fr-FR" sz="1400" b="1"/>
              <a:t>Éléments humains</a:t>
            </a:r>
          </a:p>
          <a:p>
            <a:pPr marL="0" lvl="1" indent="0">
              <a:buFont typeface="Arial" panose="020B0604020202020204" pitchFamily="34" charset="0"/>
              <a:buNone/>
            </a:pPr>
            <a:r>
              <a:rPr lang="fr-FR" sz="1400"/>
              <a:t>Déterminer les aspects essentiels qui doivent rester sous contrôle humain.</a:t>
            </a:r>
          </a:p>
          <a:p>
            <a:pPr marL="0" indent="0">
              <a:spcBef>
                <a:spcPts val="2500"/>
              </a:spcBef>
              <a:buFont typeface="Arial" panose="020B0604020202020204" pitchFamily="34" charset="0"/>
              <a:buNone/>
            </a:pPr>
            <a:r>
              <a:rPr lang="fr-FR" sz="1400" b="1"/>
              <a:t>Règles internes</a:t>
            </a:r>
          </a:p>
          <a:p>
            <a:pPr marL="0" lvl="1" indent="0">
              <a:buFont typeface="Arial" panose="020B0604020202020204" pitchFamily="34" charset="0"/>
              <a:buNone/>
            </a:pPr>
            <a:r>
              <a:rPr lang="fr-FR" sz="1400"/>
              <a:t>Respecter les règles internes pour garantir une organisation harmonieuse et éthique.</a:t>
            </a:r>
          </a:p>
        </p:txBody>
      </p:sp>
    </p:spTree>
    <p:extLst>
      <p:ext uri="{BB962C8B-B14F-4D97-AF65-F5344CB8AC3E}">
        <p14:creationId xmlns:p14="http://schemas.microsoft.com/office/powerpoint/2010/main" val="40621627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EFFD9C-CCFA-1A64-F1EA-67917B6D544B}"/>
              </a:ext>
            </a:extLst>
          </p:cNvPr>
          <p:cNvSpPr>
            <a:spLocks noGrp="1"/>
          </p:cNvSpPr>
          <p:nvPr>
            <p:ph type="title"/>
          </p:nvPr>
        </p:nvSpPr>
        <p:spPr>
          <a:xfrm>
            <a:off x="831850" y="1709738"/>
            <a:ext cx="10515600" cy="2852737"/>
          </a:xfrm>
        </p:spPr>
        <p:txBody>
          <a:bodyPr anchor="ctr">
            <a:normAutofit/>
          </a:bodyPr>
          <a:lstStyle/>
          <a:p>
            <a:r>
              <a:rPr lang="fr-FR"/>
              <a:t>Se faire coacher par l’IA : posture professionnelle et limites</a:t>
            </a:r>
          </a:p>
        </p:txBody>
      </p:sp>
      <p:sp>
        <p:nvSpPr>
          <p:cNvPr id="7" name="Text Placeholder 2">
            <a:extLst>
              <a:ext uri="{FF2B5EF4-FFF2-40B4-BE49-F238E27FC236}">
                <a16:creationId xmlns:a16="http://schemas.microsoft.com/office/drawing/2014/main" id="{BB2FA5D4-B6FB-3159-44C0-43B0AA6D992D}"/>
              </a:ext>
            </a:extLst>
          </p:cNvPr>
          <p:cNvSpPr>
            <a:spLocks noGrp="1"/>
          </p:cNvSpPr>
          <p:nvPr>
            <p:ph type="body" idx="1"/>
          </p:nvPr>
        </p:nvSpPr>
        <p:spPr>
          <a:xfrm>
            <a:off x="831850" y="4589463"/>
            <a:ext cx="10515600" cy="1500187"/>
          </a:xfrm>
        </p:spPr>
        <p:txBody>
          <a:bodyPr/>
          <a:lstStyle/>
          <a:p>
            <a:endParaRPr lang="en-US"/>
          </a:p>
        </p:txBody>
      </p:sp>
      <p:sp>
        <p:nvSpPr>
          <p:cNvPr id="9" name="Text Placeholder 3">
            <a:extLst>
              <a:ext uri="{FF2B5EF4-FFF2-40B4-BE49-F238E27FC236}">
                <a16:creationId xmlns:a16="http://schemas.microsoft.com/office/drawing/2014/main" id="{5AD339C5-4995-CA59-9262-0B4A50A63A88}"/>
              </a:ext>
            </a:extLst>
          </p:cNvPr>
          <p:cNvSpPr>
            <a:spLocks noGrp="1"/>
          </p:cNvSpPr>
          <p:nvPr>
            <p:ph type="body" sz="quarter" idx="13"/>
          </p:nvPr>
        </p:nvSpPr>
        <p:spPr>
          <a:xfrm>
            <a:off x="831850" y="1276350"/>
            <a:ext cx="2627313" cy="433388"/>
          </a:xfrm>
        </p:spPr>
        <p:txBody>
          <a:bodyPr/>
          <a:lstStyle/>
          <a:p>
            <a:endParaRPr lang="en-US"/>
          </a:p>
        </p:txBody>
      </p:sp>
    </p:spTree>
    <p:extLst>
      <p:ext uri="{BB962C8B-B14F-4D97-AF65-F5344CB8AC3E}">
        <p14:creationId xmlns:p14="http://schemas.microsoft.com/office/powerpoint/2010/main" val="1959627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851BF5-DE25-5A1D-AA43-F8CFAF8C9C4B}"/>
              </a:ext>
            </a:extLst>
          </p:cNvPr>
          <p:cNvSpPr>
            <a:spLocks noGrp="1"/>
          </p:cNvSpPr>
          <p:nvPr>
            <p:ph type="title"/>
          </p:nvPr>
        </p:nvSpPr>
        <p:spPr>
          <a:xfrm>
            <a:off x="838200" y="86833"/>
            <a:ext cx="10515600" cy="1325563"/>
          </a:xfrm>
        </p:spPr>
        <p:txBody>
          <a:bodyPr anchor="ctr">
            <a:normAutofit/>
          </a:bodyPr>
          <a:lstStyle/>
          <a:p>
            <a:r>
              <a:rPr lang="fr-FR"/>
              <a:t>Contexte, tâche et objectif : IA comme coach ou simulateur</a:t>
            </a:r>
          </a:p>
        </p:txBody>
      </p:sp>
      <p:pic>
        <p:nvPicPr>
          <p:cNvPr id="5" name="Espace réservé du contenu 4" descr="Message électronique sur téléphone portable">
            <a:extLst>
              <a:ext uri="{FF2B5EF4-FFF2-40B4-BE49-F238E27FC236}">
                <a16:creationId xmlns:a16="http://schemas.microsoft.com/office/drawing/2014/main" id="{CDE32604-1301-4D0D-B02B-D37B49460582}"/>
              </a:ext>
            </a:extLst>
          </p:cNvPr>
          <p:cNvPicPr>
            <a:picLocks noGrp="1" noChangeAspect="1"/>
          </p:cNvPicPr>
          <p:nvPr>
            <p:ph sz="half" idx="1"/>
          </p:nvPr>
        </p:nvPicPr>
        <p:blipFill>
          <a:blip r:embed="rId3"/>
          <a:srcRect l="8429" r="12084"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04EF2D49-0AFE-C066-F799-981948FD27C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Contexte professionnel</a:t>
            </a:r>
          </a:p>
          <a:p>
            <a:pPr marL="0" lvl="1" indent="0">
              <a:buFont typeface="Arial" panose="020B0604020202020204" pitchFamily="34" charset="0"/>
              <a:buNone/>
            </a:pPr>
            <a:r>
              <a:rPr lang="fr-FR" sz="1400"/>
              <a:t>Le salarié souhaite améliorer sa posture professionnelle, incluant prise de parole, négociation et gestion du stress.</a:t>
            </a:r>
          </a:p>
          <a:p>
            <a:pPr marL="0" indent="0">
              <a:spcBef>
                <a:spcPts val="2500"/>
              </a:spcBef>
              <a:buFont typeface="Arial" panose="020B0604020202020204" pitchFamily="34" charset="0"/>
              <a:buNone/>
            </a:pPr>
            <a:r>
              <a:rPr lang="fr-FR" sz="1400" b="1"/>
              <a:t>Utilisation du chatbot IA</a:t>
            </a:r>
          </a:p>
          <a:p>
            <a:pPr marL="0" lvl="1" indent="0">
              <a:buFont typeface="Arial" panose="020B0604020202020204" pitchFamily="34" charset="0"/>
              <a:buNone/>
            </a:pPr>
            <a:r>
              <a:rPr lang="fr-FR" sz="1400"/>
              <a:t>Le chatbot IA sert de coach ou simulateur pour des situations professionnelles afin de rendre l’apprentissage interactif.</a:t>
            </a:r>
          </a:p>
          <a:p>
            <a:pPr marL="0" indent="0">
              <a:spcBef>
                <a:spcPts val="2500"/>
              </a:spcBef>
              <a:buFont typeface="Arial" panose="020B0604020202020204" pitchFamily="34" charset="0"/>
              <a:buNone/>
            </a:pPr>
            <a:r>
              <a:rPr lang="fr-FR" sz="1400" b="1"/>
              <a:t>Objectif de l’expérimentation</a:t>
            </a:r>
          </a:p>
          <a:p>
            <a:pPr marL="0" lvl="1" indent="0">
              <a:buFont typeface="Arial" panose="020B0604020202020204" pitchFamily="34" charset="0"/>
              <a:buNone/>
            </a:pPr>
            <a:r>
              <a:rPr lang="fr-FR" sz="1400"/>
              <a:t>Tester la qualité des conseils, la posture adoptée par l’IA et la véracité des simulations proposées.</a:t>
            </a:r>
          </a:p>
        </p:txBody>
      </p:sp>
    </p:spTree>
    <p:extLst>
      <p:ext uri="{BB962C8B-B14F-4D97-AF65-F5344CB8AC3E}">
        <p14:creationId xmlns:p14="http://schemas.microsoft.com/office/powerpoint/2010/main" val="28204371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E89CBB-54D9-CE19-3D54-FBA260B7F077}"/>
              </a:ext>
            </a:extLst>
          </p:cNvPr>
          <p:cNvSpPr>
            <a:spLocks noGrp="1"/>
          </p:cNvSpPr>
          <p:nvPr>
            <p:ph type="title"/>
          </p:nvPr>
        </p:nvSpPr>
        <p:spPr>
          <a:xfrm>
            <a:off x="838200" y="86833"/>
            <a:ext cx="10515600" cy="1325563"/>
          </a:xfrm>
        </p:spPr>
        <p:txBody>
          <a:bodyPr anchor="ctr">
            <a:normAutofit/>
          </a:bodyPr>
          <a:lstStyle/>
          <a:p>
            <a:r>
              <a:rPr lang="fr-FR"/>
              <a:t>Débrief : confiance, limites éthiques et RH</a:t>
            </a:r>
          </a:p>
        </p:txBody>
      </p:sp>
      <p:pic>
        <p:nvPicPr>
          <p:cNvPr id="5" name="Espace réservé du contenu 4" descr="Contexte du concept Bitcoin">
            <a:extLst>
              <a:ext uri="{FF2B5EF4-FFF2-40B4-BE49-F238E27FC236}">
                <a16:creationId xmlns:a16="http://schemas.microsoft.com/office/drawing/2014/main" id="{9CD047F3-90BD-4B99-A026-7BB7B3F84395}"/>
              </a:ext>
            </a:extLst>
          </p:cNvPr>
          <p:cNvPicPr>
            <a:picLocks noGrp="1" noChangeAspect="1"/>
          </p:cNvPicPr>
          <p:nvPr>
            <p:ph sz="half" idx="1"/>
          </p:nvPr>
        </p:nvPicPr>
        <p:blipFill>
          <a:blip r:embed="rId3"/>
          <a:srcRect l="33018" r="-1"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3AE0E556-253B-4C5F-67DE-F46B1AFFE6E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Confiance envers un coach IA</a:t>
            </a:r>
          </a:p>
          <a:p>
            <a:pPr marL="0" lvl="1" indent="0">
              <a:buFont typeface="Arial" panose="020B0604020202020204" pitchFamily="34" charset="0"/>
              <a:buNone/>
            </a:pPr>
            <a:r>
              <a:rPr lang="fr-FR" sz="1400"/>
              <a:t>Évaluer la fiabilité et la transparence des conseils donnés par un coach IA est essentiel pour établir la confiance.</a:t>
            </a:r>
          </a:p>
          <a:p>
            <a:pPr marL="0" indent="0">
              <a:spcBef>
                <a:spcPts val="2500"/>
              </a:spcBef>
              <a:buFont typeface="Arial" panose="020B0604020202020204" pitchFamily="34" charset="0"/>
              <a:buNone/>
            </a:pPr>
            <a:r>
              <a:rPr lang="fr-FR" sz="1400" b="1"/>
              <a:t>Limites éthiques</a:t>
            </a:r>
          </a:p>
          <a:p>
            <a:pPr marL="0" lvl="1" indent="0">
              <a:buFont typeface="Arial" panose="020B0604020202020204" pitchFamily="34" charset="0"/>
              <a:buNone/>
            </a:pPr>
            <a:r>
              <a:rPr lang="fr-FR" sz="1400"/>
              <a:t>Il est important de définir les frontières éthiques pour l’usage des coaches IA, notamment en matière de confidentialité et de partialité.</a:t>
            </a:r>
          </a:p>
          <a:p>
            <a:pPr marL="0" indent="0">
              <a:spcBef>
                <a:spcPts val="2500"/>
              </a:spcBef>
              <a:buFont typeface="Arial" panose="020B0604020202020204" pitchFamily="34" charset="0"/>
              <a:buNone/>
            </a:pPr>
            <a:r>
              <a:rPr lang="fr-FR" sz="1400" b="1"/>
              <a:t>Considérations RH</a:t>
            </a:r>
          </a:p>
          <a:p>
            <a:pPr marL="0" lvl="1" indent="0">
              <a:buFont typeface="Arial" panose="020B0604020202020204" pitchFamily="34" charset="0"/>
              <a:buNone/>
            </a:pPr>
            <a:r>
              <a:rPr lang="fr-FR" sz="1400"/>
              <a:t>Les ressources humaines doivent intégrer les implications du coaching IA dans la gestion du personnel et le développement professionnel.</a:t>
            </a:r>
          </a:p>
        </p:txBody>
      </p:sp>
    </p:spTree>
    <p:extLst>
      <p:ext uri="{BB962C8B-B14F-4D97-AF65-F5344CB8AC3E}">
        <p14:creationId xmlns:p14="http://schemas.microsoft.com/office/powerpoint/2010/main" val="40067667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2B8AF8-9FDB-C1FC-2448-2EE00EBB5ED5}"/>
              </a:ext>
            </a:extLst>
          </p:cNvPr>
          <p:cNvSpPr>
            <a:spLocks noGrp="1"/>
          </p:cNvSpPr>
          <p:nvPr>
            <p:ph type="title"/>
          </p:nvPr>
        </p:nvSpPr>
        <p:spPr>
          <a:xfrm>
            <a:off x="831850" y="1709738"/>
            <a:ext cx="10515600" cy="2852737"/>
          </a:xfrm>
        </p:spPr>
        <p:txBody>
          <a:bodyPr anchor="ctr">
            <a:normAutofit/>
          </a:bodyPr>
          <a:lstStyle/>
          <a:p>
            <a:r>
              <a:rPr lang="fr-FR"/>
              <a:t>Atelier bac à sable : imaginer un cas d’usage IA</a:t>
            </a:r>
          </a:p>
        </p:txBody>
      </p:sp>
      <p:sp>
        <p:nvSpPr>
          <p:cNvPr id="7" name="Text Placeholder 2">
            <a:extLst>
              <a:ext uri="{FF2B5EF4-FFF2-40B4-BE49-F238E27FC236}">
                <a16:creationId xmlns:a16="http://schemas.microsoft.com/office/drawing/2014/main" id="{847A2DAF-B87F-06C4-345B-27CD02AE5AFD}"/>
              </a:ext>
            </a:extLst>
          </p:cNvPr>
          <p:cNvSpPr>
            <a:spLocks noGrp="1"/>
          </p:cNvSpPr>
          <p:nvPr>
            <p:ph type="body" idx="1"/>
          </p:nvPr>
        </p:nvSpPr>
        <p:spPr>
          <a:xfrm>
            <a:off x="831850" y="4589463"/>
            <a:ext cx="10515600" cy="1500187"/>
          </a:xfrm>
        </p:spPr>
        <p:txBody>
          <a:bodyPr/>
          <a:lstStyle/>
          <a:p>
            <a:endParaRPr lang="en-US"/>
          </a:p>
        </p:txBody>
      </p:sp>
      <p:sp>
        <p:nvSpPr>
          <p:cNvPr id="9" name="Text Placeholder 3">
            <a:extLst>
              <a:ext uri="{FF2B5EF4-FFF2-40B4-BE49-F238E27FC236}">
                <a16:creationId xmlns:a16="http://schemas.microsoft.com/office/drawing/2014/main" id="{FE087DC9-182D-89F4-60F2-C048B00A0E86}"/>
              </a:ext>
            </a:extLst>
          </p:cNvPr>
          <p:cNvSpPr>
            <a:spLocks noGrp="1"/>
          </p:cNvSpPr>
          <p:nvPr>
            <p:ph type="body" sz="quarter" idx="13"/>
          </p:nvPr>
        </p:nvSpPr>
        <p:spPr>
          <a:xfrm>
            <a:off x="831850" y="1276350"/>
            <a:ext cx="2627313" cy="433388"/>
          </a:xfrm>
        </p:spPr>
        <p:txBody>
          <a:bodyPr/>
          <a:lstStyle/>
          <a:p>
            <a:endParaRPr lang="en-US"/>
          </a:p>
        </p:txBody>
      </p:sp>
    </p:spTree>
    <p:extLst>
      <p:ext uri="{BB962C8B-B14F-4D97-AF65-F5344CB8AC3E}">
        <p14:creationId xmlns:p14="http://schemas.microsoft.com/office/powerpoint/2010/main" val="24327622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A086BF-3D0B-EB07-E567-184E386072FF}"/>
              </a:ext>
            </a:extLst>
          </p:cNvPr>
          <p:cNvSpPr>
            <a:spLocks noGrp="1"/>
          </p:cNvSpPr>
          <p:nvPr>
            <p:ph type="title"/>
          </p:nvPr>
        </p:nvSpPr>
        <p:spPr>
          <a:xfrm>
            <a:off x="838200" y="86833"/>
            <a:ext cx="10515600" cy="1325563"/>
          </a:xfrm>
        </p:spPr>
        <p:txBody>
          <a:bodyPr anchor="ctr">
            <a:normAutofit/>
          </a:bodyPr>
          <a:lstStyle/>
          <a:p>
            <a:r>
              <a:rPr lang="fr-FR"/>
              <a:t>Contexte, tâche et objectif : co-construction d’idées d’usage IA</a:t>
            </a:r>
          </a:p>
        </p:txBody>
      </p:sp>
      <p:pic>
        <p:nvPicPr>
          <p:cNvPr id="5" name="Espace réservé du contenu 4" descr="hommes d’affaires au bureau. Cinq hommes d’affaires qui envisagent un team building, deux hommes et quatre femmes. Les Serbes au bureau">
            <a:extLst>
              <a:ext uri="{FF2B5EF4-FFF2-40B4-BE49-F238E27FC236}">
                <a16:creationId xmlns:a16="http://schemas.microsoft.com/office/drawing/2014/main" id="{FB1F02FD-E519-476A-BC8B-16116BAACFED}"/>
              </a:ext>
            </a:extLst>
          </p:cNvPr>
          <p:cNvPicPr>
            <a:picLocks noGrp="1" noChangeAspect="1"/>
          </p:cNvPicPr>
          <p:nvPr>
            <p:ph sz="half" idx="1"/>
          </p:nvPr>
        </p:nvPicPr>
        <p:blipFill>
          <a:blip r:embed="rId3"/>
          <a:srcRect l="19280" r="13736"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66E4A948-FF8C-7330-3925-F0F2AC8D9EB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Contexte de l’atelier</a:t>
            </a:r>
          </a:p>
          <a:p>
            <a:pPr marL="0" lvl="1" indent="0">
              <a:buFont typeface="Arial" panose="020B0604020202020204" pitchFamily="34" charset="0"/>
              <a:buNone/>
            </a:pPr>
            <a:r>
              <a:rPr lang="fr-FR" sz="1400"/>
              <a:t>Atelier collectif favorisant la co-construction et l’idéation pour générer des idées d’usage IA innovantes.</a:t>
            </a:r>
          </a:p>
          <a:p>
            <a:pPr marL="0" indent="0">
              <a:spcBef>
                <a:spcPts val="2500"/>
              </a:spcBef>
              <a:buFont typeface="Arial" panose="020B0604020202020204" pitchFamily="34" charset="0"/>
              <a:buNone/>
            </a:pPr>
            <a:r>
              <a:rPr lang="fr-FR" sz="1400" b="1"/>
              <a:t>Tâche des participants</a:t>
            </a:r>
          </a:p>
          <a:p>
            <a:pPr marL="0" lvl="1" indent="0">
              <a:buFont typeface="Arial" panose="020B0604020202020204" pitchFamily="34" charset="0"/>
              <a:buNone/>
            </a:pPr>
            <a:r>
              <a:rPr lang="fr-FR" sz="1400"/>
              <a:t>En petits groupes, les participants créent des idées d’usage de l’IA adaptées à leur métier spécifique.</a:t>
            </a:r>
          </a:p>
          <a:p>
            <a:pPr marL="0" indent="0">
              <a:spcBef>
                <a:spcPts val="2500"/>
              </a:spcBef>
              <a:buFont typeface="Arial" panose="020B0604020202020204" pitchFamily="34" charset="0"/>
              <a:buNone/>
            </a:pPr>
            <a:r>
              <a:rPr lang="fr-FR" sz="1400" b="1"/>
              <a:t>Objectifs du processus</a:t>
            </a:r>
          </a:p>
          <a:p>
            <a:pPr marL="0" lvl="1" indent="0">
              <a:buFont typeface="Arial" panose="020B0604020202020204" pitchFamily="34" charset="0"/>
              <a:buNone/>
            </a:pPr>
            <a:r>
              <a:rPr lang="fr-FR" sz="1400"/>
              <a:t>Imaginer des cas d’usage IA, évaluer impacts, risques potentiels et définir des garde-fous responsables.</a:t>
            </a:r>
          </a:p>
        </p:txBody>
      </p:sp>
    </p:spTree>
    <p:extLst>
      <p:ext uri="{BB962C8B-B14F-4D97-AF65-F5344CB8AC3E}">
        <p14:creationId xmlns:p14="http://schemas.microsoft.com/office/powerpoint/2010/main" val="9012911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187563-31E2-D19C-8F63-DFB8FDE948EB}"/>
              </a:ext>
            </a:extLst>
          </p:cNvPr>
          <p:cNvSpPr>
            <a:spLocks noGrp="1"/>
          </p:cNvSpPr>
          <p:nvPr>
            <p:ph type="title"/>
          </p:nvPr>
        </p:nvSpPr>
        <p:spPr>
          <a:xfrm>
            <a:off x="838200" y="86833"/>
            <a:ext cx="10515600" cy="1325563"/>
          </a:xfrm>
        </p:spPr>
        <p:txBody>
          <a:bodyPr anchor="ctr">
            <a:normAutofit/>
          </a:bodyPr>
          <a:lstStyle/>
          <a:p>
            <a:r>
              <a:rPr lang="fr-FR"/>
              <a:t>Débrief : vote collectif, pitch, registre IA ou plan d’expérimentation</a:t>
            </a:r>
          </a:p>
        </p:txBody>
      </p:sp>
      <p:pic>
        <p:nvPicPr>
          <p:cNvPr id="5" name="Espace réservé du contenu 4" descr="Gros plan des mains levées lors d’une formation au bureau avec un orateur flou en arrière-plan">
            <a:extLst>
              <a:ext uri="{FF2B5EF4-FFF2-40B4-BE49-F238E27FC236}">
                <a16:creationId xmlns:a16="http://schemas.microsoft.com/office/drawing/2014/main" id="{5403C3BD-9D52-40D0-B397-2C1D3C72200E}"/>
              </a:ext>
            </a:extLst>
          </p:cNvPr>
          <p:cNvPicPr>
            <a:picLocks noGrp="1" noChangeAspect="1"/>
          </p:cNvPicPr>
          <p:nvPr>
            <p:ph sz="half" idx="1"/>
          </p:nvPr>
        </p:nvPicPr>
        <p:blipFill>
          <a:blip r:embed="rId3"/>
          <a:srcRect l="9408" r="11105"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A10F2D13-B615-52DB-B078-10E2E236CFD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Vote collectif</a:t>
            </a:r>
          </a:p>
          <a:p>
            <a:pPr marL="0" lvl="1" indent="0">
              <a:buFont typeface="Arial" panose="020B0604020202020204" pitchFamily="34" charset="0"/>
              <a:buNone/>
            </a:pPr>
            <a:r>
              <a:rPr lang="fr-FR" sz="1400"/>
              <a:t>Le vote collectif permet de sélectionner les meilleures idées grâce à la participation active de l'équipe.</a:t>
            </a:r>
          </a:p>
          <a:p>
            <a:pPr marL="0" indent="0">
              <a:spcBef>
                <a:spcPts val="2500"/>
              </a:spcBef>
              <a:buFont typeface="Arial" panose="020B0604020202020204" pitchFamily="34" charset="0"/>
              <a:buNone/>
            </a:pPr>
            <a:r>
              <a:rPr lang="fr-FR" sz="1400" b="1"/>
              <a:t>Pitch des idées</a:t>
            </a:r>
          </a:p>
          <a:p>
            <a:pPr marL="0" lvl="1" indent="0">
              <a:buFont typeface="Arial" panose="020B0604020202020204" pitchFamily="34" charset="0"/>
              <a:buNone/>
            </a:pPr>
            <a:r>
              <a:rPr lang="fr-FR" sz="1400"/>
              <a:t>Le pitch des idées consiste à présenter rapidement les propositions pour faciliter la prise de décision.</a:t>
            </a:r>
          </a:p>
          <a:p>
            <a:pPr marL="0" indent="0">
              <a:spcBef>
                <a:spcPts val="2500"/>
              </a:spcBef>
              <a:buFont typeface="Arial" panose="020B0604020202020204" pitchFamily="34" charset="0"/>
              <a:buNone/>
            </a:pPr>
            <a:r>
              <a:rPr lang="fr-FR" sz="1400" b="1"/>
              <a:t>Registre IA et plan d’expérimentation</a:t>
            </a:r>
          </a:p>
          <a:p>
            <a:pPr marL="0" lvl="1" indent="0">
              <a:buFont typeface="Arial" panose="020B0604020202020204" pitchFamily="34" charset="0"/>
              <a:buNone/>
            </a:pPr>
            <a:r>
              <a:rPr lang="fr-FR" sz="1400"/>
              <a:t>Les résultats du vote peuvent mener à l'utilisation d'un registre IA ou à un plan d’expérimentation concret.</a:t>
            </a:r>
          </a:p>
        </p:txBody>
      </p:sp>
    </p:spTree>
    <p:extLst>
      <p:ext uri="{BB962C8B-B14F-4D97-AF65-F5344CB8AC3E}">
        <p14:creationId xmlns:p14="http://schemas.microsoft.com/office/powerpoint/2010/main" val="35566189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5D489F-C39B-BCA7-E947-53C3BBDE018C}"/>
              </a:ext>
            </a:extLst>
          </p:cNvPr>
          <p:cNvSpPr>
            <a:spLocks noGrp="1"/>
          </p:cNvSpPr>
          <p:nvPr>
            <p:ph type="title"/>
          </p:nvPr>
        </p:nvSpPr>
        <p:spPr>
          <a:xfrm>
            <a:off x="831850" y="1709738"/>
            <a:ext cx="10515600" cy="2852737"/>
          </a:xfrm>
        </p:spPr>
        <p:txBody>
          <a:bodyPr anchor="ctr">
            <a:normAutofit/>
          </a:bodyPr>
          <a:lstStyle/>
          <a:p>
            <a:r>
              <a:rPr lang="fr-FR"/>
              <a:t>Créer un support rapidement avec l’IA</a:t>
            </a:r>
          </a:p>
        </p:txBody>
      </p:sp>
      <p:sp>
        <p:nvSpPr>
          <p:cNvPr id="7" name="Text Placeholder 2">
            <a:extLst>
              <a:ext uri="{FF2B5EF4-FFF2-40B4-BE49-F238E27FC236}">
                <a16:creationId xmlns:a16="http://schemas.microsoft.com/office/drawing/2014/main" id="{A63577CA-F674-16EB-9045-AEA75B0F3AEE}"/>
              </a:ext>
            </a:extLst>
          </p:cNvPr>
          <p:cNvSpPr>
            <a:spLocks noGrp="1"/>
          </p:cNvSpPr>
          <p:nvPr>
            <p:ph type="body" idx="1"/>
          </p:nvPr>
        </p:nvSpPr>
        <p:spPr>
          <a:xfrm>
            <a:off x="831850" y="4589463"/>
            <a:ext cx="10515600" cy="1500187"/>
          </a:xfrm>
        </p:spPr>
        <p:txBody>
          <a:bodyPr/>
          <a:lstStyle/>
          <a:p>
            <a:endParaRPr lang="en-US"/>
          </a:p>
        </p:txBody>
      </p:sp>
      <p:sp>
        <p:nvSpPr>
          <p:cNvPr id="9" name="Text Placeholder 3">
            <a:extLst>
              <a:ext uri="{FF2B5EF4-FFF2-40B4-BE49-F238E27FC236}">
                <a16:creationId xmlns:a16="http://schemas.microsoft.com/office/drawing/2014/main" id="{1D32460D-6EFF-4F3C-4AF5-4ADE5D5D9C99}"/>
              </a:ext>
            </a:extLst>
          </p:cNvPr>
          <p:cNvSpPr>
            <a:spLocks noGrp="1"/>
          </p:cNvSpPr>
          <p:nvPr>
            <p:ph type="body" sz="quarter" idx="13"/>
          </p:nvPr>
        </p:nvSpPr>
        <p:spPr>
          <a:xfrm>
            <a:off x="831850" y="1276350"/>
            <a:ext cx="2627313" cy="433388"/>
          </a:xfrm>
        </p:spPr>
        <p:txBody>
          <a:bodyPr/>
          <a:lstStyle/>
          <a:p>
            <a:endParaRPr lang="en-US"/>
          </a:p>
        </p:txBody>
      </p:sp>
    </p:spTree>
    <p:extLst>
      <p:ext uri="{BB962C8B-B14F-4D97-AF65-F5344CB8AC3E}">
        <p14:creationId xmlns:p14="http://schemas.microsoft.com/office/powerpoint/2010/main" val="1914490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10A464-E233-5FA3-3CFA-56E8E095217F}"/>
              </a:ext>
            </a:extLst>
          </p:cNvPr>
          <p:cNvSpPr>
            <a:spLocks noGrp="1"/>
          </p:cNvSpPr>
          <p:nvPr>
            <p:ph type="title"/>
          </p:nvPr>
        </p:nvSpPr>
        <p:spPr>
          <a:xfrm>
            <a:off x="838200" y="86833"/>
            <a:ext cx="10515600" cy="1325563"/>
          </a:xfrm>
        </p:spPr>
        <p:txBody>
          <a:bodyPr anchor="ctr">
            <a:normAutofit/>
          </a:bodyPr>
          <a:lstStyle/>
          <a:p>
            <a:r>
              <a:rPr lang="fr-FR"/>
              <a:t>Contexte, tâche et objectif : création de support en 20 minutes</a:t>
            </a:r>
          </a:p>
        </p:txBody>
      </p:sp>
      <p:pic>
        <p:nvPicPr>
          <p:cNvPr id="5" name="Espace réservé du contenu 4" descr="Main mettant des pièces de monnaie dans l’horloge moneybag avec ordinateur portable et cactus">
            <a:extLst>
              <a:ext uri="{FF2B5EF4-FFF2-40B4-BE49-F238E27FC236}">
                <a16:creationId xmlns:a16="http://schemas.microsoft.com/office/drawing/2014/main" id="{C296B160-60CC-4DBF-A06F-D30A7C598EB7}"/>
              </a:ext>
            </a:extLst>
          </p:cNvPr>
          <p:cNvPicPr>
            <a:picLocks noGrp="1" noChangeAspect="1"/>
          </p:cNvPicPr>
          <p:nvPr>
            <p:ph sz="half" idx="1"/>
          </p:nvPr>
        </p:nvPicPr>
        <p:blipFill>
          <a:blip r:embed="rId3"/>
          <a:srcRect r="20513"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62D01B28-0D45-472B-EECF-553BDB701C3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Contexte d’utilisation</a:t>
            </a:r>
          </a:p>
          <a:p>
            <a:pPr marL="0" lvl="1" indent="0">
              <a:buFont typeface="Arial" panose="020B0604020202020204" pitchFamily="34" charset="0"/>
              <a:buNone/>
            </a:pPr>
            <a:r>
              <a:rPr lang="fr-FR" sz="1400"/>
              <a:t>Le formateur ou manager doit produire rapidement un support de présentation ou document professionnel.</a:t>
            </a:r>
          </a:p>
          <a:p>
            <a:pPr marL="0" indent="0">
              <a:spcBef>
                <a:spcPts val="2500"/>
              </a:spcBef>
              <a:buFont typeface="Arial" panose="020B0604020202020204" pitchFamily="34" charset="0"/>
              <a:buNone/>
            </a:pPr>
            <a:r>
              <a:rPr lang="fr-FR" sz="1400" b="1"/>
              <a:t>Tâche assignée</a:t>
            </a:r>
          </a:p>
          <a:p>
            <a:pPr marL="0" lvl="1" indent="0">
              <a:buFont typeface="Arial" panose="020B0604020202020204" pitchFamily="34" charset="0"/>
              <a:buNone/>
            </a:pPr>
            <a:r>
              <a:rPr lang="fr-FR" sz="1400"/>
              <a:t>Utiliser Copilot ou ChatGPT pour générer un plan et contenu sur un sujet métier précis.</a:t>
            </a:r>
          </a:p>
          <a:p>
            <a:pPr marL="0" indent="0">
              <a:spcBef>
                <a:spcPts val="2500"/>
              </a:spcBef>
              <a:buFont typeface="Arial" panose="020B0604020202020204" pitchFamily="34" charset="0"/>
              <a:buNone/>
            </a:pPr>
            <a:r>
              <a:rPr lang="fr-FR" sz="1400" b="1"/>
              <a:t>Objectif principal</a:t>
            </a:r>
          </a:p>
          <a:p>
            <a:pPr marL="0" lvl="1" indent="0">
              <a:buFont typeface="Arial" panose="020B0604020202020204" pitchFamily="34" charset="0"/>
              <a:buNone/>
            </a:pPr>
            <a:r>
              <a:rPr lang="fr-FR" sz="1400"/>
              <a:t>Mesurer le gain de temps obtenu face au besoin de relecture et personnalisation du contenu généré.</a:t>
            </a:r>
          </a:p>
        </p:txBody>
      </p:sp>
    </p:spTree>
    <p:extLst>
      <p:ext uri="{BB962C8B-B14F-4D97-AF65-F5344CB8AC3E}">
        <p14:creationId xmlns:p14="http://schemas.microsoft.com/office/powerpoint/2010/main" val="1819959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9226F7-BBA1-2053-74D5-8F0E8C1487FC}"/>
              </a:ext>
            </a:extLst>
          </p:cNvPr>
          <p:cNvSpPr>
            <a:spLocks noGrp="1"/>
          </p:cNvSpPr>
          <p:nvPr>
            <p:ph type="title"/>
          </p:nvPr>
        </p:nvSpPr>
        <p:spPr>
          <a:xfrm>
            <a:off x="838200" y="86833"/>
            <a:ext cx="10515600" cy="1325563"/>
          </a:xfrm>
        </p:spPr>
        <p:txBody>
          <a:bodyPr anchor="ctr">
            <a:normAutofit/>
          </a:bodyPr>
          <a:lstStyle/>
          <a:p>
            <a:r>
              <a:rPr lang="fr-FR"/>
              <a:t>Débrief : automatisation vs qualité</a:t>
            </a:r>
          </a:p>
        </p:txBody>
      </p:sp>
      <p:pic>
        <p:nvPicPr>
          <p:cNvPr id="5" name="Espace réservé du contenu 4" descr="Concept numérique de qualité">
            <a:extLst>
              <a:ext uri="{FF2B5EF4-FFF2-40B4-BE49-F238E27FC236}">
                <a16:creationId xmlns:a16="http://schemas.microsoft.com/office/drawing/2014/main" id="{BC927A9B-ADB8-4A13-9924-9D36CD3A0DB5}"/>
              </a:ext>
            </a:extLst>
          </p:cNvPr>
          <p:cNvPicPr>
            <a:picLocks noGrp="1" noChangeAspect="1"/>
          </p:cNvPicPr>
          <p:nvPr>
            <p:ph sz="half" idx="1"/>
          </p:nvPr>
        </p:nvPicPr>
        <p:blipFill>
          <a:blip r:embed="rId3"/>
          <a:srcRect l="1983" r="8703" b="-3"/>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D0C194CD-68DB-FDDC-7667-BDE6FF389D3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Équilibre entre automatisation et qualité</a:t>
            </a:r>
          </a:p>
          <a:p>
            <a:pPr marL="0" lvl="1" indent="0">
              <a:buFont typeface="Arial" panose="020B0604020202020204" pitchFamily="34" charset="0"/>
              <a:buNone/>
            </a:pPr>
            <a:r>
              <a:rPr lang="fr-FR" sz="1400"/>
              <a:t>Il est essentiel de déterminer la part du travail pouvant être automatisée sans compromettre la qualité des résultats.</a:t>
            </a:r>
          </a:p>
          <a:p>
            <a:pPr marL="0" indent="0">
              <a:spcBef>
                <a:spcPts val="2500"/>
              </a:spcBef>
              <a:buFont typeface="Arial" panose="020B0604020202020204" pitchFamily="34" charset="0"/>
              <a:buNone/>
            </a:pPr>
            <a:r>
              <a:rPr lang="fr-FR" sz="1400" b="1"/>
              <a:t>Impact de l’automatisation</a:t>
            </a:r>
          </a:p>
          <a:p>
            <a:pPr marL="0" lvl="1" indent="0">
              <a:buFont typeface="Arial" panose="020B0604020202020204" pitchFamily="34" charset="0"/>
              <a:buNone/>
            </a:pPr>
            <a:r>
              <a:rPr lang="fr-FR" sz="1400"/>
              <a:t>L’automatisation peut améliorer l’efficacité, mais nécessite une évaluation rigoureuse pour éviter une baisse de qualité.</a:t>
            </a:r>
          </a:p>
          <a:p>
            <a:pPr marL="0" indent="0">
              <a:spcBef>
                <a:spcPts val="2500"/>
              </a:spcBef>
              <a:buFont typeface="Arial" panose="020B0604020202020204" pitchFamily="34" charset="0"/>
              <a:buNone/>
            </a:pPr>
            <a:r>
              <a:rPr lang="fr-FR" sz="1400" b="1"/>
              <a:t>Maintien de la qualité</a:t>
            </a:r>
          </a:p>
          <a:p>
            <a:pPr marL="0" lvl="1" indent="0">
              <a:buFont typeface="Arial" panose="020B0604020202020204" pitchFamily="34" charset="0"/>
              <a:buNone/>
            </a:pPr>
            <a:r>
              <a:rPr lang="fr-FR" sz="1400"/>
              <a:t>Des contrôles qualité adaptés sont indispensables pour garantir que l’automatisation ne dégrade pas les standards existants.</a:t>
            </a:r>
          </a:p>
        </p:txBody>
      </p:sp>
    </p:spTree>
    <p:extLst>
      <p:ext uri="{BB962C8B-B14F-4D97-AF65-F5344CB8AC3E}">
        <p14:creationId xmlns:p14="http://schemas.microsoft.com/office/powerpoint/2010/main" val="19601522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2D9764-12AF-7093-F47F-593FAC2F5FD8}"/>
              </a:ext>
            </a:extLst>
          </p:cNvPr>
          <p:cNvSpPr>
            <a:spLocks noGrp="1"/>
          </p:cNvSpPr>
          <p:nvPr>
            <p:ph type="title"/>
          </p:nvPr>
        </p:nvSpPr>
        <p:spPr>
          <a:xfrm>
            <a:off x="831850" y="1709738"/>
            <a:ext cx="10515600" cy="2852737"/>
          </a:xfrm>
        </p:spPr>
        <p:txBody>
          <a:bodyPr anchor="ctr">
            <a:normAutofit/>
          </a:bodyPr>
          <a:lstStyle/>
          <a:p>
            <a:r>
              <a:rPr lang="fr-FR"/>
              <a:t>Réécrire pour mieux communiquer grâce à l’IA</a:t>
            </a:r>
          </a:p>
        </p:txBody>
      </p:sp>
      <p:sp>
        <p:nvSpPr>
          <p:cNvPr id="7" name="Text Placeholder 2">
            <a:extLst>
              <a:ext uri="{FF2B5EF4-FFF2-40B4-BE49-F238E27FC236}">
                <a16:creationId xmlns:a16="http://schemas.microsoft.com/office/drawing/2014/main" id="{63D36AD3-59E8-B422-4DFD-59F6D126A678}"/>
              </a:ext>
            </a:extLst>
          </p:cNvPr>
          <p:cNvSpPr>
            <a:spLocks noGrp="1"/>
          </p:cNvSpPr>
          <p:nvPr>
            <p:ph type="body" idx="1"/>
          </p:nvPr>
        </p:nvSpPr>
        <p:spPr>
          <a:xfrm>
            <a:off x="831850" y="4589463"/>
            <a:ext cx="10515600" cy="1500187"/>
          </a:xfrm>
        </p:spPr>
        <p:txBody>
          <a:bodyPr/>
          <a:lstStyle/>
          <a:p>
            <a:endParaRPr lang="en-US"/>
          </a:p>
        </p:txBody>
      </p:sp>
      <p:sp>
        <p:nvSpPr>
          <p:cNvPr id="9" name="Text Placeholder 3">
            <a:extLst>
              <a:ext uri="{FF2B5EF4-FFF2-40B4-BE49-F238E27FC236}">
                <a16:creationId xmlns:a16="http://schemas.microsoft.com/office/drawing/2014/main" id="{4C0DA00C-6F11-0939-0BAC-39B095D999FF}"/>
              </a:ext>
            </a:extLst>
          </p:cNvPr>
          <p:cNvSpPr>
            <a:spLocks noGrp="1"/>
          </p:cNvSpPr>
          <p:nvPr>
            <p:ph type="body" sz="quarter" idx="13"/>
          </p:nvPr>
        </p:nvSpPr>
        <p:spPr>
          <a:xfrm>
            <a:off x="831850" y="1276350"/>
            <a:ext cx="2627313" cy="433388"/>
          </a:xfrm>
        </p:spPr>
        <p:txBody>
          <a:bodyPr/>
          <a:lstStyle/>
          <a:p>
            <a:endParaRPr lang="en-US"/>
          </a:p>
        </p:txBody>
      </p:sp>
    </p:spTree>
    <p:extLst>
      <p:ext uri="{BB962C8B-B14F-4D97-AF65-F5344CB8AC3E}">
        <p14:creationId xmlns:p14="http://schemas.microsoft.com/office/powerpoint/2010/main" val="19799439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C09637-12CD-724A-77C4-EE25449DFA74}"/>
              </a:ext>
            </a:extLst>
          </p:cNvPr>
          <p:cNvSpPr>
            <a:spLocks noGrp="1"/>
          </p:cNvSpPr>
          <p:nvPr>
            <p:ph type="title"/>
          </p:nvPr>
        </p:nvSpPr>
        <p:spPr>
          <a:xfrm>
            <a:off x="838200" y="86833"/>
            <a:ext cx="10515600" cy="1325563"/>
          </a:xfrm>
        </p:spPr>
        <p:txBody>
          <a:bodyPr anchor="ctr">
            <a:normAutofit/>
          </a:bodyPr>
          <a:lstStyle/>
          <a:p>
            <a:r>
              <a:rPr lang="fr-FR"/>
              <a:t>Contexte, tâche et objectif : reformulation de messages sensibles</a:t>
            </a:r>
          </a:p>
        </p:txBody>
      </p:sp>
      <p:pic>
        <p:nvPicPr>
          <p:cNvPr id="5" name="Espace réservé du contenu 4" descr="Concept de mise en réseau par e-mail">
            <a:extLst>
              <a:ext uri="{FF2B5EF4-FFF2-40B4-BE49-F238E27FC236}">
                <a16:creationId xmlns:a16="http://schemas.microsoft.com/office/drawing/2014/main" id="{D776C010-5F6F-4B9F-880C-8B88E7E4582A}"/>
              </a:ext>
            </a:extLst>
          </p:cNvPr>
          <p:cNvPicPr>
            <a:picLocks noGrp="1" noChangeAspect="1"/>
          </p:cNvPicPr>
          <p:nvPr>
            <p:ph sz="half" idx="1"/>
          </p:nvPr>
        </p:nvPicPr>
        <p:blipFill>
          <a:blip r:embed="rId3"/>
          <a:srcRect l="8540" r="13461"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02959D51-FAE0-D035-29F9-94EA17282C1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Contexte de reformulation</a:t>
            </a:r>
          </a:p>
          <a:p>
            <a:pPr marL="0" lvl="1" indent="0">
              <a:buFont typeface="Arial" panose="020B0604020202020204" pitchFamily="34" charset="0"/>
              <a:buNone/>
            </a:pPr>
            <a:r>
              <a:rPr lang="fr-FR" sz="1400"/>
              <a:t>Un salarié doit reformuler des messages délicats comme des mails clients, messages RH ou plaintes.</a:t>
            </a:r>
          </a:p>
          <a:p>
            <a:pPr marL="0" indent="0">
              <a:spcBef>
                <a:spcPts val="2500"/>
              </a:spcBef>
              <a:buFont typeface="Arial" panose="020B0604020202020204" pitchFamily="34" charset="0"/>
              <a:buNone/>
            </a:pPr>
            <a:r>
              <a:rPr lang="fr-FR" sz="1400" b="1"/>
              <a:t>Utilisation d’IA variées</a:t>
            </a:r>
          </a:p>
          <a:p>
            <a:pPr marL="0" lvl="1" indent="0">
              <a:buFont typeface="Arial" panose="020B0604020202020204" pitchFamily="34" charset="0"/>
              <a:buNone/>
            </a:pPr>
            <a:r>
              <a:rPr lang="fr-FR" sz="1400"/>
              <a:t>Tester plusieurs intelligences artificielles pour proposer différentes formulations de messages sensibles.</a:t>
            </a:r>
          </a:p>
          <a:p>
            <a:pPr marL="0" indent="0">
              <a:spcBef>
                <a:spcPts val="2500"/>
              </a:spcBef>
              <a:buFont typeface="Arial" panose="020B0604020202020204" pitchFamily="34" charset="0"/>
              <a:buNone/>
            </a:pPr>
            <a:r>
              <a:rPr lang="fr-FR" sz="1400" b="1"/>
              <a:t>Objectifs d’analyse</a:t>
            </a:r>
          </a:p>
          <a:p>
            <a:pPr marL="0" lvl="1" indent="0">
              <a:buFont typeface="Arial" panose="020B0604020202020204" pitchFamily="34" charset="0"/>
              <a:buNone/>
            </a:pPr>
            <a:r>
              <a:rPr lang="fr-FR" sz="1400"/>
              <a:t>Identifier nuances, biais, erreurs et hallucinations dans les propositions d’IA pour une communication claire.</a:t>
            </a:r>
          </a:p>
        </p:txBody>
      </p:sp>
    </p:spTree>
    <p:extLst>
      <p:ext uri="{BB962C8B-B14F-4D97-AF65-F5344CB8AC3E}">
        <p14:creationId xmlns:p14="http://schemas.microsoft.com/office/powerpoint/2010/main" val="23254238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95C42B-E4A7-7ED9-915E-4FC429A22461}"/>
              </a:ext>
            </a:extLst>
          </p:cNvPr>
          <p:cNvSpPr>
            <a:spLocks noGrp="1"/>
          </p:cNvSpPr>
          <p:nvPr>
            <p:ph type="title"/>
          </p:nvPr>
        </p:nvSpPr>
        <p:spPr>
          <a:xfrm>
            <a:off x="838200" y="86833"/>
            <a:ext cx="10515600" cy="1325563"/>
          </a:xfrm>
        </p:spPr>
        <p:txBody>
          <a:bodyPr anchor="ctr">
            <a:normAutofit/>
          </a:bodyPr>
          <a:lstStyle/>
          <a:p>
            <a:r>
              <a:rPr lang="fr-FR"/>
              <a:t>Débrief : ton adapté, risques et limites des propositions IA</a:t>
            </a:r>
          </a:p>
        </p:txBody>
      </p:sp>
      <p:pic>
        <p:nvPicPr>
          <p:cNvPr id="5" name="Espace réservé du contenu 4" descr="Concept de l’Internet des objets">
            <a:extLst>
              <a:ext uri="{FF2B5EF4-FFF2-40B4-BE49-F238E27FC236}">
                <a16:creationId xmlns:a16="http://schemas.microsoft.com/office/drawing/2014/main" id="{A31310E6-83B2-415C-98FB-1E8A808E8ADD}"/>
              </a:ext>
            </a:extLst>
          </p:cNvPr>
          <p:cNvPicPr>
            <a:picLocks noGrp="1" noChangeAspect="1"/>
          </p:cNvPicPr>
          <p:nvPr>
            <p:ph sz="half" idx="1"/>
          </p:nvPr>
        </p:nvPicPr>
        <p:blipFill>
          <a:blip r:embed="rId3"/>
          <a:srcRect l="5591" r="14922"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A4202B57-E1B6-7A89-40E6-62A92D52D0B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Évaluation du ton adapté</a:t>
            </a:r>
          </a:p>
          <a:p>
            <a:pPr marL="0" lvl="1" indent="0">
              <a:buFont typeface="Arial" panose="020B0604020202020204" pitchFamily="34" charset="0"/>
              <a:buNone/>
            </a:pPr>
            <a:r>
              <a:rPr lang="fr-FR" sz="1400"/>
              <a:t>Analyser quelle intelligence artificielle a proposé le ton le plus approprié pour la communication ciblée.</a:t>
            </a:r>
          </a:p>
          <a:p>
            <a:pPr marL="0" indent="0">
              <a:spcBef>
                <a:spcPts val="2500"/>
              </a:spcBef>
              <a:buFont typeface="Arial" panose="020B0604020202020204" pitchFamily="34" charset="0"/>
              <a:buNone/>
            </a:pPr>
            <a:r>
              <a:rPr lang="fr-FR" sz="1400" b="1"/>
              <a:t>Risques des propositions IA</a:t>
            </a:r>
          </a:p>
          <a:p>
            <a:pPr marL="0" lvl="1" indent="0">
              <a:buFont typeface="Arial" panose="020B0604020202020204" pitchFamily="34" charset="0"/>
              <a:buNone/>
            </a:pPr>
            <a:r>
              <a:rPr lang="fr-FR" sz="1400"/>
              <a:t>Identifier les risques potentiels liés à l’adoption des propositions d’IA sans modifications ou ajustements.</a:t>
            </a:r>
          </a:p>
        </p:txBody>
      </p:sp>
    </p:spTree>
    <p:extLst>
      <p:ext uri="{BB962C8B-B14F-4D97-AF65-F5344CB8AC3E}">
        <p14:creationId xmlns:p14="http://schemas.microsoft.com/office/powerpoint/2010/main" val="26724420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C3BD64-2F44-BD78-306A-292BF730D9FE}"/>
              </a:ext>
            </a:extLst>
          </p:cNvPr>
          <p:cNvSpPr>
            <a:spLocks noGrp="1"/>
          </p:cNvSpPr>
          <p:nvPr>
            <p:ph type="title"/>
          </p:nvPr>
        </p:nvSpPr>
        <p:spPr>
          <a:xfrm>
            <a:off x="831850" y="1709738"/>
            <a:ext cx="10515600" cy="2852737"/>
          </a:xfrm>
        </p:spPr>
        <p:txBody>
          <a:bodyPr anchor="ctr">
            <a:normAutofit/>
          </a:bodyPr>
          <a:lstStyle/>
          <a:p>
            <a:r>
              <a:rPr lang="fr-FR"/>
              <a:t>Restitution possible : présentation flash</a:t>
            </a:r>
          </a:p>
        </p:txBody>
      </p:sp>
      <p:sp>
        <p:nvSpPr>
          <p:cNvPr id="7" name="Text Placeholder 2">
            <a:extLst>
              <a:ext uri="{FF2B5EF4-FFF2-40B4-BE49-F238E27FC236}">
                <a16:creationId xmlns:a16="http://schemas.microsoft.com/office/drawing/2014/main" id="{111C86C1-30F4-F5CB-07B5-C4362F418BC2}"/>
              </a:ext>
            </a:extLst>
          </p:cNvPr>
          <p:cNvSpPr>
            <a:spLocks noGrp="1"/>
          </p:cNvSpPr>
          <p:nvPr>
            <p:ph type="body" idx="1"/>
          </p:nvPr>
        </p:nvSpPr>
        <p:spPr>
          <a:xfrm>
            <a:off x="831850" y="4589463"/>
            <a:ext cx="10515600" cy="1500187"/>
          </a:xfrm>
        </p:spPr>
        <p:txBody>
          <a:bodyPr/>
          <a:lstStyle/>
          <a:p>
            <a:endParaRPr lang="en-US"/>
          </a:p>
        </p:txBody>
      </p:sp>
      <p:sp>
        <p:nvSpPr>
          <p:cNvPr id="9" name="Text Placeholder 3">
            <a:extLst>
              <a:ext uri="{FF2B5EF4-FFF2-40B4-BE49-F238E27FC236}">
                <a16:creationId xmlns:a16="http://schemas.microsoft.com/office/drawing/2014/main" id="{2780555C-E58F-CE5D-6FB0-DE33F85DB5FA}"/>
              </a:ext>
            </a:extLst>
          </p:cNvPr>
          <p:cNvSpPr>
            <a:spLocks noGrp="1"/>
          </p:cNvSpPr>
          <p:nvPr>
            <p:ph type="body" sz="quarter" idx="13"/>
          </p:nvPr>
        </p:nvSpPr>
        <p:spPr>
          <a:xfrm>
            <a:off x="831850" y="1276350"/>
            <a:ext cx="2627313" cy="433388"/>
          </a:xfrm>
        </p:spPr>
        <p:txBody>
          <a:bodyPr/>
          <a:lstStyle/>
          <a:p>
            <a:endParaRPr lang="en-US"/>
          </a:p>
        </p:txBody>
      </p:sp>
    </p:spTree>
    <p:extLst>
      <p:ext uri="{BB962C8B-B14F-4D97-AF65-F5344CB8AC3E}">
        <p14:creationId xmlns:p14="http://schemas.microsoft.com/office/powerpoint/2010/main" val="27490466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DA2784-8781-0F8A-EF61-87DC117D7685}"/>
              </a:ext>
            </a:extLst>
          </p:cNvPr>
          <p:cNvSpPr>
            <a:spLocks noGrp="1"/>
          </p:cNvSpPr>
          <p:nvPr>
            <p:ph type="title"/>
          </p:nvPr>
        </p:nvSpPr>
        <p:spPr>
          <a:xfrm>
            <a:off x="838200" y="86833"/>
            <a:ext cx="10515600" cy="1325563"/>
          </a:xfrm>
        </p:spPr>
        <p:txBody>
          <a:bodyPr anchor="ctr">
            <a:normAutofit/>
          </a:bodyPr>
          <a:lstStyle/>
          <a:p>
            <a:r>
              <a:rPr lang="fr-FR"/>
              <a:t>Présentation flash : “Mon cas d’usage IA à tester demain”</a:t>
            </a:r>
          </a:p>
        </p:txBody>
      </p:sp>
      <p:pic>
        <p:nvPicPr>
          <p:cNvPr id="5" name="Espace réservé du contenu 4" descr="Des personnes avec des herbes VR jouant à un jeu de réalité virtuelle. Technologie numérique du futur et simulation en réalité virtuelle 3D, style de vie futuriste moderne">
            <a:extLst>
              <a:ext uri="{FF2B5EF4-FFF2-40B4-BE49-F238E27FC236}">
                <a16:creationId xmlns:a16="http://schemas.microsoft.com/office/drawing/2014/main" id="{8C3079F7-D626-4DC6-945A-2E50B155BAFD}"/>
              </a:ext>
            </a:extLst>
          </p:cNvPr>
          <p:cNvPicPr>
            <a:picLocks noGrp="1" noChangeAspect="1"/>
          </p:cNvPicPr>
          <p:nvPr>
            <p:ph sz="half" idx="1"/>
          </p:nvPr>
        </p:nvPicPr>
        <p:blipFill>
          <a:blip r:embed="rId3"/>
          <a:srcRect r="33016" b="-1"/>
          <a:stretch>
            <a:fillRect/>
          </a:stretch>
        </p:blipFill>
        <p:spPr>
          <a:xfrm>
            <a:off x="838200" y="1825625"/>
            <a:ext cx="5181600" cy="4351338"/>
          </a:xfrm>
          <a:prstGeom prst="rect">
            <a:avLst/>
          </a:prstGeom>
          <a:noFill/>
        </p:spPr>
      </p:pic>
      <p:sp>
        <p:nvSpPr>
          <p:cNvPr id="4" name="Espace réservé du contenu 3">
            <a:extLst>
              <a:ext uri="{FF2B5EF4-FFF2-40B4-BE49-F238E27FC236}">
                <a16:creationId xmlns:a16="http://schemas.microsoft.com/office/drawing/2014/main" id="{1C18CF1A-8385-1566-9F99-2E3A2ECA39D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825625"/>
            <a:ext cx="5181600" cy="4351338"/>
          </a:xfrm>
        </p:spPr>
        <p:txBody>
          <a:bodyPr>
            <a:normAutofit/>
          </a:bodyPr>
          <a:lstStyle/>
          <a:p>
            <a:pPr marL="0" indent="0">
              <a:spcBef>
                <a:spcPts val="2500"/>
              </a:spcBef>
              <a:buFont typeface="Arial" panose="020B0604020202020204" pitchFamily="34" charset="0"/>
              <a:buNone/>
            </a:pPr>
            <a:r>
              <a:rPr lang="fr-FR" sz="1400" b="1"/>
              <a:t>Présentation concise</a:t>
            </a:r>
          </a:p>
          <a:p>
            <a:pPr marL="0" lvl="1" indent="0">
              <a:buFont typeface="Arial" panose="020B0604020202020204" pitchFamily="34" charset="0"/>
              <a:buNone/>
            </a:pPr>
            <a:r>
              <a:rPr lang="fr-FR" sz="1400"/>
              <a:t>La présentation flash offre un aperçu rapide et clair d’un cas d’usage de l’intelligence artificielle à expérimenter prochainement.</a:t>
            </a:r>
          </a:p>
          <a:p>
            <a:pPr marL="0" indent="0">
              <a:spcBef>
                <a:spcPts val="2500"/>
              </a:spcBef>
              <a:buFont typeface="Arial" panose="020B0604020202020204" pitchFamily="34" charset="0"/>
              <a:buNone/>
            </a:pPr>
            <a:r>
              <a:rPr lang="fr-FR" sz="1400" b="1"/>
              <a:t>Cas d’usage à tester</a:t>
            </a:r>
          </a:p>
          <a:p>
            <a:pPr marL="0" lvl="1" indent="0">
              <a:buFont typeface="Arial" panose="020B0604020202020204" pitchFamily="34" charset="0"/>
              <a:buNone/>
            </a:pPr>
            <a:r>
              <a:rPr lang="fr-FR" sz="1400"/>
              <a:t>Le focus est mis sur un cas pratique d’IA à tester dès demain, favorisant une approche concrète et pragmatique.</a:t>
            </a:r>
          </a:p>
        </p:txBody>
      </p:sp>
    </p:spTree>
    <p:extLst>
      <p:ext uri="{BB962C8B-B14F-4D97-AF65-F5344CB8AC3E}">
        <p14:creationId xmlns:p14="http://schemas.microsoft.com/office/powerpoint/2010/main" val="31236457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Thème Office">
  <a:themeElements>
    <a:clrScheme name="Charte ATP 2025">
      <a:dk1>
        <a:sysClr val="windowText" lastClr="000000"/>
      </a:dk1>
      <a:lt1>
        <a:sysClr val="window" lastClr="FFFFFF"/>
      </a:lt1>
      <a:dk2>
        <a:srgbClr val="0E2841"/>
      </a:dk2>
      <a:lt2>
        <a:srgbClr val="E8E8E8"/>
      </a:lt2>
      <a:accent1>
        <a:srgbClr val="1A163C"/>
      </a:accent1>
      <a:accent2>
        <a:srgbClr val="E10980"/>
      </a:accent2>
      <a:accent3>
        <a:srgbClr val="59B7C8"/>
      </a:accent3>
      <a:accent4>
        <a:srgbClr val="F1B622"/>
      </a:accent4>
      <a:accent5>
        <a:srgbClr val="EE0004"/>
      </a:accent5>
      <a:accent6>
        <a:srgbClr val="5B7811"/>
      </a:accent6>
      <a:hlink>
        <a:srgbClr val="B6F122"/>
      </a:hlink>
      <a:folHlink>
        <a:srgbClr val="5B1178"/>
      </a:folHlink>
    </a:clrScheme>
    <a:fontScheme name="Charte ATP 2025">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ésentation1" id="{8AFD8D86-62B0-4B6F-90C9-32867FA83186}" vid="{9C85EC64-B61D-42B6-B70D-6822467BC82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c97064c-372a-491a-a35c-80defe6c5d61" xsi:nil="true"/>
    <lcf76f155ced4ddcb4097134ff3c332f xmlns="3b51226a-ccd7-479b-b864-35c86fdd26d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68531E29B03AF498D5CD77E1A078007" ma:contentTypeVersion="11" ma:contentTypeDescription="Crée un document." ma:contentTypeScope="" ma:versionID="131cf96fea8f38b7e6d44f889d8c3e6b">
  <xsd:schema xmlns:xsd="http://www.w3.org/2001/XMLSchema" xmlns:xs="http://www.w3.org/2001/XMLSchema" xmlns:p="http://schemas.microsoft.com/office/2006/metadata/properties" xmlns:ns2="3b51226a-ccd7-479b-b864-35c86fdd26d6" xmlns:ns3="dc97064c-372a-491a-a35c-80defe6c5d61" targetNamespace="http://schemas.microsoft.com/office/2006/metadata/properties" ma:root="true" ma:fieldsID="d6bc87cdf574719f7d8fb4282c1cc275" ns2:_="" ns3:_="">
    <xsd:import namespace="3b51226a-ccd7-479b-b864-35c86fdd26d6"/>
    <xsd:import namespace="dc97064c-372a-491a-a35c-80defe6c5d6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51226a-ccd7-479b-b864-35c86fdd26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66524dec-72e0-444b-8aad-8d36ad6c521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c97064c-372a-491a-a35c-80defe6c5d6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1110f09-717f-4360-b161-5f17080881f2}" ma:internalName="TaxCatchAll" ma:showField="CatchAllData" ma:web="dc97064c-372a-491a-a35c-80defe6c5d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1E8765-F46A-422E-977F-9D682FF34BC3}">
  <ds:schemaRefs>
    <ds:schemaRef ds:uri="http://schemas.microsoft.com/office/2006/metadata/properties"/>
    <ds:schemaRef ds:uri="http://schemas.microsoft.com/office/infopath/2007/PartnerControls"/>
    <ds:schemaRef ds:uri="dc97064c-372a-491a-a35c-80defe6c5d61"/>
    <ds:schemaRef ds:uri="3b51226a-ccd7-479b-b864-35c86fdd26d6"/>
  </ds:schemaRefs>
</ds:datastoreItem>
</file>

<file path=customXml/itemProps2.xml><?xml version="1.0" encoding="utf-8"?>
<ds:datastoreItem xmlns:ds="http://schemas.openxmlformats.org/officeDocument/2006/customXml" ds:itemID="{C6CB608C-5D07-4ED0-BA14-39C2B55DA02C}">
  <ds:schemaRefs>
    <ds:schemaRef ds:uri="http://schemas.microsoft.com/sharepoint/v3/contenttype/forms"/>
  </ds:schemaRefs>
</ds:datastoreItem>
</file>

<file path=customXml/itemProps3.xml><?xml version="1.0" encoding="utf-8"?>
<ds:datastoreItem xmlns:ds="http://schemas.openxmlformats.org/officeDocument/2006/customXml" ds:itemID="{40A9D005-19F9-4884-8857-93DC526694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51226a-ccd7-479b-b864-35c86fdd26d6"/>
    <ds:schemaRef ds:uri="dc97064c-372a-491a-a35c-80defe6c5d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4370</Words>
  <Application>Microsoft Office PowerPoint</Application>
  <PresentationFormat>Grand écran</PresentationFormat>
  <Paragraphs>201</Paragraphs>
  <Slides>30</Slides>
  <Notes>30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30</vt:i4>
      </vt:variant>
    </vt:vector>
  </HeadingPairs>
  <TitlesOfParts>
    <vt:vector size="35" baseType="lpstr">
      <vt:lpstr>Arial</vt:lpstr>
      <vt:lpstr>Calibri</vt:lpstr>
      <vt:lpstr>Segoe UI</vt:lpstr>
      <vt:lpstr>Segoe UI Semibold</vt:lpstr>
      <vt:lpstr>Thème Office</vt:lpstr>
      <vt:lpstr>Présentation dynamique des cas d’usage de l’IA en environnement professionnel</vt:lpstr>
      <vt:lpstr>Plan de la présentation</vt:lpstr>
      <vt:lpstr>Objectif pédagogique et introduction aux cas d’usage</vt:lpstr>
      <vt:lpstr>Objectif de la formation : stimuler l’identification d’usages pertinents de l’IA</vt:lpstr>
      <vt:lpstr>Scénario 1 : Exploiter un rapport PDF complexe avec l’IA</vt:lpstr>
      <vt:lpstr>Contexte et mission : transformer un rapport PDF en tableau synthétique</vt:lpstr>
      <vt:lpstr>Questions guide : prompt, outils, limites et vérifications</vt:lpstr>
      <vt:lpstr>Scénario 2 : Rédiger un mail efficace grâce à l’IA</vt:lpstr>
      <vt:lpstr>Contexte et mission : relancer un interlocuteur avec un message structuré</vt:lpstr>
      <vt:lpstr>Questions guide : personnalisation, contrôle de la formulation, interdits</vt:lpstr>
      <vt:lpstr>Scénario 4 : Créer un contenu à forte valeur ajoutée avec l’IA</vt:lpstr>
      <vt:lpstr>Contexte et mission : publication LinkedIn ou newsletter optimisée</vt:lpstr>
      <vt:lpstr>Questions guide : mots-clés, ton/style, délégation de la création</vt:lpstr>
      <vt:lpstr>Scénario 5 : Sécuriser une infographie générée par l’IA</vt:lpstr>
      <vt:lpstr>Contexte et mission : vérifier un livrable IA avant envoi</vt:lpstr>
      <vt:lpstr>Questions guide : limites franchies, éléments humains, règles internes</vt:lpstr>
      <vt:lpstr>Se faire coacher par l’IA : posture professionnelle et limites</vt:lpstr>
      <vt:lpstr>Contexte, tâche et objectif : IA comme coach ou simulateur</vt:lpstr>
      <vt:lpstr>Débrief : confiance, limites éthiques et RH</vt:lpstr>
      <vt:lpstr>Atelier bac à sable : imaginer un cas d’usage IA</vt:lpstr>
      <vt:lpstr>Contexte, tâche et objectif : co-construction d’idées d’usage IA</vt:lpstr>
      <vt:lpstr>Débrief : vote collectif, pitch, registre IA ou plan d’expérimentation</vt:lpstr>
      <vt:lpstr>Créer un support rapidement avec l’IA</vt:lpstr>
      <vt:lpstr>Contexte, tâche et objectif : création de support en 20 minutes</vt:lpstr>
      <vt:lpstr>Débrief : automatisation vs qualité</vt:lpstr>
      <vt:lpstr>Réécrire pour mieux communiquer grâce à l’IA</vt:lpstr>
      <vt:lpstr>Contexte, tâche et objectif : reformulation de messages sensibles</vt:lpstr>
      <vt:lpstr>Débrief : ton adapté, risques et limites des propositions IA</vt:lpstr>
      <vt:lpstr>Restitution possible : présentation flash</vt:lpstr>
      <vt:lpstr>Présentation flash : “Mon cas d’usage IA à tester demain”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Cyril Vincent</cp:lastModifiedBy>
  <cp:revision>7</cp:revision>
  <dcterms:created xsi:type="dcterms:W3CDTF">2025-09-16T13:08:14Z</dcterms:created>
  <dcterms:modified xsi:type="dcterms:W3CDTF">2026-04-08T14:57:49Z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0x010100868531E29B03AF498D5CD77E1A078007</vt:lpwstr>
  </property>
</Properties>
</file>