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81" r:id="rId9"/>
    <p:sldId id="273" r:id="rId10"/>
    <p:sldId id="276" r:id="rId11"/>
    <p:sldId id="275" r:id="rId12"/>
    <p:sldId id="283" r:id="rId13"/>
    <p:sldId id="284" r:id="rId14"/>
    <p:sldId id="285" r:id="rId15"/>
    <p:sldId id="304" r:id="rId16"/>
    <p:sldId id="282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python.org/en/latest/esp32/quickref.html" TargetMode="External"/><Relationship Id="rId2" Type="http://schemas.openxmlformats.org/officeDocument/2006/relationships/hyperlink" Target="https://www.upesy.fr/blogs/tutorials/install-micropython-on-esp32-quickly-with-thonny-i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nadler86/micropython-camera-API/releas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MicroPython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une implémentation du langage de programmation libre, sous licence MIT, de Python, adapté au monde des microcontrôleurs</a:t>
            </a:r>
          </a:p>
          <a:p>
            <a:r>
              <a:rPr lang="fr-FR"/>
              <a:t>2012</a:t>
            </a:r>
            <a:endParaRPr lang="fr-FR" dirty="0"/>
          </a:p>
          <a:p>
            <a:r>
              <a:rPr lang="fr-FR" dirty="0"/>
              <a:t>Ecrit à l'origine pour les processeurs STM32</a:t>
            </a:r>
          </a:p>
          <a:p>
            <a:r>
              <a:rPr lang="fr-FR" dirty="0"/>
              <a:t>Fonctionne sur ESP8266, ESP32, </a:t>
            </a:r>
            <a:r>
              <a:rPr lang="fr-FR" dirty="0" err="1"/>
              <a:t>PyBoard</a:t>
            </a:r>
            <a:endParaRPr lang="fr-FR" dirty="0"/>
          </a:p>
          <a:p>
            <a:r>
              <a:rPr lang="fr-FR" dirty="0"/>
              <a:t>Nécessite 16Ko RAM</a:t>
            </a:r>
          </a:p>
          <a:p>
            <a:pPr lvl="1"/>
            <a:r>
              <a:rPr lang="fr-FR" dirty="0"/>
              <a:t>Le programme peut faire 256Ko</a:t>
            </a:r>
          </a:p>
          <a:p>
            <a:r>
              <a:rPr lang="fr-FR" dirty="0"/>
              <a:t>Code identique côté microcontrôleur et backend</a:t>
            </a:r>
          </a:p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40C65D-4E2D-80B8-63A6-8CC6D345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3209"/>
            <a:ext cx="882684" cy="87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3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5F17C-3969-E503-8E9F-414C9357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80ACD-2F1D-B260-B2B9-0A1F99ED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Très proche de Python</a:t>
            </a:r>
          </a:p>
          <a:p>
            <a:r>
              <a:rPr lang="fr-FR" dirty="0"/>
              <a:t>Pas de gestion de mémoire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Enormément de librairie</a:t>
            </a:r>
          </a:p>
          <a:p>
            <a:pPr lvl="1"/>
            <a:r>
              <a:rPr lang="fr-FR" dirty="0"/>
              <a:t>Compatible avec les librairies scientifiques et d'IA</a:t>
            </a:r>
          </a:p>
          <a:p>
            <a:r>
              <a:rPr lang="fr-FR" dirty="0"/>
              <a:t>Compatible avec les meilleurs IDE</a:t>
            </a:r>
          </a:p>
          <a:p>
            <a:pPr lvl="1"/>
            <a:r>
              <a:rPr lang="fr-FR" dirty="0" err="1"/>
              <a:t>PyCharm</a:t>
            </a:r>
            <a:r>
              <a:rPr lang="fr-FR" dirty="0"/>
              <a:t> ESP8266 mais pas en ESP32</a:t>
            </a:r>
          </a:p>
          <a:p>
            <a:pPr lvl="1"/>
            <a:r>
              <a:rPr lang="fr-FR" dirty="0" err="1"/>
              <a:t>VSCode</a:t>
            </a:r>
            <a:r>
              <a:rPr lang="fr-FR" dirty="0"/>
              <a:t> (difficile)</a:t>
            </a:r>
          </a:p>
          <a:p>
            <a:pPr lvl="1"/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Portable</a:t>
            </a:r>
          </a:p>
          <a:p>
            <a:pPr lvl="1"/>
            <a:r>
              <a:rPr lang="fr-FR" dirty="0"/>
              <a:t>ESP32 </a:t>
            </a:r>
            <a:r>
              <a:rPr lang="fr-FR" dirty="0">
                <a:sym typeface="Wingdings" panose="05000000000000000000" pitchFamily="2" charset="2"/>
              </a:rPr>
              <a:t> Arduino  RPI Pico  STM32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00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B01DA-E19B-53AF-4EEE-B9FFBC69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A784B-6455-DE7B-E6F5-5EBD2129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Nécessite + de RAM</a:t>
            </a:r>
          </a:p>
          <a:p>
            <a:pPr lvl="1"/>
            <a:r>
              <a:rPr lang="fr-FR" dirty="0"/>
              <a:t>Incompatible avec l'Arduino </a:t>
            </a:r>
            <a:r>
              <a:rPr lang="fr-FR" dirty="0" err="1"/>
              <a:t>Uno</a:t>
            </a:r>
            <a:endParaRPr lang="fr-FR" dirty="0"/>
          </a:p>
          <a:p>
            <a:r>
              <a:rPr lang="fr-FR" dirty="0"/>
              <a:t>Certains nouveaux standards peuvent prendre du temps à être implémenté en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Le vieux matériel est généralement non compatible</a:t>
            </a:r>
          </a:p>
        </p:txBody>
      </p:sp>
    </p:spTree>
    <p:extLst>
      <p:ext uri="{BB962C8B-B14F-4D97-AF65-F5344CB8AC3E}">
        <p14:creationId xmlns:p14="http://schemas.microsoft.com/office/powerpoint/2010/main" val="100732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E4C87-0C1C-B374-AC1C-4B57CAE3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vs </a:t>
            </a:r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78B8A-D382-4AEB-C50E-80E84798E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Allégement des modules</a:t>
            </a:r>
          </a:p>
          <a:p>
            <a:pPr lvl="1"/>
            <a:r>
              <a:rPr lang="fr-FR" dirty="0"/>
              <a:t>Pour tenir en mémoire </a:t>
            </a:r>
            <a:r>
              <a:rPr lang="fr-FR" dirty="0" err="1"/>
              <a:t>MicroPython</a:t>
            </a:r>
            <a:r>
              <a:rPr lang="fr-FR" dirty="0"/>
              <a:t> à enlever tout ce qui est gros</a:t>
            </a:r>
          </a:p>
          <a:p>
            <a:pPr lvl="1"/>
            <a:r>
              <a:rPr lang="fr-FR" dirty="0"/>
              <a:t>GUI, BD, OS, Sys, …</a:t>
            </a:r>
          </a:p>
          <a:p>
            <a:pPr lvl="1"/>
            <a:r>
              <a:rPr lang="fr-FR" dirty="0"/>
              <a:t>Pas de VM</a:t>
            </a:r>
          </a:p>
          <a:p>
            <a:pPr lvl="1"/>
            <a:r>
              <a:rPr lang="fr-FR" dirty="0"/>
              <a:t>OO moins puissant</a:t>
            </a:r>
          </a:p>
          <a:p>
            <a:r>
              <a:rPr lang="fr-FR" dirty="0"/>
              <a:t>Ajout GPIO et </a:t>
            </a:r>
            <a:r>
              <a:rPr lang="fr-FR" dirty="0" err="1"/>
              <a:t>PySerial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934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72B63-C1C9-7244-FC1D-6196540B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ESP32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68D067-0E20-F868-EEBB-3580D981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compatible Arduino IDE</a:t>
            </a:r>
          </a:p>
          <a:p>
            <a:r>
              <a:rPr lang="fr-FR" dirty="0" err="1"/>
              <a:t>Thonny</a:t>
            </a:r>
            <a:r>
              <a:rPr lang="fr-FR" dirty="0"/>
              <a:t> IDE</a:t>
            </a:r>
          </a:p>
          <a:p>
            <a:pPr lvl="1"/>
            <a:r>
              <a:rPr lang="fr-FR" dirty="0">
                <a:hlinkClick r:id="rId2"/>
              </a:rPr>
              <a:t>https://www.upesy.fr/blogs/tutorials/install-micropython-on-esp32-quickly-with-thonny-ide</a:t>
            </a:r>
            <a:endParaRPr lang="fr-FR" dirty="0"/>
          </a:p>
          <a:p>
            <a:r>
              <a:rPr lang="fr-FR" dirty="0"/>
              <a:t>Doc</a:t>
            </a:r>
            <a:endParaRPr lang="fr-FR" dirty="0">
              <a:hlinkClick r:id="rId3"/>
            </a:endParaRPr>
          </a:p>
          <a:p>
            <a:pPr lvl="1"/>
            <a:r>
              <a:rPr lang="fr-FR" dirty="0">
                <a:hlinkClick r:id="rId3"/>
              </a:rPr>
              <a:t>https://docs.micropython.org/en/latest/esp32/quickref.html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86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7AAD-65F9-466A-21D4-EE6749F2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27B06-6F5B-304B-865C-DA61BA7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Thonny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9D921A-28D7-1DF2-9198-2C99F1DB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1028" name="Picture 4" descr="installation de micropython sur l'ESP32 via Thonny IDE">
            <a:extLst>
              <a:ext uri="{FF2B5EF4-FFF2-40B4-BE49-F238E27FC236}">
                <a16:creationId xmlns:a16="http://schemas.microsoft.com/office/drawing/2014/main" id="{49E74112-6FE0-3A78-44E9-344A81BD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2" y="836712"/>
            <a:ext cx="7992888" cy="683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23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0A19A-5B31-30D9-E473-EF967113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BF268A-0A39-1F36-0D54-46F2235D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282534" cy="5040560"/>
          </a:xfrm>
        </p:spPr>
        <p:txBody>
          <a:bodyPr/>
          <a:lstStyle/>
          <a:p>
            <a:r>
              <a:rPr lang="fr-FR" sz="2400" dirty="0"/>
              <a:t>Cliquer sur Install or Update </a:t>
            </a:r>
            <a:r>
              <a:rPr lang="fr-FR" sz="2400" dirty="0" err="1"/>
              <a:t>MicroPython</a:t>
            </a:r>
            <a:r>
              <a:rPr lang="fr-FR" sz="2400" dirty="0"/>
              <a:t> (</a:t>
            </a:r>
            <a:r>
              <a:rPr lang="fr-FR" sz="2400" dirty="0" err="1"/>
              <a:t>esptool</a:t>
            </a:r>
            <a:r>
              <a:rPr lang="fr-FR" sz="2400" dirty="0"/>
              <a:t>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01C972-926F-CBB3-535B-57093F30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046" y="1412776"/>
            <a:ext cx="5681954" cy="54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1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F8D84-F4C4-B9C3-1254-74C9CDEB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5E759F3-B222-8B1B-D2E5-266A79BBF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932" y="1978382"/>
            <a:ext cx="6584136" cy="4759499"/>
          </a:xfr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11C61-FEB7-2227-3ECF-F7C1C0444E32}"/>
              </a:ext>
            </a:extLst>
          </p:cNvPr>
          <p:cNvSpPr txBox="1">
            <a:spLocks/>
          </p:cNvSpPr>
          <p:nvPr/>
        </p:nvSpPr>
        <p:spPr bwMode="auto">
          <a:xfrm>
            <a:off x="179512" y="1412776"/>
            <a:ext cx="8640959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kern="0" dirty="0"/>
              <a:t>Attention cette distribution n'utilise pas la PSRAM</a:t>
            </a:r>
          </a:p>
          <a:p>
            <a:pPr lvl="1"/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63509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0F8C-8302-F73F-971F-0CBE24ED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59DD2E-786F-905E-C265-D3DCD8F4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Read </a:t>
            </a:r>
            <a:r>
              <a:rPr lang="fr-FR" dirty="0" err="1"/>
              <a:t>Evaluate</a:t>
            </a:r>
            <a:r>
              <a:rPr lang="fr-FR" dirty="0"/>
              <a:t> </a:t>
            </a:r>
            <a:r>
              <a:rPr lang="fr-FR" dirty="0" err="1"/>
              <a:t>Print</a:t>
            </a:r>
            <a:r>
              <a:rPr lang="fr-FR" dirty="0"/>
              <a:t> Loop</a:t>
            </a:r>
          </a:p>
          <a:p>
            <a:pPr lvl="1"/>
            <a:r>
              <a:rPr lang="fr-FR" dirty="0"/>
              <a:t>Il s'agit du prompt </a:t>
            </a:r>
            <a:r>
              <a:rPr lang="fr-FR" dirty="0" err="1"/>
              <a:t>Micropython</a:t>
            </a:r>
            <a:r>
              <a:rPr lang="fr-FR" dirty="0"/>
              <a:t> accessible via </a:t>
            </a:r>
            <a:r>
              <a:rPr lang="fr-FR" dirty="0" err="1"/>
              <a:t>Thonny</a:t>
            </a:r>
            <a:endParaRPr lang="fr-FR" dirty="0"/>
          </a:p>
          <a:p>
            <a:pPr lvl="1"/>
            <a:r>
              <a:rPr lang="fr-FR" dirty="0"/>
              <a:t>Par défaut sur UART0 (</a:t>
            </a:r>
            <a:r>
              <a:rPr lang="fr-FR"/>
              <a:t>USB)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2C1E65-D65A-D4E4-3D1C-CC041DA5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761277"/>
            <a:ext cx="450595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4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AC0A7-215E-B9A6-C2C9-B1B3F264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Premier script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111A1A-96C5-E6D9-FEFC-FB0389310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814" y="2380240"/>
            <a:ext cx="4277322" cy="3105583"/>
          </a:xfrm>
        </p:spPr>
      </p:pic>
    </p:spTree>
    <p:extLst>
      <p:ext uri="{BB962C8B-B14F-4D97-AF65-F5344CB8AC3E}">
        <p14:creationId xmlns:p14="http://schemas.microsoft.com/office/powerpoint/2010/main" val="468157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0188F-5BB9-447B-3DD1-C92551FC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la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E44CBB-671D-0899-6715-EED35866E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ESP32 la RAM varie de 160Ko à 4Mo</a:t>
            </a:r>
          </a:p>
          <a:p>
            <a:r>
              <a:rPr lang="fr-FR" dirty="0" err="1"/>
              <a:t>MicroPython</a:t>
            </a:r>
            <a:r>
              <a:rPr lang="fr-FR" dirty="0"/>
              <a:t> prends 2Ko</a:t>
            </a:r>
          </a:p>
          <a:p>
            <a:pPr lvl="1"/>
            <a:r>
              <a:rPr lang="fr-FR" dirty="0"/>
              <a:t>Les librairies prennent entre 0.1 et plusieurs Ko</a:t>
            </a:r>
          </a:p>
          <a:p>
            <a:r>
              <a:rPr lang="fr-FR" dirty="0"/>
              <a:t>Contrairement à C++ la mémoire est managées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Gérer par les Garbage Collector</a:t>
            </a:r>
          </a:p>
          <a:p>
            <a:pPr lvl="1"/>
            <a:r>
              <a:rPr lang="fr-FR" dirty="0"/>
              <a:t>Module </a:t>
            </a:r>
            <a:r>
              <a:rPr lang="fr-FR" dirty="0" err="1"/>
              <a:t>gc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62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CE540-141B-C8F4-B202-4CE1FF6B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EFB9B4-CA92-E74D-6D3F-2EA77DCD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LE </a:t>
            </a:r>
            <a:r>
              <a:rPr lang="fr-FR" sz="2400" dirty="0" err="1"/>
              <a:t>garbage</a:t>
            </a:r>
            <a:r>
              <a:rPr lang="fr-FR" sz="2400" dirty="0"/>
              <a:t> collector libère automatiquement la mémoire</a:t>
            </a:r>
          </a:p>
          <a:p>
            <a:pPr lvl="1"/>
            <a:r>
              <a:rPr lang="fr-FR" sz="2000" dirty="0"/>
              <a:t>Variables locales</a:t>
            </a:r>
          </a:p>
          <a:p>
            <a:pPr lvl="1"/>
            <a:r>
              <a:rPr lang="fr-FR" sz="2000" dirty="0"/>
              <a:t>Pointeurs sur fichier avec le mot clé </a:t>
            </a:r>
            <a:r>
              <a:rPr lang="fr-FR" sz="2000" dirty="0" err="1"/>
              <a:t>with</a:t>
            </a:r>
            <a:endParaRPr lang="fr-FR" sz="2000" dirty="0"/>
          </a:p>
          <a:p>
            <a:pPr lvl="1"/>
            <a:r>
              <a:rPr lang="fr-FR" sz="2000" dirty="0"/>
              <a:t>Fonction après appel</a:t>
            </a:r>
          </a:p>
          <a:p>
            <a:r>
              <a:rPr lang="fr-FR" sz="2400" dirty="0"/>
              <a:t>Reste en mémoire</a:t>
            </a:r>
          </a:p>
          <a:p>
            <a:pPr lvl="1"/>
            <a:r>
              <a:rPr lang="fr-FR" sz="2000" dirty="0"/>
              <a:t>Les variables globales non effacée par </a:t>
            </a:r>
            <a:r>
              <a:rPr lang="fr-FR" sz="2000" dirty="0" err="1"/>
              <a:t>del</a:t>
            </a:r>
            <a:endParaRPr lang="fr-FR" sz="2000" dirty="0"/>
          </a:p>
          <a:p>
            <a:pPr lvl="1"/>
            <a:r>
              <a:rPr lang="fr-FR" sz="2000" dirty="0"/>
              <a:t>Les fonctions importées</a:t>
            </a:r>
          </a:p>
          <a:p>
            <a:pPr lvl="1"/>
            <a:r>
              <a:rPr lang="fr-FR" sz="2000" dirty="0"/>
              <a:t>Préférer </a:t>
            </a:r>
            <a:r>
              <a:rPr lang="fr-FR" sz="2000" dirty="0" err="1"/>
              <a:t>from</a:t>
            </a:r>
            <a:r>
              <a:rPr lang="fr-FR" sz="2000" dirty="0"/>
              <a:t> module import à import module pour les gros modules</a:t>
            </a:r>
          </a:p>
          <a:p>
            <a:pPr lvl="1"/>
            <a:r>
              <a:rPr lang="fr-FR" sz="2000" dirty="0"/>
              <a:t>Ne pas utiliser </a:t>
            </a:r>
            <a:r>
              <a:rPr lang="fr-FR" sz="2000" dirty="0" err="1"/>
              <a:t>from</a:t>
            </a:r>
            <a:r>
              <a:rPr lang="fr-FR" sz="2000" dirty="0"/>
              <a:t> module import *</a:t>
            </a:r>
          </a:p>
          <a:p>
            <a:pPr lvl="1"/>
            <a:r>
              <a:rPr lang="fr-FR" sz="2000" dirty="0"/>
              <a:t>Les variables statiques</a:t>
            </a:r>
          </a:p>
        </p:txBody>
      </p:sp>
    </p:spTree>
    <p:extLst>
      <p:ext uri="{BB962C8B-B14F-4D97-AF65-F5344CB8AC3E}">
        <p14:creationId xmlns:p14="http://schemas.microsoft.com/office/powerpoint/2010/main" val="4281156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68F72C-2050-1AB6-F3CD-913B6162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9EBEF-F66C-BA8C-6DA8-B805CD0A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mémoire n'est pas immédiatement libérée</a:t>
            </a:r>
          </a:p>
          <a:p>
            <a:pPr lvl="1"/>
            <a:r>
              <a:rPr lang="fr-FR" dirty="0"/>
              <a:t>Il peut se passer du temps entre la destruction d'une variable et la libération de la mémoire</a:t>
            </a:r>
          </a:p>
          <a:p>
            <a:r>
              <a:rPr lang="fr-FR" dirty="0"/>
              <a:t>Pour forcer la libération mémoire</a:t>
            </a:r>
          </a:p>
          <a:p>
            <a:pPr lvl="1"/>
            <a:r>
              <a:rPr lang="fr-FR" dirty="0" err="1"/>
              <a:t>gc.collect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get_mem_alloc</a:t>
            </a:r>
            <a:r>
              <a:rPr lang="fr-FR" dirty="0"/>
              <a:t>() pour connaitre la mémoire allouée</a:t>
            </a:r>
          </a:p>
          <a:p>
            <a:r>
              <a:rPr lang="fr-FR" dirty="0"/>
              <a:t>En cas de calcul intensif il est possible de désactiver le GC</a:t>
            </a:r>
          </a:p>
          <a:p>
            <a:pPr lvl="1"/>
            <a:r>
              <a:rPr lang="fr-FR" dirty="0" err="1"/>
              <a:t>gc.disable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Dans ce cas le </a:t>
            </a:r>
            <a:r>
              <a:rPr lang="fr-FR" dirty="0" err="1"/>
              <a:t>gc.collect</a:t>
            </a:r>
            <a:r>
              <a:rPr lang="fr-FR" dirty="0"/>
              <a:t>() doit être appelé manuellement</a:t>
            </a:r>
          </a:p>
          <a:p>
            <a:pPr lvl="1"/>
            <a:r>
              <a:rPr lang="fr-FR" dirty="0" err="1"/>
              <a:t>gc.enable</a:t>
            </a:r>
            <a:r>
              <a:rPr lang="fr-FR"/>
              <a:t>() réactive le GC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62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6C4FF-EE66-BD5A-09BA-71C1973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mpremote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85B37-677B-A86E-742A-0DEAC8A15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mpremote</a:t>
            </a:r>
            <a:r>
              <a:rPr lang="fr-FR" dirty="0"/>
              <a:t> est un outil pour copier des fichiers entre le PC et l'ESP32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mpremote</a:t>
            </a:r>
            <a:endParaRPr lang="fr-FR" dirty="0"/>
          </a:p>
          <a:p>
            <a:pPr lvl="1"/>
            <a:r>
              <a:rPr lang="fr-FR" dirty="0"/>
              <a:t>. = PC</a:t>
            </a:r>
          </a:p>
          <a:p>
            <a:pPr lvl="1"/>
            <a:r>
              <a:rPr lang="fr-FR" dirty="0"/>
              <a:t>: = ESP32</a:t>
            </a:r>
          </a:p>
          <a:p>
            <a:pPr lvl="1"/>
            <a:r>
              <a:rPr lang="fr-FR" dirty="0" err="1"/>
              <a:t>cp</a:t>
            </a:r>
            <a:r>
              <a:rPr lang="fr-FR"/>
              <a:t> ./file.csv :/</a:t>
            </a:r>
          </a:p>
          <a:p>
            <a:pPr lvl="1"/>
            <a:r>
              <a:rPr lang="fr-FR" dirty="0" err="1"/>
              <a:t>cp</a:t>
            </a:r>
            <a:r>
              <a:rPr lang="fr-FR" dirty="0"/>
              <a:t> -r :/ ./backup/</a:t>
            </a:r>
          </a:p>
        </p:txBody>
      </p:sp>
    </p:spTree>
    <p:extLst>
      <p:ext uri="{BB962C8B-B14F-4D97-AF65-F5344CB8AC3E}">
        <p14:creationId xmlns:p14="http://schemas.microsoft.com/office/powerpoint/2010/main" val="174071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8820B-500C-B130-02A6-A31EB0DF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8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A2D23-D785-6C87-CD0D-E24D1B328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et tester </a:t>
            </a:r>
            <a:r>
              <a:rPr lang="fr-FR" dirty="0" err="1"/>
              <a:t>MicroPython</a:t>
            </a:r>
            <a:r>
              <a:rPr lang="fr-FR" dirty="0"/>
              <a:t> avec </a:t>
            </a:r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Nous utilisons des ESP32 </a:t>
            </a:r>
            <a:r>
              <a:rPr lang="fr-FR" dirty="0" err="1"/>
              <a:t>Wrover</a:t>
            </a:r>
            <a:r>
              <a:rPr lang="fr-FR" dirty="0"/>
              <a:t> avec </a:t>
            </a:r>
            <a:r>
              <a:rPr lang="fr-FR" dirty="0" err="1"/>
              <a:t>Spiram</a:t>
            </a:r>
            <a:r>
              <a:rPr lang="fr-FR" dirty="0"/>
              <a:t> et Camera</a:t>
            </a:r>
          </a:p>
          <a:p>
            <a:pPr lvl="1"/>
            <a:r>
              <a:rPr lang="fr-FR" dirty="0"/>
              <a:t>Ne pas utiliser le .bin natif de </a:t>
            </a:r>
            <a:r>
              <a:rPr lang="fr-FR" dirty="0" err="1"/>
              <a:t>Thonny</a:t>
            </a:r>
            <a:r>
              <a:rPr lang="fr-FR" dirty="0"/>
              <a:t> est </a:t>
            </a:r>
            <a:r>
              <a:rPr lang="fr-FR" dirty="0" err="1"/>
              <a:t>est</a:t>
            </a:r>
            <a:r>
              <a:rPr lang="fr-FR" dirty="0"/>
              <a:t> pour les ESP32 </a:t>
            </a:r>
            <a:r>
              <a:rPr lang="fr-FR" dirty="0" err="1"/>
              <a:t>Wroomer</a:t>
            </a:r>
            <a:r>
              <a:rPr lang="fr-FR" dirty="0"/>
              <a:t> sans </a:t>
            </a:r>
            <a:r>
              <a:rPr lang="fr-FR" dirty="0" err="1"/>
              <a:t>Spiram</a:t>
            </a:r>
            <a:endParaRPr lang="fr-FR" dirty="0"/>
          </a:p>
          <a:p>
            <a:pPr lvl="1"/>
            <a:r>
              <a:rPr lang="fr-FR" dirty="0"/>
              <a:t>Drivers : </a:t>
            </a:r>
            <a:r>
              <a:rPr lang="fr-FR" dirty="0">
                <a:hlinkClick r:id="rId2"/>
              </a:rPr>
              <a:t>https://github.com/cnadler86/micropython-camera-API/releases</a:t>
            </a:r>
            <a:endParaRPr lang="fr-FR" dirty="0"/>
          </a:p>
          <a:p>
            <a:pPr lvl="1"/>
            <a:r>
              <a:rPr lang="fr-FR"/>
              <a:t>mpy_cam-v1.27.0-ESP32_GENERIC-SPIRAM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819102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2955</TotalTime>
  <Words>512</Words>
  <Application>Microsoft Office PowerPoint</Application>
  <PresentationFormat>Affichage à l'écran (4:3)</PresentationFormat>
  <Paragraphs>92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Monotype Sorts</vt:lpstr>
      <vt:lpstr>Times New Roman</vt:lpstr>
      <vt:lpstr>Wingdings</vt:lpstr>
      <vt:lpstr>cvc</vt:lpstr>
      <vt:lpstr>Présentation PowerPoint</vt:lpstr>
      <vt:lpstr>MicroPython</vt:lpstr>
      <vt:lpstr>Avantages</vt:lpstr>
      <vt:lpstr>Inconvénients</vt:lpstr>
      <vt:lpstr>Python vs MicroPython</vt:lpstr>
      <vt:lpstr>ESP32</vt:lpstr>
      <vt:lpstr>Thonny</vt:lpstr>
      <vt:lpstr>Installation détaillée</vt:lpstr>
      <vt:lpstr>Installation détaillée</vt:lpstr>
      <vt:lpstr>REPL</vt:lpstr>
      <vt:lpstr>Premier script</vt:lpstr>
      <vt:lpstr>Gestion de la RAM</vt:lpstr>
      <vt:lpstr>GC</vt:lpstr>
      <vt:lpstr>GC</vt:lpstr>
      <vt:lpstr>mpremote</vt:lpstr>
      <vt:lpstr>TP 8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239</cp:revision>
  <dcterms:created xsi:type="dcterms:W3CDTF">2000-04-10T19:33:12Z</dcterms:created>
  <dcterms:modified xsi:type="dcterms:W3CDTF">2026-06-10T10:59:10Z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