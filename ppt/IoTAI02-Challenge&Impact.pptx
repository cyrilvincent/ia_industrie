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1"/>
  </p:notesMasterIdLst>
  <p:handoutMasterIdLst>
    <p:handoutMasterId r:id="rId12"/>
  </p:handoutMasterIdLst>
  <p:sldIdLst>
    <p:sldId id="264" r:id="rId2"/>
    <p:sldId id="299" r:id="rId3"/>
    <p:sldId id="300" r:id="rId4"/>
    <p:sldId id="301" r:id="rId5"/>
    <p:sldId id="304" r:id="rId6"/>
    <p:sldId id="306" r:id="rId7"/>
    <p:sldId id="307" r:id="rId8"/>
    <p:sldId id="308" r:id="rId9"/>
    <p:sldId id="309" r:id="rId10"/>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8" d="100"/>
          <a:sy n="78"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err="1"/>
              <a:t>IoT</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371600" y="1628800"/>
            <a:ext cx="6400800" cy="4010000"/>
          </a:xfrm>
        </p:spPr>
        <p:txBody>
          <a:bodyPr/>
          <a:lstStyle/>
          <a:p>
            <a:pPr eaLnBrk="1" hangingPunct="1"/>
            <a:r>
              <a:rPr lang="fr-FR" altLang="fr-FR" dirty="0" err="1"/>
              <a:t>IoT</a:t>
            </a:r>
            <a:endParaRPr lang="fr-FR" altLang="fr-FR" dirty="0"/>
          </a:p>
          <a:p>
            <a:pPr eaLnBrk="1" hangingPunct="1"/>
            <a:endParaRPr lang="fr-FR" altLang="fr-FR" dirty="0"/>
          </a:p>
          <a:p>
            <a:endParaRPr lang="fr-FR" dirty="0"/>
          </a:p>
          <a:p>
            <a:r>
              <a:rPr lang="fr-FR" dirty="0"/>
              <a:t> </a:t>
            </a:r>
            <a:r>
              <a:rPr lang="fr-FR" b="1" dirty="0"/>
              <a:t>Enjeux, impacts</a:t>
            </a:r>
            <a:endParaRPr lang="fr-FR" alt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2EFDA7-2C06-F1C4-68E6-45D34EDE40CF}"/>
              </a:ext>
            </a:extLst>
          </p:cNvPr>
          <p:cNvSpPr>
            <a:spLocks noGrp="1"/>
          </p:cNvSpPr>
          <p:nvPr>
            <p:ph type="title"/>
          </p:nvPr>
        </p:nvSpPr>
        <p:spPr/>
        <p:txBody>
          <a:bodyPr/>
          <a:lstStyle/>
          <a:p>
            <a:r>
              <a:rPr lang="fr-FR" dirty="0" err="1"/>
              <a:t>Micro-contrôleurs</a:t>
            </a:r>
            <a:endParaRPr lang="fr-FR" dirty="0"/>
          </a:p>
        </p:txBody>
      </p:sp>
      <p:sp>
        <p:nvSpPr>
          <p:cNvPr id="3" name="Espace réservé du contenu 2">
            <a:extLst>
              <a:ext uri="{FF2B5EF4-FFF2-40B4-BE49-F238E27FC236}">
                <a16:creationId xmlns:a16="http://schemas.microsoft.com/office/drawing/2014/main" id="{0EFF3AC7-0912-7616-799B-AC3BBB7876FE}"/>
              </a:ext>
            </a:extLst>
          </p:cNvPr>
          <p:cNvSpPr>
            <a:spLocks noGrp="1"/>
          </p:cNvSpPr>
          <p:nvPr>
            <p:ph idx="1"/>
          </p:nvPr>
        </p:nvSpPr>
        <p:spPr/>
        <p:txBody>
          <a:bodyPr/>
          <a:lstStyle/>
          <a:p>
            <a:r>
              <a:rPr lang="fr-FR" sz="2000" dirty="0"/>
              <a:t>Les microcontrôleurs sont généralement de petits appareils informatiques à faible puissance qui sont intégrés dans du matériel qui nécessite des calculs de base</a:t>
            </a:r>
          </a:p>
          <a:p>
            <a:r>
              <a:rPr lang="fr-FR" sz="2000" dirty="0"/>
              <a:t>Le fait d'exécuter le machine </a:t>
            </a:r>
            <a:r>
              <a:rPr lang="fr-FR" sz="2000" dirty="0" err="1"/>
              <a:t>learning</a:t>
            </a:r>
            <a:r>
              <a:rPr lang="fr-FR" sz="2000" dirty="0"/>
              <a:t> sur de très petits microcontrôleurs nous permet d'augmenter l'intelligence de milliards d'appareils utilisés au quotidien, comme des appareils électroménagers et des appareils IoT, sans être tributaires de matériel Internet onéreux ou de la fiabilité des connexions, deux facteurs qui sont souvent soumis à des contraintes de bande passante et de puissance, et qui entraînent une latence élevée</a:t>
            </a:r>
          </a:p>
          <a:p>
            <a:r>
              <a:rPr lang="fr-FR" sz="2000" dirty="0"/>
              <a:t>Cela contribue également à protéger la vie privée, dans la mesure où toutes les données restent sur l'appareil</a:t>
            </a:r>
          </a:p>
          <a:p>
            <a:r>
              <a:rPr lang="fr-FR" sz="2000" dirty="0"/>
              <a:t>Imaginez des appareils électroménagers connectés capables de s'adapter à vos habitudes quotidiennes, des capteurs industriels intelligents capables de faire la différence entre un problème et un fonctionnement normal, ou encore des jouets magiques qui aident les enfants à apprendre tout en s'amusant.</a:t>
            </a:r>
          </a:p>
        </p:txBody>
      </p:sp>
    </p:spTree>
    <p:extLst>
      <p:ext uri="{BB962C8B-B14F-4D97-AF65-F5344CB8AC3E}">
        <p14:creationId xmlns:p14="http://schemas.microsoft.com/office/powerpoint/2010/main" val="2856701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F6230C-D225-47ED-751A-19233568245E}"/>
              </a:ext>
            </a:extLst>
          </p:cNvPr>
          <p:cNvSpPr>
            <a:spLocks noGrp="1"/>
          </p:cNvSpPr>
          <p:nvPr>
            <p:ph type="title"/>
          </p:nvPr>
        </p:nvSpPr>
        <p:spPr/>
        <p:txBody>
          <a:bodyPr/>
          <a:lstStyle/>
          <a:p>
            <a:r>
              <a:rPr lang="fr-FR" dirty="0"/>
              <a:t>Enjeux</a:t>
            </a:r>
          </a:p>
        </p:txBody>
      </p:sp>
      <p:sp>
        <p:nvSpPr>
          <p:cNvPr id="3" name="Espace réservé du contenu 2">
            <a:extLst>
              <a:ext uri="{FF2B5EF4-FFF2-40B4-BE49-F238E27FC236}">
                <a16:creationId xmlns:a16="http://schemas.microsoft.com/office/drawing/2014/main" id="{93CA5798-788E-0A24-A6F2-1F37B4B83C08}"/>
              </a:ext>
            </a:extLst>
          </p:cNvPr>
          <p:cNvSpPr>
            <a:spLocks noGrp="1"/>
          </p:cNvSpPr>
          <p:nvPr>
            <p:ph idx="1"/>
          </p:nvPr>
        </p:nvSpPr>
        <p:spPr/>
        <p:txBody>
          <a:bodyPr/>
          <a:lstStyle/>
          <a:p>
            <a:r>
              <a:rPr lang="fr-FR" dirty="0"/>
              <a:t>Enjeux, impacts sur les marchés, applications et services</a:t>
            </a:r>
          </a:p>
          <a:p>
            <a:r>
              <a:rPr lang="fr-FR" dirty="0"/>
              <a:t>Quel avenir pour l’Internet des objets ?</a:t>
            </a:r>
          </a:p>
        </p:txBody>
      </p:sp>
    </p:spTree>
    <p:extLst>
      <p:ext uri="{BB962C8B-B14F-4D97-AF65-F5344CB8AC3E}">
        <p14:creationId xmlns:p14="http://schemas.microsoft.com/office/powerpoint/2010/main" val="1313199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807CDA-49CF-F5AC-D6E5-734345EDE1E1}"/>
              </a:ext>
            </a:extLst>
          </p:cNvPr>
          <p:cNvSpPr>
            <a:spLocks noGrp="1"/>
          </p:cNvSpPr>
          <p:nvPr>
            <p:ph type="title"/>
          </p:nvPr>
        </p:nvSpPr>
        <p:spPr/>
        <p:txBody>
          <a:bodyPr/>
          <a:lstStyle/>
          <a:p>
            <a:r>
              <a:rPr lang="fr-FR" dirty="0"/>
              <a:t>Évolution vers des offres orientées services</a:t>
            </a:r>
          </a:p>
        </p:txBody>
      </p:sp>
      <p:sp>
        <p:nvSpPr>
          <p:cNvPr id="3" name="Espace réservé du contenu 2">
            <a:extLst>
              <a:ext uri="{FF2B5EF4-FFF2-40B4-BE49-F238E27FC236}">
                <a16:creationId xmlns:a16="http://schemas.microsoft.com/office/drawing/2014/main" id="{19AE8E87-FD19-C441-AC9C-3840C29EA692}"/>
              </a:ext>
            </a:extLst>
          </p:cNvPr>
          <p:cNvSpPr>
            <a:spLocks noGrp="1"/>
          </p:cNvSpPr>
          <p:nvPr>
            <p:ph idx="1"/>
          </p:nvPr>
        </p:nvSpPr>
        <p:spPr/>
        <p:txBody>
          <a:bodyPr/>
          <a:lstStyle/>
          <a:p>
            <a:r>
              <a:rPr lang="fr-FR" dirty="0"/>
              <a:t>L’IoT transforme les modèles économiques traditionnels en favorisant une logique de service plutôt que de simple produit</a:t>
            </a:r>
          </a:p>
          <a:p>
            <a:r>
              <a:rPr lang="fr-FR" dirty="0"/>
              <a:t>Les données collectées par les objets connectés permettent</a:t>
            </a:r>
          </a:p>
          <a:p>
            <a:pPr lvl="1"/>
            <a:r>
              <a:rPr lang="fr-FR" dirty="0"/>
              <a:t>Maintenance prédictive : anticiper les pannes et proposer des contrats de maintenance basés sur l’usage réel</a:t>
            </a:r>
          </a:p>
          <a:p>
            <a:pPr lvl="1"/>
            <a:r>
              <a:rPr lang="fr-FR" dirty="0"/>
              <a:t>Offres personnalisées : ajuster les services en fonction des comportements des clients</a:t>
            </a:r>
          </a:p>
          <a:p>
            <a:pPr lvl="1"/>
            <a:r>
              <a:rPr lang="fr-FR" dirty="0"/>
              <a:t>Abonnements et facturation à l’usage : nouveaux modèles récurrents pour générer des revenus stables.</a:t>
            </a:r>
          </a:p>
        </p:txBody>
      </p:sp>
    </p:spTree>
    <p:extLst>
      <p:ext uri="{BB962C8B-B14F-4D97-AF65-F5344CB8AC3E}">
        <p14:creationId xmlns:p14="http://schemas.microsoft.com/office/powerpoint/2010/main" val="2194675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5A2354-6938-01D2-DBCD-715999D34831}"/>
              </a:ext>
            </a:extLst>
          </p:cNvPr>
          <p:cNvSpPr>
            <a:spLocks noGrp="1"/>
          </p:cNvSpPr>
          <p:nvPr>
            <p:ph type="title"/>
          </p:nvPr>
        </p:nvSpPr>
        <p:spPr/>
        <p:txBody>
          <a:bodyPr/>
          <a:lstStyle/>
          <a:p>
            <a:r>
              <a:rPr lang="fr-FR" dirty="0"/>
              <a:t>Nouveaux secteurs et opportunités</a:t>
            </a:r>
          </a:p>
        </p:txBody>
      </p:sp>
      <p:sp>
        <p:nvSpPr>
          <p:cNvPr id="3" name="Espace réservé du contenu 2">
            <a:extLst>
              <a:ext uri="{FF2B5EF4-FFF2-40B4-BE49-F238E27FC236}">
                <a16:creationId xmlns:a16="http://schemas.microsoft.com/office/drawing/2014/main" id="{9D9DB59B-391A-0FBB-39D2-59C172EDE5D7}"/>
              </a:ext>
            </a:extLst>
          </p:cNvPr>
          <p:cNvSpPr>
            <a:spLocks noGrp="1"/>
          </p:cNvSpPr>
          <p:nvPr>
            <p:ph idx="1"/>
          </p:nvPr>
        </p:nvSpPr>
        <p:spPr/>
        <p:txBody>
          <a:bodyPr/>
          <a:lstStyle/>
          <a:p>
            <a:r>
              <a:rPr lang="fr-FR" dirty="0"/>
              <a:t>Industrie</a:t>
            </a:r>
          </a:p>
          <a:p>
            <a:pPr lvl="1"/>
            <a:r>
              <a:rPr lang="fr-FR" dirty="0"/>
              <a:t>optimisation des chaînes d’approvisionnement, réduction des temps d’arrêt, automatisation</a:t>
            </a:r>
          </a:p>
          <a:p>
            <a:r>
              <a:rPr lang="fr-FR" dirty="0"/>
              <a:t>Santé</a:t>
            </a:r>
          </a:p>
          <a:p>
            <a:pPr lvl="1"/>
            <a:r>
              <a:rPr lang="fr-FR" dirty="0"/>
              <a:t>suivi à distance, dispositifs médicaux connectés</a:t>
            </a:r>
          </a:p>
          <a:p>
            <a:r>
              <a:rPr lang="fr-FR" dirty="0"/>
              <a:t>Smart Cities</a:t>
            </a:r>
          </a:p>
          <a:p>
            <a:pPr lvl="1"/>
            <a:r>
              <a:rPr lang="fr-FR" dirty="0"/>
              <a:t>gestion intelligente des infrastructures (éclairage, parkings, énergie)</a:t>
            </a:r>
          </a:p>
          <a:p>
            <a:r>
              <a:rPr lang="fr-FR" dirty="0"/>
              <a:t>Agriculture</a:t>
            </a:r>
          </a:p>
          <a:p>
            <a:pPr lvl="1"/>
            <a:r>
              <a:rPr lang="fr-FR" dirty="0"/>
              <a:t>irrigation intelligente, réduction des déchets</a:t>
            </a:r>
          </a:p>
        </p:txBody>
      </p:sp>
    </p:spTree>
    <p:extLst>
      <p:ext uri="{BB962C8B-B14F-4D97-AF65-F5344CB8AC3E}">
        <p14:creationId xmlns:p14="http://schemas.microsoft.com/office/powerpoint/2010/main" val="1953114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5D24EA-24FE-1364-5834-84B970321F89}"/>
              </a:ext>
            </a:extLst>
          </p:cNvPr>
          <p:cNvSpPr>
            <a:spLocks noGrp="1"/>
          </p:cNvSpPr>
          <p:nvPr>
            <p:ph type="title"/>
          </p:nvPr>
        </p:nvSpPr>
        <p:spPr/>
        <p:txBody>
          <a:bodyPr/>
          <a:lstStyle/>
          <a:p>
            <a:r>
              <a:rPr lang="fr-FR" dirty="0"/>
              <a:t>Tendances clés pour 2027</a:t>
            </a:r>
          </a:p>
        </p:txBody>
      </p:sp>
      <p:sp>
        <p:nvSpPr>
          <p:cNvPr id="3" name="Espace réservé du contenu 2">
            <a:extLst>
              <a:ext uri="{FF2B5EF4-FFF2-40B4-BE49-F238E27FC236}">
                <a16:creationId xmlns:a16="http://schemas.microsoft.com/office/drawing/2014/main" id="{69A3965C-4C5A-C5F9-2155-36F8899E172B}"/>
              </a:ext>
            </a:extLst>
          </p:cNvPr>
          <p:cNvSpPr>
            <a:spLocks noGrp="1"/>
          </p:cNvSpPr>
          <p:nvPr>
            <p:ph idx="1"/>
          </p:nvPr>
        </p:nvSpPr>
        <p:spPr/>
        <p:txBody>
          <a:bodyPr/>
          <a:lstStyle/>
          <a:p>
            <a:r>
              <a:rPr lang="fr-FR" dirty="0" err="1"/>
              <a:t>AIoT</a:t>
            </a:r>
            <a:r>
              <a:rPr lang="fr-FR" dirty="0"/>
              <a:t> (IA + IoT)</a:t>
            </a:r>
          </a:p>
          <a:p>
            <a:pPr lvl="1"/>
            <a:r>
              <a:rPr lang="fr-FR" dirty="0"/>
              <a:t>objets capables de décisions autonomes</a:t>
            </a:r>
          </a:p>
          <a:p>
            <a:r>
              <a:rPr lang="fr-FR" dirty="0"/>
              <a:t>Edge </a:t>
            </a:r>
            <a:r>
              <a:rPr lang="fr-FR" dirty="0" err="1"/>
              <a:t>Computing</a:t>
            </a:r>
            <a:endParaRPr lang="fr-FR" dirty="0"/>
          </a:p>
          <a:p>
            <a:pPr lvl="1"/>
            <a:r>
              <a:rPr lang="fr-FR" dirty="0"/>
              <a:t>traitement local pour réduire la latence</a:t>
            </a:r>
          </a:p>
          <a:p>
            <a:r>
              <a:rPr lang="fr-FR" dirty="0"/>
              <a:t>5G et LPWAN</a:t>
            </a:r>
          </a:p>
          <a:p>
            <a:pPr lvl="1"/>
            <a:r>
              <a:rPr lang="fr-FR" dirty="0"/>
              <a:t>connectivité renforcée pour des applications critiques</a:t>
            </a:r>
          </a:p>
          <a:p>
            <a:r>
              <a:rPr lang="fr-FR" dirty="0"/>
              <a:t>Durabilité</a:t>
            </a:r>
          </a:p>
          <a:p>
            <a:pPr lvl="1"/>
            <a:r>
              <a:rPr lang="fr-FR" dirty="0"/>
              <a:t>solutions IoT pour réduire l’empreinte énergétique</a:t>
            </a:r>
          </a:p>
        </p:txBody>
      </p:sp>
    </p:spTree>
    <p:extLst>
      <p:ext uri="{BB962C8B-B14F-4D97-AF65-F5344CB8AC3E}">
        <p14:creationId xmlns:p14="http://schemas.microsoft.com/office/powerpoint/2010/main" val="2764655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1CBF23-324E-CE2C-ECCE-B51B9C3B588A}"/>
              </a:ext>
            </a:extLst>
          </p:cNvPr>
          <p:cNvSpPr>
            <a:spLocks noGrp="1"/>
          </p:cNvSpPr>
          <p:nvPr>
            <p:ph type="title"/>
          </p:nvPr>
        </p:nvSpPr>
        <p:spPr/>
        <p:txBody>
          <a:bodyPr/>
          <a:lstStyle/>
          <a:p>
            <a:r>
              <a:rPr lang="fr-FR" dirty="0"/>
              <a:t>IoT fixe</a:t>
            </a:r>
          </a:p>
        </p:txBody>
      </p:sp>
      <p:sp>
        <p:nvSpPr>
          <p:cNvPr id="3" name="Espace réservé du contenu 2">
            <a:extLst>
              <a:ext uri="{FF2B5EF4-FFF2-40B4-BE49-F238E27FC236}">
                <a16:creationId xmlns:a16="http://schemas.microsoft.com/office/drawing/2014/main" id="{04A6720F-0F78-9265-101D-2CB3FF52BBF5}"/>
              </a:ext>
            </a:extLst>
          </p:cNvPr>
          <p:cNvSpPr>
            <a:spLocks noGrp="1"/>
          </p:cNvSpPr>
          <p:nvPr>
            <p:ph idx="1"/>
          </p:nvPr>
        </p:nvSpPr>
        <p:spPr/>
        <p:txBody>
          <a:bodyPr/>
          <a:lstStyle/>
          <a:p>
            <a:r>
              <a:rPr lang="fr-FR" dirty="0"/>
              <a:t>Capteurs en entreprise</a:t>
            </a:r>
          </a:p>
          <a:p>
            <a:r>
              <a:rPr lang="fr-FR" dirty="0"/>
              <a:t>Domotique</a:t>
            </a:r>
          </a:p>
          <a:p>
            <a:r>
              <a:rPr lang="fr-FR" dirty="0"/>
              <a:t>Véhicules</a:t>
            </a:r>
          </a:p>
          <a:p>
            <a:r>
              <a:rPr lang="fr-FR" dirty="0"/>
              <a:t>Transport</a:t>
            </a:r>
          </a:p>
        </p:txBody>
      </p:sp>
      <p:pic>
        <p:nvPicPr>
          <p:cNvPr id="5" name="Image 4">
            <a:extLst>
              <a:ext uri="{FF2B5EF4-FFF2-40B4-BE49-F238E27FC236}">
                <a16:creationId xmlns:a16="http://schemas.microsoft.com/office/drawing/2014/main" id="{782B8140-4EC7-3B44-11A2-7630917DB2DD}"/>
              </a:ext>
            </a:extLst>
          </p:cNvPr>
          <p:cNvPicPr>
            <a:picLocks noChangeAspect="1"/>
          </p:cNvPicPr>
          <p:nvPr/>
        </p:nvPicPr>
        <p:blipFill>
          <a:blip r:embed="rId2"/>
          <a:stretch>
            <a:fillRect/>
          </a:stretch>
        </p:blipFill>
        <p:spPr>
          <a:xfrm>
            <a:off x="3203848" y="2204864"/>
            <a:ext cx="5013940" cy="3906076"/>
          </a:xfrm>
          <a:prstGeom prst="rect">
            <a:avLst/>
          </a:prstGeom>
        </p:spPr>
      </p:pic>
    </p:spTree>
    <p:extLst>
      <p:ext uri="{BB962C8B-B14F-4D97-AF65-F5344CB8AC3E}">
        <p14:creationId xmlns:p14="http://schemas.microsoft.com/office/powerpoint/2010/main" val="494322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913075-B6D2-2F0D-2D6F-1F0833213CB7}"/>
              </a:ext>
            </a:extLst>
          </p:cNvPr>
          <p:cNvSpPr>
            <a:spLocks noGrp="1"/>
          </p:cNvSpPr>
          <p:nvPr>
            <p:ph type="title"/>
          </p:nvPr>
        </p:nvSpPr>
        <p:spPr/>
        <p:txBody>
          <a:bodyPr/>
          <a:lstStyle/>
          <a:p>
            <a:r>
              <a:rPr lang="fr-FR" dirty="0"/>
              <a:t>IoT embarqué</a:t>
            </a:r>
          </a:p>
        </p:txBody>
      </p:sp>
      <p:sp>
        <p:nvSpPr>
          <p:cNvPr id="3" name="Espace réservé du contenu 2">
            <a:extLst>
              <a:ext uri="{FF2B5EF4-FFF2-40B4-BE49-F238E27FC236}">
                <a16:creationId xmlns:a16="http://schemas.microsoft.com/office/drawing/2014/main" id="{DABABBDA-B082-63C9-4BE2-08007043541E}"/>
              </a:ext>
            </a:extLst>
          </p:cNvPr>
          <p:cNvSpPr>
            <a:spLocks noGrp="1"/>
          </p:cNvSpPr>
          <p:nvPr>
            <p:ph idx="1"/>
          </p:nvPr>
        </p:nvSpPr>
        <p:spPr/>
        <p:txBody>
          <a:bodyPr/>
          <a:lstStyle/>
          <a:p>
            <a:r>
              <a:rPr lang="fr-FR" dirty="0"/>
              <a:t>Stations météos éloignés</a:t>
            </a:r>
          </a:p>
          <a:p>
            <a:r>
              <a:rPr lang="fr-FR" dirty="0"/>
              <a:t>Nomadisme</a:t>
            </a:r>
          </a:p>
          <a:p>
            <a:r>
              <a:rPr lang="fr-FR" dirty="0"/>
              <a:t>Spatial</a:t>
            </a:r>
          </a:p>
          <a:p>
            <a:r>
              <a:rPr lang="fr-FR" dirty="0"/>
              <a:t>Drone</a:t>
            </a:r>
          </a:p>
        </p:txBody>
      </p:sp>
      <p:pic>
        <p:nvPicPr>
          <p:cNvPr id="5" name="Image 4">
            <a:extLst>
              <a:ext uri="{FF2B5EF4-FFF2-40B4-BE49-F238E27FC236}">
                <a16:creationId xmlns:a16="http://schemas.microsoft.com/office/drawing/2014/main" id="{FC2B98DC-C2A9-9F70-C188-8B4E8E8FE8A3}"/>
              </a:ext>
            </a:extLst>
          </p:cNvPr>
          <p:cNvPicPr>
            <a:picLocks noChangeAspect="1"/>
          </p:cNvPicPr>
          <p:nvPr/>
        </p:nvPicPr>
        <p:blipFill>
          <a:blip r:embed="rId2"/>
          <a:stretch>
            <a:fillRect/>
          </a:stretch>
        </p:blipFill>
        <p:spPr>
          <a:xfrm>
            <a:off x="4211960" y="3066160"/>
            <a:ext cx="2457793" cy="1733792"/>
          </a:xfrm>
          <a:prstGeom prst="rect">
            <a:avLst/>
          </a:prstGeom>
        </p:spPr>
      </p:pic>
    </p:spTree>
    <p:extLst>
      <p:ext uri="{BB962C8B-B14F-4D97-AF65-F5344CB8AC3E}">
        <p14:creationId xmlns:p14="http://schemas.microsoft.com/office/powerpoint/2010/main" val="2372986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2469CE-1ECE-BF74-8055-1A8E683FB831}"/>
              </a:ext>
            </a:extLst>
          </p:cNvPr>
          <p:cNvSpPr>
            <a:spLocks noGrp="1"/>
          </p:cNvSpPr>
          <p:nvPr>
            <p:ph type="title"/>
          </p:nvPr>
        </p:nvSpPr>
        <p:spPr/>
        <p:txBody>
          <a:bodyPr/>
          <a:lstStyle/>
          <a:p>
            <a:r>
              <a:rPr lang="fr-FR" dirty="0" err="1"/>
              <a:t>Wearable</a:t>
            </a:r>
            <a:endParaRPr lang="fr-FR" dirty="0"/>
          </a:p>
        </p:txBody>
      </p:sp>
      <p:sp>
        <p:nvSpPr>
          <p:cNvPr id="3" name="Espace réservé du contenu 2">
            <a:extLst>
              <a:ext uri="{FF2B5EF4-FFF2-40B4-BE49-F238E27FC236}">
                <a16:creationId xmlns:a16="http://schemas.microsoft.com/office/drawing/2014/main" id="{F8ACE3D0-F156-EFFB-4374-93D7DFDF5D86}"/>
              </a:ext>
            </a:extLst>
          </p:cNvPr>
          <p:cNvSpPr>
            <a:spLocks noGrp="1"/>
          </p:cNvSpPr>
          <p:nvPr>
            <p:ph idx="1"/>
          </p:nvPr>
        </p:nvSpPr>
        <p:spPr/>
        <p:txBody>
          <a:bodyPr/>
          <a:lstStyle/>
          <a:p>
            <a:r>
              <a:rPr lang="fr-FR" dirty="0"/>
              <a:t>Montre</a:t>
            </a:r>
          </a:p>
          <a:p>
            <a:r>
              <a:rPr lang="fr-FR" dirty="0"/>
              <a:t>Bracelets</a:t>
            </a:r>
          </a:p>
          <a:p>
            <a:r>
              <a:rPr lang="fr-FR" dirty="0"/>
              <a:t>Bijoux</a:t>
            </a:r>
          </a:p>
          <a:p>
            <a:r>
              <a:rPr lang="fr-FR" dirty="0"/>
              <a:t>Habits</a:t>
            </a:r>
          </a:p>
        </p:txBody>
      </p:sp>
      <p:pic>
        <p:nvPicPr>
          <p:cNvPr id="5" name="Image 4">
            <a:extLst>
              <a:ext uri="{FF2B5EF4-FFF2-40B4-BE49-F238E27FC236}">
                <a16:creationId xmlns:a16="http://schemas.microsoft.com/office/drawing/2014/main" id="{B7040651-8CB2-4C85-2BFD-09A782ED0392}"/>
              </a:ext>
            </a:extLst>
          </p:cNvPr>
          <p:cNvPicPr>
            <a:picLocks noChangeAspect="1"/>
          </p:cNvPicPr>
          <p:nvPr/>
        </p:nvPicPr>
        <p:blipFill>
          <a:blip r:embed="rId2"/>
          <a:stretch>
            <a:fillRect/>
          </a:stretch>
        </p:blipFill>
        <p:spPr>
          <a:xfrm>
            <a:off x="2580997" y="1428471"/>
            <a:ext cx="3982006" cy="4001058"/>
          </a:xfrm>
          <a:prstGeom prst="rect">
            <a:avLst/>
          </a:prstGeom>
        </p:spPr>
      </p:pic>
    </p:spTree>
    <p:extLst>
      <p:ext uri="{BB962C8B-B14F-4D97-AF65-F5344CB8AC3E}">
        <p14:creationId xmlns:p14="http://schemas.microsoft.com/office/powerpoint/2010/main" val="2877955094"/>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3455</TotalTime>
  <Words>356</Words>
  <Application>Microsoft Office PowerPoint</Application>
  <PresentationFormat>Affichage à l'écran (4:3)</PresentationFormat>
  <Paragraphs>51</Paragraphs>
  <Slides>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Arial</vt:lpstr>
      <vt:lpstr>Monotype Sorts</vt:lpstr>
      <vt:lpstr>Times New Roman</vt:lpstr>
      <vt:lpstr>cvc</vt:lpstr>
      <vt:lpstr>Présentation PowerPoint</vt:lpstr>
      <vt:lpstr>Micro-contrôleurs</vt:lpstr>
      <vt:lpstr>Enjeux</vt:lpstr>
      <vt:lpstr>Évolution vers des offres orientées services</vt:lpstr>
      <vt:lpstr>Nouveaux secteurs et opportunités</vt:lpstr>
      <vt:lpstr>Tendances clés pour 2027</vt:lpstr>
      <vt:lpstr>IoT fixe</vt:lpstr>
      <vt:lpstr>IoT embarqué</vt:lpstr>
      <vt:lpstr>Wearable</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251</cp:revision>
  <dcterms:created xsi:type="dcterms:W3CDTF">2000-04-10T19:33:12Z</dcterms:created>
  <dcterms:modified xsi:type="dcterms:W3CDTF">2026-06-15T10:26:36Z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