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26"/>
  </p:notesMasterIdLst>
  <p:handoutMasterIdLst>
    <p:handoutMasterId r:id="rId27"/>
  </p:handoutMasterIdLst>
  <p:sldIdLst>
    <p:sldId id="264" r:id="rId2"/>
    <p:sldId id="324" r:id="rId3"/>
    <p:sldId id="310" r:id="rId4"/>
    <p:sldId id="325" r:id="rId5"/>
    <p:sldId id="326" r:id="rId6"/>
    <p:sldId id="337" r:id="rId7"/>
    <p:sldId id="338" r:id="rId8"/>
    <p:sldId id="339" r:id="rId9"/>
    <p:sldId id="355" r:id="rId10"/>
    <p:sldId id="356" r:id="rId11"/>
    <p:sldId id="342" r:id="rId12"/>
    <p:sldId id="345" r:id="rId13"/>
    <p:sldId id="375" r:id="rId14"/>
    <p:sldId id="376" r:id="rId15"/>
    <p:sldId id="377" r:id="rId16"/>
    <p:sldId id="313" r:id="rId17"/>
    <p:sldId id="314" r:id="rId18"/>
    <p:sldId id="315" r:id="rId19"/>
    <p:sldId id="316" r:id="rId20"/>
    <p:sldId id="317" r:id="rId21"/>
    <p:sldId id="321" r:id="rId22"/>
    <p:sldId id="322" r:id="rId23"/>
    <p:sldId id="323" r:id="rId24"/>
    <p:sldId id="378" r:id="rId25"/>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590" autoAdjust="0"/>
  </p:normalViewPr>
  <p:slideViewPr>
    <p:cSldViewPr>
      <p:cViewPr varScale="1">
        <p:scale>
          <a:sx n="70" d="100"/>
          <a:sy n="70" d="100"/>
        </p:scale>
        <p:origin x="931" y="2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1956" y="-1386"/>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a:xfrm>
            <a:off x="628650" y="6356351"/>
            <a:ext cx="2057400" cy="365125"/>
          </a:xfrm>
          <a:prstGeom prst="rect">
            <a:avLst/>
          </a:prstGeom>
        </p:spPr>
        <p:txBody>
          <a:bodyPr/>
          <a:lstStyle/>
          <a:p>
            <a:fld id="{A0ABDEA8-EB22-42D4-B8E2-0C26FFC92FC1}" type="datetimeFigureOut">
              <a:rPr lang="fr-FR" smtClean="0"/>
              <a:t>07/01/2026</a:t>
            </a:fld>
            <a:endParaRPr lang="fr-FR"/>
          </a:p>
        </p:txBody>
      </p:sp>
      <p:sp>
        <p:nvSpPr>
          <p:cNvPr id="3" name="Espace réservé du pied de page 2"/>
          <p:cNvSpPr>
            <a:spLocks noGrp="1"/>
          </p:cNvSpPr>
          <p:nvPr>
            <p:ph type="ftr" sz="quarter" idx="11"/>
          </p:nvPr>
        </p:nvSpPr>
        <p:spPr>
          <a:xfrm>
            <a:off x="3028950" y="6356351"/>
            <a:ext cx="3086100" cy="365125"/>
          </a:xfrm>
          <a:prstGeom prst="rect">
            <a:avLst/>
          </a:prstGeom>
        </p:spPr>
        <p:txBody>
          <a:bodyPr/>
          <a:lstStyle/>
          <a:p>
            <a:endParaRPr lang="fr-FR"/>
          </a:p>
        </p:txBody>
      </p:sp>
      <p:sp>
        <p:nvSpPr>
          <p:cNvPr id="4" name="Espace réservé du numéro de diapositive 3"/>
          <p:cNvSpPr>
            <a:spLocks noGrp="1"/>
          </p:cNvSpPr>
          <p:nvPr>
            <p:ph type="sldNum" sz="quarter" idx="12"/>
          </p:nvPr>
        </p:nvSpPr>
        <p:spPr>
          <a:xfrm>
            <a:off x="6457950" y="6356351"/>
            <a:ext cx="2057400" cy="365125"/>
          </a:xfrm>
          <a:prstGeom prst="rect">
            <a:avLst/>
          </a:prstGeom>
        </p:spPr>
        <p:txBody>
          <a:bodyPr/>
          <a:lstStyle/>
          <a:p>
            <a:fld id="{123B6F03-2704-4FB7-B539-03DC9F576B43}" type="slidenum">
              <a:rPr lang="fr-FR" smtClean="0"/>
              <a:t>‹N°›</a:t>
            </a:fld>
            <a:endParaRPr lang="fr-FR"/>
          </a:p>
        </p:txBody>
      </p:sp>
      <p:sp>
        <p:nvSpPr>
          <p:cNvPr id="5" name="Rectangle 4"/>
          <p:cNvSpPr/>
          <p:nvPr userDrawn="1"/>
        </p:nvSpPr>
        <p:spPr bwMode="auto">
          <a:xfrm>
            <a:off x="0" y="0"/>
            <a:ext cx="4550228" cy="767468"/>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0" marR="0" indent="0" algn="ctr" defTabSz="685800" rtl="0" eaLnBrk="1" fontAlgn="base" latinLnBrk="0" hangingPunct="1">
              <a:lnSpc>
                <a:spcPct val="100000"/>
              </a:lnSpc>
              <a:spcBef>
                <a:spcPct val="0"/>
              </a:spcBef>
              <a:spcAft>
                <a:spcPct val="0"/>
              </a:spcAft>
              <a:buClrTx/>
              <a:buSzTx/>
              <a:buFontTx/>
              <a:buNone/>
              <a:tabLst/>
            </a:pPr>
            <a:endParaRPr kumimoji="0" lang="fr-FR" sz="1350" b="0" i="0" u="none" strike="noStrike" cap="none" normalizeH="0" baseline="0" dirty="0">
              <a:ln>
                <a:noFill/>
              </a:ln>
              <a:solidFill>
                <a:schemeClr val="tx1"/>
              </a:solidFill>
              <a:effectLst/>
              <a:latin typeface="Arial" charset="0"/>
            </a:endParaRPr>
          </a:p>
        </p:txBody>
      </p:sp>
      <p:sp>
        <p:nvSpPr>
          <p:cNvPr id="6" name="Rectangle 2"/>
          <p:cNvSpPr>
            <a:spLocks noGrp="1" noChangeArrowheads="1"/>
          </p:cNvSpPr>
          <p:nvPr>
            <p:ph type="title"/>
          </p:nvPr>
        </p:nvSpPr>
        <p:spPr bwMode="auto">
          <a:xfrm>
            <a:off x="134634" y="29354"/>
            <a:ext cx="4284966" cy="723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lvl1pPr>
              <a:defRPr sz="1800">
                <a:solidFill>
                  <a:schemeClr val="bg2">
                    <a:lumMod val="25000"/>
                  </a:schemeClr>
                </a:solidFill>
              </a:defRPr>
            </a:lvl1pPr>
          </a:lstStyle>
          <a:p>
            <a:pPr lvl="0"/>
            <a:r>
              <a:rPr lang="fr-FR" dirty="0"/>
              <a:t>Ecran xx</a:t>
            </a:r>
            <a:br>
              <a:rPr lang="fr-FR" dirty="0"/>
            </a:br>
            <a:r>
              <a:rPr lang="fr-FR" dirty="0"/>
              <a:t>Titre de l’écran</a:t>
            </a:r>
          </a:p>
        </p:txBody>
      </p:sp>
      <p:sp>
        <p:nvSpPr>
          <p:cNvPr id="7" name="Rectangle 6"/>
          <p:cNvSpPr/>
          <p:nvPr userDrawn="1"/>
        </p:nvSpPr>
        <p:spPr bwMode="auto">
          <a:xfrm>
            <a:off x="4550229" y="0"/>
            <a:ext cx="4593772" cy="767468"/>
          </a:xfrm>
          <a:prstGeom prst="rect">
            <a:avLst/>
          </a:prstGeom>
          <a:solidFill>
            <a:schemeClr val="bg2">
              <a:lumMod val="75000"/>
            </a:schemeClr>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0" marR="0" indent="0" algn="ctr" defTabSz="685800" rtl="0" eaLnBrk="1" fontAlgn="base" latinLnBrk="0" hangingPunct="1">
              <a:lnSpc>
                <a:spcPct val="100000"/>
              </a:lnSpc>
              <a:spcBef>
                <a:spcPct val="0"/>
              </a:spcBef>
              <a:spcAft>
                <a:spcPct val="0"/>
              </a:spcAft>
              <a:buClrTx/>
              <a:buSzTx/>
              <a:buFontTx/>
              <a:buNone/>
              <a:tabLst/>
            </a:pPr>
            <a:endParaRPr kumimoji="0" lang="fr-FR" sz="1350" b="0" i="0" u="none" strike="noStrike" cap="none" normalizeH="0" baseline="0" dirty="0">
              <a:ln>
                <a:noFill/>
              </a:ln>
              <a:solidFill>
                <a:schemeClr val="tx1"/>
              </a:solidFill>
              <a:effectLst/>
              <a:latin typeface="Arial" charset="0"/>
            </a:endParaRPr>
          </a:p>
        </p:txBody>
      </p:sp>
      <p:sp>
        <p:nvSpPr>
          <p:cNvPr id="8" name="Espace réservé du texte 6"/>
          <p:cNvSpPr>
            <a:spLocks noGrp="1"/>
          </p:cNvSpPr>
          <p:nvPr>
            <p:ph type="body" sz="quarter" idx="13" hasCustomPrompt="1"/>
          </p:nvPr>
        </p:nvSpPr>
        <p:spPr>
          <a:xfrm>
            <a:off x="4572000" y="62245"/>
            <a:ext cx="4572000" cy="657818"/>
          </a:xfrm>
          <a:prstGeom prst="rect">
            <a:avLst/>
          </a:prstGeom>
        </p:spPr>
        <p:txBody>
          <a:bodyPr anchor="ctr">
            <a:noAutofit/>
          </a:bodyPr>
          <a:lstStyle>
            <a:lvl1pPr marL="0" indent="0">
              <a:buNone/>
              <a:defRPr sz="1350" baseline="0">
                <a:solidFill>
                  <a:schemeClr val="bg2">
                    <a:lumMod val="25000"/>
                  </a:schemeClr>
                </a:solidFill>
              </a:defRPr>
            </a:lvl1pPr>
            <a:lvl2pPr>
              <a:defRPr sz="825"/>
            </a:lvl2pPr>
            <a:lvl3pPr>
              <a:defRPr sz="788"/>
            </a:lvl3pPr>
            <a:lvl4pPr>
              <a:defRPr sz="675"/>
            </a:lvl4pPr>
            <a:lvl5pPr>
              <a:defRPr sz="600"/>
            </a:lvl5pPr>
          </a:lstStyle>
          <a:p>
            <a:pPr lvl="0"/>
            <a:r>
              <a:rPr lang="fr-FR" dirty="0"/>
              <a:t>Modifiez le style du titre</a:t>
            </a:r>
          </a:p>
        </p:txBody>
      </p:sp>
    </p:spTree>
    <p:extLst>
      <p:ext uri="{BB962C8B-B14F-4D97-AF65-F5344CB8AC3E}">
        <p14:creationId xmlns:p14="http://schemas.microsoft.com/office/powerpoint/2010/main" val="3470116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latin typeface="+mj-lt"/>
              </a:rPr>
              <a:t>MDM</a:t>
            </a:r>
            <a:endParaRPr lang="fr-FR" dirty="0">
              <a:latin typeface="+mj-lt"/>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13" Type="http://schemas.microsoft.com/office/2007/relationships/hdphoto" Target="../media/hdphoto1.wdp"/><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1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5.png"/><Relationship Id="rId7"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11.xml"/><Relationship Id="rId6" Type="http://schemas.openxmlformats.org/officeDocument/2006/relationships/image" Target="../media/image10.png"/><Relationship Id="rId11" Type="http://schemas.microsoft.com/office/2007/relationships/hdphoto" Target="../media/hdphoto1.wdp"/><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5.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5.png"/><Relationship Id="rId7"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11.xml"/><Relationship Id="rId6" Type="http://schemas.openxmlformats.org/officeDocument/2006/relationships/image" Target="../media/image10.png"/><Relationship Id="rId11" Type="http://schemas.microsoft.com/office/2007/relationships/hdphoto" Target="../media/hdphoto1.wdp"/><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5.png"/><Relationship Id="rId9" Type="http://schemas.openxmlformats.org/officeDocument/2006/relationships/image" Target="../media/image13.png"/></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5.png"/><Relationship Id="rId7"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11.xml"/><Relationship Id="rId6" Type="http://schemas.openxmlformats.org/officeDocument/2006/relationships/image" Target="../media/image10.png"/><Relationship Id="rId11" Type="http://schemas.microsoft.com/office/2007/relationships/hdphoto" Target="../media/hdphoto1.wdp"/><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5.png"/><Relationship Id="rId9"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5.png"/><Relationship Id="rId7"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11.xml"/><Relationship Id="rId6" Type="http://schemas.openxmlformats.org/officeDocument/2006/relationships/image" Target="../media/image10.png"/><Relationship Id="rId11" Type="http://schemas.microsoft.com/office/2007/relationships/hdphoto" Target="../media/hdphoto1.wdp"/><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5.png"/><Relationship Id="rId9" Type="http://schemas.openxmlformats.org/officeDocument/2006/relationships/image" Target="../media/image13.png"/></Relationships>
</file>

<file path=ppt/slides/_rels/slide1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5.png"/><Relationship Id="rId7"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11.xml"/><Relationship Id="rId6" Type="http://schemas.openxmlformats.org/officeDocument/2006/relationships/image" Target="../media/image10.png"/><Relationship Id="rId11" Type="http://schemas.microsoft.com/office/2007/relationships/hdphoto" Target="../media/hdphoto1.wdp"/><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5.png"/><Relationship Id="rId9" Type="http://schemas.openxmlformats.org/officeDocument/2006/relationships/image" Target="../media/image13.png"/></Relationships>
</file>

<file path=ppt/slides/_rels/slide1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16.png"/><Relationship Id="rId1" Type="http://schemas.openxmlformats.org/officeDocument/2006/relationships/slideLayout" Target="../slideLayouts/slideLayout11.xml"/><Relationship Id="rId6" Type="http://schemas.openxmlformats.org/officeDocument/2006/relationships/image" Target="../media/image11.png"/><Relationship Id="rId5" Type="http://schemas.microsoft.com/office/2007/relationships/hdphoto" Target="../media/hdphoto2.wdp"/><Relationship Id="rId10" Type="http://schemas.openxmlformats.org/officeDocument/2006/relationships/image" Target="../media/image19.png"/><Relationship Id="rId4" Type="http://schemas.openxmlformats.org/officeDocument/2006/relationships/image" Target="../media/image17.png"/><Relationship Id="rId9" Type="http://schemas.openxmlformats.org/officeDocument/2006/relationships/image" Target="../media/image18.png"/></Relationships>
</file>

<file path=ppt/slides/_rels/slide1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image" Target="../media/image9.png"/><Relationship Id="rId1" Type="http://schemas.openxmlformats.org/officeDocument/2006/relationships/slideLayout" Target="../slideLayouts/slideLayout11.xml"/><Relationship Id="rId6" Type="http://schemas.microsoft.com/office/2007/relationships/hdphoto" Target="../media/hdphoto3.wdp"/><Relationship Id="rId11" Type="http://schemas.openxmlformats.org/officeDocument/2006/relationships/image" Target="../media/image26.png"/><Relationship Id="rId5" Type="http://schemas.openxmlformats.org/officeDocument/2006/relationships/image" Target="../media/image22.png"/><Relationship Id="rId10" Type="http://schemas.openxmlformats.org/officeDocument/2006/relationships/image" Target="../media/image25.png"/><Relationship Id="rId4" Type="http://schemas.openxmlformats.org/officeDocument/2006/relationships/image" Target="../media/image21.png"/><Relationship Id="rId9" Type="http://schemas.openxmlformats.org/officeDocument/2006/relationships/image" Target="../media/image24.png"/></Relationships>
</file>

<file path=ppt/slides/_rels/slide1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image" Target="../media/image9.png"/><Relationship Id="rId1" Type="http://schemas.openxmlformats.org/officeDocument/2006/relationships/slideLayout" Target="../slideLayouts/slideLayout11.xml"/><Relationship Id="rId6" Type="http://schemas.microsoft.com/office/2007/relationships/hdphoto" Target="../media/hdphoto3.wdp"/><Relationship Id="rId11" Type="http://schemas.openxmlformats.org/officeDocument/2006/relationships/image" Target="../media/image26.png"/><Relationship Id="rId5" Type="http://schemas.openxmlformats.org/officeDocument/2006/relationships/image" Target="../media/image22.png"/><Relationship Id="rId10" Type="http://schemas.openxmlformats.org/officeDocument/2006/relationships/image" Target="../media/image25.png"/><Relationship Id="rId4" Type="http://schemas.openxmlformats.org/officeDocument/2006/relationships/image" Target="../media/image21.png"/><Relationship Id="rId9" Type="http://schemas.openxmlformats.org/officeDocument/2006/relationships/image" Target="../media/image24.png"/></Relationships>
</file>

<file path=ppt/slides/_rels/slide1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image" Target="../media/image9.png"/><Relationship Id="rId1" Type="http://schemas.openxmlformats.org/officeDocument/2006/relationships/slideLayout" Target="../slideLayouts/slideLayout11.xml"/><Relationship Id="rId6" Type="http://schemas.microsoft.com/office/2007/relationships/hdphoto" Target="../media/hdphoto3.wdp"/><Relationship Id="rId11" Type="http://schemas.openxmlformats.org/officeDocument/2006/relationships/image" Target="../media/image26.png"/><Relationship Id="rId5" Type="http://schemas.openxmlformats.org/officeDocument/2006/relationships/image" Target="../media/image22.png"/><Relationship Id="rId10" Type="http://schemas.openxmlformats.org/officeDocument/2006/relationships/image" Target="../media/image25.png"/><Relationship Id="rId4" Type="http://schemas.openxmlformats.org/officeDocument/2006/relationships/image" Target="../media/image21.png"/><Relationship Id="rId9"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p:txBody>
          <a:bodyPr/>
          <a:lstStyle/>
          <a:p>
            <a:pPr eaLnBrk="1" hangingPunct="1"/>
            <a:r>
              <a:rPr lang="fr-FR" altLang="fr-FR" dirty="0"/>
              <a:t>Chapitre 3</a:t>
            </a:r>
          </a:p>
          <a:p>
            <a:pPr eaLnBrk="1" hangingPunct="1"/>
            <a:r>
              <a:rPr lang="fr-FR" altLang="fr-FR" dirty="0"/>
              <a:t>Gouvernance</a:t>
            </a:r>
          </a:p>
        </p:txBody>
      </p:sp>
      <p:sp>
        <p:nvSpPr>
          <p:cNvPr id="3" name="ZoneTexte 2"/>
          <p:cNvSpPr txBox="1"/>
          <p:nvPr/>
        </p:nvSpPr>
        <p:spPr>
          <a:xfrm>
            <a:off x="2581711" y="1988840"/>
            <a:ext cx="3980577" cy="646331"/>
          </a:xfrm>
          <a:prstGeom prst="rect">
            <a:avLst/>
          </a:prstGeom>
          <a:noFill/>
        </p:spPr>
        <p:txBody>
          <a:bodyPr wrap="none" rtlCol="0">
            <a:spAutoFit/>
          </a:bodyPr>
          <a:lstStyle/>
          <a:p>
            <a:r>
              <a:rPr lang="fr-FR" sz="3600" dirty="0"/>
              <a:t>Data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CA26E6-9317-B749-3AC3-6E9E2FCF7524}"/>
              </a:ext>
            </a:extLst>
          </p:cNvPr>
          <p:cNvSpPr>
            <a:spLocks noGrp="1"/>
          </p:cNvSpPr>
          <p:nvPr>
            <p:ph type="title"/>
          </p:nvPr>
        </p:nvSpPr>
        <p:spPr/>
        <p:txBody>
          <a:bodyPr/>
          <a:lstStyle/>
          <a:p>
            <a:r>
              <a:rPr lang="fr-FR" dirty="0"/>
              <a:t>Concept essentiel</a:t>
            </a:r>
          </a:p>
        </p:txBody>
      </p:sp>
      <p:sp>
        <p:nvSpPr>
          <p:cNvPr id="3" name="Espace réservé du contenu 2">
            <a:extLst>
              <a:ext uri="{FF2B5EF4-FFF2-40B4-BE49-F238E27FC236}">
                <a16:creationId xmlns:a16="http://schemas.microsoft.com/office/drawing/2014/main" id="{4F41C2B1-AD82-5463-2806-70CDD38A64F2}"/>
              </a:ext>
            </a:extLst>
          </p:cNvPr>
          <p:cNvSpPr>
            <a:spLocks noGrp="1"/>
          </p:cNvSpPr>
          <p:nvPr>
            <p:ph idx="1"/>
          </p:nvPr>
        </p:nvSpPr>
        <p:spPr/>
        <p:txBody>
          <a:bodyPr/>
          <a:lstStyle/>
          <a:p>
            <a:endParaRPr lang="fr-FR"/>
          </a:p>
        </p:txBody>
      </p:sp>
      <p:pic>
        <p:nvPicPr>
          <p:cNvPr id="5" name="Image 4" descr="Une image contenant texte, capture d’écran, Police, logo&#10;&#10;Le contenu généré par l’IA peut être incorrect.">
            <a:extLst>
              <a:ext uri="{FF2B5EF4-FFF2-40B4-BE49-F238E27FC236}">
                <a16:creationId xmlns:a16="http://schemas.microsoft.com/office/drawing/2014/main" id="{7E661FC0-397C-1A8B-FE54-05A404FE0AF3}"/>
              </a:ext>
            </a:extLst>
          </p:cNvPr>
          <p:cNvPicPr>
            <a:picLocks noChangeAspect="1"/>
          </p:cNvPicPr>
          <p:nvPr/>
        </p:nvPicPr>
        <p:blipFill>
          <a:blip r:embed="rId2"/>
          <a:stretch>
            <a:fillRect/>
          </a:stretch>
        </p:blipFill>
        <p:spPr>
          <a:xfrm>
            <a:off x="690021" y="1417914"/>
            <a:ext cx="7763958" cy="3410426"/>
          </a:xfrm>
          <a:prstGeom prst="rect">
            <a:avLst/>
          </a:prstGeom>
        </p:spPr>
      </p:pic>
    </p:spTree>
    <p:extLst>
      <p:ext uri="{BB962C8B-B14F-4D97-AF65-F5344CB8AC3E}">
        <p14:creationId xmlns:p14="http://schemas.microsoft.com/office/powerpoint/2010/main" val="2554515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01BDF0-DF6B-D820-FFCD-868B50F708D4}"/>
              </a:ext>
            </a:extLst>
          </p:cNvPr>
          <p:cNvSpPr>
            <a:spLocks noGrp="1"/>
          </p:cNvSpPr>
          <p:nvPr>
            <p:ph type="title"/>
          </p:nvPr>
        </p:nvSpPr>
        <p:spPr/>
        <p:txBody>
          <a:bodyPr/>
          <a:lstStyle/>
          <a:p>
            <a:r>
              <a:rPr lang="fr-FR" dirty="0" err="1"/>
              <a:t>Wikipedia</a:t>
            </a:r>
            <a:endParaRPr lang="fr-FR" dirty="0"/>
          </a:p>
        </p:txBody>
      </p:sp>
      <p:sp>
        <p:nvSpPr>
          <p:cNvPr id="3" name="Espace réservé du contenu 2">
            <a:extLst>
              <a:ext uri="{FF2B5EF4-FFF2-40B4-BE49-F238E27FC236}">
                <a16:creationId xmlns:a16="http://schemas.microsoft.com/office/drawing/2014/main" id="{83F493A2-FB1C-A50B-63EC-2D06A57CD31B}"/>
              </a:ext>
            </a:extLst>
          </p:cNvPr>
          <p:cNvSpPr>
            <a:spLocks noGrp="1"/>
          </p:cNvSpPr>
          <p:nvPr>
            <p:ph idx="1"/>
          </p:nvPr>
        </p:nvSpPr>
        <p:spPr/>
        <p:txBody>
          <a:bodyPr/>
          <a:lstStyle/>
          <a:p>
            <a:r>
              <a:rPr lang="fr-FR" dirty="0"/>
              <a:t>La gouvernance des données est constituée du cadre et des procédures mises en place au sein d’une entreprise afin de structurer les flux et les centres de stockage de la donnée : de leur collecte à leur utilisation finale</a:t>
            </a:r>
          </a:p>
          <a:p>
            <a:r>
              <a:rPr lang="fr-FR" dirty="0"/>
              <a:t>Elle s'assure du respect des obligations légales et de mise en place des structures et processus internes pour optimiser leur gestion, leur utilisation, et ainsi maximiser la valeur qui en est extraite pour l'entreprise et les utilisateurs</a:t>
            </a:r>
          </a:p>
        </p:txBody>
      </p:sp>
    </p:spTree>
    <p:extLst>
      <p:ext uri="{BB962C8B-B14F-4D97-AF65-F5344CB8AC3E}">
        <p14:creationId xmlns:p14="http://schemas.microsoft.com/office/powerpoint/2010/main" val="1188784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C2454A-E3CC-1FFF-5B11-BB25EF55AB4D}"/>
              </a:ext>
            </a:extLst>
          </p:cNvPr>
          <p:cNvSpPr>
            <a:spLocks noGrp="1"/>
          </p:cNvSpPr>
          <p:nvPr>
            <p:ph type="title"/>
          </p:nvPr>
        </p:nvSpPr>
        <p:spPr/>
        <p:txBody>
          <a:bodyPr/>
          <a:lstStyle/>
          <a:p>
            <a:r>
              <a:rPr lang="fr-FR" dirty="0"/>
              <a:t>Organisation data-</a:t>
            </a:r>
            <a:r>
              <a:rPr lang="fr-FR" dirty="0" err="1"/>
              <a:t>centric</a:t>
            </a:r>
            <a:endParaRPr lang="fr-FR" dirty="0"/>
          </a:p>
        </p:txBody>
      </p:sp>
      <p:sp>
        <p:nvSpPr>
          <p:cNvPr id="3" name="Espace réservé du contenu 2">
            <a:extLst>
              <a:ext uri="{FF2B5EF4-FFF2-40B4-BE49-F238E27FC236}">
                <a16:creationId xmlns:a16="http://schemas.microsoft.com/office/drawing/2014/main" id="{C4447E89-A405-2C72-5602-8B8A10A5A26B}"/>
              </a:ext>
            </a:extLst>
          </p:cNvPr>
          <p:cNvSpPr>
            <a:spLocks noGrp="1"/>
          </p:cNvSpPr>
          <p:nvPr>
            <p:ph idx="1"/>
          </p:nvPr>
        </p:nvSpPr>
        <p:spPr/>
        <p:txBody>
          <a:bodyPr/>
          <a:lstStyle/>
          <a:p>
            <a:r>
              <a:rPr lang="fr-FR" sz="2400" dirty="0"/>
              <a:t>Une organisation centrée sur les données valorise les données comme un atout et les gère à chaque étape de leur cycle de vie, du développement de projets aux opérations courantes</a:t>
            </a:r>
          </a:p>
          <a:p>
            <a:r>
              <a:rPr lang="fr-FR" sz="2400" dirty="0"/>
              <a:t>Pour devenir centrée sur les données, une organisation doit repenser sa manière de traduire sa stratégie en actions</a:t>
            </a:r>
          </a:p>
          <a:p>
            <a:r>
              <a:rPr lang="fr-FR" sz="2400" dirty="0"/>
              <a:t>Les données ne sont plus considérées comme un simple sous-produit des processus et des applications</a:t>
            </a:r>
          </a:p>
          <a:p>
            <a:r>
              <a:rPr lang="fr-FR" sz="2400" dirty="0"/>
              <a:t>Garantir la qualité des données est un objectif des processus métier</a:t>
            </a:r>
          </a:p>
          <a:p>
            <a:r>
              <a:rPr lang="fr-FR" sz="2400" dirty="0"/>
              <a:t>Pour devenir centrées sur les données, les organisations doivent changer de perspective et reconnaître que la gestion des données est différente de la gestion informatique</a:t>
            </a:r>
          </a:p>
        </p:txBody>
      </p:sp>
    </p:spTree>
    <p:extLst>
      <p:ext uri="{BB962C8B-B14F-4D97-AF65-F5344CB8AC3E}">
        <p14:creationId xmlns:p14="http://schemas.microsoft.com/office/powerpoint/2010/main" val="2015676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0D548E-64C6-3AF0-2171-3743B40CF0E2}"/>
              </a:ext>
            </a:extLst>
          </p:cNvPr>
          <p:cNvSpPr>
            <a:spLocks noGrp="1"/>
          </p:cNvSpPr>
          <p:nvPr>
            <p:ph type="title"/>
          </p:nvPr>
        </p:nvSpPr>
        <p:spPr/>
        <p:txBody>
          <a:bodyPr/>
          <a:lstStyle/>
          <a:p>
            <a:r>
              <a:rPr lang="fr-FR" dirty="0"/>
              <a:t>Gouvernance</a:t>
            </a:r>
          </a:p>
        </p:txBody>
      </p:sp>
      <p:sp>
        <p:nvSpPr>
          <p:cNvPr id="3" name="Espace réservé du contenu 2">
            <a:extLst>
              <a:ext uri="{FF2B5EF4-FFF2-40B4-BE49-F238E27FC236}">
                <a16:creationId xmlns:a16="http://schemas.microsoft.com/office/drawing/2014/main" id="{868E8E2B-1BF0-FF37-08FA-07C5766BFA34}"/>
              </a:ext>
            </a:extLst>
          </p:cNvPr>
          <p:cNvSpPr>
            <a:spLocks noGrp="1"/>
          </p:cNvSpPr>
          <p:nvPr>
            <p:ph idx="1"/>
          </p:nvPr>
        </p:nvSpPr>
        <p:spPr/>
        <p:txBody>
          <a:bodyPr/>
          <a:lstStyle/>
          <a:p>
            <a:endParaRPr lang="fr-FR"/>
          </a:p>
        </p:txBody>
      </p:sp>
      <p:pic>
        <p:nvPicPr>
          <p:cNvPr id="5" name="Image 4" descr="Une image contenant texte, capture d’écran, Police, Parallèle&#10;&#10;Le contenu généré par l’IA peut être incorrect.">
            <a:extLst>
              <a:ext uri="{FF2B5EF4-FFF2-40B4-BE49-F238E27FC236}">
                <a16:creationId xmlns:a16="http://schemas.microsoft.com/office/drawing/2014/main" id="{2A05BE58-2474-BCDF-29C2-89D8D2D4F7F3}"/>
              </a:ext>
            </a:extLst>
          </p:cNvPr>
          <p:cNvPicPr>
            <a:picLocks noChangeAspect="1"/>
          </p:cNvPicPr>
          <p:nvPr/>
        </p:nvPicPr>
        <p:blipFill>
          <a:blip r:embed="rId2"/>
          <a:stretch>
            <a:fillRect/>
          </a:stretch>
        </p:blipFill>
        <p:spPr>
          <a:xfrm>
            <a:off x="1688232" y="1156209"/>
            <a:ext cx="6239746" cy="5439534"/>
          </a:xfrm>
          <a:prstGeom prst="rect">
            <a:avLst/>
          </a:prstGeom>
        </p:spPr>
      </p:pic>
    </p:spTree>
    <p:extLst>
      <p:ext uri="{BB962C8B-B14F-4D97-AF65-F5344CB8AC3E}">
        <p14:creationId xmlns:p14="http://schemas.microsoft.com/office/powerpoint/2010/main" val="1227272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a:blip r:embed="rId2"/>
          <a:stretch>
            <a:fillRect/>
          </a:stretch>
        </p:blipFill>
        <p:spPr>
          <a:xfrm>
            <a:off x="5053903" y="2929768"/>
            <a:ext cx="937196" cy="1989877"/>
          </a:xfrm>
          <a:prstGeom prst="rect">
            <a:avLst/>
          </a:prstGeom>
        </p:spPr>
      </p:pic>
      <p:sp>
        <p:nvSpPr>
          <p:cNvPr id="47" name="Titre 46"/>
          <p:cNvSpPr>
            <a:spLocks noGrp="1"/>
          </p:cNvSpPr>
          <p:nvPr>
            <p:ph type="title"/>
          </p:nvPr>
        </p:nvSpPr>
        <p:spPr/>
        <p:txBody>
          <a:bodyPr/>
          <a:lstStyle/>
          <a:p>
            <a:r>
              <a:rPr lang="fr-FR" sz="1500" dirty="0">
                <a:latin typeface="+mn-lt"/>
              </a:rPr>
              <a:t>L’équipe DataLab – la photo de famille ! </a:t>
            </a:r>
          </a:p>
        </p:txBody>
      </p:sp>
      <p:sp>
        <p:nvSpPr>
          <p:cNvPr id="48" name="Espace réservé du texte 47"/>
          <p:cNvSpPr>
            <a:spLocks noGrp="1"/>
          </p:cNvSpPr>
          <p:nvPr>
            <p:ph type="body" sz="quarter" idx="13"/>
          </p:nvPr>
        </p:nvSpPr>
        <p:spPr/>
        <p:txBody>
          <a:bodyPr/>
          <a:lstStyle/>
          <a:p>
            <a:endParaRPr lang="fr-FR" b="1" dirty="0"/>
          </a:p>
        </p:txBody>
      </p:sp>
      <p:sp>
        <p:nvSpPr>
          <p:cNvPr id="50" name="Espace réservé du texte 11"/>
          <p:cNvSpPr txBox="1">
            <a:spLocks/>
          </p:cNvSpPr>
          <p:nvPr/>
        </p:nvSpPr>
        <p:spPr>
          <a:xfrm>
            <a:off x="6593482" y="1953938"/>
            <a:ext cx="2455916" cy="3888969"/>
          </a:xfrm>
          <a:prstGeom prst="rect">
            <a:avLst/>
          </a:prstGeom>
        </p:spPr>
        <p:txBody>
          <a:bodyPr vert="horz" lIns="68580" tIns="34290" rIns="68580" bIns="34290" rtlCol="0" anchor="t">
            <a:normAutofit/>
          </a:bodyPr>
          <a:lstStyle>
            <a:defPPr>
              <a:defRPr lang="fr-FR"/>
            </a:defPPr>
            <a:lvl1pPr marL="0" algn="ctr" defTabSz="914400" rtl="0" eaLnBrk="1" latinLnBrk="0" hangingPunct="1">
              <a:defRPr sz="1050" kern="1200">
                <a:solidFill>
                  <a:schemeClr val="bg2">
                    <a:lumMod val="25000"/>
                  </a:schemeClr>
                </a:solidFill>
                <a:latin typeface="+mn-lt"/>
                <a:ea typeface="+mn-ea"/>
                <a:cs typeface="+mn-cs"/>
              </a:defRPr>
            </a:lvl1pPr>
            <a:lvl2pPr marL="457200" indent="0" algn="l" defTabSz="914400" rtl="0" eaLnBrk="1" latinLnBrk="0" hangingPunct="1">
              <a:buNone/>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4313" indent="-214313" algn="l">
              <a:buFont typeface="Arial" panose="020B0604020202020204" pitchFamily="34" charset="0"/>
              <a:buChar char="•"/>
            </a:pPr>
            <a:endParaRPr lang="fr-FR" dirty="0">
              <a:solidFill>
                <a:schemeClr val="bg1"/>
              </a:solidFill>
            </a:endParaRPr>
          </a:p>
        </p:txBody>
      </p:sp>
      <p:sp>
        <p:nvSpPr>
          <p:cNvPr id="51" name="ZoneTexte 50"/>
          <p:cNvSpPr txBox="1"/>
          <p:nvPr/>
        </p:nvSpPr>
        <p:spPr>
          <a:xfrm>
            <a:off x="6553404" y="1460730"/>
            <a:ext cx="2495994" cy="415498"/>
          </a:xfrm>
          <a:prstGeom prst="rect">
            <a:avLst/>
          </a:prstGeom>
          <a:noFill/>
        </p:spPr>
        <p:txBody>
          <a:bodyPr wrap="square" rtlCol="0">
            <a:spAutoFit/>
          </a:bodyPr>
          <a:lstStyle/>
          <a:p>
            <a:r>
              <a:rPr lang="fr-FR" sz="1050" b="1" dirty="0">
                <a:solidFill>
                  <a:schemeClr val="bg1"/>
                </a:solidFill>
                <a:latin typeface="Calibri" panose="020F0502020204030204" pitchFamily="34" charset="0"/>
              </a:rPr>
              <a:t>Notes pour la mise en œuvre (explication animation, images, effets…) :</a:t>
            </a:r>
          </a:p>
        </p:txBody>
      </p:sp>
      <p:pic>
        <p:nvPicPr>
          <p:cNvPr id="31" name="Image 30"/>
          <p:cNvPicPr>
            <a:picLocks noChangeAspect="1"/>
          </p:cNvPicPr>
          <p:nvPr/>
        </p:nvPicPr>
        <p:blipFill>
          <a:blip r:embed="rId3"/>
          <a:stretch>
            <a:fillRect/>
          </a:stretch>
        </p:blipFill>
        <p:spPr>
          <a:xfrm>
            <a:off x="6986934" y="5223488"/>
            <a:ext cx="1689112" cy="698341"/>
          </a:xfrm>
          <a:prstGeom prst="rect">
            <a:avLst/>
          </a:prstGeom>
        </p:spPr>
      </p:pic>
      <p:sp>
        <p:nvSpPr>
          <p:cNvPr id="26" name="Rectangle 25"/>
          <p:cNvSpPr/>
          <p:nvPr/>
        </p:nvSpPr>
        <p:spPr>
          <a:xfrm>
            <a:off x="108153" y="2149189"/>
            <a:ext cx="6293047" cy="685059"/>
          </a:xfrm>
          <a:prstGeom prst="rect">
            <a:avLst/>
          </a:prstGeom>
        </p:spPr>
        <p:txBody>
          <a:bodyPr wrap="square">
            <a:spAutoFit/>
          </a:bodyPr>
          <a:lstStyle/>
          <a:p>
            <a:pPr algn="ctr">
              <a:lnSpc>
                <a:spcPct val="107000"/>
              </a:lnSpc>
              <a:spcAft>
                <a:spcPts val="600"/>
              </a:spcAft>
            </a:pPr>
            <a:r>
              <a:rPr lang="fr-FR" sz="1800" dirty="0">
                <a:solidFill>
                  <a:schemeClr val="tx1">
                    <a:lumMod val="75000"/>
                    <a:lumOff val="25000"/>
                  </a:schemeClr>
                </a:solidFill>
                <a:ea typeface="Yu Gothic Light" panose="020B0300000000000000" pitchFamily="34" charset="-128"/>
                <a:cs typeface="Times New Roman" panose="02020603050405020304" pitchFamily="18" charset="0"/>
              </a:rPr>
              <a:t>Mon responsable DataLab me présente les profils </a:t>
            </a:r>
            <a:br>
              <a:rPr lang="fr-FR" sz="1800" dirty="0">
                <a:solidFill>
                  <a:schemeClr val="tx1">
                    <a:lumMod val="75000"/>
                    <a:lumOff val="25000"/>
                  </a:schemeClr>
                </a:solidFill>
                <a:ea typeface="Yu Gothic Light" panose="020B0300000000000000" pitchFamily="34" charset="-128"/>
                <a:cs typeface="Times New Roman" panose="02020603050405020304" pitchFamily="18" charset="0"/>
              </a:rPr>
            </a:br>
            <a:r>
              <a:rPr lang="fr-FR" sz="1800" dirty="0">
                <a:solidFill>
                  <a:schemeClr val="tx1">
                    <a:lumMod val="75000"/>
                    <a:lumOff val="25000"/>
                  </a:schemeClr>
                </a:solidFill>
                <a:ea typeface="Yu Gothic Light" panose="020B0300000000000000" pitchFamily="34" charset="-128"/>
                <a:cs typeface="Times New Roman" panose="02020603050405020304" pitchFamily="18" charset="0"/>
              </a:rPr>
              <a:t>d’experts qui l’accompagnent dans sa tâche :</a:t>
            </a:r>
          </a:p>
        </p:txBody>
      </p:sp>
      <p:sp>
        <p:nvSpPr>
          <p:cNvPr id="36" name="Rectangle 35"/>
          <p:cNvSpPr/>
          <p:nvPr/>
        </p:nvSpPr>
        <p:spPr>
          <a:xfrm>
            <a:off x="998806" y="5380010"/>
            <a:ext cx="1181690" cy="685059"/>
          </a:xfrm>
          <a:prstGeom prst="rect">
            <a:avLst/>
          </a:prstGeom>
        </p:spPr>
        <p:txBody>
          <a:bodyPr wrap="square">
            <a:spAutoFit/>
          </a:bodyPr>
          <a:lstStyle/>
          <a:p>
            <a:pPr algn="ctr">
              <a:lnSpc>
                <a:spcPct val="107000"/>
              </a:lnSpc>
              <a:spcAft>
                <a:spcPts val="600"/>
              </a:spcAft>
            </a:pPr>
            <a:r>
              <a:rPr lang="fr-FR" sz="1800" dirty="0">
                <a:solidFill>
                  <a:schemeClr val="tx1">
                    <a:lumMod val="75000"/>
                    <a:lumOff val="25000"/>
                  </a:schemeClr>
                </a:solidFill>
                <a:ea typeface="Yu Gothic Light" panose="020B0300000000000000" pitchFamily="34" charset="-128"/>
                <a:cs typeface="Times New Roman" panose="02020603050405020304" pitchFamily="18" charset="0"/>
              </a:rPr>
              <a:t>Data Steward</a:t>
            </a:r>
          </a:p>
        </p:txBody>
      </p:sp>
      <p:grpSp>
        <p:nvGrpSpPr>
          <p:cNvPr id="12" name="Groupe 11"/>
          <p:cNvGrpSpPr/>
          <p:nvPr/>
        </p:nvGrpSpPr>
        <p:grpSpPr>
          <a:xfrm>
            <a:off x="1430260" y="2871281"/>
            <a:ext cx="3833075" cy="2321499"/>
            <a:chOff x="1290034" y="2954428"/>
            <a:chExt cx="5110766" cy="3095332"/>
          </a:xfrm>
        </p:grpSpPr>
        <p:grpSp>
          <p:nvGrpSpPr>
            <p:cNvPr id="4" name="Groupe 3"/>
            <p:cNvGrpSpPr/>
            <p:nvPr/>
          </p:nvGrpSpPr>
          <p:grpSpPr>
            <a:xfrm>
              <a:off x="1639152" y="2954428"/>
              <a:ext cx="4761648" cy="3095332"/>
              <a:chOff x="1639152" y="2954428"/>
              <a:chExt cx="4761648" cy="3095332"/>
            </a:xfrm>
          </p:grpSpPr>
          <p:pic>
            <p:nvPicPr>
              <p:cNvPr id="37" name="Image 36"/>
              <p:cNvPicPr>
                <a:picLocks noChangeAspect="1"/>
              </p:cNvPicPr>
              <p:nvPr/>
            </p:nvPicPr>
            <p:blipFill rotWithShape="1">
              <a:blip r:embed="rId4" cstate="email">
                <a:extLst>
                  <a:ext uri="{28A0092B-C50C-407E-A947-70E740481C1C}">
                    <a14:useLocalDpi xmlns:a14="http://schemas.microsoft.com/office/drawing/2010/main"/>
                  </a:ext>
                </a:extLst>
              </a:blip>
              <a:srcRect l="-1" r="-26120"/>
              <a:stretch/>
            </p:blipFill>
            <p:spPr>
              <a:xfrm>
                <a:off x="1639152" y="2954428"/>
                <a:ext cx="4761648" cy="2922223"/>
              </a:xfrm>
              <a:prstGeom prst="rect">
                <a:avLst/>
              </a:prstGeom>
            </p:spPr>
          </p:pic>
          <p:pic>
            <p:nvPicPr>
              <p:cNvPr id="38" name="Image 37"/>
              <p:cNvPicPr>
                <a:picLocks noChangeAspect="1"/>
              </p:cNvPicPr>
              <p:nvPr/>
            </p:nvPicPr>
            <p:blipFill rotWithShape="1">
              <a:blip r:embed="rId5" cstate="email">
                <a:extLst>
                  <a:ext uri="{28A0092B-C50C-407E-A947-70E740481C1C}">
                    <a14:useLocalDpi xmlns:a14="http://schemas.microsoft.com/office/drawing/2010/main"/>
                  </a:ext>
                </a:extLst>
              </a:blip>
              <a:srcRect l="75260"/>
              <a:stretch/>
            </p:blipFill>
            <p:spPr>
              <a:xfrm>
                <a:off x="5413244" y="2959065"/>
                <a:ext cx="781934" cy="3090695"/>
              </a:xfrm>
              <a:prstGeom prst="rect">
                <a:avLst/>
              </a:prstGeom>
            </p:spPr>
          </p:pic>
        </p:grpSp>
        <p:sp>
          <p:nvSpPr>
            <p:cNvPr id="8" name="Rectangle 7"/>
            <p:cNvSpPr/>
            <p:nvPr/>
          </p:nvSpPr>
          <p:spPr>
            <a:xfrm>
              <a:off x="1290034" y="3561999"/>
              <a:ext cx="456623" cy="388696"/>
            </a:xfrm>
            <a:prstGeom prst="rect">
              <a:avLst/>
            </a:prstGeom>
            <a:solidFill>
              <a:schemeClr val="bg1"/>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cxnSp>
        <p:nvCxnSpPr>
          <p:cNvPr id="14" name="Connecteur droit 13"/>
          <p:cNvCxnSpPr/>
          <p:nvPr/>
        </p:nvCxnSpPr>
        <p:spPr>
          <a:xfrm flipV="1">
            <a:off x="2345631" y="5073185"/>
            <a:ext cx="232515" cy="455653"/>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2" name="Connecteur droit 41"/>
          <p:cNvCxnSpPr/>
          <p:nvPr/>
        </p:nvCxnSpPr>
        <p:spPr>
          <a:xfrm>
            <a:off x="2141918" y="5527913"/>
            <a:ext cx="208074"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46" name="Image 45"/>
          <p:cNvPicPr>
            <a:picLocks noChangeAspect="1"/>
          </p:cNvPicPr>
          <p:nvPr/>
        </p:nvPicPr>
        <p:blipFill rotWithShape="1">
          <a:blip r:embed="rId6"/>
          <a:srcRect l="20444"/>
          <a:stretch/>
        </p:blipFill>
        <p:spPr>
          <a:xfrm flipH="1">
            <a:off x="831322" y="3114015"/>
            <a:ext cx="779960" cy="2015299"/>
          </a:xfrm>
          <a:prstGeom prst="rect">
            <a:avLst/>
          </a:prstGeom>
        </p:spPr>
      </p:pic>
      <p:sp>
        <p:nvSpPr>
          <p:cNvPr id="55" name="Rectangle 54"/>
          <p:cNvSpPr/>
          <p:nvPr/>
        </p:nvSpPr>
        <p:spPr>
          <a:xfrm>
            <a:off x="5008657" y="5319823"/>
            <a:ext cx="1181690" cy="685059"/>
          </a:xfrm>
          <a:prstGeom prst="rect">
            <a:avLst/>
          </a:prstGeom>
        </p:spPr>
        <p:txBody>
          <a:bodyPr wrap="square">
            <a:spAutoFit/>
          </a:bodyPr>
          <a:lstStyle/>
          <a:p>
            <a:pPr algn="ctr">
              <a:lnSpc>
                <a:spcPct val="107000"/>
              </a:lnSpc>
              <a:spcAft>
                <a:spcPts val="600"/>
              </a:spcAft>
            </a:pPr>
            <a:r>
              <a:rPr lang="fr-FR" sz="1800" dirty="0">
                <a:solidFill>
                  <a:schemeClr val="tx1">
                    <a:lumMod val="75000"/>
                    <a:lumOff val="25000"/>
                  </a:schemeClr>
                </a:solidFill>
                <a:ea typeface="Yu Gothic Light" panose="020B0300000000000000" pitchFamily="34" charset="-128"/>
                <a:cs typeface="Times New Roman" panose="02020603050405020304" pitchFamily="18" charset="0"/>
              </a:rPr>
              <a:t>Data Scientist</a:t>
            </a:r>
          </a:p>
        </p:txBody>
      </p:sp>
      <p:grpSp>
        <p:nvGrpSpPr>
          <p:cNvPr id="18" name="Groupe 17"/>
          <p:cNvGrpSpPr/>
          <p:nvPr/>
        </p:nvGrpSpPr>
        <p:grpSpPr>
          <a:xfrm flipH="1">
            <a:off x="4746476" y="5238267"/>
            <a:ext cx="326438" cy="240499"/>
            <a:chOff x="6099805" y="6154395"/>
            <a:chExt cx="435250" cy="320665"/>
          </a:xfrm>
        </p:grpSpPr>
        <p:cxnSp>
          <p:nvCxnSpPr>
            <p:cNvPr id="56" name="Connecteur droit 55"/>
            <p:cNvCxnSpPr/>
            <p:nvPr/>
          </p:nvCxnSpPr>
          <p:spPr>
            <a:xfrm flipV="1">
              <a:off x="6371423" y="6154395"/>
              <a:ext cx="163632" cy="320665"/>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7" name="Connecteur droit 56"/>
            <p:cNvCxnSpPr/>
            <p:nvPr/>
          </p:nvCxnSpPr>
          <p:spPr>
            <a:xfrm>
              <a:off x="6099805" y="6473827"/>
              <a:ext cx="27743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58" name="Rectangle 57"/>
          <p:cNvSpPr/>
          <p:nvPr/>
        </p:nvSpPr>
        <p:spPr>
          <a:xfrm>
            <a:off x="2551392" y="5322080"/>
            <a:ext cx="1181690" cy="981423"/>
          </a:xfrm>
          <a:prstGeom prst="rect">
            <a:avLst/>
          </a:prstGeom>
        </p:spPr>
        <p:txBody>
          <a:bodyPr wrap="square">
            <a:spAutoFit/>
          </a:bodyPr>
          <a:lstStyle/>
          <a:p>
            <a:pPr algn="r">
              <a:lnSpc>
                <a:spcPct val="107000"/>
              </a:lnSpc>
              <a:spcAft>
                <a:spcPts val="600"/>
              </a:spcAft>
            </a:pPr>
            <a:r>
              <a:rPr lang="fr-FR" sz="1800" dirty="0">
                <a:solidFill>
                  <a:schemeClr val="tx1">
                    <a:lumMod val="75000"/>
                    <a:lumOff val="25000"/>
                  </a:schemeClr>
                </a:solidFill>
                <a:ea typeface="Yu Gothic Light" panose="020B0300000000000000" pitchFamily="34" charset="-128"/>
                <a:cs typeface="Times New Roman" panose="02020603050405020304" pitchFamily="18" charset="0"/>
              </a:rPr>
              <a:t>Responsable DataLab</a:t>
            </a:r>
          </a:p>
        </p:txBody>
      </p:sp>
      <p:grpSp>
        <p:nvGrpSpPr>
          <p:cNvPr id="59" name="Groupe 58"/>
          <p:cNvGrpSpPr/>
          <p:nvPr/>
        </p:nvGrpSpPr>
        <p:grpSpPr>
          <a:xfrm>
            <a:off x="3724011" y="5069473"/>
            <a:ext cx="402524" cy="389603"/>
            <a:chOff x="6099805" y="5955590"/>
            <a:chExt cx="536698" cy="519471"/>
          </a:xfrm>
        </p:grpSpPr>
        <p:cxnSp>
          <p:nvCxnSpPr>
            <p:cNvPr id="60" name="Connecteur droit 59"/>
            <p:cNvCxnSpPr/>
            <p:nvPr/>
          </p:nvCxnSpPr>
          <p:spPr>
            <a:xfrm flipV="1">
              <a:off x="6371423" y="5955590"/>
              <a:ext cx="265080" cy="519471"/>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1" name="Connecteur droit 60"/>
            <p:cNvCxnSpPr/>
            <p:nvPr/>
          </p:nvCxnSpPr>
          <p:spPr>
            <a:xfrm>
              <a:off x="6099805" y="6473827"/>
              <a:ext cx="27743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63" name="Rectangle 62"/>
          <p:cNvSpPr/>
          <p:nvPr/>
        </p:nvSpPr>
        <p:spPr>
          <a:xfrm>
            <a:off x="193933" y="4527566"/>
            <a:ext cx="701387" cy="367216"/>
          </a:xfrm>
          <a:prstGeom prst="rect">
            <a:avLst/>
          </a:prstGeom>
        </p:spPr>
        <p:txBody>
          <a:bodyPr wrap="square">
            <a:spAutoFit/>
          </a:bodyPr>
          <a:lstStyle/>
          <a:p>
            <a:pPr algn="r">
              <a:lnSpc>
                <a:spcPct val="107000"/>
              </a:lnSpc>
              <a:spcAft>
                <a:spcPts val="600"/>
              </a:spcAft>
            </a:pPr>
            <a:r>
              <a:rPr lang="fr-FR" sz="1800" dirty="0">
                <a:solidFill>
                  <a:schemeClr val="tx1">
                    <a:lumMod val="75000"/>
                    <a:lumOff val="25000"/>
                  </a:schemeClr>
                </a:solidFill>
                <a:ea typeface="Yu Gothic Light" panose="020B0300000000000000" pitchFamily="34" charset="-128"/>
                <a:cs typeface="Times New Roman" panose="02020603050405020304" pitchFamily="18" charset="0"/>
              </a:rPr>
              <a:t>CDO</a:t>
            </a:r>
          </a:p>
        </p:txBody>
      </p:sp>
      <p:grpSp>
        <p:nvGrpSpPr>
          <p:cNvPr id="64" name="Groupe 63"/>
          <p:cNvGrpSpPr/>
          <p:nvPr/>
        </p:nvGrpSpPr>
        <p:grpSpPr>
          <a:xfrm>
            <a:off x="901644" y="4567471"/>
            <a:ext cx="290146" cy="106121"/>
            <a:chOff x="6099805" y="6332333"/>
            <a:chExt cx="386861" cy="141494"/>
          </a:xfrm>
        </p:grpSpPr>
        <p:cxnSp>
          <p:nvCxnSpPr>
            <p:cNvPr id="65" name="Connecteur droit 64"/>
            <p:cNvCxnSpPr/>
            <p:nvPr/>
          </p:nvCxnSpPr>
          <p:spPr>
            <a:xfrm flipV="1">
              <a:off x="6373804" y="6332333"/>
              <a:ext cx="112862" cy="14114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6" name="Connecteur droit 65"/>
            <p:cNvCxnSpPr/>
            <p:nvPr/>
          </p:nvCxnSpPr>
          <p:spPr>
            <a:xfrm>
              <a:off x="6099805" y="6473827"/>
              <a:ext cx="27743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grpSp>
        <p:nvGrpSpPr>
          <p:cNvPr id="67" name="Groupe 66"/>
          <p:cNvGrpSpPr/>
          <p:nvPr/>
        </p:nvGrpSpPr>
        <p:grpSpPr>
          <a:xfrm rot="10800000" flipH="1">
            <a:off x="1284844" y="2889520"/>
            <a:ext cx="592853" cy="307361"/>
            <a:chOff x="6099805" y="6065245"/>
            <a:chExt cx="790470" cy="409815"/>
          </a:xfrm>
        </p:grpSpPr>
        <p:cxnSp>
          <p:nvCxnSpPr>
            <p:cNvPr id="68" name="Connecteur droit 67"/>
            <p:cNvCxnSpPr/>
            <p:nvPr/>
          </p:nvCxnSpPr>
          <p:spPr>
            <a:xfrm rot="10800000" flipH="1">
              <a:off x="6371423" y="6065245"/>
              <a:ext cx="518852" cy="409815"/>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9" name="Connecteur droit 68"/>
            <p:cNvCxnSpPr/>
            <p:nvPr/>
          </p:nvCxnSpPr>
          <p:spPr>
            <a:xfrm>
              <a:off x="6099805" y="6473827"/>
              <a:ext cx="27743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70" name="Rectangle 69"/>
          <p:cNvSpPr/>
          <p:nvPr/>
        </p:nvSpPr>
        <p:spPr>
          <a:xfrm>
            <a:off x="150850" y="2731757"/>
            <a:ext cx="1181690" cy="685059"/>
          </a:xfrm>
          <a:prstGeom prst="rect">
            <a:avLst/>
          </a:prstGeom>
        </p:spPr>
        <p:txBody>
          <a:bodyPr wrap="square">
            <a:spAutoFit/>
          </a:bodyPr>
          <a:lstStyle/>
          <a:p>
            <a:pPr algn="ctr">
              <a:lnSpc>
                <a:spcPct val="107000"/>
              </a:lnSpc>
              <a:spcAft>
                <a:spcPts val="600"/>
              </a:spcAft>
            </a:pPr>
            <a:r>
              <a:rPr lang="fr-FR" sz="1800" dirty="0">
                <a:solidFill>
                  <a:schemeClr val="tx1">
                    <a:lumMod val="75000"/>
                    <a:lumOff val="25000"/>
                  </a:schemeClr>
                </a:solidFill>
                <a:ea typeface="Yu Gothic Light" panose="020B0300000000000000" pitchFamily="34" charset="-128"/>
                <a:cs typeface="Times New Roman" panose="02020603050405020304" pitchFamily="18" charset="0"/>
              </a:rPr>
              <a:t>Data Engineer</a:t>
            </a:r>
          </a:p>
        </p:txBody>
      </p:sp>
      <p:sp>
        <p:nvSpPr>
          <p:cNvPr id="89" name="Rectangle 88"/>
          <p:cNvSpPr/>
          <p:nvPr/>
        </p:nvSpPr>
        <p:spPr>
          <a:xfrm>
            <a:off x="5749906" y="2342191"/>
            <a:ext cx="1181690" cy="685059"/>
          </a:xfrm>
          <a:prstGeom prst="rect">
            <a:avLst/>
          </a:prstGeom>
        </p:spPr>
        <p:txBody>
          <a:bodyPr wrap="square">
            <a:spAutoFit/>
          </a:bodyPr>
          <a:lstStyle/>
          <a:p>
            <a:pPr>
              <a:lnSpc>
                <a:spcPct val="107000"/>
              </a:lnSpc>
              <a:spcAft>
                <a:spcPts val="600"/>
              </a:spcAft>
            </a:pPr>
            <a:r>
              <a:rPr lang="fr-FR" sz="1800" dirty="0">
                <a:solidFill>
                  <a:schemeClr val="tx1">
                    <a:lumMod val="75000"/>
                    <a:lumOff val="25000"/>
                  </a:schemeClr>
                </a:solidFill>
                <a:ea typeface="Yu Gothic Light" panose="020B0300000000000000" pitchFamily="34" charset="-128"/>
                <a:cs typeface="Times New Roman" panose="02020603050405020304" pitchFamily="18" charset="0"/>
              </a:rPr>
              <a:t>Data </a:t>
            </a:r>
            <a:br>
              <a:rPr lang="fr-FR" sz="1800" dirty="0">
                <a:solidFill>
                  <a:schemeClr val="tx1">
                    <a:lumMod val="75000"/>
                    <a:lumOff val="25000"/>
                  </a:schemeClr>
                </a:solidFill>
                <a:ea typeface="Yu Gothic Light" panose="020B0300000000000000" pitchFamily="34" charset="-128"/>
                <a:cs typeface="Times New Roman" panose="02020603050405020304" pitchFamily="18" charset="0"/>
              </a:rPr>
            </a:br>
            <a:r>
              <a:rPr lang="fr-FR" sz="1800" dirty="0">
                <a:solidFill>
                  <a:schemeClr val="tx1">
                    <a:lumMod val="75000"/>
                    <a:lumOff val="25000"/>
                  </a:schemeClr>
                </a:solidFill>
                <a:ea typeface="Yu Gothic Light" panose="020B0300000000000000" pitchFamily="34" charset="-128"/>
                <a:cs typeface="Times New Roman" panose="02020603050405020304" pitchFamily="18" charset="0"/>
              </a:rPr>
              <a:t>Analyst</a:t>
            </a:r>
          </a:p>
        </p:txBody>
      </p:sp>
      <p:grpSp>
        <p:nvGrpSpPr>
          <p:cNvPr id="90" name="Groupe 89"/>
          <p:cNvGrpSpPr/>
          <p:nvPr/>
        </p:nvGrpSpPr>
        <p:grpSpPr>
          <a:xfrm flipH="1" flipV="1">
            <a:off x="5457405" y="2607824"/>
            <a:ext cx="301216" cy="329124"/>
            <a:chOff x="6099805" y="6036228"/>
            <a:chExt cx="401621" cy="438832"/>
          </a:xfrm>
        </p:grpSpPr>
        <p:cxnSp>
          <p:nvCxnSpPr>
            <p:cNvPr id="91" name="Connecteur droit 90"/>
            <p:cNvCxnSpPr/>
            <p:nvPr/>
          </p:nvCxnSpPr>
          <p:spPr>
            <a:xfrm flipV="1">
              <a:off x="6371423" y="6036228"/>
              <a:ext cx="130003" cy="438832"/>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92" name="Connecteur droit 91"/>
            <p:cNvCxnSpPr/>
            <p:nvPr/>
          </p:nvCxnSpPr>
          <p:spPr>
            <a:xfrm>
              <a:off x="6099805" y="6473827"/>
              <a:ext cx="27743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grpSp>
        <p:nvGrpSpPr>
          <p:cNvPr id="87" name="Groupe 86"/>
          <p:cNvGrpSpPr/>
          <p:nvPr/>
        </p:nvGrpSpPr>
        <p:grpSpPr>
          <a:xfrm>
            <a:off x="559081" y="1597264"/>
            <a:ext cx="5299520" cy="414060"/>
            <a:chOff x="745442" y="986685"/>
            <a:chExt cx="7066026" cy="552080"/>
          </a:xfrm>
        </p:grpSpPr>
        <p:grpSp>
          <p:nvGrpSpPr>
            <p:cNvPr id="88" name="Groupe 87"/>
            <p:cNvGrpSpPr/>
            <p:nvPr/>
          </p:nvGrpSpPr>
          <p:grpSpPr>
            <a:xfrm>
              <a:off x="745442" y="986685"/>
              <a:ext cx="7066026" cy="552080"/>
              <a:chOff x="2691257" y="529120"/>
              <a:chExt cx="7066026" cy="552080"/>
            </a:xfrm>
          </p:grpSpPr>
          <p:sp>
            <p:nvSpPr>
              <p:cNvPr id="98" name="Pentagone 97"/>
              <p:cNvSpPr/>
              <p:nvPr/>
            </p:nvSpPr>
            <p:spPr>
              <a:xfrm>
                <a:off x="2691257" y="667723"/>
                <a:ext cx="7066026" cy="28800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99" name="Ellipse 98"/>
              <p:cNvSpPr/>
              <p:nvPr/>
            </p:nvSpPr>
            <p:spPr>
              <a:xfrm>
                <a:off x="5381632" y="529121"/>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100" name="Ellipse 99"/>
              <p:cNvSpPr/>
              <p:nvPr/>
            </p:nvSpPr>
            <p:spPr>
              <a:xfrm>
                <a:off x="4264756"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101" name="Ellipse 100"/>
              <p:cNvSpPr/>
              <p:nvPr/>
            </p:nvSpPr>
            <p:spPr>
              <a:xfrm>
                <a:off x="3147880" y="529120"/>
                <a:ext cx="551453" cy="549030"/>
              </a:xfrm>
              <a:prstGeom prst="ellipse">
                <a:avLst/>
              </a:prstGeom>
              <a:solidFill>
                <a:schemeClr val="accent6"/>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102" name="Ellipse 101"/>
              <p:cNvSpPr/>
              <p:nvPr/>
            </p:nvSpPr>
            <p:spPr>
              <a:xfrm>
                <a:off x="6498508" y="529122"/>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nvGrpSpPr>
              <p:cNvPr id="103" name="Groupe 102"/>
              <p:cNvGrpSpPr/>
              <p:nvPr/>
            </p:nvGrpSpPr>
            <p:grpSpPr>
              <a:xfrm>
                <a:off x="8732261" y="529120"/>
                <a:ext cx="551453" cy="549030"/>
                <a:chOff x="9401004" y="529120"/>
                <a:chExt cx="551453" cy="549030"/>
              </a:xfrm>
            </p:grpSpPr>
            <p:sp>
              <p:nvSpPr>
                <p:cNvPr id="105" name="Ellipse 104"/>
                <p:cNvSpPr/>
                <p:nvPr/>
              </p:nvSpPr>
              <p:spPr>
                <a:xfrm>
                  <a:off x="9401004"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106" name="Image 105"/>
                <p:cNvPicPr>
                  <a:picLocks noChangeAspect="1"/>
                </p:cNvPicPr>
                <p:nvPr/>
              </p:nvPicPr>
              <p:blipFill>
                <a:blip r:embed="rId7"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9554466" y="667723"/>
                  <a:ext cx="288000" cy="288000"/>
                </a:xfrm>
                <a:prstGeom prst="rect">
                  <a:avLst/>
                </a:prstGeom>
              </p:spPr>
            </p:pic>
          </p:grpSp>
          <p:sp>
            <p:nvSpPr>
              <p:cNvPr id="104" name="Ellipse 103"/>
              <p:cNvSpPr/>
              <p:nvPr/>
            </p:nvSpPr>
            <p:spPr>
              <a:xfrm>
                <a:off x="7615384" y="53217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pic>
          <p:nvPicPr>
            <p:cNvPr id="93" name="Image 92"/>
            <p:cNvPicPr>
              <a:picLocks noChangeAspect="1"/>
            </p:cNvPicPr>
            <p:nvPr/>
          </p:nvPicPr>
          <p:blipFill>
            <a:blip r:embed="rId8"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443731" y="1100614"/>
              <a:ext cx="327273" cy="327273"/>
            </a:xfrm>
            <a:prstGeom prst="rect">
              <a:avLst/>
            </a:prstGeom>
          </p:spPr>
        </p:pic>
        <p:pic>
          <p:nvPicPr>
            <p:cNvPr id="94" name="Image 93"/>
            <p:cNvPicPr>
              <a:picLocks noChangeAspect="1"/>
            </p:cNvPicPr>
            <p:nvPr/>
          </p:nvPicPr>
          <p:blipFill>
            <a:blip r:embed="rId9" cstate="email">
              <a:duotone>
                <a:schemeClr val="accent3">
                  <a:shade val="45000"/>
                  <a:satMod val="135000"/>
                </a:schemeClr>
                <a:prstClr val="white"/>
              </a:duotone>
              <a:extLst>
                <a:ext uri="{28A0092B-C50C-407E-A947-70E740481C1C}">
                  <a14:useLocalDpi xmlns:a14="http://schemas.microsoft.com/office/drawing/2010/main"/>
                </a:ext>
              </a:extLst>
            </a:blip>
            <a:stretch>
              <a:fillRect/>
            </a:stretch>
          </p:blipFill>
          <p:spPr>
            <a:xfrm>
              <a:off x="3544243" y="1090534"/>
              <a:ext cx="360000" cy="360000"/>
            </a:xfrm>
            <a:prstGeom prst="rect">
              <a:avLst/>
            </a:prstGeom>
          </p:spPr>
        </p:pic>
        <p:pic>
          <p:nvPicPr>
            <p:cNvPr id="95" name="Image 94"/>
            <p:cNvPicPr>
              <a:picLocks noChangeAspect="1"/>
            </p:cNvPicPr>
            <p:nvPr/>
          </p:nvPicPr>
          <p:blipFill>
            <a:blip r:embed="rId10" cstate="print">
              <a:lum bright="70000" contrast="-70000"/>
              <a:extLst>
                <a:ext uri="{28A0092B-C50C-407E-A947-70E740481C1C}">
                  <a14:useLocalDpi xmlns:a14="http://schemas.microsoft.com/office/drawing/2010/main" val="0"/>
                </a:ext>
              </a:extLst>
            </a:blip>
            <a:stretch>
              <a:fillRect/>
            </a:stretch>
          </p:blipFill>
          <p:spPr>
            <a:xfrm flipH="1">
              <a:off x="5803634" y="1115767"/>
              <a:ext cx="297521" cy="297521"/>
            </a:xfrm>
            <a:prstGeom prst="rect">
              <a:avLst/>
            </a:prstGeom>
          </p:spPr>
        </p:pic>
        <p:pic>
          <p:nvPicPr>
            <p:cNvPr id="96" name="Image 95"/>
            <p:cNvPicPr>
              <a:picLocks noChangeAspect="1"/>
            </p:cNvPicPr>
            <p:nvPr/>
          </p:nvPicPr>
          <p:blipFill>
            <a:blip r:embed="rId11"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4651461" y="1079779"/>
              <a:ext cx="360000" cy="360000"/>
            </a:xfrm>
            <a:prstGeom prst="rect">
              <a:avLst/>
            </a:prstGeom>
          </p:spPr>
        </p:pic>
        <p:pic>
          <p:nvPicPr>
            <p:cNvPr id="97" name="Image 96"/>
            <p:cNvPicPr>
              <a:picLocks noChangeAspect="1"/>
            </p:cNvPicPr>
            <p:nvPr/>
          </p:nvPicPr>
          <p:blipFill>
            <a:blip r:embed="rId12" cstate="print">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val="0"/>
                </a:ext>
              </a:extLst>
            </a:blip>
            <a:stretch>
              <a:fillRect/>
            </a:stretch>
          </p:blipFill>
          <p:spPr>
            <a:xfrm>
              <a:off x="1301883" y="1097935"/>
              <a:ext cx="360000" cy="360000"/>
            </a:xfrm>
            <a:prstGeom prst="rect">
              <a:avLst/>
            </a:prstGeom>
          </p:spPr>
        </p:pic>
      </p:grpSp>
    </p:spTree>
    <p:extLst>
      <p:ext uri="{BB962C8B-B14F-4D97-AF65-F5344CB8AC3E}">
        <p14:creationId xmlns:p14="http://schemas.microsoft.com/office/powerpoint/2010/main" val="4180467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 name="Image 95"/>
          <p:cNvPicPr>
            <a:picLocks noChangeAspect="1"/>
          </p:cNvPicPr>
          <p:nvPr/>
        </p:nvPicPr>
        <p:blipFill>
          <a:blip r:embed="rId2">
            <a:duotone>
              <a:schemeClr val="accent3">
                <a:shade val="45000"/>
                <a:satMod val="135000"/>
              </a:schemeClr>
              <a:prstClr val="white"/>
            </a:duotone>
          </a:blip>
          <a:stretch>
            <a:fillRect/>
          </a:stretch>
        </p:blipFill>
        <p:spPr>
          <a:xfrm>
            <a:off x="5053903" y="2929768"/>
            <a:ext cx="937196" cy="1989877"/>
          </a:xfrm>
          <a:prstGeom prst="rect">
            <a:avLst/>
          </a:prstGeom>
        </p:spPr>
      </p:pic>
      <p:pic>
        <p:nvPicPr>
          <p:cNvPr id="2" name="Image 1"/>
          <p:cNvPicPr>
            <a:picLocks noChangeAspect="1"/>
          </p:cNvPicPr>
          <p:nvPr/>
        </p:nvPicPr>
        <p:blipFill>
          <a:blip r:embed="rId3">
            <a:duotone>
              <a:schemeClr val="accent3">
                <a:shade val="45000"/>
                <a:satMod val="135000"/>
              </a:schemeClr>
              <a:prstClr val="white"/>
            </a:duotone>
          </a:blip>
          <a:stretch>
            <a:fillRect/>
          </a:stretch>
        </p:blipFill>
        <p:spPr>
          <a:xfrm>
            <a:off x="829581" y="2884088"/>
            <a:ext cx="4430652" cy="2318205"/>
          </a:xfrm>
          <a:prstGeom prst="rect">
            <a:avLst/>
          </a:prstGeom>
        </p:spPr>
      </p:pic>
      <p:sp>
        <p:nvSpPr>
          <p:cNvPr id="47" name="Titre 46"/>
          <p:cNvSpPr>
            <a:spLocks noGrp="1"/>
          </p:cNvSpPr>
          <p:nvPr>
            <p:ph type="title"/>
          </p:nvPr>
        </p:nvSpPr>
        <p:spPr/>
        <p:txBody>
          <a:bodyPr/>
          <a:lstStyle/>
          <a:p>
            <a:r>
              <a:rPr lang="fr-FR" sz="1500" dirty="0">
                <a:latin typeface="+mn-lt"/>
              </a:rPr>
              <a:t>L’équipe DataLab – le Data Scientist </a:t>
            </a:r>
          </a:p>
        </p:txBody>
      </p:sp>
      <p:sp>
        <p:nvSpPr>
          <p:cNvPr id="48" name="Espace réservé du texte 47"/>
          <p:cNvSpPr>
            <a:spLocks noGrp="1"/>
          </p:cNvSpPr>
          <p:nvPr>
            <p:ph type="body" sz="quarter" idx="13"/>
          </p:nvPr>
        </p:nvSpPr>
        <p:spPr/>
        <p:txBody>
          <a:bodyPr/>
          <a:lstStyle/>
          <a:p>
            <a:endParaRPr lang="fr-FR" b="1" dirty="0"/>
          </a:p>
        </p:txBody>
      </p:sp>
      <p:sp>
        <p:nvSpPr>
          <p:cNvPr id="50" name="Espace réservé du texte 11"/>
          <p:cNvSpPr txBox="1">
            <a:spLocks/>
          </p:cNvSpPr>
          <p:nvPr/>
        </p:nvSpPr>
        <p:spPr>
          <a:xfrm>
            <a:off x="6593482" y="1953938"/>
            <a:ext cx="2455916" cy="3888969"/>
          </a:xfrm>
          <a:prstGeom prst="rect">
            <a:avLst/>
          </a:prstGeom>
        </p:spPr>
        <p:txBody>
          <a:bodyPr vert="horz" lIns="68580" tIns="34290" rIns="68580" bIns="34290" rtlCol="0" anchor="t">
            <a:normAutofit/>
          </a:bodyPr>
          <a:lstStyle>
            <a:defPPr>
              <a:defRPr lang="fr-FR"/>
            </a:defPPr>
            <a:lvl1pPr marL="0" algn="ctr" defTabSz="914400" rtl="0" eaLnBrk="1" latinLnBrk="0" hangingPunct="1">
              <a:defRPr sz="1050" kern="1200">
                <a:solidFill>
                  <a:schemeClr val="bg2">
                    <a:lumMod val="25000"/>
                  </a:schemeClr>
                </a:solidFill>
                <a:latin typeface="+mn-lt"/>
                <a:ea typeface="+mn-ea"/>
                <a:cs typeface="+mn-cs"/>
              </a:defRPr>
            </a:lvl1pPr>
            <a:lvl2pPr marL="457200" indent="0" algn="l" defTabSz="914400" rtl="0" eaLnBrk="1" latinLnBrk="0" hangingPunct="1">
              <a:buNone/>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4313" indent="-214313" algn="l">
              <a:buFont typeface="Arial" panose="020B0604020202020204" pitchFamily="34" charset="0"/>
              <a:buChar char="•"/>
            </a:pPr>
            <a:endParaRPr lang="fr-FR" dirty="0">
              <a:solidFill>
                <a:schemeClr val="bg1"/>
              </a:solidFill>
            </a:endParaRPr>
          </a:p>
        </p:txBody>
      </p:sp>
      <p:sp>
        <p:nvSpPr>
          <p:cNvPr id="51" name="ZoneTexte 50"/>
          <p:cNvSpPr txBox="1"/>
          <p:nvPr/>
        </p:nvSpPr>
        <p:spPr>
          <a:xfrm>
            <a:off x="6553404" y="1460730"/>
            <a:ext cx="2495994" cy="415498"/>
          </a:xfrm>
          <a:prstGeom prst="rect">
            <a:avLst/>
          </a:prstGeom>
          <a:noFill/>
        </p:spPr>
        <p:txBody>
          <a:bodyPr wrap="square" rtlCol="0">
            <a:spAutoFit/>
          </a:bodyPr>
          <a:lstStyle/>
          <a:p>
            <a:r>
              <a:rPr lang="fr-FR" sz="1050" b="1" dirty="0">
                <a:solidFill>
                  <a:schemeClr val="bg1"/>
                </a:solidFill>
                <a:latin typeface="Calibri" panose="020F0502020204030204" pitchFamily="34" charset="0"/>
              </a:rPr>
              <a:t>Notes pour la mise en œuvre (explication animation, images, effets…) :</a:t>
            </a:r>
          </a:p>
        </p:txBody>
      </p:sp>
      <p:pic>
        <p:nvPicPr>
          <p:cNvPr id="31" name="Image 30"/>
          <p:cNvPicPr>
            <a:picLocks noChangeAspect="1"/>
          </p:cNvPicPr>
          <p:nvPr/>
        </p:nvPicPr>
        <p:blipFill>
          <a:blip r:embed="rId4"/>
          <a:stretch>
            <a:fillRect/>
          </a:stretch>
        </p:blipFill>
        <p:spPr>
          <a:xfrm>
            <a:off x="6986934" y="5223488"/>
            <a:ext cx="1689112" cy="698341"/>
          </a:xfrm>
          <a:prstGeom prst="rect">
            <a:avLst/>
          </a:prstGeom>
        </p:spPr>
      </p:pic>
      <p:sp>
        <p:nvSpPr>
          <p:cNvPr id="55" name="Rectangle 54"/>
          <p:cNvSpPr/>
          <p:nvPr/>
        </p:nvSpPr>
        <p:spPr>
          <a:xfrm>
            <a:off x="5008657" y="5319823"/>
            <a:ext cx="1181690" cy="685059"/>
          </a:xfrm>
          <a:prstGeom prst="rect">
            <a:avLst/>
          </a:prstGeom>
        </p:spPr>
        <p:txBody>
          <a:bodyPr wrap="square">
            <a:spAutoFit/>
          </a:bodyPr>
          <a:lstStyle/>
          <a:p>
            <a:pPr algn="ctr">
              <a:lnSpc>
                <a:spcPct val="107000"/>
              </a:lnSpc>
              <a:spcAft>
                <a:spcPts val="600"/>
              </a:spcAft>
            </a:pPr>
            <a:r>
              <a:rPr lang="fr-FR" sz="1800" b="1" dirty="0">
                <a:solidFill>
                  <a:schemeClr val="tx1">
                    <a:lumMod val="75000"/>
                    <a:lumOff val="25000"/>
                  </a:schemeClr>
                </a:solidFill>
                <a:ea typeface="Yu Gothic Light" panose="020B0300000000000000" pitchFamily="34" charset="-128"/>
                <a:cs typeface="Times New Roman" panose="02020603050405020304" pitchFamily="18" charset="0"/>
              </a:rPr>
              <a:t>Data Scientist</a:t>
            </a:r>
          </a:p>
        </p:txBody>
      </p:sp>
      <p:grpSp>
        <p:nvGrpSpPr>
          <p:cNvPr id="18" name="Groupe 17"/>
          <p:cNvGrpSpPr/>
          <p:nvPr/>
        </p:nvGrpSpPr>
        <p:grpSpPr>
          <a:xfrm flipH="1">
            <a:off x="4746476" y="5238267"/>
            <a:ext cx="326438" cy="240499"/>
            <a:chOff x="6099805" y="6154395"/>
            <a:chExt cx="435250" cy="320665"/>
          </a:xfrm>
        </p:grpSpPr>
        <p:cxnSp>
          <p:nvCxnSpPr>
            <p:cNvPr id="56" name="Connecteur droit 55"/>
            <p:cNvCxnSpPr/>
            <p:nvPr/>
          </p:nvCxnSpPr>
          <p:spPr>
            <a:xfrm flipV="1">
              <a:off x="6371423" y="6154395"/>
              <a:ext cx="163632" cy="320665"/>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7" name="Connecteur droit 56"/>
            <p:cNvCxnSpPr/>
            <p:nvPr/>
          </p:nvCxnSpPr>
          <p:spPr>
            <a:xfrm>
              <a:off x="6099805" y="6473827"/>
              <a:ext cx="27743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pic>
        <p:nvPicPr>
          <p:cNvPr id="93" name="Image 92"/>
          <p:cNvPicPr>
            <a:picLocks noChangeAspect="1"/>
          </p:cNvPicPr>
          <p:nvPr/>
        </p:nvPicPr>
        <p:blipFill rotWithShape="1">
          <a:blip r:embed="rId3"/>
          <a:srcRect l="82695" r="2288"/>
          <a:stretch/>
        </p:blipFill>
        <p:spPr>
          <a:xfrm>
            <a:off x="4493521" y="2884088"/>
            <a:ext cx="665328" cy="2318205"/>
          </a:xfrm>
          <a:prstGeom prst="rect">
            <a:avLst/>
          </a:prstGeom>
        </p:spPr>
      </p:pic>
      <p:pic>
        <p:nvPicPr>
          <p:cNvPr id="95" name="Image 94"/>
          <p:cNvPicPr>
            <a:picLocks noChangeAspect="1"/>
          </p:cNvPicPr>
          <p:nvPr/>
        </p:nvPicPr>
        <p:blipFill rotWithShape="1">
          <a:blip r:embed="rId3"/>
          <a:srcRect l="79229" t="56069" r="16150"/>
          <a:stretch/>
        </p:blipFill>
        <p:spPr>
          <a:xfrm>
            <a:off x="4339983" y="4183892"/>
            <a:ext cx="204718" cy="1018401"/>
          </a:xfrm>
          <a:prstGeom prst="rect">
            <a:avLst/>
          </a:prstGeom>
        </p:spPr>
      </p:pic>
      <p:sp>
        <p:nvSpPr>
          <p:cNvPr id="3" name="Rectangle à coins arrondis 2"/>
          <p:cNvSpPr/>
          <p:nvPr/>
        </p:nvSpPr>
        <p:spPr>
          <a:xfrm>
            <a:off x="135522" y="4483126"/>
            <a:ext cx="4203511" cy="972842"/>
          </a:xfrm>
          <a:prstGeom prst="roundRect">
            <a:avLst/>
          </a:prstGeom>
          <a:solidFill>
            <a:schemeClr val="accent6"/>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dirty="0"/>
              <a:t>Le </a:t>
            </a:r>
            <a:r>
              <a:rPr lang="fr-FR" sz="1800" b="1" dirty="0"/>
              <a:t>DATA SCIENTIST </a:t>
            </a:r>
            <a:r>
              <a:rPr lang="fr-FR" sz="1800" dirty="0"/>
              <a:t>met au point les modèles de traitement des données et de production d’indicateurs </a:t>
            </a:r>
            <a:endParaRPr lang="fr-FR" sz="1800" b="1" dirty="0"/>
          </a:p>
        </p:txBody>
      </p:sp>
      <p:grpSp>
        <p:nvGrpSpPr>
          <p:cNvPr id="33" name="Groupe 32"/>
          <p:cNvGrpSpPr/>
          <p:nvPr/>
        </p:nvGrpSpPr>
        <p:grpSpPr>
          <a:xfrm>
            <a:off x="559081" y="1597264"/>
            <a:ext cx="5299520" cy="414060"/>
            <a:chOff x="745442" y="986685"/>
            <a:chExt cx="7066026" cy="552080"/>
          </a:xfrm>
        </p:grpSpPr>
        <p:grpSp>
          <p:nvGrpSpPr>
            <p:cNvPr id="34" name="Groupe 33"/>
            <p:cNvGrpSpPr/>
            <p:nvPr/>
          </p:nvGrpSpPr>
          <p:grpSpPr>
            <a:xfrm>
              <a:off x="745442" y="986685"/>
              <a:ext cx="7066026" cy="552080"/>
              <a:chOff x="2691257" y="529120"/>
              <a:chExt cx="7066026" cy="552080"/>
            </a:xfrm>
          </p:grpSpPr>
          <p:sp>
            <p:nvSpPr>
              <p:cNvPr id="40" name="Pentagone 39"/>
              <p:cNvSpPr/>
              <p:nvPr/>
            </p:nvSpPr>
            <p:spPr>
              <a:xfrm>
                <a:off x="2691257" y="667723"/>
                <a:ext cx="7066026" cy="28800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1" name="Ellipse 40"/>
              <p:cNvSpPr/>
              <p:nvPr/>
            </p:nvSpPr>
            <p:spPr>
              <a:xfrm>
                <a:off x="5381632" y="529121"/>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2" name="Ellipse 41"/>
              <p:cNvSpPr/>
              <p:nvPr/>
            </p:nvSpPr>
            <p:spPr>
              <a:xfrm>
                <a:off x="4264756"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3" name="Ellipse 42"/>
              <p:cNvSpPr/>
              <p:nvPr/>
            </p:nvSpPr>
            <p:spPr>
              <a:xfrm>
                <a:off x="3147880" y="529120"/>
                <a:ext cx="551453" cy="549030"/>
              </a:xfrm>
              <a:prstGeom prst="ellipse">
                <a:avLst/>
              </a:prstGeom>
              <a:solidFill>
                <a:schemeClr val="accent6"/>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4" name="Ellipse 43"/>
              <p:cNvSpPr/>
              <p:nvPr/>
            </p:nvSpPr>
            <p:spPr>
              <a:xfrm>
                <a:off x="6498508" y="529122"/>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nvGrpSpPr>
              <p:cNvPr id="45" name="Groupe 44"/>
              <p:cNvGrpSpPr/>
              <p:nvPr/>
            </p:nvGrpSpPr>
            <p:grpSpPr>
              <a:xfrm>
                <a:off x="8732261" y="529120"/>
                <a:ext cx="551453" cy="549030"/>
                <a:chOff x="9401004" y="529120"/>
                <a:chExt cx="551453" cy="549030"/>
              </a:xfrm>
            </p:grpSpPr>
            <p:sp>
              <p:nvSpPr>
                <p:cNvPr id="52" name="Ellipse 51"/>
                <p:cNvSpPr/>
                <p:nvPr/>
              </p:nvSpPr>
              <p:spPr>
                <a:xfrm>
                  <a:off x="9401004"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53" name="Image 52"/>
                <p:cNvPicPr>
                  <a:picLocks noChangeAspect="1"/>
                </p:cNvPicPr>
                <p:nvPr/>
              </p:nvPicPr>
              <p:blipFill>
                <a:blip r:embed="rId5"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9554466" y="667723"/>
                  <a:ext cx="288000" cy="288000"/>
                </a:xfrm>
                <a:prstGeom prst="rect">
                  <a:avLst/>
                </a:prstGeom>
              </p:spPr>
            </p:pic>
          </p:grpSp>
          <p:sp>
            <p:nvSpPr>
              <p:cNvPr id="46" name="Ellipse 45"/>
              <p:cNvSpPr/>
              <p:nvPr/>
            </p:nvSpPr>
            <p:spPr>
              <a:xfrm>
                <a:off x="7615384" y="53217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pic>
          <p:nvPicPr>
            <p:cNvPr id="35" name="Image 34"/>
            <p:cNvPicPr>
              <a:picLocks noChangeAspect="1"/>
            </p:cNvPicPr>
            <p:nvPr/>
          </p:nvPicPr>
          <p:blipFill>
            <a:blip r:embed="rId6"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443731" y="1100614"/>
              <a:ext cx="327273" cy="327273"/>
            </a:xfrm>
            <a:prstGeom prst="rect">
              <a:avLst/>
            </a:prstGeom>
          </p:spPr>
        </p:pic>
        <p:pic>
          <p:nvPicPr>
            <p:cNvPr id="36" name="Image 35"/>
            <p:cNvPicPr>
              <a:picLocks noChangeAspect="1"/>
            </p:cNvPicPr>
            <p:nvPr/>
          </p:nvPicPr>
          <p:blipFill>
            <a:blip r:embed="rId7" cstate="email">
              <a:duotone>
                <a:schemeClr val="accent3">
                  <a:shade val="45000"/>
                  <a:satMod val="135000"/>
                </a:schemeClr>
                <a:prstClr val="white"/>
              </a:duotone>
              <a:extLst>
                <a:ext uri="{28A0092B-C50C-407E-A947-70E740481C1C}">
                  <a14:useLocalDpi xmlns:a14="http://schemas.microsoft.com/office/drawing/2010/main"/>
                </a:ext>
              </a:extLst>
            </a:blip>
            <a:stretch>
              <a:fillRect/>
            </a:stretch>
          </p:blipFill>
          <p:spPr>
            <a:xfrm>
              <a:off x="3544243" y="1090534"/>
              <a:ext cx="360000" cy="360000"/>
            </a:xfrm>
            <a:prstGeom prst="rect">
              <a:avLst/>
            </a:prstGeom>
          </p:spPr>
        </p:pic>
        <p:pic>
          <p:nvPicPr>
            <p:cNvPr id="37" name="Image 36"/>
            <p:cNvPicPr>
              <a:picLocks noChangeAspect="1"/>
            </p:cNvPicPr>
            <p:nvPr/>
          </p:nvPicPr>
          <p:blipFill>
            <a:blip r:embed="rId8" cstate="print">
              <a:lum bright="70000" contrast="-70000"/>
              <a:extLst>
                <a:ext uri="{28A0092B-C50C-407E-A947-70E740481C1C}">
                  <a14:useLocalDpi xmlns:a14="http://schemas.microsoft.com/office/drawing/2010/main" val="0"/>
                </a:ext>
              </a:extLst>
            </a:blip>
            <a:stretch>
              <a:fillRect/>
            </a:stretch>
          </p:blipFill>
          <p:spPr>
            <a:xfrm flipH="1">
              <a:off x="5803634" y="1115767"/>
              <a:ext cx="297521" cy="297521"/>
            </a:xfrm>
            <a:prstGeom prst="rect">
              <a:avLst/>
            </a:prstGeom>
          </p:spPr>
        </p:pic>
        <p:pic>
          <p:nvPicPr>
            <p:cNvPr id="38" name="Image 37"/>
            <p:cNvPicPr>
              <a:picLocks noChangeAspect="1"/>
            </p:cNvPicPr>
            <p:nvPr/>
          </p:nvPicPr>
          <p:blipFill>
            <a:blip r:embed="rId9"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4651461" y="1079779"/>
              <a:ext cx="360000" cy="360000"/>
            </a:xfrm>
            <a:prstGeom prst="rect">
              <a:avLst/>
            </a:prstGeom>
          </p:spPr>
        </p:pic>
        <p:pic>
          <p:nvPicPr>
            <p:cNvPr id="39" name="Image 38"/>
            <p:cNvPicPr>
              <a:picLocks noChangeAspect="1"/>
            </p:cNvPicPr>
            <p:nvPr/>
          </p:nvPicPr>
          <p:blipFill>
            <a:blip r:embed="rId10" cstate="print">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val="0"/>
                </a:ext>
              </a:extLst>
            </a:blip>
            <a:stretch>
              <a:fillRect/>
            </a:stretch>
          </p:blipFill>
          <p:spPr>
            <a:xfrm>
              <a:off x="1301883" y="1097935"/>
              <a:ext cx="360000" cy="360000"/>
            </a:xfrm>
            <a:prstGeom prst="rect">
              <a:avLst/>
            </a:prstGeom>
          </p:spPr>
        </p:pic>
      </p:grpSp>
    </p:spTree>
    <p:extLst>
      <p:ext uri="{BB962C8B-B14F-4D97-AF65-F5344CB8AC3E}">
        <p14:creationId xmlns:p14="http://schemas.microsoft.com/office/powerpoint/2010/main" val="3360506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Image 53"/>
          <p:cNvPicPr>
            <a:picLocks noChangeAspect="1"/>
          </p:cNvPicPr>
          <p:nvPr/>
        </p:nvPicPr>
        <p:blipFill>
          <a:blip r:embed="rId2">
            <a:duotone>
              <a:schemeClr val="accent3">
                <a:shade val="45000"/>
                <a:satMod val="135000"/>
              </a:schemeClr>
              <a:prstClr val="white"/>
            </a:duotone>
          </a:blip>
          <a:stretch>
            <a:fillRect/>
          </a:stretch>
        </p:blipFill>
        <p:spPr>
          <a:xfrm>
            <a:off x="5053903" y="2929768"/>
            <a:ext cx="937196" cy="1989877"/>
          </a:xfrm>
          <a:prstGeom prst="rect">
            <a:avLst/>
          </a:prstGeom>
        </p:spPr>
      </p:pic>
      <p:pic>
        <p:nvPicPr>
          <p:cNvPr id="2" name="Image 1"/>
          <p:cNvPicPr>
            <a:picLocks noChangeAspect="1"/>
          </p:cNvPicPr>
          <p:nvPr/>
        </p:nvPicPr>
        <p:blipFill>
          <a:blip r:embed="rId3">
            <a:duotone>
              <a:schemeClr val="accent3">
                <a:shade val="45000"/>
                <a:satMod val="135000"/>
              </a:schemeClr>
              <a:prstClr val="white"/>
            </a:duotone>
          </a:blip>
          <a:stretch>
            <a:fillRect/>
          </a:stretch>
        </p:blipFill>
        <p:spPr>
          <a:xfrm>
            <a:off x="850053" y="2884088"/>
            <a:ext cx="4430652" cy="2318205"/>
          </a:xfrm>
          <a:prstGeom prst="rect">
            <a:avLst/>
          </a:prstGeom>
        </p:spPr>
      </p:pic>
      <p:sp>
        <p:nvSpPr>
          <p:cNvPr id="47" name="Titre 46"/>
          <p:cNvSpPr>
            <a:spLocks noGrp="1"/>
          </p:cNvSpPr>
          <p:nvPr>
            <p:ph type="title"/>
          </p:nvPr>
        </p:nvSpPr>
        <p:spPr/>
        <p:txBody>
          <a:bodyPr/>
          <a:lstStyle/>
          <a:p>
            <a:r>
              <a:rPr lang="fr-FR" sz="1500" dirty="0">
                <a:latin typeface="+mn-lt"/>
              </a:rPr>
              <a:t>L’équipe DataLab – le Data Steward </a:t>
            </a:r>
          </a:p>
        </p:txBody>
      </p:sp>
      <p:sp>
        <p:nvSpPr>
          <p:cNvPr id="48" name="Espace réservé du texte 47"/>
          <p:cNvSpPr>
            <a:spLocks noGrp="1"/>
          </p:cNvSpPr>
          <p:nvPr>
            <p:ph type="body" sz="quarter" idx="13"/>
          </p:nvPr>
        </p:nvSpPr>
        <p:spPr/>
        <p:txBody>
          <a:bodyPr/>
          <a:lstStyle/>
          <a:p>
            <a:endParaRPr lang="fr-FR" b="1" dirty="0"/>
          </a:p>
        </p:txBody>
      </p:sp>
      <p:sp>
        <p:nvSpPr>
          <p:cNvPr id="50" name="Espace réservé du texte 11"/>
          <p:cNvSpPr txBox="1">
            <a:spLocks/>
          </p:cNvSpPr>
          <p:nvPr/>
        </p:nvSpPr>
        <p:spPr>
          <a:xfrm>
            <a:off x="6593482" y="1953938"/>
            <a:ext cx="2455916" cy="3888969"/>
          </a:xfrm>
          <a:prstGeom prst="rect">
            <a:avLst/>
          </a:prstGeom>
        </p:spPr>
        <p:txBody>
          <a:bodyPr vert="horz" lIns="68580" tIns="34290" rIns="68580" bIns="34290" rtlCol="0" anchor="t">
            <a:normAutofit/>
          </a:bodyPr>
          <a:lstStyle>
            <a:defPPr>
              <a:defRPr lang="fr-FR"/>
            </a:defPPr>
            <a:lvl1pPr marL="0" algn="ctr" defTabSz="914400" rtl="0" eaLnBrk="1" latinLnBrk="0" hangingPunct="1">
              <a:defRPr sz="1050" kern="1200">
                <a:solidFill>
                  <a:schemeClr val="bg2">
                    <a:lumMod val="25000"/>
                  </a:schemeClr>
                </a:solidFill>
                <a:latin typeface="+mn-lt"/>
                <a:ea typeface="+mn-ea"/>
                <a:cs typeface="+mn-cs"/>
              </a:defRPr>
            </a:lvl1pPr>
            <a:lvl2pPr marL="457200" indent="0" algn="l" defTabSz="914400" rtl="0" eaLnBrk="1" latinLnBrk="0" hangingPunct="1">
              <a:buNone/>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4313" indent="-214313" algn="l">
              <a:buFont typeface="Arial" panose="020B0604020202020204" pitchFamily="34" charset="0"/>
              <a:buChar char="•"/>
            </a:pPr>
            <a:endParaRPr lang="fr-FR" dirty="0">
              <a:solidFill>
                <a:schemeClr val="bg1"/>
              </a:solidFill>
            </a:endParaRPr>
          </a:p>
        </p:txBody>
      </p:sp>
      <p:sp>
        <p:nvSpPr>
          <p:cNvPr id="51" name="ZoneTexte 50"/>
          <p:cNvSpPr txBox="1"/>
          <p:nvPr/>
        </p:nvSpPr>
        <p:spPr>
          <a:xfrm>
            <a:off x="6553404" y="1460730"/>
            <a:ext cx="2495994" cy="415498"/>
          </a:xfrm>
          <a:prstGeom prst="rect">
            <a:avLst/>
          </a:prstGeom>
          <a:noFill/>
        </p:spPr>
        <p:txBody>
          <a:bodyPr wrap="square" rtlCol="0">
            <a:spAutoFit/>
          </a:bodyPr>
          <a:lstStyle/>
          <a:p>
            <a:r>
              <a:rPr lang="fr-FR" sz="1050" b="1" dirty="0">
                <a:solidFill>
                  <a:schemeClr val="bg1"/>
                </a:solidFill>
                <a:latin typeface="Calibri" panose="020F0502020204030204" pitchFamily="34" charset="0"/>
              </a:rPr>
              <a:t>Notes pour la mise en œuvre (explication animation, images, effets…) :</a:t>
            </a:r>
          </a:p>
        </p:txBody>
      </p:sp>
      <p:pic>
        <p:nvPicPr>
          <p:cNvPr id="31" name="Image 30"/>
          <p:cNvPicPr>
            <a:picLocks noChangeAspect="1"/>
          </p:cNvPicPr>
          <p:nvPr/>
        </p:nvPicPr>
        <p:blipFill>
          <a:blip r:embed="rId4"/>
          <a:stretch>
            <a:fillRect/>
          </a:stretch>
        </p:blipFill>
        <p:spPr>
          <a:xfrm>
            <a:off x="6986934" y="5223488"/>
            <a:ext cx="1689112" cy="698341"/>
          </a:xfrm>
          <a:prstGeom prst="rect">
            <a:avLst/>
          </a:prstGeom>
        </p:spPr>
      </p:pic>
      <p:sp>
        <p:nvSpPr>
          <p:cNvPr id="36" name="Rectangle 35"/>
          <p:cNvSpPr/>
          <p:nvPr/>
        </p:nvSpPr>
        <p:spPr>
          <a:xfrm>
            <a:off x="998806" y="5380010"/>
            <a:ext cx="1181690" cy="685059"/>
          </a:xfrm>
          <a:prstGeom prst="rect">
            <a:avLst/>
          </a:prstGeom>
        </p:spPr>
        <p:txBody>
          <a:bodyPr wrap="square">
            <a:spAutoFit/>
          </a:bodyPr>
          <a:lstStyle/>
          <a:p>
            <a:pPr algn="ctr">
              <a:lnSpc>
                <a:spcPct val="107000"/>
              </a:lnSpc>
              <a:spcAft>
                <a:spcPts val="600"/>
              </a:spcAft>
            </a:pPr>
            <a:r>
              <a:rPr lang="fr-FR" sz="1800" b="1" dirty="0">
                <a:solidFill>
                  <a:schemeClr val="tx1">
                    <a:lumMod val="75000"/>
                    <a:lumOff val="25000"/>
                  </a:schemeClr>
                </a:solidFill>
                <a:ea typeface="Yu Gothic Light" panose="020B0300000000000000" pitchFamily="34" charset="-128"/>
                <a:cs typeface="Times New Roman" panose="02020603050405020304" pitchFamily="18" charset="0"/>
              </a:rPr>
              <a:t>Data Steward</a:t>
            </a:r>
          </a:p>
        </p:txBody>
      </p:sp>
      <p:cxnSp>
        <p:nvCxnSpPr>
          <p:cNvPr id="14" name="Connecteur droit 13"/>
          <p:cNvCxnSpPr/>
          <p:nvPr/>
        </p:nvCxnSpPr>
        <p:spPr>
          <a:xfrm flipV="1">
            <a:off x="2345631" y="5073185"/>
            <a:ext cx="232515" cy="455653"/>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2" name="Connecteur droit 41"/>
          <p:cNvCxnSpPr/>
          <p:nvPr/>
        </p:nvCxnSpPr>
        <p:spPr>
          <a:xfrm>
            <a:off x="2141918" y="5527913"/>
            <a:ext cx="208074"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93" name="Image 92"/>
          <p:cNvPicPr>
            <a:picLocks noChangeAspect="1"/>
          </p:cNvPicPr>
          <p:nvPr/>
        </p:nvPicPr>
        <p:blipFill rotWithShape="1">
          <a:blip r:embed="rId3"/>
          <a:srcRect l="33945" r="52655"/>
          <a:stretch/>
        </p:blipFill>
        <p:spPr>
          <a:xfrm>
            <a:off x="2354234" y="2884088"/>
            <a:ext cx="593678" cy="2318205"/>
          </a:xfrm>
          <a:prstGeom prst="rect">
            <a:avLst/>
          </a:prstGeom>
        </p:spPr>
      </p:pic>
      <p:sp>
        <p:nvSpPr>
          <p:cNvPr id="53" name="Rectangle à coins arrondis 52"/>
          <p:cNvSpPr/>
          <p:nvPr/>
        </p:nvSpPr>
        <p:spPr>
          <a:xfrm>
            <a:off x="3527164" y="4129135"/>
            <a:ext cx="2822322" cy="1542397"/>
          </a:xfrm>
          <a:prstGeom prst="roundRect">
            <a:avLst>
              <a:gd name="adj" fmla="val 10031"/>
            </a:avLst>
          </a:prstGeom>
          <a:solidFill>
            <a:schemeClr val="accent6"/>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t>Le </a:t>
            </a:r>
            <a:r>
              <a:rPr lang="fr-FR" sz="1400" b="1" dirty="0"/>
              <a:t>DATA STEWARD </a:t>
            </a:r>
            <a:r>
              <a:rPr lang="fr-FR" sz="1400" dirty="0"/>
              <a:t>vous accompagne sur l’organisation et </a:t>
            </a:r>
            <a:br>
              <a:rPr lang="fr-FR" sz="1400" dirty="0"/>
            </a:br>
            <a:r>
              <a:rPr lang="fr-FR" sz="1400" dirty="0"/>
              <a:t>la gestion des données </a:t>
            </a:r>
            <a:br>
              <a:rPr lang="fr-FR" sz="1400" dirty="0"/>
            </a:br>
            <a:r>
              <a:rPr lang="fr-FR" sz="1400" dirty="0"/>
              <a:t>dans le DataLake. Il vous guide pour identifier les données disponibles pour vos besoins.</a:t>
            </a:r>
            <a:endParaRPr lang="fr-FR" sz="1400" b="1" dirty="0"/>
          </a:p>
        </p:txBody>
      </p:sp>
      <p:grpSp>
        <p:nvGrpSpPr>
          <p:cNvPr id="32" name="Groupe 31"/>
          <p:cNvGrpSpPr/>
          <p:nvPr/>
        </p:nvGrpSpPr>
        <p:grpSpPr>
          <a:xfrm>
            <a:off x="559081" y="1597264"/>
            <a:ext cx="5299520" cy="414060"/>
            <a:chOff x="745442" y="986685"/>
            <a:chExt cx="7066026" cy="552080"/>
          </a:xfrm>
        </p:grpSpPr>
        <p:grpSp>
          <p:nvGrpSpPr>
            <p:cNvPr id="33" name="Groupe 32"/>
            <p:cNvGrpSpPr/>
            <p:nvPr/>
          </p:nvGrpSpPr>
          <p:grpSpPr>
            <a:xfrm>
              <a:off x="745442" y="986685"/>
              <a:ext cx="7066026" cy="552080"/>
              <a:chOff x="2691257" y="529120"/>
              <a:chExt cx="7066026" cy="552080"/>
            </a:xfrm>
          </p:grpSpPr>
          <p:sp>
            <p:nvSpPr>
              <p:cNvPr id="40" name="Pentagone 39"/>
              <p:cNvSpPr/>
              <p:nvPr/>
            </p:nvSpPr>
            <p:spPr>
              <a:xfrm>
                <a:off x="2691257" y="667723"/>
                <a:ext cx="7066026" cy="28800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1" name="Ellipse 40"/>
              <p:cNvSpPr/>
              <p:nvPr/>
            </p:nvSpPr>
            <p:spPr>
              <a:xfrm>
                <a:off x="5381632" y="529121"/>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3" name="Ellipse 42"/>
              <p:cNvSpPr/>
              <p:nvPr/>
            </p:nvSpPr>
            <p:spPr>
              <a:xfrm>
                <a:off x="4264756"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4" name="Ellipse 43"/>
              <p:cNvSpPr/>
              <p:nvPr/>
            </p:nvSpPr>
            <p:spPr>
              <a:xfrm>
                <a:off x="3147880" y="529120"/>
                <a:ext cx="551453" cy="549030"/>
              </a:xfrm>
              <a:prstGeom prst="ellipse">
                <a:avLst/>
              </a:prstGeom>
              <a:solidFill>
                <a:schemeClr val="accent6"/>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5" name="Ellipse 44"/>
              <p:cNvSpPr/>
              <p:nvPr/>
            </p:nvSpPr>
            <p:spPr>
              <a:xfrm>
                <a:off x="6498508" y="529122"/>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nvGrpSpPr>
              <p:cNvPr id="46" name="Groupe 45"/>
              <p:cNvGrpSpPr/>
              <p:nvPr/>
            </p:nvGrpSpPr>
            <p:grpSpPr>
              <a:xfrm>
                <a:off x="8732261" y="529120"/>
                <a:ext cx="551453" cy="549030"/>
                <a:chOff x="9401004" y="529120"/>
                <a:chExt cx="551453" cy="549030"/>
              </a:xfrm>
            </p:grpSpPr>
            <p:sp>
              <p:nvSpPr>
                <p:cNvPr id="55" name="Ellipse 54"/>
                <p:cNvSpPr/>
                <p:nvPr/>
              </p:nvSpPr>
              <p:spPr>
                <a:xfrm>
                  <a:off x="9401004"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56" name="Image 55"/>
                <p:cNvPicPr>
                  <a:picLocks noChangeAspect="1"/>
                </p:cNvPicPr>
                <p:nvPr/>
              </p:nvPicPr>
              <p:blipFill>
                <a:blip r:embed="rId5"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9554466" y="667723"/>
                  <a:ext cx="288000" cy="288000"/>
                </a:xfrm>
                <a:prstGeom prst="rect">
                  <a:avLst/>
                </a:prstGeom>
              </p:spPr>
            </p:pic>
          </p:grpSp>
          <p:sp>
            <p:nvSpPr>
              <p:cNvPr id="52" name="Ellipse 51"/>
              <p:cNvSpPr/>
              <p:nvPr/>
            </p:nvSpPr>
            <p:spPr>
              <a:xfrm>
                <a:off x="7615384" y="53217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pic>
          <p:nvPicPr>
            <p:cNvPr id="34" name="Image 33"/>
            <p:cNvPicPr>
              <a:picLocks noChangeAspect="1"/>
            </p:cNvPicPr>
            <p:nvPr/>
          </p:nvPicPr>
          <p:blipFill>
            <a:blip r:embed="rId6"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443731" y="1100614"/>
              <a:ext cx="327273" cy="327273"/>
            </a:xfrm>
            <a:prstGeom prst="rect">
              <a:avLst/>
            </a:prstGeom>
          </p:spPr>
        </p:pic>
        <p:pic>
          <p:nvPicPr>
            <p:cNvPr id="35" name="Image 34"/>
            <p:cNvPicPr>
              <a:picLocks noChangeAspect="1"/>
            </p:cNvPicPr>
            <p:nvPr/>
          </p:nvPicPr>
          <p:blipFill>
            <a:blip r:embed="rId7" cstate="email">
              <a:duotone>
                <a:schemeClr val="accent3">
                  <a:shade val="45000"/>
                  <a:satMod val="135000"/>
                </a:schemeClr>
                <a:prstClr val="white"/>
              </a:duotone>
              <a:extLst>
                <a:ext uri="{28A0092B-C50C-407E-A947-70E740481C1C}">
                  <a14:useLocalDpi xmlns:a14="http://schemas.microsoft.com/office/drawing/2010/main"/>
                </a:ext>
              </a:extLst>
            </a:blip>
            <a:stretch>
              <a:fillRect/>
            </a:stretch>
          </p:blipFill>
          <p:spPr>
            <a:xfrm>
              <a:off x="3544243" y="1090534"/>
              <a:ext cx="360000" cy="360000"/>
            </a:xfrm>
            <a:prstGeom prst="rect">
              <a:avLst/>
            </a:prstGeom>
          </p:spPr>
        </p:pic>
        <p:pic>
          <p:nvPicPr>
            <p:cNvPr id="37" name="Image 36"/>
            <p:cNvPicPr>
              <a:picLocks noChangeAspect="1"/>
            </p:cNvPicPr>
            <p:nvPr/>
          </p:nvPicPr>
          <p:blipFill>
            <a:blip r:embed="rId8" cstate="print">
              <a:lum bright="70000" contrast="-70000"/>
              <a:extLst>
                <a:ext uri="{28A0092B-C50C-407E-A947-70E740481C1C}">
                  <a14:useLocalDpi xmlns:a14="http://schemas.microsoft.com/office/drawing/2010/main" val="0"/>
                </a:ext>
              </a:extLst>
            </a:blip>
            <a:stretch>
              <a:fillRect/>
            </a:stretch>
          </p:blipFill>
          <p:spPr>
            <a:xfrm flipH="1">
              <a:off x="5803634" y="1115767"/>
              <a:ext cx="297521" cy="297521"/>
            </a:xfrm>
            <a:prstGeom prst="rect">
              <a:avLst/>
            </a:prstGeom>
          </p:spPr>
        </p:pic>
        <p:pic>
          <p:nvPicPr>
            <p:cNvPr id="38" name="Image 37"/>
            <p:cNvPicPr>
              <a:picLocks noChangeAspect="1"/>
            </p:cNvPicPr>
            <p:nvPr/>
          </p:nvPicPr>
          <p:blipFill>
            <a:blip r:embed="rId9"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4651461" y="1079779"/>
              <a:ext cx="360000" cy="360000"/>
            </a:xfrm>
            <a:prstGeom prst="rect">
              <a:avLst/>
            </a:prstGeom>
          </p:spPr>
        </p:pic>
        <p:pic>
          <p:nvPicPr>
            <p:cNvPr id="39" name="Image 38"/>
            <p:cNvPicPr>
              <a:picLocks noChangeAspect="1"/>
            </p:cNvPicPr>
            <p:nvPr/>
          </p:nvPicPr>
          <p:blipFill>
            <a:blip r:embed="rId10" cstate="print">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val="0"/>
                </a:ext>
              </a:extLst>
            </a:blip>
            <a:stretch>
              <a:fillRect/>
            </a:stretch>
          </p:blipFill>
          <p:spPr>
            <a:xfrm>
              <a:off x="1301883" y="1097935"/>
              <a:ext cx="360000" cy="360000"/>
            </a:xfrm>
            <a:prstGeom prst="rect">
              <a:avLst/>
            </a:prstGeom>
          </p:spPr>
        </p:pic>
      </p:grpSp>
    </p:spTree>
    <p:extLst>
      <p:ext uri="{BB962C8B-B14F-4D97-AF65-F5344CB8AC3E}">
        <p14:creationId xmlns:p14="http://schemas.microsoft.com/office/powerpoint/2010/main" val="4215992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 name="Image 90"/>
          <p:cNvPicPr>
            <a:picLocks noChangeAspect="1"/>
          </p:cNvPicPr>
          <p:nvPr/>
        </p:nvPicPr>
        <p:blipFill>
          <a:blip r:embed="rId2">
            <a:duotone>
              <a:schemeClr val="accent3">
                <a:shade val="45000"/>
                <a:satMod val="135000"/>
              </a:schemeClr>
              <a:prstClr val="white"/>
            </a:duotone>
          </a:blip>
          <a:stretch>
            <a:fillRect/>
          </a:stretch>
        </p:blipFill>
        <p:spPr>
          <a:xfrm>
            <a:off x="5053903" y="2929768"/>
            <a:ext cx="937196" cy="1989877"/>
          </a:xfrm>
          <a:prstGeom prst="rect">
            <a:avLst/>
          </a:prstGeom>
        </p:spPr>
      </p:pic>
      <p:pic>
        <p:nvPicPr>
          <p:cNvPr id="2" name="Image 1"/>
          <p:cNvPicPr>
            <a:picLocks noChangeAspect="1"/>
          </p:cNvPicPr>
          <p:nvPr/>
        </p:nvPicPr>
        <p:blipFill>
          <a:blip r:embed="rId3">
            <a:duotone>
              <a:schemeClr val="accent3">
                <a:shade val="45000"/>
                <a:satMod val="135000"/>
              </a:schemeClr>
              <a:prstClr val="white"/>
            </a:duotone>
          </a:blip>
          <a:stretch>
            <a:fillRect/>
          </a:stretch>
        </p:blipFill>
        <p:spPr>
          <a:xfrm>
            <a:off x="839817" y="2884088"/>
            <a:ext cx="4430652" cy="2318205"/>
          </a:xfrm>
          <a:prstGeom prst="rect">
            <a:avLst/>
          </a:prstGeom>
        </p:spPr>
      </p:pic>
      <p:sp>
        <p:nvSpPr>
          <p:cNvPr id="47" name="Titre 46"/>
          <p:cNvSpPr>
            <a:spLocks noGrp="1"/>
          </p:cNvSpPr>
          <p:nvPr>
            <p:ph type="title"/>
          </p:nvPr>
        </p:nvSpPr>
        <p:spPr/>
        <p:txBody>
          <a:bodyPr/>
          <a:lstStyle/>
          <a:p>
            <a:r>
              <a:rPr lang="fr-FR" sz="1500" dirty="0">
                <a:latin typeface="+mn-lt"/>
              </a:rPr>
              <a:t>L’équipe DataLab – le Data Engineer </a:t>
            </a:r>
          </a:p>
        </p:txBody>
      </p:sp>
      <p:sp>
        <p:nvSpPr>
          <p:cNvPr id="48" name="Espace réservé du texte 47"/>
          <p:cNvSpPr>
            <a:spLocks noGrp="1"/>
          </p:cNvSpPr>
          <p:nvPr>
            <p:ph type="body" sz="quarter" idx="13"/>
          </p:nvPr>
        </p:nvSpPr>
        <p:spPr/>
        <p:txBody>
          <a:bodyPr/>
          <a:lstStyle/>
          <a:p>
            <a:endParaRPr lang="fr-FR" b="1" dirty="0"/>
          </a:p>
        </p:txBody>
      </p:sp>
      <p:sp>
        <p:nvSpPr>
          <p:cNvPr id="50" name="Espace réservé du texte 11"/>
          <p:cNvSpPr txBox="1">
            <a:spLocks/>
          </p:cNvSpPr>
          <p:nvPr/>
        </p:nvSpPr>
        <p:spPr>
          <a:xfrm>
            <a:off x="6593482" y="1953938"/>
            <a:ext cx="2455916" cy="3888969"/>
          </a:xfrm>
          <a:prstGeom prst="rect">
            <a:avLst/>
          </a:prstGeom>
        </p:spPr>
        <p:txBody>
          <a:bodyPr vert="horz" lIns="68580" tIns="34290" rIns="68580" bIns="34290" rtlCol="0" anchor="t">
            <a:normAutofit/>
          </a:bodyPr>
          <a:lstStyle>
            <a:defPPr>
              <a:defRPr lang="fr-FR"/>
            </a:defPPr>
            <a:lvl1pPr marL="0" algn="ctr" defTabSz="914400" rtl="0" eaLnBrk="1" latinLnBrk="0" hangingPunct="1">
              <a:defRPr sz="1050" kern="1200">
                <a:solidFill>
                  <a:schemeClr val="bg2">
                    <a:lumMod val="25000"/>
                  </a:schemeClr>
                </a:solidFill>
                <a:latin typeface="+mn-lt"/>
                <a:ea typeface="+mn-ea"/>
                <a:cs typeface="+mn-cs"/>
              </a:defRPr>
            </a:lvl1pPr>
            <a:lvl2pPr marL="457200" indent="0" algn="l" defTabSz="914400" rtl="0" eaLnBrk="1" latinLnBrk="0" hangingPunct="1">
              <a:buNone/>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4313" indent="-214313" algn="l">
              <a:buFont typeface="Arial" panose="020B0604020202020204" pitchFamily="34" charset="0"/>
              <a:buChar char="•"/>
            </a:pPr>
            <a:endParaRPr lang="fr-FR" dirty="0">
              <a:solidFill>
                <a:schemeClr val="bg1"/>
              </a:solidFill>
            </a:endParaRPr>
          </a:p>
        </p:txBody>
      </p:sp>
      <p:sp>
        <p:nvSpPr>
          <p:cNvPr id="51" name="ZoneTexte 50"/>
          <p:cNvSpPr txBox="1"/>
          <p:nvPr/>
        </p:nvSpPr>
        <p:spPr>
          <a:xfrm>
            <a:off x="6553404" y="1460730"/>
            <a:ext cx="2495994" cy="415498"/>
          </a:xfrm>
          <a:prstGeom prst="rect">
            <a:avLst/>
          </a:prstGeom>
          <a:noFill/>
        </p:spPr>
        <p:txBody>
          <a:bodyPr wrap="square" rtlCol="0">
            <a:spAutoFit/>
          </a:bodyPr>
          <a:lstStyle/>
          <a:p>
            <a:r>
              <a:rPr lang="fr-FR" sz="1050" b="1" dirty="0">
                <a:solidFill>
                  <a:schemeClr val="bg1"/>
                </a:solidFill>
                <a:latin typeface="Calibri" panose="020F0502020204030204" pitchFamily="34" charset="0"/>
              </a:rPr>
              <a:t>Notes pour la mise en œuvre (explication animation, images, effets…) :</a:t>
            </a:r>
          </a:p>
        </p:txBody>
      </p:sp>
      <p:pic>
        <p:nvPicPr>
          <p:cNvPr id="31" name="Image 30"/>
          <p:cNvPicPr>
            <a:picLocks noChangeAspect="1"/>
          </p:cNvPicPr>
          <p:nvPr/>
        </p:nvPicPr>
        <p:blipFill>
          <a:blip r:embed="rId4"/>
          <a:stretch>
            <a:fillRect/>
          </a:stretch>
        </p:blipFill>
        <p:spPr>
          <a:xfrm>
            <a:off x="6986934" y="5223488"/>
            <a:ext cx="1689112" cy="698341"/>
          </a:xfrm>
          <a:prstGeom prst="rect">
            <a:avLst/>
          </a:prstGeom>
        </p:spPr>
      </p:pic>
      <p:sp>
        <p:nvSpPr>
          <p:cNvPr id="70" name="Rectangle 69"/>
          <p:cNvSpPr/>
          <p:nvPr/>
        </p:nvSpPr>
        <p:spPr>
          <a:xfrm>
            <a:off x="140614" y="2731757"/>
            <a:ext cx="1181690" cy="685059"/>
          </a:xfrm>
          <a:prstGeom prst="rect">
            <a:avLst/>
          </a:prstGeom>
        </p:spPr>
        <p:txBody>
          <a:bodyPr wrap="square">
            <a:spAutoFit/>
          </a:bodyPr>
          <a:lstStyle/>
          <a:p>
            <a:pPr algn="ctr">
              <a:lnSpc>
                <a:spcPct val="107000"/>
              </a:lnSpc>
              <a:spcAft>
                <a:spcPts val="600"/>
              </a:spcAft>
            </a:pPr>
            <a:r>
              <a:rPr lang="fr-FR" sz="1800" b="1" dirty="0">
                <a:solidFill>
                  <a:schemeClr val="tx1">
                    <a:lumMod val="75000"/>
                    <a:lumOff val="25000"/>
                  </a:schemeClr>
                </a:solidFill>
                <a:ea typeface="Yu Gothic Light" panose="020B0300000000000000" pitchFamily="34" charset="-128"/>
                <a:cs typeface="Times New Roman" panose="02020603050405020304" pitchFamily="18" charset="0"/>
              </a:rPr>
              <a:t>Data Engineer</a:t>
            </a:r>
          </a:p>
        </p:txBody>
      </p:sp>
      <p:pic>
        <p:nvPicPr>
          <p:cNvPr id="93" name="Image 92"/>
          <p:cNvPicPr>
            <a:picLocks noChangeAspect="1"/>
          </p:cNvPicPr>
          <p:nvPr/>
        </p:nvPicPr>
        <p:blipFill rotWithShape="1">
          <a:blip r:embed="rId3"/>
          <a:srcRect l="19857" r="65357"/>
          <a:stretch/>
        </p:blipFill>
        <p:spPr>
          <a:xfrm>
            <a:off x="1719614" y="2884088"/>
            <a:ext cx="655092" cy="2318205"/>
          </a:xfrm>
          <a:prstGeom prst="rect">
            <a:avLst/>
          </a:prstGeom>
        </p:spPr>
      </p:pic>
      <p:grpSp>
        <p:nvGrpSpPr>
          <p:cNvPr id="67" name="Groupe 66"/>
          <p:cNvGrpSpPr/>
          <p:nvPr/>
        </p:nvGrpSpPr>
        <p:grpSpPr>
          <a:xfrm rot="10800000" flipH="1">
            <a:off x="1274608" y="2889520"/>
            <a:ext cx="592853" cy="307361"/>
            <a:chOff x="6099805" y="6065245"/>
            <a:chExt cx="790470" cy="409815"/>
          </a:xfrm>
        </p:grpSpPr>
        <p:cxnSp>
          <p:nvCxnSpPr>
            <p:cNvPr id="68" name="Connecteur droit 67"/>
            <p:cNvCxnSpPr/>
            <p:nvPr/>
          </p:nvCxnSpPr>
          <p:spPr>
            <a:xfrm rot="10800000" flipH="1">
              <a:off x="6371423" y="6065245"/>
              <a:ext cx="518852" cy="409815"/>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9" name="Connecteur droit 68"/>
            <p:cNvCxnSpPr/>
            <p:nvPr/>
          </p:nvCxnSpPr>
          <p:spPr>
            <a:xfrm>
              <a:off x="6099805" y="6473827"/>
              <a:ext cx="27743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53" name="Rectangle à coins arrondis 52"/>
          <p:cNvSpPr/>
          <p:nvPr/>
        </p:nvSpPr>
        <p:spPr>
          <a:xfrm>
            <a:off x="2794379" y="4231495"/>
            <a:ext cx="3555107" cy="1364942"/>
          </a:xfrm>
          <a:prstGeom prst="roundRect">
            <a:avLst>
              <a:gd name="adj" fmla="val 10031"/>
            </a:avLst>
          </a:prstGeom>
          <a:solidFill>
            <a:schemeClr val="accent6"/>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Le </a:t>
            </a:r>
            <a:r>
              <a:rPr lang="fr-FR" sz="1200" b="1" dirty="0"/>
              <a:t>DATA ENGINEER </a:t>
            </a:r>
            <a:r>
              <a:rPr lang="fr-FR" sz="1200" dirty="0"/>
              <a:t>prépare les données </a:t>
            </a:r>
            <a:br>
              <a:rPr lang="fr-FR" sz="1200" dirty="0"/>
            </a:br>
            <a:r>
              <a:rPr lang="fr-FR" sz="1200" dirty="0"/>
              <a:t>pour vos besoins d’analyse ou opérationnels.</a:t>
            </a:r>
            <a:br>
              <a:rPr lang="fr-FR" sz="1200" dirty="0"/>
            </a:br>
            <a:r>
              <a:rPr lang="fr-FR" sz="1200" dirty="0"/>
              <a:t> Il met en place les espaces DataLab et DataSpace ainsi que l’ensemble des traitements associés </a:t>
            </a:r>
            <a:r>
              <a:rPr lang="fr-FR" sz="1200" i="1" dirty="0"/>
              <a:t>(désensibilisation, industrialisation…).</a:t>
            </a:r>
            <a:endParaRPr lang="fr-FR" sz="1200" b="1" i="1" dirty="0"/>
          </a:p>
        </p:txBody>
      </p:sp>
      <p:grpSp>
        <p:nvGrpSpPr>
          <p:cNvPr id="32" name="Groupe 31"/>
          <p:cNvGrpSpPr/>
          <p:nvPr/>
        </p:nvGrpSpPr>
        <p:grpSpPr>
          <a:xfrm>
            <a:off x="559081" y="1597264"/>
            <a:ext cx="5299520" cy="414060"/>
            <a:chOff x="745442" y="986685"/>
            <a:chExt cx="7066026" cy="552080"/>
          </a:xfrm>
        </p:grpSpPr>
        <p:grpSp>
          <p:nvGrpSpPr>
            <p:cNvPr id="33" name="Groupe 32"/>
            <p:cNvGrpSpPr/>
            <p:nvPr/>
          </p:nvGrpSpPr>
          <p:grpSpPr>
            <a:xfrm>
              <a:off x="745442" y="986685"/>
              <a:ext cx="7066026" cy="552080"/>
              <a:chOff x="2691257" y="529120"/>
              <a:chExt cx="7066026" cy="552080"/>
            </a:xfrm>
          </p:grpSpPr>
          <p:sp>
            <p:nvSpPr>
              <p:cNvPr id="39" name="Pentagone 38"/>
              <p:cNvSpPr/>
              <p:nvPr/>
            </p:nvSpPr>
            <p:spPr>
              <a:xfrm>
                <a:off x="2691257" y="667723"/>
                <a:ext cx="7066026" cy="28800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0" name="Ellipse 39"/>
              <p:cNvSpPr/>
              <p:nvPr/>
            </p:nvSpPr>
            <p:spPr>
              <a:xfrm>
                <a:off x="5381632" y="529121"/>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1" name="Ellipse 40"/>
              <p:cNvSpPr/>
              <p:nvPr/>
            </p:nvSpPr>
            <p:spPr>
              <a:xfrm>
                <a:off x="4264756"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2" name="Ellipse 41"/>
              <p:cNvSpPr/>
              <p:nvPr/>
            </p:nvSpPr>
            <p:spPr>
              <a:xfrm>
                <a:off x="3147880" y="529120"/>
                <a:ext cx="551453" cy="549030"/>
              </a:xfrm>
              <a:prstGeom prst="ellipse">
                <a:avLst/>
              </a:prstGeom>
              <a:solidFill>
                <a:schemeClr val="accent6"/>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3" name="Ellipse 42"/>
              <p:cNvSpPr/>
              <p:nvPr/>
            </p:nvSpPr>
            <p:spPr>
              <a:xfrm>
                <a:off x="6498508" y="529122"/>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nvGrpSpPr>
              <p:cNvPr id="44" name="Groupe 43"/>
              <p:cNvGrpSpPr/>
              <p:nvPr/>
            </p:nvGrpSpPr>
            <p:grpSpPr>
              <a:xfrm>
                <a:off x="8732261" y="529120"/>
                <a:ext cx="551453" cy="549030"/>
                <a:chOff x="9401004" y="529120"/>
                <a:chExt cx="551453" cy="549030"/>
              </a:xfrm>
            </p:grpSpPr>
            <p:sp>
              <p:nvSpPr>
                <p:cNvPr id="46" name="Ellipse 45"/>
                <p:cNvSpPr/>
                <p:nvPr/>
              </p:nvSpPr>
              <p:spPr>
                <a:xfrm>
                  <a:off x="9401004"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52" name="Image 51"/>
                <p:cNvPicPr>
                  <a:picLocks noChangeAspect="1"/>
                </p:cNvPicPr>
                <p:nvPr/>
              </p:nvPicPr>
              <p:blipFill>
                <a:blip r:embed="rId5"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9554466" y="667723"/>
                  <a:ext cx="288000" cy="288000"/>
                </a:xfrm>
                <a:prstGeom prst="rect">
                  <a:avLst/>
                </a:prstGeom>
              </p:spPr>
            </p:pic>
          </p:grpSp>
          <p:sp>
            <p:nvSpPr>
              <p:cNvPr id="45" name="Ellipse 44"/>
              <p:cNvSpPr/>
              <p:nvPr/>
            </p:nvSpPr>
            <p:spPr>
              <a:xfrm>
                <a:off x="7615384" y="53217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pic>
          <p:nvPicPr>
            <p:cNvPr id="34" name="Image 33"/>
            <p:cNvPicPr>
              <a:picLocks noChangeAspect="1"/>
            </p:cNvPicPr>
            <p:nvPr/>
          </p:nvPicPr>
          <p:blipFill>
            <a:blip r:embed="rId6"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443731" y="1100614"/>
              <a:ext cx="327273" cy="327273"/>
            </a:xfrm>
            <a:prstGeom prst="rect">
              <a:avLst/>
            </a:prstGeom>
          </p:spPr>
        </p:pic>
        <p:pic>
          <p:nvPicPr>
            <p:cNvPr id="35" name="Image 34"/>
            <p:cNvPicPr>
              <a:picLocks noChangeAspect="1"/>
            </p:cNvPicPr>
            <p:nvPr/>
          </p:nvPicPr>
          <p:blipFill>
            <a:blip r:embed="rId7" cstate="email">
              <a:duotone>
                <a:schemeClr val="accent3">
                  <a:shade val="45000"/>
                  <a:satMod val="135000"/>
                </a:schemeClr>
                <a:prstClr val="white"/>
              </a:duotone>
              <a:extLst>
                <a:ext uri="{28A0092B-C50C-407E-A947-70E740481C1C}">
                  <a14:useLocalDpi xmlns:a14="http://schemas.microsoft.com/office/drawing/2010/main"/>
                </a:ext>
              </a:extLst>
            </a:blip>
            <a:stretch>
              <a:fillRect/>
            </a:stretch>
          </p:blipFill>
          <p:spPr>
            <a:xfrm>
              <a:off x="3544243" y="1090534"/>
              <a:ext cx="360000" cy="360000"/>
            </a:xfrm>
            <a:prstGeom prst="rect">
              <a:avLst/>
            </a:prstGeom>
          </p:spPr>
        </p:pic>
        <p:pic>
          <p:nvPicPr>
            <p:cNvPr id="36" name="Image 35"/>
            <p:cNvPicPr>
              <a:picLocks noChangeAspect="1"/>
            </p:cNvPicPr>
            <p:nvPr/>
          </p:nvPicPr>
          <p:blipFill>
            <a:blip r:embed="rId8" cstate="print">
              <a:lum bright="70000" contrast="-70000"/>
              <a:extLst>
                <a:ext uri="{28A0092B-C50C-407E-A947-70E740481C1C}">
                  <a14:useLocalDpi xmlns:a14="http://schemas.microsoft.com/office/drawing/2010/main" val="0"/>
                </a:ext>
              </a:extLst>
            </a:blip>
            <a:stretch>
              <a:fillRect/>
            </a:stretch>
          </p:blipFill>
          <p:spPr>
            <a:xfrm flipH="1">
              <a:off x="5803634" y="1115767"/>
              <a:ext cx="297521" cy="297521"/>
            </a:xfrm>
            <a:prstGeom prst="rect">
              <a:avLst/>
            </a:prstGeom>
          </p:spPr>
        </p:pic>
        <p:pic>
          <p:nvPicPr>
            <p:cNvPr id="37" name="Image 36"/>
            <p:cNvPicPr>
              <a:picLocks noChangeAspect="1"/>
            </p:cNvPicPr>
            <p:nvPr/>
          </p:nvPicPr>
          <p:blipFill>
            <a:blip r:embed="rId9"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4651461" y="1079779"/>
              <a:ext cx="360000" cy="360000"/>
            </a:xfrm>
            <a:prstGeom prst="rect">
              <a:avLst/>
            </a:prstGeom>
          </p:spPr>
        </p:pic>
        <p:pic>
          <p:nvPicPr>
            <p:cNvPr id="38" name="Image 37"/>
            <p:cNvPicPr>
              <a:picLocks noChangeAspect="1"/>
            </p:cNvPicPr>
            <p:nvPr/>
          </p:nvPicPr>
          <p:blipFill>
            <a:blip r:embed="rId10" cstate="print">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val="0"/>
                </a:ext>
              </a:extLst>
            </a:blip>
            <a:stretch>
              <a:fillRect/>
            </a:stretch>
          </p:blipFill>
          <p:spPr>
            <a:xfrm>
              <a:off x="1301883" y="1097935"/>
              <a:ext cx="360000" cy="360000"/>
            </a:xfrm>
            <a:prstGeom prst="rect">
              <a:avLst/>
            </a:prstGeom>
          </p:spPr>
        </p:pic>
      </p:grpSp>
    </p:spTree>
    <p:extLst>
      <p:ext uri="{BB962C8B-B14F-4D97-AF65-F5344CB8AC3E}">
        <p14:creationId xmlns:p14="http://schemas.microsoft.com/office/powerpoint/2010/main" val="3135870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 name="Image 90"/>
          <p:cNvPicPr>
            <a:picLocks noChangeAspect="1"/>
          </p:cNvPicPr>
          <p:nvPr/>
        </p:nvPicPr>
        <p:blipFill>
          <a:blip r:embed="rId2"/>
          <a:stretch>
            <a:fillRect/>
          </a:stretch>
        </p:blipFill>
        <p:spPr>
          <a:xfrm>
            <a:off x="5053903" y="2929768"/>
            <a:ext cx="937196" cy="1989877"/>
          </a:xfrm>
          <a:prstGeom prst="rect">
            <a:avLst/>
          </a:prstGeom>
        </p:spPr>
      </p:pic>
      <p:pic>
        <p:nvPicPr>
          <p:cNvPr id="2" name="Image 1"/>
          <p:cNvPicPr>
            <a:picLocks noChangeAspect="1"/>
          </p:cNvPicPr>
          <p:nvPr/>
        </p:nvPicPr>
        <p:blipFill>
          <a:blip r:embed="rId3">
            <a:duotone>
              <a:schemeClr val="accent3">
                <a:shade val="45000"/>
                <a:satMod val="135000"/>
              </a:schemeClr>
              <a:prstClr val="white"/>
            </a:duotone>
          </a:blip>
          <a:stretch>
            <a:fillRect/>
          </a:stretch>
        </p:blipFill>
        <p:spPr>
          <a:xfrm>
            <a:off x="839817" y="2884088"/>
            <a:ext cx="4430652" cy="2318205"/>
          </a:xfrm>
          <a:prstGeom prst="rect">
            <a:avLst/>
          </a:prstGeom>
        </p:spPr>
      </p:pic>
      <p:sp>
        <p:nvSpPr>
          <p:cNvPr id="47" name="Titre 46"/>
          <p:cNvSpPr>
            <a:spLocks noGrp="1"/>
          </p:cNvSpPr>
          <p:nvPr>
            <p:ph type="title"/>
          </p:nvPr>
        </p:nvSpPr>
        <p:spPr/>
        <p:txBody>
          <a:bodyPr/>
          <a:lstStyle/>
          <a:p>
            <a:r>
              <a:rPr lang="fr-FR" sz="1500" dirty="0">
                <a:latin typeface="+mn-lt"/>
              </a:rPr>
              <a:t>L’équipe DataLab – le Data Engineer </a:t>
            </a:r>
          </a:p>
        </p:txBody>
      </p:sp>
      <p:sp>
        <p:nvSpPr>
          <p:cNvPr id="48" name="Espace réservé du texte 47"/>
          <p:cNvSpPr>
            <a:spLocks noGrp="1"/>
          </p:cNvSpPr>
          <p:nvPr>
            <p:ph type="body" sz="quarter" idx="13"/>
          </p:nvPr>
        </p:nvSpPr>
        <p:spPr/>
        <p:txBody>
          <a:bodyPr/>
          <a:lstStyle/>
          <a:p>
            <a:endParaRPr lang="fr-FR" b="1" dirty="0"/>
          </a:p>
        </p:txBody>
      </p:sp>
      <p:sp>
        <p:nvSpPr>
          <p:cNvPr id="50" name="Espace réservé du texte 11"/>
          <p:cNvSpPr txBox="1">
            <a:spLocks/>
          </p:cNvSpPr>
          <p:nvPr/>
        </p:nvSpPr>
        <p:spPr>
          <a:xfrm>
            <a:off x="6593482" y="1953938"/>
            <a:ext cx="2455916" cy="3888969"/>
          </a:xfrm>
          <a:prstGeom prst="rect">
            <a:avLst/>
          </a:prstGeom>
        </p:spPr>
        <p:txBody>
          <a:bodyPr vert="horz" lIns="68580" tIns="34290" rIns="68580" bIns="34290" rtlCol="0" anchor="t">
            <a:normAutofit/>
          </a:bodyPr>
          <a:lstStyle>
            <a:defPPr>
              <a:defRPr lang="fr-FR"/>
            </a:defPPr>
            <a:lvl1pPr marL="0" algn="ctr" defTabSz="914400" rtl="0" eaLnBrk="1" latinLnBrk="0" hangingPunct="1">
              <a:defRPr sz="1050" kern="1200">
                <a:solidFill>
                  <a:schemeClr val="bg2">
                    <a:lumMod val="25000"/>
                  </a:schemeClr>
                </a:solidFill>
                <a:latin typeface="+mn-lt"/>
                <a:ea typeface="+mn-ea"/>
                <a:cs typeface="+mn-cs"/>
              </a:defRPr>
            </a:lvl1pPr>
            <a:lvl2pPr marL="457200" indent="0" algn="l" defTabSz="914400" rtl="0" eaLnBrk="1" latinLnBrk="0" hangingPunct="1">
              <a:buNone/>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4313" indent="-214313" algn="l">
              <a:buFont typeface="Arial" panose="020B0604020202020204" pitchFamily="34" charset="0"/>
              <a:buChar char="•"/>
            </a:pPr>
            <a:endParaRPr lang="fr-FR" dirty="0">
              <a:solidFill>
                <a:schemeClr val="bg1"/>
              </a:solidFill>
            </a:endParaRPr>
          </a:p>
        </p:txBody>
      </p:sp>
      <p:sp>
        <p:nvSpPr>
          <p:cNvPr id="51" name="ZoneTexte 50"/>
          <p:cNvSpPr txBox="1"/>
          <p:nvPr/>
        </p:nvSpPr>
        <p:spPr>
          <a:xfrm>
            <a:off x="6553404" y="1460730"/>
            <a:ext cx="2495994" cy="415498"/>
          </a:xfrm>
          <a:prstGeom prst="rect">
            <a:avLst/>
          </a:prstGeom>
          <a:noFill/>
        </p:spPr>
        <p:txBody>
          <a:bodyPr wrap="square" rtlCol="0">
            <a:spAutoFit/>
          </a:bodyPr>
          <a:lstStyle/>
          <a:p>
            <a:r>
              <a:rPr lang="fr-FR" sz="1050" b="1" dirty="0">
                <a:solidFill>
                  <a:schemeClr val="bg1"/>
                </a:solidFill>
                <a:latin typeface="Calibri" panose="020F0502020204030204" pitchFamily="34" charset="0"/>
              </a:rPr>
              <a:t>Notes pour la mise en œuvre (explication animation, images, effets…) :</a:t>
            </a:r>
          </a:p>
        </p:txBody>
      </p:sp>
      <p:pic>
        <p:nvPicPr>
          <p:cNvPr id="31" name="Image 30"/>
          <p:cNvPicPr>
            <a:picLocks noChangeAspect="1"/>
          </p:cNvPicPr>
          <p:nvPr/>
        </p:nvPicPr>
        <p:blipFill>
          <a:blip r:embed="rId4"/>
          <a:stretch>
            <a:fillRect/>
          </a:stretch>
        </p:blipFill>
        <p:spPr>
          <a:xfrm>
            <a:off x="6986934" y="5223488"/>
            <a:ext cx="1689112" cy="698341"/>
          </a:xfrm>
          <a:prstGeom prst="rect">
            <a:avLst/>
          </a:prstGeom>
        </p:spPr>
      </p:pic>
      <p:sp>
        <p:nvSpPr>
          <p:cNvPr id="53" name="Rectangle à coins arrondis 52"/>
          <p:cNvSpPr/>
          <p:nvPr/>
        </p:nvSpPr>
        <p:spPr>
          <a:xfrm>
            <a:off x="479092" y="3868059"/>
            <a:ext cx="4072436" cy="1257530"/>
          </a:xfrm>
          <a:prstGeom prst="roundRect">
            <a:avLst>
              <a:gd name="adj" fmla="val 10031"/>
            </a:avLst>
          </a:prstGeom>
          <a:solidFill>
            <a:schemeClr val="accent6"/>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t>Le </a:t>
            </a:r>
            <a:r>
              <a:rPr lang="fr-FR" sz="1600" b="1" dirty="0"/>
              <a:t>DATA ANALYST </a:t>
            </a:r>
            <a:r>
              <a:rPr lang="fr-FR" sz="1600" dirty="0"/>
              <a:t>industrialise </a:t>
            </a:r>
            <a:br>
              <a:rPr lang="fr-FR" sz="1600" dirty="0"/>
            </a:br>
            <a:r>
              <a:rPr lang="fr-FR" sz="1600" dirty="0"/>
              <a:t>des modèles de traitement des données et </a:t>
            </a:r>
            <a:br>
              <a:rPr lang="fr-FR" sz="1600" dirty="0"/>
            </a:br>
            <a:r>
              <a:rPr lang="fr-FR" sz="1600" dirty="0"/>
              <a:t>développe les écrans de restitutions </a:t>
            </a:r>
            <a:br>
              <a:rPr lang="fr-FR" sz="1600" dirty="0"/>
            </a:br>
            <a:r>
              <a:rPr lang="fr-FR" sz="1600" dirty="0"/>
              <a:t>des données et indicateurs.</a:t>
            </a:r>
            <a:endParaRPr lang="fr-FR" sz="1600" b="1" i="1" dirty="0"/>
          </a:p>
        </p:txBody>
      </p:sp>
      <p:sp>
        <p:nvSpPr>
          <p:cNvPr id="32" name="Rectangle 31"/>
          <p:cNvSpPr/>
          <p:nvPr/>
        </p:nvSpPr>
        <p:spPr>
          <a:xfrm>
            <a:off x="4156506" y="2440557"/>
            <a:ext cx="1181690" cy="685059"/>
          </a:xfrm>
          <a:prstGeom prst="rect">
            <a:avLst/>
          </a:prstGeom>
        </p:spPr>
        <p:txBody>
          <a:bodyPr wrap="square">
            <a:spAutoFit/>
          </a:bodyPr>
          <a:lstStyle/>
          <a:p>
            <a:pPr>
              <a:lnSpc>
                <a:spcPct val="107000"/>
              </a:lnSpc>
              <a:spcAft>
                <a:spcPts val="600"/>
              </a:spcAft>
            </a:pPr>
            <a:r>
              <a:rPr lang="fr-FR" sz="1800" b="1" dirty="0">
                <a:solidFill>
                  <a:schemeClr val="tx1">
                    <a:lumMod val="75000"/>
                    <a:lumOff val="25000"/>
                  </a:schemeClr>
                </a:solidFill>
                <a:ea typeface="Yu Gothic Light" panose="020B0300000000000000" pitchFamily="34" charset="-128"/>
                <a:cs typeface="Times New Roman" panose="02020603050405020304" pitchFamily="18" charset="0"/>
              </a:rPr>
              <a:t>Data Analyst</a:t>
            </a:r>
          </a:p>
        </p:txBody>
      </p:sp>
      <p:grpSp>
        <p:nvGrpSpPr>
          <p:cNvPr id="33" name="Groupe 32"/>
          <p:cNvGrpSpPr/>
          <p:nvPr/>
        </p:nvGrpSpPr>
        <p:grpSpPr>
          <a:xfrm flipV="1">
            <a:off x="5212445" y="2589532"/>
            <a:ext cx="301216" cy="329124"/>
            <a:chOff x="6099805" y="6036228"/>
            <a:chExt cx="401621" cy="438832"/>
          </a:xfrm>
        </p:grpSpPr>
        <p:cxnSp>
          <p:nvCxnSpPr>
            <p:cNvPr id="34" name="Connecteur droit 33"/>
            <p:cNvCxnSpPr/>
            <p:nvPr/>
          </p:nvCxnSpPr>
          <p:spPr>
            <a:xfrm flipV="1">
              <a:off x="6371423" y="6036228"/>
              <a:ext cx="130003" cy="438832"/>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5" name="Connecteur droit 34"/>
            <p:cNvCxnSpPr/>
            <p:nvPr/>
          </p:nvCxnSpPr>
          <p:spPr>
            <a:xfrm>
              <a:off x="6099805" y="6473827"/>
              <a:ext cx="27743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grpSp>
        <p:nvGrpSpPr>
          <p:cNvPr id="36" name="Groupe 35"/>
          <p:cNvGrpSpPr/>
          <p:nvPr/>
        </p:nvGrpSpPr>
        <p:grpSpPr>
          <a:xfrm>
            <a:off x="559081" y="1597264"/>
            <a:ext cx="5299520" cy="414060"/>
            <a:chOff x="745442" y="986685"/>
            <a:chExt cx="7066026" cy="552080"/>
          </a:xfrm>
        </p:grpSpPr>
        <p:grpSp>
          <p:nvGrpSpPr>
            <p:cNvPr id="37" name="Groupe 36"/>
            <p:cNvGrpSpPr/>
            <p:nvPr/>
          </p:nvGrpSpPr>
          <p:grpSpPr>
            <a:xfrm>
              <a:off x="745442" y="986685"/>
              <a:ext cx="7066026" cy="552080"/>
              <a:chOff x="2691257" y="529120"/>
              <a:chExt cx="7066026" cy="552080"/>
            </a:xfrm>
          </p:grpSpPr>
          <p:sp>
            <p:nvSpPr>
              <p:cNvPr id="43" name="Pentagone 42"/>
              <p:cNvSpPr/>
              <p:nvPr/>
            </p:nvSpPr>
            <p:spPr>
              <a:xfrm>
                <a:off x="2691257" y="667723"/>
                <a:ext cx="7066026" cy="28800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4" name="Ellipse 43"/>
              <p:cNvSpPr/>
              <p:nvPr/>
            </p:nvSpPr>
            <p:spPr>
              <a:xfrm>
                <a:off x="5381632" y="529121"/>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5" name="Ellipse 44"/>
              <p:cNvSpPr/>
              <p:nvPr/>
            </p:nvSpPr>
            <p:spPr>
              <a:xfrm>
                <a:off x="4264756"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6" name="Ellipse 45"/>
              <p:cNvSpPr/>
              <p:nvPr/>
            </p:nvSpPr>
            <p:spPr>
              <a:xfrm>
                <a:off x="3147880" y="529120"/>
                <a:ext cx="551453" cy="549030"/>
              </a:xfrm>
              <a:prstGeom prst="ellipse">
                <a:avLst/>
              </a:prstGeom>
              <a:solidFill>
                <a:schemeClr val="accent6"/>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52" name="Ellipse 51"/>
              <p:cNvSpPr/>
              <p:nvPr/>
            </p:nvSpPr>
            <p:spPr>
              <a:xfrm>
                <a:off x="6498508" y="529122"/>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nvGrpSpPr>
              <p:cNvPr id="54" name="Groupe 53"/>
              <p:cNvGrpSpPr/>
              <p:nvPr/>
            </p:nvGrpSpPr>
            <p:grpSpPr>
              <a:xfrm>
                <a:off x="8732261" y="529120"/>
                <a:ext cx="551453" cy="549030"/>
                <a:chOff x="9401004" y="529120"/>
                <a:chExt cx="551453" cy="549030"/>
              </a:xfrm>
            </p:grpSpPr>
            <p:sp>
              <p:nvSpPr>
                <p:cNvPr id="56" name="Ellipse 55"/>
                <p:cNvSpPr/>
                <p:nvPr/>
              </p:nvSpPr>
              <p:spPr>
                <a:xfrm>
                  <a:off x="9401004"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57" name="Image 56"/>
                <p:cNvPicPr>
                  <a:picLocks noChangeAspect="1"/>
                </p:cNvPicPr>
                <p:nvPr/>
              </p:nvPicPr>
              <p:blipFill>
                <a:blip r:embed="rId5"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9554466" y="667723"/>
                  <a:ext cx="288000" cy="288000"/>
                </a:xfrm>
                <a:prstGeom prst="rect">
                  <a:avLst/>
                </a:prstGeom>
              </p:spPr>
            </p:pic>
          </p:grpSp>
          <p:sp>
            <p:nvSpPr>
              <p:cNvPr id="55" name="Ellipse 54"/>
              <p:cNvSpPr/>
              <p:nvPr/>
            </p:nvSpPr>
            <p:spPr>
              <a:xfrm>
                <a:off x="7615384" y="53217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pic>
          <p:nvPicPr>
            <p:cNvPr id="38" name="Image 37"/>
            <p:cNvPicPr>
              <a:picLocks noChangeAspect="1"/>
            </p:cNvPicPr>
            <p:nvPr/>
          </p:nvPicPr>
          <p:blipFill>
            <a:blip r:embed="rId6"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443731" y="1100614"/>
              <a:ext cx="327273" cy="327273"/>
            </a:xfrm>
            <a:prstGeom prst="rect">
              <a:avLst/>
            </a:prstGeom>
          </p:spPr>
        </p:pic>
        <p:pic>
          <p:nvPicPr>
            <p:cNvPr id="39" name="Image 38"/>
            <p:cNvPicPr>
              <a:picLocks noChangeAspect="1"/>
            </p:cNvPicPr>
            <p:nvPr/>
          </p:nvPicPr>
          <p:blipFill>
            <a:blip r:embed="rId7" cstate="email">
              <a:duotone>
                <a:schemeClr val="accent3">
                  <a:shade val="45000"/>
                  <a:satMod val="135000"/>
                </a:schemeClr>
                <a:prstClr val="white"/>
              </a:duotone>
              <a:extLst>
                <a:ext uri="{28A0092B-C50C-407E-A947-70E740481C1C}">
                  <a14:useLocalDpi xmlns:a14="http://schemas.microsoft.com/office/drawing/2010/main"/>
                </a:ext>
              </a:extLst>
            </a:blip>
            <a:stretch>
              <a:fillRect/>
            </a:stretch>
          </p:blipFill>
          <p:spPr>
            <a:xfrm>
              <a:off x="3544243" y="1090534"/>
              <a:ext cx="360000" cy="360000"/>
            </a:xfrm>
            <a:prstGeom prst="rect">
              <a:avLst/>
            </a:prstGeom>
          </p:spPr>
        </p:pic>
        <p:pic>
          <p:nvPicPr>
            <p:cNvPr id="40" name="Image 39"/>
            <p:cNvPicPr>
              <a:picLocks noChangeAspect="1"/>
            </p:cNvPicPr>
            <p:nvPr/>
          </p:nvPicPr>
          <p:blipFill>
            <a:blip r:embed="rId8" cstate="print">
              <a:lum bright="70000" contrast="-70000"/>
              <a:extLst>
                <a:ext uri="{28A0092B-C50C-407E-A947-70E740481C1C}">
                  <a14:useLocalDpi xmlns:a14="http://schemas.microsoft.com/office/drawing/2010/main" val="0"/>
                </a:ext>
              </a:extLst>
            </a:blip>
            <a:stretch>
              <a:fillRect/>
            </a:stretch>
          </p:blipFill>
          <p:spPr>
            <a:xfrm flipH="1">
              <a:off x="5803634" y="1115767"/>
              <a:ext cx="297521" cy="297521"/>
            </a:xfrm>
            <a:prstGeom prst="rect">
              <a:avLst/>
            </a:prstGeom>
          </p:spPr>
        </p:pic>
        <p:pic>
          <p:nvPicPr>
            <p:cNvPr id="41" name="Image 40"/>
            <p:cNvPicPr>
              <a:picLocks noChangeAspect="1"/>
            </p:cNvPicPr>
            <p:nvPr/>
          </p:nvPicPr>
          <p:blipFill>
            <a:blip r:embed="rId9"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4651461" y="1079779"/>
              <a:ext cx="360000" cy="360000"/>
            </a:xfrm>
            <a:prstGeom prst="rect">
              <a:avLst/>
            </a:prstGeom>
          </p:spPr>
        </p:pic>
        <p:pic>
          <p:nvPicPr>
            <p:cNvPr id="42" name="Image 41"/>
            <p:cNvPicPr>
              <a:picLocks noChangeAspect="1"/>
            </p:cNvPicPr>
            <p:nvPr/>
          </p:nvPicPr>
          <p:blipFill>
            <a:blip r:embed="rId10" cstate="print">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val="0"/>
                </a:ext>
              </a:extLst>
            </a:blip>
            <a:stretch>
              <a:fillRect/>
            </a:stretch>
          </p:blipFill>
          <p:spPr>
            <a:xfrm>
              <a:off x="1301883" y="1097935"/>
              <a:ext cx="360000" cy="360000"/>
            </a:xfrm>
            <a:prstGeom prst="rect">
              <a:avLst/>
            </a:prstGeom>
          </p:spPr>
        </p:pic>
      </p:grpSp>
    </p:spTree>
    <p:extLst>
      <p:ext uri="{BB962C8B-B14F-4D97-AF65-F5344CB8AC3E}">
        <p14:creationId xmlns:p14="http://schemas.microsoft.com/office/powerpoint/2010/main" val="1436129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 name="Image 88"/>
          <p:cNvPicPr>
            <a:picLocks noChangeAspect="1"/>
          </p:cNvPicPr>
          <p:nvPr/>
        </p:nvPicPr>
        <p:blipFill>
          <a:blip r:embed="rId2">
            <a:duotone>
              <a:schemeClr val="accent3">
                <a:shade val="45000"/>
                <a:satMod val="135000"/>
              </a:schemeClr>
              <a:prstClr val="white"/>
            </a:duotone>
          </a:blip>
          <a:stretch>
            <a:fillRect/>
          </a:stretch>
        </p:blipFill>
        <p:spPr>
          <a:xfrm>
            <a:off x="5053903" y="2929768"/>
            <a:ext cx="937196" cy="1989877"/>
          </a:xfrm>
          <a:prstGeom prst="rect">
            <a:avLst/>
          </a:prstGeom>
        </p:spPr>
      </p:pic>
      <p:pic>
        <p:nvPicPr>
          <p:cNvPr id="2" name="Image 1"/>
          <p:cNvPicPr>
            <a:picLocks noChangeAspect="1"/>
          </p:cNvPicPr>
          <p:nvPr/>
        </p:nvPicPr>
        <p:blipFill>
          <a:blip r:embed="rId3">
            <a:duotone>
              <a:schemeClr val="accent3">
                <a:shade val="45000"/>
                <a:satMod val="135000"/>
              </a:schemeClr>
              <a:prstClr val="white"/>
            </a:duotone>
          </a:blip>
          <a:stretch>
            <a:fillRect/>
          </a:stretch>
        </p:blipFill>
        <p:spPr>
          <a:xfrm>
            <a:off x="850053" y="2884088"/>
            <a:ext cx="4430652" cy="2318205"/>
          </a:xfrm>
          <a:prstGeom prst="rect">
            <a:avLst/>
          </a:prstGeom>
        </p:spPr>
      </p:pic>
      <p:pic>
        <p:nvPicPr>
          <p:cNvPr id="93" name="Image 92"/>
          <p:cNvPicPr>
            <a:picLocks noChangeAspect="1"/>
          </p:cNvPicPr>
          <p:nvPr/>
        </p:nvPicPr>
        <p:blipFill rotWithShape="1">
          <a:blip r:embed="rId3"/>
          <a:srcRect l="-1169" r="81531"/>
          <a:stretch/>
        </p:blipFill>
        <p:spPr>
          <a:xfrm>
            <a:off x="798389" y="2884088"/>
            <a:ext cx="870045" cy="2318205"/>
          </a:xfrm>
          <a:prstGeom prst="rect">
            <a:avLst/>
          </a:prstGeom>
        </p:spPr>
      </p:pic>
      <p:sp>
        <p:nvSpPr>
          <p:cNvPr id="47" name="Titre 46"/>
          <p:cNvSpPr>
            <a:spLocks noGrp="1"/>
          </p:cNvSpPr>
          <p:nvPr>
            <p:ph type="title"/>
          </p:nvPr>
        </p:nvSpPr>
        <p:spPr/>
        <p:txBody>
          <a:bodyPr/>
          <a:lstStyle/>
          <a:p>
            <a:r>
              <a:rPr lang="fr-FR" sz="1500" dirty="0">
                <a:latin typeface="+mn-lt"/>
              </a:rPr>
              <a:t>L’équipe DataLab – le Chief Data Management </a:t>
            </a:r>
            <a:r>
              <a:rPr lang="fr-FR" sz="1500" dirty="0" err="1">
                <a:latin typeface="+mn-lt"/>
              </a:rPr>
              <a:t>Officer</a:t>
            </a:r>
            <a:r>
              <a:rPr lang="fr-FR" sz="1500" dirty="0">
                <a:latin typeface="+mn-lt"/>
              </a:rPr>
              <a:t>  </a:t>
            </a:r>
          </a:p>
        </p:txBody>
      </p:sp>
      <p:sp>
        <p:nvSpPr>
          <p:cNvPr id="48" name="Espace réservé du texte 47"/>
          <p:cNvSpPr>
            <a:spLocks noGrp="1"/>
          </p:cNvSpPr>
          <p:nvPr>
            <p:ph type="body" sz="quarter" idx="13"/>
          </p:nvPr>
        </p:nvSpPr>
        <p:spPr/>
        <p:txBody>
          <a:bodyPr/>
          <a:lstStyle/>
          <a:p>
            <a:endParaRPr lang="fr-FR" b="1" dirty="0"/>
          </a:p>
        </p:txBody>
      </p:sp>
      <p:sp>
        <p:nvSpPr>
          <p:cNvPr id="50" name="Espace réservé du texte 11"/>
          <p:cNvSpPr txBox="1">
            <a:spLocks/>
          </p:cNvSpPr>
          <p:nvPr/>
        </p:nvSpPr>
        <p:spPr>
          <a:xfrm>
            <a:off x="6593482" y="1953938"/>
            <a:ext cx="2455916" cy="3888969"/>
          </a:xfrm>
          <a:prstGeom prst="rect">
            <a:avLst/>
          </a:prstGeom>
        </p:spPr>
        <p:txBody>
          <a:bodyPr vert="horz" lIns="68580" tIns="34290" rIns="68580" bIns="34290" rtlCol="0" anchor="t">
            <a:normAutofit/>
          </a:bodyPr>
          <a:lstStyle>
            <a:defPPr>
              <a:defRPr lang="fr-FR"/>
            </a:defPPr>
            <a:lvl1pPr marL="0" algn="ctr" defTabSz="914400" rtl="0" eaLnBrk="1" latinLnBrk="0" hangingPunct="1">
              <a:defRPr sz="1050" kern="1200">
                <a:solidFill>
                  <a:schemeClr val="bg2">
                    <a:lumMod val="25000"/>
                  </a:schemeClr>
                </a:solidFill>
                <a:latin typeface="+mn-lt"/>
                <a:ea typeface="+mn-ea"/>
                <a:cs typeface="+mn-cs"/>
              </a:defRPr>
            </a:lvl1pPr>
            <a:lvl2pPr marL="457200" indent="0" algn="l" defTabSz="914400" rtl="0" eaLnBrk="1" latinLnBrk="0" hangingPunct="1">
              <a:buNone/>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4313" indent="-214313" algn="l">
              <a:buFont typeface="Arial" panose="020B0604020202020204" pitchFamily="34" charset="0"/>
              <a:buChar char="•"/>
            </a:pPr>
            <a:endParaRPr lang="fr-FR" dirty="0">
              <a:solidFill>
                <a:schemeClr val="bg1"/>
              </a:solidFill>
            </a:endParaRPr>
          </a:p>
        </p:txBody>
      </p:sp>
      <p:sp>
        <p:nvSpPr>
          <p:cNvPr id="51" name="ZoneTexte 50"/>
          <p:cNvSpPr txBox="1"/>
          <p:nvPr/>
        </p:nvSpPr>
        <p:spPr>
          <a:xfrm>
            <a:off x="6553404" y="1460730"/>
            <a:ext cx="2495994" cy="415498"/>
          </a:xfrm>
          <a:prstGeom prst="rect">
            <a:avLst/>
          </a:prstGeom>
          <a:noFill/>
        </p:spPr>
        <p:txBody>
          <a:bodyPr wrap="square" rtlCol="0">
            <a:spAutoFit/>
          </a:bodyPr>
          <a:lstStyle/>
          <a:p>
            <a:r>
              <a:rPr lang="fr-FR" sz="1050" b="1" dirty="0">
                <a:solidFill>
                  <a:schemeClr val="bg1"/>
                </a:solidFill>
                <a:latin typeface="Calibri" panose="020F0502020204030204" pitchFamily="34" charset="0"/>
              </a:rPr>
              <a:t>Notes pour la mise en œuvre (explication animation, images, effets…) :</a:t>
            </a:r>
          </a:p>
        </p:txBody>
      </p:sp>
      <p:pic>
        <p:nvPicPr>
          <p:cNvPr id="31" name="Image 30"/>
          <p:cNvPicPr>
            <a:picLocks noChangeAspect="1"/>
          </p:cNvPicPr>
          <p:nvPr/>
        </p:nvPicPr>
        <p:blipFill>
          <a:blip r:embed="rId4"/>
          <a:stretch>
            <a:fillRect/>
          </a:stretch>
        </p:blipFill>
        <p:spPr>
          <a:xfrm>
            <a:off x="6986934" y="5223488"/>
            <a:ext cx="1689112" cy="698341"/>
          </a:xfrm>
          <a:prstGeom prst="rect">
            <a:avLst/>
          </a:prstGeom>
        </p:spPr>
      </p:pic>
      <p:sp>
        <p:nvSpPr>
          <p:cNvPr id="63" name="Rectangle 62"/>
          <p:cNvSpPr/>
          <p:nvPr/>
        </p:nvSpPr>
        <p:spPr>
          <a:xfrm>
            <a:off x="191250" y="4527566"/>
            <a:ext cx="704071" cy="367216"/>
          </a:xfrm>
          <a:prstGeom prst="rect">
            <a:avLst/>
          </a:prstGeom>
        </p:spPr>
        <p:txBody>
          <a:bodyPr wrap="square">
            <a:spAutoFit/>
          </a:bodyPr>
          <a:lstStyle/>
          <a:p>
            <a:pPr algn="r">
              <a:lnSpc>
                <a:spcPct val="107000"/>
              </a:lnSpc>
              <a:spcAft>
                <a:spcPts val="600"/>
              </a:spcAft>
            </a:pPr>
            <a:r>
              <a:rPr lang="fr-FR" sz="1800" b="1" dirty="0">
                <a:solidFill>
                  <a:schemeClr val="tx1">
                    <a:lumMod val="75000"/>
                    <a:lumOff val="25000"/>
                  </a:schemeClr>
                </a:solidFill>
                <a:ea typeface="Yu Gothic Light" panose="020B0300000000000000" pitchFamily="34" charset="-128"/>
                <a:cs typeface="Times New Roman" panose="02020603050405020304" pitchFamily="18" charset="0"/>
              </a:rPr>
              <a:t>CDO</a:t>
            </a:r>
          </a:p>
        </p:txBody>
      </p:sp>
      <p:grpSp>
        <p:nvGrpSpPr>
          <p:cNvPr id="64" name="Groupe 63"/>
          <p:cNvGrpSpPr/>
          <p:nvPr/>
        </p:nvGrpSpPr>
        <p:grpSpPr>
          <a:xfrm>
            <a:off x="901644" y="4567471"/>
            <a:ext cx="290146" cy="106121"/>
            <a:chOff x="6099805" y="6332333"/>
            <a:chExt cx="386861" cy="141494"/>
          </a:xfrm>
        </p:grpSpPr>
        <p:cxnSp>
          <p:nvCxnSpPr>
            <p:cNvPr id="65" name="Connecteur droit 64"/>
            <p:cNvCxnSpPr/>
            <p:nvPr/>
          </p:nvCxnSpPr>
          <p:spPr>
            <a:xfrm flipV="1">
              <a:off x="6373804" y="6332333"/>
              <a:ext cx="112862" cy="14114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6" name="Connecteur droit 65"/>
            <p:cNvCxnSpPr/>
            <p:nvPr/>
          </p:nvCxnSpPr>
          <p:spPr>
            <a:xfrm>
              <a:off x="6099805" y="6473827"/>
              <a:ext cx="27743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88" name="Rectangle à coins arrondis 87"/>
          <p:cNvSpPr/>
          <p:nvPr/>
        </p:nvSpPr>
        <p:spPr>
          <a:xfrm>
            <a:off x="2078253" y="3412001"/>
            <a:ext cx="4203511" cy="1038022"/>
          </a:xfrm>
          <a:prstGeom prst="roundRect">
            <a:avLst/>
          </a:prstGeom>
          <a:solidFill>
            <a:schemeClr val="accent6"/>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t>Le </a:t>
            </a:r>
            <a:r>
              <a:rPr lang="fr-FR" sz="1400" b="1" dirty="0"/>
              <a:t>CHIEF DATA MANAGEMENT OFFICER </a:t>
            </a:r>
            <a:r>
              <a:rPr lang="fr-FR" sz="1400" dirty="0"/>
              <a:t>est responsable de la mise en œuvre et du respect des règles de gestion des données</a:t>
            </a:r>
            <a:r>
              <a:rPr lang="fr-FR" sz="1400" i="1" dirty="0"/>
              <a:t> (sécurité, conformité, réglementaire…)</a:t>
            </a:r>
            <a:r>
              <a:rPr lang="fr-FR" sz="1400" dirty="0"/>
              <a:t>.</a:t>
            </a:r>
            <a:endParaRPr lang="fr-FR" sz="1400" b="1" dirty="0"/>
          </a:p>
        </p:txBody>
      </p:sp>
      <p:grpSp>
        <p:nvGrpSpPr>
          <p:cNvPr id="32" name="Groupe 31"/>
          <p:cNvGrpSpPr/>
          <p:nvPr/>
        </p:nvGrpSpPr>
        <p:grpSpPr>
          <a:xfrm>
            <a:off x="559081" y="1597264"/>
            <a:ext cx="5299520" cy="414060"/>
            <a:chOff x="745442" y="986685"/>
            <a:chExt cx="7066026" cy="552080"/>
          </a:xfrm>
        </p:grpSpPr>
        <p:grpSp>
          <p:nvGrpSpPr>
            <p:cNvPr id="33" name="Groupe 32"/>
            <p:cNvGrpSpPr/>
            <p:nvPr/>
          </p:nvGrpSpPr>
          <p:grpSpPr>
            <a:xfrm>
              <a:off x="745442" y="986685"/>
              <a:ext cx="7066026" cy="552080"/>
              <a:chOff x="2691257" y="529120"/>
              <a:chExt cx="7066026" cy="552080"/>
            </a:xfrm>
          </p:grpSpPr>
          <p:sp>
            <p:nvSpPr>
              <p:cNvPr id="39" name="Pentagone 38"/>
              <p:cNvSpPr/>
              <p:nvPr/>
            </p:nvSpPr>
            <p:spPr>
              <a:xfrm>
                <a:off x="2691257" y="667723"/>
                <a:ext cx="7066026" cy="28800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0" name="Ellipse 39"/>
              <p:cNvSpPr/>
              <p:nvPr/>
            </p:nvSpPr>
            <p:spPr>
              <a:xfrm>
                <a:off x="5381632" y="529121"/>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1" name="Ellipse 40"/>
              <p:cNvSpPr/>
              <p:nvPr/>
            </p:nvSpPr>
            <p:spPr>
              <a:xfrm>
                <a:off x="4264756"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2" name="Ellipse 41"/>
              <p:cNvSpPr/>
              <p:nvPr/>
            </p:nvSpPr>
            <p:spPr>
              <a:xfrm>
                <a:off x="3147880" y="529120"/>
                <a:ext cx="551453" cy="549030"/>
              </a:xfrm>
              <a:prstGeom prst="ellipse">
                <a:avLst/>
              </a:prstGeom>
              <a:solidFill>
                <a:schemeClr val="accent6"/>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3" name="Ellipse 42"/>
              <p:cNvSpPr/>
              <p:nvPr/>
            </p:nvSpPr>
            <p:spPr>
              <a:xfrm>
                <a:off x="6498508" y="529122"/>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nvGrpSpPr>
              <p:cNvPr id="44" name="Groupe 43"/>
              <p:cNvGrpSpPr/>
              <p:nvPr/>
            </p:nvGrpSpPr>
            <p:grpSpPr>
              <a:xfrm>
                <a:off x="8732261" y="529120"/>
                <a:ext cx="551453" cy="549030"/>
                <a:chOff x="9401004" y="529120"/>
                <a:chExt cx="551453" cy="549030"/>
              </a:xfrm>
            </p:grpSpPr>
            <p:sp>
              <p:nvSpPr>
                <p:cNvPr id="46" name="Ellipse 45"/>
                <p:cNvSpPr/>
                <p:nvPr/>
              </p:nvSpPr>
              <p:spPr>
                <a:xfrm>
                  <a:off x="9401004"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52" name="Image 51"/>
                <p:cNvPicPr>
                  <a:picLocks noChangeAspect="1"/>
                </p:cNvPicPr>
                <p:nvPr/>
              </p:nvPicPr>
              <p:blipFill>
                <a:blip r:embed="rId5"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9554466" y="667723"/>
                  <a:ext cx="288000" cy="288000"/>
                </a:xfrm>
                <a:prstGeom prst="rect">
                  <a:avLst/>
                </a:prstGeom>
              </p:spPr>
            </p:pic>
          </p:grpSp>
          <p:sp>
            <p:nvSpPr>
              <p:cNvPr id="45" name="Ellipse 44"/>
              <p:cNvSpPr/>
              <p:nvPr/>
            </p:nvSpPr>
            <p:spPr>
              <a:xfrm>
                <a:off x="7615384" y="53217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pic>
          <p:nvPicPr>
            <p:cNvPr id="34" name="Image 33"/>
            <p:cNvPicPr>
              <a:picLocks noChangeAspect="1"/>
            </p:cNvPicPr>
            <p:nvPr/>
          </p:nvPicPr>
          <p:blipFill>
            <a:blip r:embed="rId6"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443731" y="1100614"/>
              <a:ext cx="327273" cy="327273"/>
            </a:xfrm>
            <a:prstGeom prst="rect">
              <a:avLst/>
            </a:prstGeom>
          </p:spPr>
        </p:pic>
        <p:pic>
          <p:nvPicPr>
            <p:cNvPr id="35" name="Image 34"/>
            <p:cNvPicPr>
              <a:picLocks noChangeAspect="1"/>
            </p:cNvPicPr>
            <p:nvPr/>
          </p:nvPicPr>
          <p:blipFill>
            <a:blip r:embed="rId7" cstate="email">
              <a:duotone>
                <a:schemeClr val="accent3">
                  <a:shade val="45000"/>
                  <a:satMod val="135000"/>
                </a:schemeClr>
                <a:prstClr val="white"/>
              </a:duotone>
              <a:extLst>
                <a:ext uri="{28A0092B-C50C-407E-A947-70E740481C1C}">
                  <a14:useLocalDpi xmlns:a14="http://schemas.microsoft.com/office/drawing/2010/main"/>
                </a:ext>
              </a:extLst>
            </a:blip>
            <a:stretch>
              <a:fillRect/>
            </a:stretch>
          </p:blipFill>
          <p:spPr>
            <a:xfrm>
              <a:off x="3544243" y="1090534"/>
              <a:ext cx="360000" cy="360000"/>
            </a:xfrm>
            <a:prstGeom prst="rect">
              <a:avLst/>
            </a:prstGeom>
          </p:spPr>
        </p:pic>
        <p:pic>
          <p:nvPicPr>
            <p:cNvPr id="36" name="Image 35"/>
            <p:cNvPicPr>
              <a:picLocks noChangeAspect="1"/>
            </p:cNvPicPr>
            <p:nvPr/>
          </p:nvPicPr>
          <p:blipFill>
            <a:blip r:embed="rId8" cstate="print">
              <a:lum bright="70000" contrast="-70000"/>
              <a:extLst>
                <a:ext uri="{28A0092B-C50C-407E-A947-70E740481C1C}">
                  <a14:useLocalDpi xmlns:a14="http://schemas.microsoft.com/office/drawing/2010/main" val="0"/>
                </a:ext>
              </a:extLst>
            </a:blip>
            <a:stretch>
              <a:fillRect/>
            </a:stretch>
          </p:blipFill>
          <p:spPr>
            <a:xfrm flipH="1">
              <a:off x="5803634" y="1115767"/>
              <a:ext cx="297521" cy="297521"/>
            </a:xfrm>
            <a:prstGeom prst="rect">
              <a:avLst/>
            </a:prstGeom>
          </p:spPr>
        </p:pic>
        <p:pic>
          <p:nvPicPr>
            <p:cNvPr id="37" name="Image 36"/>
            <p:cNvPicPr>
              <a:picLocks noChangeAspect="1"/>
            </p:cNvPicPr>
            <p:nvPr/>
          </p:nvPicPr>
          <p:blipFill>
            <a:blip r:embed="rId9"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4651461" y="1079779"/>
              <a:ext cx="360000" cy="360000"/>
            </a:xfrm>
            <a:prstGeom prst="rect">
              <a:avLst/>
            </a:prstGeom>
          </p:spPr>
        </p:pic>
        <p:pic>
          <p:nvPicPr>
            <p:cNvPr id="38" name="Image 37"/>
            <p:cNvPicPr>
              <a:picLocks noChangeAspect="1"/>
            </p:cNvPicPr>
            <p:nvPr/>
          </p:nvPicPr>
          <p:blipFill>
            <a:blip r:embed="rId10" cstate="print">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val="0"/>
                </a:ext>
              </a:extLst>
            </a:blip>
            <a:stretch>
              <a:fillRect/>
            </a:stretch>
          </p:blipFill>
          <p:spPr>
            <a:xfrm>
              <a:off x="1301883" y="1097935"/>
              <a:ext cx="360000" cy="360000"/>
            </a:xfrm>
            <a:prstGeom prst="rect">
              <a:avLst/>
            </a:prstGeom>
          </p:spPr>
        </p:pic>
      </p:grpSp>
    </p:spTree>
    <p:extLst>
      <p:ext uri="{BB962C8B-B14F-4D97-AF65-F5344CB8AC3E}">
        <p14:creationId xmlns:p14="http://schemas.microsoft.com/office/powerpoint/2010/main" val="1286281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re 46"/>
          <p:cNvSpPr>
            <a:spLocks noGrp="1"/>
          </p:cNvSpPr>
          <p:nvPr>
            <p:ph type="title"/>
          </p:nvPr>
        </p:nvSpPr>
        <p:spPr/>
        <p:txBody>
          <a:bodyPr/>
          <a:lstStyle/>
          <a:p>
            <a:r>
              <a:rPr lang="fr-FR" sz="1500" dirty="0">
                <a:latin typeface="+mn-lt"/>
              </a:rPr>
              <a:t>Faciliter l’instruction de ma demande</a:t>
            </a:r>
          </a:p>
        </p:txBody>
      </p:sp>
      <p:sp>
        <p:nvSpPr>
          <p:cNvPr id="48" name="Espace réservé du texte 47"/>
          <p:cNvSpPr>
            <a:spLocks noGrp="1"/>
          </p:cNvSpPr>
          <p:nvPr>
            <p:ph type="body" sz="quarter" idx="13"/>
          </p:nvPr>
        </p:nvSpPr>
        <p:spPr/>
        <p:txBody>
          <a:bodyPr/>
          <a:lstStyle/>
          <a:p>
            <a:endParaRPr lang="fr-FR" b="1" dirty="0"/>
          </a:p>
        </p:txBody>
      </p:sp>
      <p:sp>
        <p:nvSpPr>
          <p:cNvPr id="50" name="Espace réservé du texte 11"/>
          <p:cNvSpPr txBox="1">
            <a:spLocks/>
          </p:cNvSpPr>
          <p:nvPr/>
        </p:nvSpPr>
        <p:spPr>
          <a:xfrm>
            <a:off x="6593482" y="1953938"/>
            <a:ext cx="2455916" cy="3888969"/>
          </a:xfrm>
          <a:prstGeom prst="rect">
            <a:avLst/>
          </a:prstGeom>
        </p:spPr>
        <p:txBody>
          <a:bodyPr vert="horz" lIns="68580" tIns="34290" rIns="68580" bIns="34290" rtlCol="0" anchor="t">
            <a:normAutofit/>
          </a:bodyPr>
          <a:lstStyle>
            <a:defPPr>
              <a:defRPr lang="fr-FR"/>
            </a:defPPr>
            <a:lvl1pPr marL="0" algn="ctr" defTabSz="914400" rtl="0" eaLnBrk="1" latinLnBrk="0" hangingPunct="1">
              <a:defRPr sz="1050" kern="1200">
                <a:solidFill>
                  <a:schemeClr val="bg2">
                    <a:lumMod val="25000"/>
                  </a:schemeClr>
                </a:solidFill>
                <a:latin typeface="+mn-lt"/>
                <a:ea typeface="+mn-ea"/>
                <a:cs typeface="+mn-cs"/>
              </a:defRPr>
            </a:lvl1pPr>
            <a:lvl2pPr marL="457200" indent="0" algn="l" defTabSz="914400" rtl="0" eaLnBrk="1" latinLnBrk="0" hangingPunct="1">
              <a:buNone/>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4313" indent="-214313" algn="l">
              <a:buFont typeface="Arial" panose="020B0604020202020204" pitchFamily="34" charset="0"/>
              <a:buChar char="•"/>
            </a:pPr>
            <a:endParaRPr lang="fr-FR" dirty="0">
              <a:solidFill>
                <a:schemeClr val="bg1"/>
              </a:solidFill>
            </a:endParaRPr>
          </a:p>
        </p:txBody>
      </p:sp>
      <p:sp>
        <p:nvSpPr>
          <p:cNvPr id="51" name="ZoneTexte 50"/>
          <p:cNvSpPr txBox="1"/>
          <p:nvPr/>
        </p:nvSpPr>
        <p:spPr>
          <a:xfrm>
            <a:off x="6553404" y="1460730"/>
            <a:ext cx="2495994" cy="1061829"/>
          </a:xfrm>
          <a:prstGeom prst="rect">
            <a:avLst/>
          </a:prstGeom>
          <a:noFill/>
        </p:spPr>
        <p:txBody>
          <a:bodyPr wrap="square" rtlCol="0">
            <a:spAutoFit/>
          </a:bodyPr>
          <a:lstStyle/>
          <a:p>
            <a:r>
              <a:rPr lang="fr-FR" sz="1050" b="1" dirty="0">
                <a:solidFill>
                  <a:schemeClr val="bg1"/>
                </a:solidFill>
                <a:latin typeface="Calibri" panose="020F0502020204030204" pitchFamily="34" charset="0"/>
              </a:rPr>
              <a:t>Notes pour la mise en œuvre (explication animation, images, effets…) :</a:t>
            </a:r>
          </a:p>
          <a:p>
            <a:endParaRPr lang="fr-FR" sz="1050" b="1" dirty="0">
              <a:solidFill>
                <a:schemeClr val="bg1"/>
              </a:solidFill>
              <a:latin typeface="Calibri" panose="020F0502020204030204" pitchFamily="34" charset="0"/>
            </a:endParaRPr>
          </a:p>
          <a:p>
            <a:pPr marL="214313" indent="-214313">
              <a:buFontTx/>
              <a:buChar char="-"/>
            </a:pPr>
            <a:r>
              <a:rPr lang="fr-FR" sz="1050" dirty="0">
                <a:solidFill>
                  <a:schemeClr val="bg1"/>
                </a:solidFill>
                <a:latin typeface="Calibri" panose="020F0502020204030204" pitchFamily="34" charset="0"/>
              </a:rPr>
              <a:t>Marc et le bureau reste affiché de l’écran précédent</a:t>
            </a:r>
          </a:p>
          <a:p>
            <a:pPr marL="214313" indent="-214313">
              <a:buFontTx/>
              <a:buChar char="-"/>
            </a:pPr>
            <a:r>
              <a:rPr lang="fr-FR" sz="1050" dirty="0">
                <a:solidFill>
                  <a:schemeClr val="bg1"/>
                </a:solidFill>
                <a:latin typeface="Calibri" panose="020F0502020204030204" pitchFamily="34" charset="0"/>
              </a:rPr>
              <a:t>Affichage du texte </a:t>
            </a:r>
          </a:p>
        </p:txBody>
      </p:sp>
      <p:pic>
        <p:nvPicPr>
          <p:cNvPr id="28" name="Image 27"/>
          <p:cNvPicPr>
            <a:picLocks noChangeAspect="1"/>
          </p:cNvPicPr>
          <p:nvPr/>
        </p:nvPicPr>
        <p:blipFill>
          <a:blip r:embed="rId2"/>
          <a:stretch>
            <a:fillRect/>
          </a:stretch>
        </p:blipFill>
        <p:spPr>
          <a:xfrm>
            <a:off x="187416" y="2207416"/>
            <a:ext cx="3103580" cy="3325265"/>
          </a:xfrm>
          <a:prstGeom prst="rect">
            <a:avLst/>
          </a:prstGeom>
        </p:spPr>
      </p:pic>
      <p:sp>
        <p:nvSpPr>
          <p:cNvPr id="55" name="Rectangle 54"/>
          <p:cNvSpPr/>
          <p:nvPr/>
        </p:nvSpPr>
        <p:spPr>
          <a:xfrm>
            <a:off x="1946000" y="2422046"/>
            <a:ext cx="4192970" cy="1870512"/>
          </a:xfrm>
          <a:prstGeom prst="rect">
            <a:avLst/>
          </a:prstGeom>
        </p:spPr>
        <p:txBody>
          <a:bodyPr wrap="square">
            <a:spAutoFit/>
          </a:bodyPr>
          <a:lstStyle/>
          <a:p>
            <a:pPr algn="ctr">
              <a:lnSpc>
                <a:spcPct val="107000"/>
              </a:lnSpc>
              <a:spcAft>
                <a:spcPts val="600"/>
              </a:spcAft>
            </a:pPr>
            <a:r>
              <a:rPr lang="fr-FR" sz="1800" b="1" dirty="0">
                <a:solidFill>
                  <a:schemeClr val="tx1">
                    <a:lumMod val="75000"/>
                    <a:lumOff val="25000"/>
                  </a:schemeClr>
                </a:solidFill>
                <a:ea typeface="Yu Gothic Light" panose="020B0300000000000000" pitchFamily="34" charset="-128"/>
                <a:cs typeface="Times New Roman" panose="02020603050405020304" pitchFamily="18" charset="0"/>
              </a:rPr>
              <a:t>Bien décrire mon besoin est essentiel </a:t>
            </a:r>
            <a:r>
              <a:rPr lang="fr-FR" sz="1800" dirty="0">
                <a:solidFill>
                  <a:schemeClr val="tx1">
                    <a:lumMod val="75000"/>
                    <a:lumOff val="25000"/>
                  </a:schemeClr>
                </a:solidFill>
                <a:ea typeface="Yu Gothic Light" panose="020B0300000000000000" pitchFamily="34" charset="-128"/>
                <a:cs typeface="Times New Roman" panose="02020603050405020304" pitchFamily="18" charset="0"/>
              </a:rPr>
              <a:t>pour permettre une qualification améliorer de celui-ci par les équipes DataLab et </a:t>
            </a:r>
            <a:r>
              <a:rPr lang="fr-FR" sz="1800" b="1" dirty="0">
                <a:solidFill>
                  <a:schemeClr val="tx1">
                    <a:lumMod val="75000"/>
                    <a:lumOff val="25000"/>
                  </a:schemeClr>
                </a:solidFill>
                <a:ea typeface="Yu Gothic Light" panose="020B0300000000000000" pitchFamily="34" charset="-128"/>
                <a:cs typeface="Times New Roman" panose="02020603050405020304" pitchFamily="18" charset="0"/>
              </a:rPr>
              <a:t>permettre de valider la pertinence de l’usage de la Plateforme </a:t>
            </a:r>
            <a:r>
              <a:rPr lang="fr-FR" sz="1800" b="1" dirty="0" err="1">
                <a:solidFill>
                  <a:schemeClr val="tx1">
                    <a:lumMod val="75000"/>
                    <a:lumOff val="25000"/>
                  </a:schemeClr>
                </a:solidFill>
                <a:ea typeface="Yu Gothic Light" panose="020B0300000000000000" pitchFamily="34" charset="-128"/>
                <a:cs typeface="Times New Roman" panose="02020603050405020304" pitchFamily="18" charset="0"/>
              </a:rPr>
              <a:t>DataLake</a:t>
            </a:r>
            <a:r>
              <a:rPr lang="fr-FR" sz="1800" b="1" dirty="0">
                <a:solidFill>
                  <a:schemeClr val="tx1">
                    <a:lumMod val="75000"/>
                    <a:lumOff val="25000"/>
                  </a:schemeClr>
                </a:solidFill>
                <a:ea typeface="Yu Gothic Light" panose="020B0300000000000000" pitchFamily="34" charset="-128"/>
                <a:cs typeface="Times New Roman" panose="02020603050405020304" pitchFamily="18" charset="0"/>
              </a:rPr>
              <a:t> et du DataLab.</a:t>
            </a:r>
          </a:p>
        </p:txBody>
      </p:sp>
      <p:grpSp>
        <p:nvGrpSpPr>
          <p:cNvPr id="26" name="Groupe 25"/>
          <p:cNvGrpSpPr/>
          <p:nvPr/>
        </p:nvGrpSpPr>
        <p:grpSpPr>
          <a:xfrm>
            <a:off x="559081" y="1597264"/>
            <a:ext cx="5299520" cy="414060"/>
            <a:chOff x="745442" y="986685"/>
            <a:chExt cx="7066026" cy="552080"/>
          </a:xfrm>
        </p:grpSpPr>
        <p:grpSp>
          <p:nvGrpSpPr>
            <p:cNvPr id="27" name="Groupe 26"/>
            <p:cNvGrpSpPr/>
            <p:nvPr/>
          </p:nvGrpSpPr>
          <p:grpSpPr>
            <a:xfrm>
              <a:off x="745442" y="986685"/>
              <a:ext cx="7066026" cy="552080"/>
              <a:chOff x="2691257" y="529120"/>
              <a:chExt cx="7066026" cy="552080"/>
            </a:xfrm>
          </p:grpSpPr>
          <p:sp>
            <p:nvSpPr>
              <p:cNvPr id="35" name="Pentagone 34"/>
              <p:cNvSpPr/>
              <p:nvPr/>
            </p:nvSpPr>
            <p:spPr>
              <a:xfrm>
                <a:off x="2691257" y="667723"/>
                <a:ext cx="7066026" cy="28800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36" name="Ellipse 35"/>
              <p:cNvSpPr/>
              <p:nvPr/>
            </p:nvSpPr>
            <p:spPr>
              <a:xfrm>
                <a:off x="5381632" y="529121"/>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37" name="Ellipse 36"/>
              <p:cNvSpPr/>
              <p:nvPr/>
            </p:nvSpPr>
            <p:spPr>
              <a:xfrm>
                <a:off x="4264756" y="529120"/>
                <a:ext cx="551453" cy="549030"/>
              </a:xfrm>
              <a:prstGeom prst="ellipse">
                <a:avLst/>
              </a:prstGeom>
              <a:solidFill>
                <a:schemeClr val="accent6"/>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38" name="Ellipse 37"/>
              <p:cNvSpPr/>
              <p:nvPr/>
            </p:nvSpPr>
            <p:spPr>
              <a:xfrm>
                <a:off x="3147880"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39" name="Ellipse 38"/>
              <p:cNvSpPr/>
              <p:nvPr/>
            </p:nvSpPr>
            <p:spPr>
              <a:xfrm>
                <a:off x="6498508" y="529122"/>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nvGrpSpPr>
              <p:cNvPr id="40" name="Groupe 39"/>
              <p:cNvGrpSpPr/>
              <p:nvPr/>
            </p:nvGrpSpPr>
            <p:grpSpPr>
              <a:xfrm>
                <a:off x="8732261" y="529120"/>
                <a:ext cx="551453" cy="549030"/>
                <a:chOff x="9401004" y="529120"/>
                <a:chExt cx="551453" cy="549030"/>
              </a:xfrm>
            </p:grpSpPr>
            <p:sp>
              <p:nvSpPr>
                <p:cNvPr id="42" name="Ellipse 41"/>
                <p:cNvSpPr/>
                <p:nvPr/>
              </p:nvSpPr>
              <p:spPr>
                <a:xfrm>
                  <a:off x="9401004"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43" name="Image 42"/>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9554466" y="667723"/>
                  <a:ext cx="288000" cy="288000"/>
                </a:xfrm>
                <a:prstGeom prst="rect">
                  <a:avLst/>
                </a:prstGeom>
              </p:spPr>
            </p:pic>
          </p:grpSp>
          <p:sp>
            <p:nvSpPr>
              <p:cNvPr id="41" name="Ellipse 40"/>
              <p:cNvSpPr/>
              <p:nvPr/>
            </p:nvSpPr>
            <p:spPr>
              <a:xfrm>
                <a:off x="7615384" y="53217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pic>
          <p:nvPicPr>
            <p:cNvPr id="29" name="Image 28"/>
            <p:cNvPicPr>
              <a:picLocks noChangeAspect="1"/>
            </p:cNvPicPr>
            <p:nvPr/>
          </p:nvPicPr>
          <p:blipFill>
            <a:blip r:embed="rId4" cstate="print">
              <a:lum bright="70000" contrast="-70000"/>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2443731" y="1100614"/>
              <a:ext cx="327273" cy="327273"/>
            </a:xfrm>
            <a:prstGeom prst="rect">
              <a:avLst/>
            </a:prstGeom>
          </p:spPr>
        </p:pic>
        <p:pic>
          <p:nvPicPr>
            <p:cNvPr id="30" name="Image 29"/>
            <p:cNvPicPr>
              <a:picLocks noChangeAspect="1"/>
            </p:cNvPicPr>
            <p:nvPr/>
          </p:nvPicPr>
          <p:blipFill>
            <a:blip r:embed="rId6" cstate="email">
              <a:duotone>
                <a:schemeClr val="accent3">
                  <a:shade val="45000"/>
                  <a:satMod val="135000"/>
                </a:schemeClr>
                <a:prstClr val="white"/>
              </a:duotone>
              <a:extLst>
                <a:ext uri="{28A0092B-C50C-407E-A947-70E740481C1C}">
                  <a14:useLocalDpi xmlns:a14="http://schemas.microsoft.com/office/drawing/2010/main"/>
                </a:ext>
              </a:extLst>
            </a:blip>
            <a:stretch>
              <a:fillRect/>
            </a:stretch>
          </p:blipFill>
          <p:spPr>
            <a:xfrm>
              <a:off x="3544243" y="1090534"/>
              <a:ext cx="360000" cy="360000"/>
            </a:xfrm>
            <a:prstGeom prst="rect">
              <a:avLst/>
            </a:prstGeom>
          </p:spPr>
        </p:pic>
        <p:pic>
          <p:nvPicPr>
            <p:cNvPr id="32" name="Image 31"/>
            <p:cNvPicPr>
              <a:picLocks noChangeAspect="1"/>
            </p:cNvPicPr>
            <p:nvPr/>
          </p:nvPicPr>
          <p:blipFill>
            <a:blip r:embed="rId7" cstate="print">
              <a:lum bright="70000" contrast="-70000"/>
              <a:extLst>
                <a:ext uri="{28A0092B-C50C-407E-A947-70E740481C1C}">
                  <a14:useLocalDpi xmlns:a14="http://schemas.microsoft.com/office/drawing/2010/main" val="0"/>
                </a:ext>
              </a:extLst>
            </a:blip>
            <a:stretch>
              <a:fillRect/>
            </a:stretch>
          </p:blipFill>
          <p:spPr>
            <a:xfrm flipH="1">
              <a:off x="5803634" y="1115767"/>
              <a:ext cx="297521" cy="297521"/>
            </a:xfrm>
            <a:prstGeom prst="rect">
              <a:avLst/>
            </a:prstGeom>
          </p:spPr>
        </p:pic>
        <p:pic>
          <p:nvPicPr>
            <p:cNvPr id="33" name="Image 32"/>
            <p:cNvPicPr>
              <a:picLocks noChangeAspect="1"/>
            </p:cNvPicPr>
            <p:nvPr/>
          </p:nvPicPr>
          <p:blipFill>
            <a:blip r:embed="rId8"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4651461" y="1079779"/>
              <a:ext cx="360000" cy="360000"/>
            </a:xfrm>
            <a:prstGeom prst="rect">
              <a:avLst/>
            </a:prstGeom>
          </p:spPr>
        </p:pic>
        <p:pic>
          <p:nvPicPr>
            <p:cNvPr id="34" name="Image 33"/>
            <p:cNvPicPr>
              <a:picLocks noChangeAspect="1"/>
            </p:cNvPicPr>
            <p:nvPr/>
          </p:nvPicPr>
          <p:blipFill>
            <a:blip r:embed="rId9" cstate="print">
              <a:lum bright="70000" contrast="-70000"/>
              <a:extLst>
                <a:ext uri="{28A0092B-C50C-407E-A947-70E740481C1C}">
                  <a14:useLocalDpi xmlns:a14="http://schemas.microsoft.com/office/drawing/2010/main" val="0"/>
                </a:ext>
              </a:extLst>
            </a:blip>
            <a:stretch>
              <a:fillRect/>
            </a:stretch>
          </p:blipFill>
          <p:spPr>
            <a:xfrm>
              <a:off x="1301883" y="1097935"/>
              <a:ext cx="360000" cy="360000"/>
            </a:xfrm>
            <a:prstGeom prst="rect">
              <a:avLst/>
            </a:prstGeom>
          </p:spPr>
        </p:pic>
      </p:grpSp>
      <p:pic>
        <p:nvPicPr>
          <p:cNvPr id="44" name="Image 43"/>
          <p:cNvPicPr>
            <a:picLocks noChangeAspect="1"/>
          </p:cNvPicPr>
          <p:nvPr/>
        </p:nvPicPr>
        <p:blipFill>
          <a:blip r:embed="rId10"/>
          <a:stretch>
            <a:fillRect/>
          </a:stretch>
        </p:blipFill>
        <p:spPr>
          <a:xfrm>
            <a:off x="6992884" y="5223488"/>
            <a:ext cx="1691986" cy="701715"/>
          </a:xfrm>
          <a:prstGeom prst="rect">
            <a:avLst/>
          </a:prstGeom>
        </p:spPr>
      </p:pic>
    </p:spTree>
    <p:extLst>
      <p:ext uri="{BB962C8B-B14F-4D97-AF65-F5344CB8AC3E}">
        <p14:creationId xmlns:p14="http://schemas.microsoft.com/office/powerpoint/2010/main" val="15689188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re 46"/>
          <p:cNvSpPr>
            <a:spLocks noGrp="1"/>
          </p:cNvSpPr>
          <p:nvPr>
            <p:ph type="title"/>
          </p:nvPr>
        </p:nvSpPr>
        <p:spPr>
          <a:xfrm>
            <a:off x="10312" y="116331"/>
            <a:ext cx="4284966" cy="542700"/>
          </a:xfrm>
        </p:spPr>
        <p:txBody>
          <a:bodyPr/>
          <a:lstStyle/>
          <a:p>
            <a:r>
              <a:rPr lang="fr-FR" sz="1500" dirty="0">
                <a:latin typeface="+mn-lt"/>
              </a:rPr>
              <a:t>Bilan et industrialisation</a:t>
            </a:r>
          </a:p>
        </p:txBody>
      </p:sp>
      <p:sp>
        <p:nvSpPr>
          <p:cNvPr id="48" name="Espace réservé du texte 47"/>
          <p:cNvSpPr>
            <a:spLocks noGrp="1"/>
          </p:cNvSpPr>
          <p:nvPr>
            <p:ph type="body" sz="quarter" idx="13"/>
          </p:nvPr>
        </p:nvSpPr>
        <p:spPr/>
        <p:txBody>
          <a:bodyPr/>
          <a:lstStyle/>
          <a:p>
            <a:endParaRPr lang="fr-FR" b="1" dirty="0"/>
          </a:p>
        </p:txBody>
      </p:sp>
      <p:sp>
        <p:nvSpPr>
          <p:cNvPr id="50" name="Espace réservé du texte 11"/>
          <p:cNvSpPr txBox="1">
            <a:spLocks/>
          </p:cNvSpPr>
          <p:nvPr/>
        </p:nvSpPr>
        <p:spPr>
          <a:xfrm>
            <a:off x="6593482" y="1953938"/>
            <a:ext cx="2455916" cy="3888969"/>
          </a:xfrm>
          <a:prstGeom prst="rect">
            <a:avLst/>
          </a:prstGeom>
        </p:spPr>
        <p:txBody>
          <a:bodyPr vert="horz" lIns="68580" tIns="34290" rIns="68580" bIns="34290" rtlCol="0" anchor="t">
            <a:normAutofit/>
          </a:bodyPr>
          <a:lstStyle>
            <a:defPPr>
              <a:defRPr lang="fr-FR"/>
            </a:defPPr>
            <a:lvl1pPr marL="0" algn="ctr" defTabSz="914400" rtl="0" eaLnBrk="1" latinLnBrk="0" hangingPunct="1">
              <a:defRPr sz="1050" kern="1200">
                <a:solidFill>
                  <a:schemeClr val="bg2">
                    <a:lumMod val="25000"/>
                  </a:schemeClr>
                </a:solidFill>
                <a:latin typeface="+mn-lt"/>
                <a:ea typeface="+mn-ea"/>
                <a:cs typeface="+mn-cs"/>
              </a:defRPr>
            </a:lvl1pPr>
            <a:lvl2pPr marL="457200" indent="0" algn="l" defTabSz="914400" rtl="0" eaLnBrk="1" latinLnBrk="0" hangingPunct="1">
              <a:buNone/>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4313" indent="-214313" algn="l">
              <a:buFont typeface="Arial" panose="020B0604020202020204" pitchFamily="34" charset="0"/>
              <a:buChar char="•"/>
            </a:pPr>
            <a:endParaRPr lang="fr-FR" dirty="0">
              <a:solidFill>
                <a:schemeClr val="bg1"/>
              </a:solidFill>
            </a:endParaRPr>
          </a:p>
        </p:txBody>
      </p:sp>
      <p:sp>
        <p:nvSpPr>
          <p:cNvPr id="51" name="ZoneTexte 50"/>
          <p:cNvSpPr txBox="1"/>
          <p:nvPr/>
        </p:nvSpPr>
        <p:spPr>
          <a:xfrm>
            <a:off x="6553404" y="1460730"/>
            <a:ext cx="2495994" cy="415498"/>
          </a:xfrm>
          <a:prstGeom prst="rect">
            <a:avLst/>
          </a:prstGeom>
          <a:noFill/>
        </p:spPr>
        <p:txBody>
          <a:bodyPr wrap="square" rtlCol="0">
            <a:spAutoFit/>
          </a:bodyPr>
          <a:lstStyle/>
          <a:p>
            <a:r>
              <a:rPr lang="fr-FR" sz="1050" b="1" dirty="0">
                <a:solidFill>
                  <a:schemeClr val="bg1"/>
                </a:solidFill>
                <a:latin typeface="Calibri" panose="020F0502020204030204" pitchFamily="34" charset="0"/>
              </a:rPr>
              <a:t>Notes pour la mise en œuvre (explication animation, images, effets…) :</a:t>
            </a:r>
          </a:p>
        </p:txBody>
      </p:sp>
      <p:grpSp>
        <p:nvGrpSpPr>
          <p:cNvPr id="72" name="Groupe 71"/>
          <p:cNvGrpSpPr/>
          <p:nvPr/>
        </p:nvGrpSpPr>
        <p:grpSpPr>
          <a:xfrm>
            <a:off x="559081" y="1597264"/>
            <a:ext cx="5299520" cy="414060"/>
            <a:chOff x="745442" y="986685"/>
            <a:chExt cx="7066026" cy="552080"/>
          </a:xfrm>
        </p:grpSpPr>
        <p:grpSp>
          <p:nvGrpSpPr>
            <p:cNvPr id="73" name="Groupe 72"/>
            <p:cNvGrpSpPr/>
            <p:nvPr/>
          </p:nvGrpSpPr>
          <p:grpSpPr>
            <a:xfrm>
              <a:off x="745442" y="986685"/>
              <a:ext cx="7066026" cy="552080"/>
              <a:chOff x="2691257" y="529120"/>
              <a:chExt cx="7066026" cy="552080"/>
            </a:xfrm>
          </p:grpSpPr>
          <p:sp>
            <p:nvSpPr>
              <p:cNvPr id="79" name="Pentagone 78"/>
              <p:cNvSpPr/>
              <p:nvPr/>
            </p:nvSpPr>
            <p:spPr>
              <a:xfrm>
                <a:off x="2691257" y="667723"/>
                <a:ext cx="7066026" cy="28800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0" name="Ellipse 79"/>
              <p:cNvSpPr/>
              <p:nvPr/>
            </p:nvSpPr>
            <p:spPr>
              <a:xfrm>
                <a:off x="5381632" y="529121"/>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1" name="Ellipse 80"/>
              <p:cNvSpPr/>
              <p:nvPr/>
            </p:nvSpPr>
            <p:spPr>
              <a:xfrm>
                <a:off x="4264756"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2" name="Ellipse 81"/>
              <p:cNvSpPr/>
              <p:nvPr/>
            </p:nvSpPr>
            <p:spPr>
              <a:xfrm>
                <a:off x="3147880"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3" name="Ellipse 82"/>
              <p:cNvSpPr/>
              <p:nvPr/>
            </p:nvSpPr>
            <p:spPr>
              <a:xfrm>
                <a:off x="6498508" y="529122"/>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nvGrpSpPr>
              <p:cNvPr id="84" name="Groupe 83"/>
              <p:cNvGrpSpPr/>
              <p:nvPr/>
            </p:nvGrpSpPr>
            <p:grpSpPr>
              <a:xfrm>
                <a:off x="8732261" y="529120"/>
                <a:ext cx="551453" cy="549030"/>
                <a:chOff x="9401004" y="529120"/>
                <a:chExt cx="551453" cy="549030"/>
              </a:xfrm>
            </p:grpSpPr>
            <p:sp>
              <p:nvSpPr>
                <p:cNvPr id="86" name="Ellipse 85"/>
                <p:cNvSpPr/>
                <p:nvPr/>
              </p:nvSpPr>
              <p:spPr>
                <a:xfrm>
                  <a:off x="9401004"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87" name="Image 86"/>
                <p:cNvPicPr>
                  <a:picLocks noChangeAspect="1"/>
                </p:cNvPicPr>
                <p:nvPr/>
              </p:nvPicPr>
              <p:blipFill>
                <a:blip r:embed="rId2"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9554466" y="667723"/>
                  <a:ext cx="288000" cy="288000"/>
                </a:xfrm>
                <a:prstGeom prst="rect">
                  <a:avLst/>
                </a:prstGeom>
              </p:spPr>
            </p:pic>
          </p:grpSp>
          <p:sp>
            <p:nvSpPr>
              <p:cNvPr id="85" name="Ellipse 84"/>
              <p:cNvSpPr/>
              <p:nvPr/>
            </p:nvSpPr>
            <p:spPr>
              <a:xfrm>
                <a:off x="7615384" y="532170"/>
                <a:ext cx="551453" cy="549030"/>
              </a:xfrm>
              <a:prstGeom prst="ellipse">
                <a:avLst/>
              </a:prstGeom>
              <a:solidFill>
                <a:schemeClr val="accent6"/>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pic>
          <p:nvPicPr>
            <p:cNvPr id="74" name="Image 73"/>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443731" y="1100614"/>
              <a:ext cx="327273" cy="327273"/>
            </a:xfrm>
            <a:prstGeom prst="rect">
              <a:avLst/>
            </a:prstGeom>
          </p:spPr>
        </p:pic>
        <p:pic>
          <p:nvPicPr>
            <p:cNvPr id="75" name="Image 74"/>
            <p:cNvPicPr>
              <a:picLocks noChangeAspect="1"/>
            </p:cNvPicPr>
            <p:nvPr/>
          </p:nvPicPr>
          <p:blipFill>
            <a:blip r:embed="rId4" cstate="email">
              <a:duotone>
                <a:schemeClr val="accent3">
                  <a:shade val="45000"/>
                  <a:satMod val="135000"/>
                </a:schemeClr>
                <a:prstClr val="white"/>
              </a:duotone>
              <a:extLst>
                <a:ext uri="{28A0092B-C50C-407E-A947-70E740481C1C}">
                  <a14:useLocalDpi xmlns:a14="http://schemas.microsoft.com/office/drawing/2010/main"/>
                </a:ext>
              </a:extLst>
            </a:blip>
            <a:stretch>
              <a:fillRect/>
            </a:stretch>
          </p:blipFill>
          <p:spPr>
            <a:xfrm>
              <a:off x="3544243" y="1090534"/>
              <a:ext cx="360000" cy="360000"/>
            </a:xfrm>
            <a:prstGeom prst="rect">
              <a:avLst/>
            </a:prstGeom>
          </p:spPr>
        </p:pic>
        <p:pic>
          <p:nvPicPr>
            <p:cNvPr id="76" name="Image 75"/>
            <p:cNvPicPr>
              <a:picLocks noChangeAspect="1"/>
            </p:cNvPicPr>
            <p:nvPr/>
          </p:nvPicPr>
          <p:blipFill>
            <a:blip r:embed="rId5" cstate="print">
              <a:lum bright="70000" contrast="-70000"/>
              <a:extLst>
                <a:ext uri="{BEBA8EAE-BF5A-486C-A8C5-ECC9F3942E4B}">
                  <a14:imgProps xmlns:a14="http://schemas.microsoft.com/office/drawing/2010/main">
                    <a14:imgLayer r:embed="rId6">
                      <a14:imgEffect>
                        <a14:artisticPhotocopy/>
                      </a14:imgEffect>
                    </a14:imgLayer>
                  </a14:imgProps>
                </a:ext>
                <a:ext uri="{28A0092B-C50C-407E-A947-70E740481C1C}">
                  <a14:useLocalDpi xmlns:a14="http://schemas.microsoft.com/office/drawing/2010/main" val="0"/>
                </a:ext>
              </a:extLst>
            </a:blip>
            <a:stretch>
              <a:fillRect/>
            </a:stretch>
          </p:blipFill>
          <p:spPr>
            <a:xfrm flipH="1">
              <a:off x="5803634" y="1115767"/>
              <a:ext cx="297521" cy="297521"/>
            </a:xfrm>
            <a:prstGeom prst="rect">
              <a:avLst/>
            </a:prstGeom>
          </p:spPr>
        </p:pic>
        <p:pic>
          <p:nvPicPr>
            <p:cNvPr id="77" name="Image 76"/>
            <p:cNvPicPr>
              <a:picLocks noChangeAspect="1"/>
            </p:cNvPicPr>
            <p:nvPr/>
          </p:nvPicPr>
          <p:blipFill>
            <a:blip r:embed="rId7"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4651461" y="1079779"/>
              <a:ext cx="360000" cy="360000"/>
            </a:xfrm>
            <a:prstGeom prst="rect">
              <a:avLst/>
            </a:prstGeom>
          </p:spPr>
        </p:pic>
        <p:pic>
          <p:nvPicPr>
            <p:cNvPr id="78" name="Image 77"/>
            <p:cNvPicPr>
              <a:picLocks noChangeAspect="1"/>
            </p:cNvPicPr>
            <p:nvPr/>
          </p:nvPicPr>
          <p:blipFill>
            <a:blip r:embed="rId8" cstate="print">
              <a:lum bright="70000" contrast="-70000"/>
              <a:extLst>
                <a:ext uri="{28A0092B-C50C-407E-A947-70E740481C1C}">
                  <a14:useLocalDpi xmlns:a14="http://schemas.microsoft.com/office/drawing/2010/main" val="0"/>
                </a:ext>
              </a:extLst>
            </a:blip>
            <a:stretch>
              <a:fillRect/>
            </a:stretch>
          </p:blipFill>
          <p:spPr>
            <a:xfrm>
              <a:off x="1301883" y="1097935"/>
              <a:ext cx="360000" cy="360000"/>
            </a:xfrm>
            <a:prstGeom prst="rect">
              <a:avLst/>
            </a:prstGeom>
          </p:spPr>
        </p:pic>
      </p:grpSp>
      <p:sp>
        <p:nvSpPr>
          <p:cNvPr id="44" name="Rectangle 43"/>
          <p:cNvSpPr/>
          <p:nvPr/>
        </p:nvSpPr>
        <p:spPr>
          <a:xfrm>
            <a:off x="203281" y="4679339"/>
            <a:ext cx="6121285" cy="1730923"/>
          </a:xfrm>
          <a:prstGeom prst="rect">
            <a:avLst/>
          </a:prstGeom>
        </p:spPr>
        <p:txBody>
          <a:bodyPr wrap="square">
            <a:spAutoFit/>
          </a:bodyPr>
          <a:lstStyle/>
          <a:p>
            <a:pPr algn="ctr">
              <a:lnSpc>
                <a:spcPct val="107000"/>
              </a:lnSpc>
              <a:spcAft>
                <a:spcPts val="600"/>
              </a:spcAft>
            </a:pPr>
            <a:r>
              <a:rPr lang="fr-FR" sz="1600" b="1" dirty="0">
                <a:solidFill>
                  <a:schemeClr val="tx1">
                    <a:lumMod val="75000"/>
                    <a:lumOff val="25000"/>
                  </a:schemeClr>
                </a:solidFill>
                <a:ea typeface="Yu Gothic Light" panose="020B0300000000000000" pitchFamily="34" charset="-128"/>
                <a:cs typeface="Times New Roman" panose="02020603050405020304" pitchFamily="18" charset="0"/>
              </a:rPr>
              <a:t>Je planifie une rencontre avec mon responsable DataLab </a:t>
            </a:r>
            <a:r>
              <a:rPr lang="fr-FR" sz="1600" dirty="0">
                <a:solidFill>
                  <a:schemeClr val="tx1">
                    <a:lumMod val="75000"/>
                    <a:lumOff val="25000"/>
                  </a:schemeClr>
                </a:solidFill>
                <a:ea typeface="Yu Gothic Light" panose="020B0300000000000000" pitchFamily="34" charset="-128"/>
                <a:cs typeface="Times New Roman" panose="02020603050405020304" pitchFamily="18" charset="0"/>
              </a:rPr>
              <a:t>pour faire le bilan </a:t>
            </a:r>
            <a:br>
              <a:rPr lang="fr-FR" sz="1600" dirty="0">
                <a:solidFill>
                  <a:schemeClr val="tx1">
                    <a:lumMod val="75000"/>
                    <a:lumOff val="25000"/>
                  </a:schemeClr>
                </a:solidFill>
                <a:ea typeface="Yu Gothic Light" panose="020B0300000000000000" pitchFamily="34" charset="-128"/>
                <a:cs typeface="Times New Roman" panose="02020603050405020304" pitchFamily="18" charset="0"/>
              </a:rPr>
            </a:br>
            <a:r>
              <a:rPr lang="fr-FR" sz="1600" dirty="0">
                <a:solidFill>
                  <a:schemeClr val="tx1">
                    <a:lumMod val="75000"/>
                    <a:lumOff val="25000"/>
                  </a:schemeClr>
                </a:solidFill>
                <a:ea typeface="Yu Gothic Light" panose="020B0300000000000000" pitchFamily="34" charset="-128"/>
                <a:cs typeface="Times New Roman" panose="02020603050405020304" pitchFamily="18" charset="0"/>
              </a:rPr>
              <a:t>de mon expérimentation et travailler sur la suite de celle-ci.</a:t>
            </a:r>
          </a:p>
          <a:p>
            <a:pPr algn="ctr">
              <a:lnSpc>
                <a:spcPct val="107000"/>
              </a:lnSpc>
              <a:spcAft>
                <a:spcPts val="600"/>
              </a:spcAft>
            </a:pPr>
            <a:r>
              <a:rPr lang="fr-FR" sz="1600" dirty="0">
                <a:solidFill>
                  <a:schemeClr val="tx1">
                    <a:lumMod val="75000"/>
                    <a:lumOff val="25000"/>
                  </a:schemeClr>
                </a:solidFill>
                <a:ea typeface="Yu Gothic Light" panose="020B0300000000000000" pitchFamily="34" charset="-128"/>
                <a:cs typeface="Times New Roman" panose="02020603050405020304" pitchFamily="18" charset="0"/>
              </a:rPr>
              <a:t>Je lui indique que </a:t>
            </a:r>
            <a:r>
              <a:rPr lang="fr-FR" sz="1600" b="1" dirty="0">
                <a:solidFill>
                  <a:schemeClr val="tx1">
                    <a:lumMod val="75000"/>
                    <a:lumOff val="25000"/>
                  </a:schemeClr>
                </a:solidFill>
                <a:ea typeface="Yu Gothic Light" panose="020B0300000000000000" pitchFamily="34" charset="-128"/>
                <a:cs typeface="Times New Roman" panose="02020603050405020304" pitchFamily="18" charset="0"/>
              </a:rPr>
              <a:t>je souhaite disposer en production au quotidien des traitements et tableaux de bord mis en œuvre dans le cadre expérimental.</a:t>
            </a:r>
          </a:p>
        </p:txBody>
      </p:sp>
      <p:grpSp>
        <p:nvGrpSpPr>
          <p:cNvPr id="26" name="Groupe 25"/>
          <p:cNvGrpSpPr/>
          <p:nvPr/>
        </p:nvGrpSpPr>
        <p:grpSpPr>
          <a:xfrm>
            <a:off x="1315139" y="2231135"/>
            <a:ext cx="3593027" cy="2270076"/>
            <a:chOff x="1934734" y="2607598"/>
            <a:chExt cx="4790703" cy="3026768"/>
          </a:xfrm>
        </p:grpSpPr>
        <p:pic>
          <p:nvPicPr>
            <p:cNvPr id="27" name="Image 26"/>
            <p:cNvPicPr>
              <a:picLocks noChangeAspect="1"/>
            </p:cNvPicPr>
            <p:nvPr/>
          </p:nvPicPr>
          <p:blipFill>
            <a:blip r:embed="rId9"/>
            <a:stretch>
              <a:fillRect/>
            </a:stretch>
          </p:blipFill>
          <p:spPr>
            <a:xfrm>
              <a:off x="5481745" y="2695839"/>
              <a:ext cx="1243692" cy="2938527"/>
            </a:xfrm>
            <a:prstGeom prst="rect">
              <a:avLst/>
            </a:prstGeom>
          </p:spPr>
        </p:pic>
        <p:pic>
          <p:nvPicPr>
            <p:cNvPr id="28" name="Image 27"/>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934734" y="2607598"/>
              <a:ext cx="1697904" cy="2940771"/>
            </a:xfrm>
            <a:prstGeom prst="rect">
              <a:avLst/>
            </a:prstGeom>
          </p:spPr>
        </p:pic>
      </p:grpSp>
      <p:pic>
        <p:nvPicPr>
          <p:cNvPr id="29" name="Image 28"/>
          <p:cNvPicPr>
            <a:picLocks noChangeAspect="1"/>
          </p:cNvPicPr>
          <p:nvPr/>
        </p:nvPicPr>
        <p:blipFill>
          <a:blip r:embed="rId11"/>
          <a:stretch>
            <a:fillRect/>
          </a:stretch>
        </p:blipFill>
        <p:spPr>
          <a:xfrm>
            <a:off x="6998199" y="5218465"/>
            <a:ext cx="1691986" cy="698627"/>
          </a:xfrm>
          <a:prstGeom prst="rect">
            <a:avLst/>
          </a:prstGeom>
        </p:spPr>
      </p:pic>
    </p:spTree>
    <p:extLst>
      <p:ext uri="{BB962C8B-B14F-4D97-AF65-F5344CB8AC3E}">
        <p14:creationId xmlns:p14="http://schemas.microsoft.com/office/powerpoint/2010/main" val="2847898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re 46"/>
          <p:cNvSpPr>
            <a:spLocks noGrp="1"/>
          </p:cNvSpPr>
          <p:nvPr>
            <p:ph type="title"/>
          </p:nvPr>
        </p:nvSpPr>
        <p:spPr>
          <a:xfrm>
            <a:off x="156815" y="130809"/>
            <a:ext cx="4284966" cy="542700"/>
          </a:xfrm>
        </p:spPr>
        <p:txBody>
          <a:bodyPr/>
          <a:lstStyle/>
          <a:p>
            <a:r>
              <a:rPr lang="fr-FR" sz="1500" dirty="0">
                <a:latin typeface="+mn-lt"/>
              </a:rPr>
              <a:t>La demande d’industrialisation</a:t>
            </a:r>
          </a:p>
        </p:txBody>
      </p:sp>
      <p:sp>
        <p:nvSpPr>
          <p:cNvPr id="48" name="Espace réservé du texte 47"/>
          <p:cNvSpPr>
            <a:spLocks noGrp="1"/>
          </p:cNvSpPr>
          <p:nvPr>
            <p:ph type="body" sz="quarter" idx="13"/>
          </p:nvPr>
        </p:nvSpPr>
        <p:spPr/>
        <p:txBody>
          <a:bodyPr/>
          <a:lstStyle/>
          <a:p>
            <a:endParaRPr lang="fr-FR" b="1" dirty="0"/>
          </a:p>
        </p:txBody>
      </p:sp>
      <p:sp>
        <p:nvSpPr>
          <p:cNvPr id="50" name="Espace réservé du texte 11"/>
          <p:cNvSpPr txBox="1">
            <a:spLocks/>
          </p:cNvSpPr>
          <p:nvPr/>
        </p:nvSpPr>
        <p:spPr>
          <a:xfrm>
            <a:off x="6593482" y="1953938"/>
            <a:ext cx="2455916" cy="3888969"/>
          </a:xfrm>
          <a:prstGeom prst="rect">
            <a:avLst/>
          </a:prstGeom>
        </p:spPr>
        <p:txBody>
          <a:bodyPr vert="horz" lIns="68580" tIns="34290" rIns="68580" bIns="34290" rtlCol="0" anchor="t">
            <a:normAutofit/>
          </a:bodyPr>
          <a:lstStyle>
            <a:defPPr>
              <a:defRPr lang="fr-FR"/>
            </a:defPPr>
            <a:lvl1pPr marL="0" algn="ctr" defTabSz="914400" rtl="0" eaLnBrk="1" latinLnBrk="0" hangingPunct="1">
              <a:defRPr sz="1050" kern="1200">
                <a:solidFill>
                  <a:schemeClr val="bg2">
                    <a:lumMod val="25000"/>
                  </a:schemeClr>
                </a:solidFill>
                <a:latin typeface="+mn-lt"/>
                <a:ea typeface="+mn-ea"/>
                <a:cs typeface="+mn-cs"/>
              </a:defRPr>
            </a:lvl1pPr>
            <a:lvl2pPr marL="457200" indent="0" algn="l" defTabSz="914400" rtl="0" eaLnBrk="1" latinLnBrk="0" hangingPunct="1">
              <a:buNone/>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4313" indent="-214313" algn="l">
              <a:buFont typeface="Arial" panose="020B0604020202020204" pitchFamily="34" charset="0"/>
              <a:buChar char="•"/>
            </a:pPr>
            <a:endParaRPr lang="fr-FR" dirty="0">
              <a:solidFill>
                <a:schemeClr val="bg1"/>
              </a:solidFill>
            </a:endParaRPr>
          </a:p>
        </p:txBody>
      </p:sp>
      <p:sp>
        <p:nvSpPr>
          <p:cNvPr id="51" name="ZoneTexte 50"/>
          <p:cNvSpPr txBox="1"/>
          <p:nvPr/>
        </p:nvSpPr>
        <p:spPr>
          <a:xfrm>
            <a:off x="6553404" y="1460730"/>
            <a:ext cx="2495994" cy="415498"/>
          </a:xfrm>
          <a:prstGeom prst="rect">
            <a:avLst/>
          </a:prstGeom>
          <a:noFill/>
        </p:spPr>
        <p:txBody>
          <a:bodyPr wrap="square" rtlCol="0">
            <a:spAutoFit/>
          </a:bodyPr>
          <a:lstStyle/>
          <a:p>
            <a:r>
              <a:rPr lang="fr-FR" sz="1050" b="1" dirty="0">
                <a:solidFill>
                  <a:schemeClr val="bg1"/>
                </a:solidFill>
                <a:latin typeface="Calibri" panose="020F0502020204030204" pitchFamily="34" charset="0"/>
              </a:rPr>
              <a:t>Notes pour la mise en œuvre (explication animation, images, effets…) :</a:t>
            </a:r>
          </a:p>
        </p:txBody>
      </p:sp>
      <p:grpSp>
        <p:nvGrpSpPr>
          <p:cNvPr id="72" name="Groupe 71"/>
          <p:cNvGrpSpPr/>
          <p:nvPr/>
        </p:nvGrpSpPr>
        <p:grpSpPr>
          <a:xfrm>
            <a:off x="559081" y="1597264"/>
            <a:ext cx="5299520" cy="414060"/>
            <a:chOff x="745442" y="986685"/>
            <a:chExt cx="7066026" cy="552080"/>
          </a:xfrm>
        </p:grpSpPr>
        <p:grpSp>
          <p:nvGrpSpPr>
            <p:cNvPr id="73" name="Groupe 72"/>
            <p:cNvGrpSpPr/>
            <p:nvPr/>
          </p:nvGrpSpPr>
          <p:grpSpPr>
            <a:xfrm>
              <a:off x="745442" y="986685"/>
              <a:ext cx="7066026" cy="552080"/>
              <a:chOff x="2691257" y="529120"/>
              <a:chExt cx="7066026" cy="552080"/>
            </a:xfrm>
          </p:grpSpPr>
          <p:sp>
            <p:nvSpPr>
              <p:cNvPr id="79" name="Pentagone 78"/>
              <p:cNvSpPr/>
              <p:nvPr/>
            </p:nvSpPr>
            <p:spPr>
              <a:xfrm>
                <a:off x="2691257" y="667723"/>
                <a:ext cx="7066026" cy="28800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0" name="Ellipse 79"/>
              <p:cNvSpPr/>
              <p:nvPr/>
            </p:nvSpPr>
            <p:spPr>
              <a:xfrm>
                <a:off x="5381632" y="529121"/>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1" name="Ellipse 80"/>
              <p:cNvSpPr/>
              <p:nvPr/>
            </p:nvSpPr>
            <p:spPr>
              <a:xfrm>
                <a:off x="4264756"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2" name="Ellipse 81"/>
              <p:cNvSpPr/>
              <p:nvPr/>
            </p:nvSpPr>
            <p:spPr>
              <a:xfrm>
                <a:off x="3147880"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3" name="Ellipse 82"/>
              <p:cNvSpPr/>
              <p:nvPr/>
            </p:nvSpPr>
            <p:spPr>
              <a:xfrm>
                <a:off x="6498508" y="529122"/>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nvGrpSpPr>
              <p:cNvPr id="84" name="Groupe 83"/>
              <p:cNvGrpSpPr/>
              <p:nvPr/>
            </p:nvGrpSpPr>
            <p:grpSpPr>
              <a:xfrm>
                <a:off x="8732261" y="529120"/>
                <a:ext cx="551453" cy="549030"/>
                <a:chOff x="9401004" y="529120"/>
                <a:chExt cx="551453" cy="549030"/>
              </a:xfrm>
            </p:grpSpPr>
            <p:sp>
              <p:nvSpPr>
                <p:cNvPr id="86" name="Ellipse 85"/>
                <p:cNvSpPr/>
                <p:nvPr/>
              </p:nvSpPr>
              <p:spPr>
                <a:xfrm>
                  <a:off x="9401004"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87" name="Image 86"/>
                <p:cNvPicPr>
                  <a:picLocks noChangeAspect="1"/>
                </p:cNvPicPr>
                <p:nvPr/>
              </p:nvPicPr>
              <p:blipFill>
                <a:blip r:embed="rId2"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9554466" y="667723"/>
                  <a:ext cx="288000" cy="288000"/>
                </a:xfrm>
                <a:prstGeom prst="rect">
                  <a:avLst/>
                </a:prstGeom>
              </p:spPr>
            </p:pic>
          </p:grpSp>
          <p:sp>
            <p:nvSpPr>
              <p:cNvPr id="85" name="Ellipse 84"/>
              <p:cNvSpPr/>
              <p:nvPr/>
            </p:nvSpPr>
            <p:spPr>
              <a:xfrm>
                <a:off x="7615384" y="532170"/>
                <a:ext cx="551453" cy="549030"/>
              </a:xfrm>
              <a:prstGeom prst="ellipse">
                <a:avLst/>
              </a:prstGeom>
              <a:solidFill>
                <a:schemeClr val="accent6"/>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pic>
          <p:nvPicPr>
            <p:cNvPr id="74" name="Image 73"/>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443731" y="1100614"/>
              <a:ext cx="327273" cy="327273"/>
            </a:xfrm>
            <a:prstGeom prst="rect">
              <a:avLst/>
            </a:prstGeom>
          </p:spPr>
        </p:pic>
        <p:pic>
          <p:nvPicPr>
            <p:cNvPr id="75" name="Image 74"/>
            <p:cNvPicPr>
              <a:picLocks noChangeAspect="1"/>
            </p:cNvPicPr>
            <p:nvPr/>
          </p:nvPicPr>
          <p:blipFill>
            <a:blip r:embed="rId4" cstate="email">
              <a:duotone>
                <a:schemeClr val="accent3">
                  <a:shade val="45000"/>
                  <a:satMod val="135000"/>
                </a:schemeClr>
                <a:prstClr val="white"/>
              </a:duotone>
              <a:extLst>
                <a:ext uri="{28A0092B-C50C-407E-A947-70E740481C1C}">
                  <a14:useLocalDpi xmlns:a14="http://schemas.microsoft.com/office/drawing/2010/main"/>
                </a:ext>
              </a:extLst>
            </a:blip>
            <a:stretch>
              <a:fillRect/>
            </a:stretch>
          </p:blipFill>
          <p:spPr>
            <a:xfrm>
              <a:off x="3544243" y="1090534"/>
              <a:ext cx="360000" cy="360000"/>
            </a:xfrm>
            <a:prstGeom prst="rect">
              <a:avLst/>
            </a:prstGeom>
          </p:spPr>
        </p:pic>
        <p:pic>
          <p:nvPicPr>
            <p:cNvPr id="76" name="Image 75"/>
            <p:cNvPicPr>
              <a:picLocks noChangeAspect="1"/>
            </p:cNvPicPr>
            <p:nvPr/>
          </p:nvPicPr>
          <p:blipFill>
            <a:blip r:embed="rId5" cstate="print">
              <a:lum bright="70000" contrast="-70000"/>
              <a:extLst>
                <a:ext uri="{BEBA8EAE-BF5A-486C-A8C5-ECC9F3942E4B}">
                  <a14:imgProps xmlns:a14="http://schemas.microsoft.com/office/drawing/2010/main">
                    <a14:imgLayer r:embed="rId6">
                      <a14:imgEffect>
                        <a14:artisticPhotocopy/>
                      </a14:imgEffect>
                    </a14:imgLayer>
                  </a14:imgProps>
                </a:ext>
                <a:ext uri="{28A0092B-C50C-407E-A947-70E740481C1C}">
                  <a14:useLocalDpi xmlns:a14="http://schemas.microsoft.com/office/drawing/2010/main" val="0"/>
                </a:ext>
              </a:extLst>
            </a:blip>
            <a:stretch>
              <a:fillRect/>
            </a:stretch>
          </p:blipFill>
          <p:spPr>
            <a:xfrm flipH="1">
              <a:off x="5803634" y="1115767"/>
              <a:ext cx="297521" cy="297521"/>
            </a:xfrm>
            <a:prstGeom prst="rect">
              <a:avLst/>
            </a:prstGeom>
          </p:spPr>
        </p:pic>
        <p:pic>
          <p:nvPicPr>
            <p:cNvPr id="77" name="Image 76"/>
            <p:cNvPicPr>
              <a:picLocks noChangeAspect="1"/>
            </p:cNvPicPr>
            <p:nvPr/>
          </p:nvPicPr>
          <p:blipFill>
            <a:blip r:embed="rId7"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4651461" y="1079779"/>
              <a:ext cx="360000" cy="360000"/>
            </a:xfrm>
            <a:prstGeom prst="rect">
              <a:avLst/>
            </a:prstGeom>
          </p:spPr>
        </p:pic>
        <p:pic>
          <p:nvPicPr>
            <p:cNvPr id="78" name="Image 77"/>
            <p:cNvPicPr>
              <a:picLocks noChangeAspect="1"/>
            </p:cNvPicPr>
            <p:nvPr/>
          </p:nvPicPr>
          <p:blipFill>
            <a:blip r:embed="rId8" cstate="print">
              <a:lum bright="70000" contrast="-70000"/>
              <a:extLst>
                <a:ext uri="{28A0092B-C50C-407E-A947-70E740481C1C}">
                  <a14:useLocalDpi xmlns:a14="http://schemas.microsoft.com/office/drawing/2010/main" val="0"/>
                </a:ext>
              </a:extLst>
            </a:blip>
            <a:stretch>
              <a:fillRect/>
            </a:stretch>
          </p:blipFill>
          <p:spPr>
            <a:xfrm>
              <a:off x="1301883" y="1097935"/>
              <a:ext cx="360000" cy="360000"/>
            </a:xfrm>
            <a:prstGeom prst="rect">
              <a:avLst/>
            </a:prstGeom>
          </p:spPr>
        </p:pic>
      </p:grpSp>
      <p:sp>
        <p:nvSpPr>
          <p:cNvPr id="44" name="Rectangle 43"/>
          <p:cNvSpPr/>
          <p:nvPr/>
        </p:nvSpPr>
        <p:spPr>
          <a:xfrm>
            <a:off x="203281" y="4607151"/>
            <a:ext cx="6121285" cy="1467453"/>
          </a:xfrm>
          <a:prstGeom prst="rect">
            <a:avLst/>
          </a:prstGeom>
        </p:spPr>
        <p:txBody>
          <a:bodyPr wrap="square">
            <a:spAutoFit/>
          </a:bodyPr>
          <a:lstStyle/>
          <a:p>
            <a:pPr algn="ctr">
              <a:lnSpc>
                <a:spcPct val="107000"/>
              </a:lnSpc>
              <a:spcAft>
                <a:spcPts val="600"/>
              </a:spcAft>
            </a:pPr>
            <a:r>
              <a:rPr lang="fr-FR" sz="1600" dirty="0">
                <a:solidFill>
                  <a:schemeClr val="tx1">
                    <a:lumMod val="75000"/>
                    <a:lumOff val="25000"/>
                  </a:schemeClr>
                </a:solidFill>
                <a:ea typeface="Yu Gothic Light" panose="020B0300000000000000" pitchFamily="34" charset="-128"/>
                <a:cs typeface="Times New Roman" panose="02020603050405020304" pitchFamily="18" charset="0"/>
              </a:rPr>
              <a:t>Mon responsable DataLab m’indique que nous allons faire une demande pour industrialiser les livrables de mon expérimentation.</a:t>
            </a:r>
          </a:p>
          <a:p>
            <a:pPr algn="ctr">
              <a:lnSpc>
                <a:spcPct val="107000"/>
              </a:lnSpc>
              <a:spcAft>
                <a:spcPts val="600"/>
              </a:spcAft>
            </a:pPr>
            <a:r>
              <a:rPr lang="fr-FR" sz="1600" dirty="0">
                <a:solidFill>
                  <a:schemeClr val="tx1">
                    <a:lumMod val="75000"/>
                    <a:lumOff val="25000"/>
                  </a:schemeClr>
                </a:solidFill>
                <a:ea typeface="Yu Gothic Light" panose="020B0300000000000000" pitchFamily="34" charset="-128"/>
                <a:cs typeface="Times New Roman" panose="02020603050405020304" pitchFamily="18" charset="0"/>
              </a:rPr>
              <a:t>Ces travaux d’industrialisation vont permettre de rendre </a:t>
            </a:r>
            <a:r>
              <a:rPr lang="fr-FR" sz="1600" b="1" dirty="0">
                <a:solidFill>
                  <a:schemeClr val="tx1">
                    <a:lumMod val="75000"/>
                    <a:lumOff val="25000"/>
                  </a:schemeClr>
                </a:solidFill>
                <a:ea typeface="Yu Gothic Light" panose="020B0300000000000000" pitchFamily="34" charset="-128"/>
                <a:cs typeface="Times New Roman" panose="02020603050405020304" pitchFamily="18" charset="0"/>
              </a:rPr>
              <a:t>robustes</a:t>
            </a:r>
            <a:r>
              <a:rPr lang="fr-FR" sz="1600" dirty="0">
                <a:solidFill>
                  <a:schemeClr val="tx1">
                    <a:lumMod val="75000"/>
                    <a:lumOff val="25000"/>
                  </a:schemeClr>
                </a:solidFill>
                <a:ea typeface="Yu Gothic Light" panose="020B0300000000000000" pitchFamily="34" charset="-128"/>
                <a:cs typeface="Times New Roman" panose="02020603050405020304" pitchFamily="18" charset="0"/>
              </a:rPr>
              <a:t> et </a:t>
            </a:r>
            <a:r>
              <a:rPr lang="fr-FR" sz="1600" b="1" dirty="0">
                <a:solidFill>
                  <a:schemeClr val="tx1">
                    <a:lumMod val="75000"/>
                    <a:lumOff val="25000"/>
                  </a:schemeClr>
                </a:solidFill>
                <a:ea typeface="Yu Gothic Light" panose="020B0300000000000000" pitchFamily="34" charset="-128"/>
                <a:cs typeface="Times New Roman" panose="02020603050405020304" pitchFamily="18" charset="0"/>
              </a:rPr>
              <a:t>sécurisés</a:t>
            </a:r>
            <a:r>
              <a:rPr lang="fr-FR" sz="1600" dirty="0">
                <a:solidFill>
                  <a:schemeClr val="tx1">
                    <a:lumMod val="75000"/>
                    <a:lumOff val="25000"/>
                  </a:schemeClr>
                </a:solidFill>
                <a:ea typeface="Yu Gothic Light" panose="020B0300000000000000" pitchFamily="34" charset="-128"/>
                <a:cs typeface="Times New Roman" panose="02020603050405020304" pitchFamily="18" charset="0"/>
              </a:rPr>
              <a:t> les traitements conçus et de </a:t>
            </a:r>
            <a:r>
              <a:rPr lang="fr-FR" sz="1600" b="1" dirty="0">
                <a:solidFill>
                  <a:schemeClr val="tx1">
                    <a:lumMod val="75000"/>
                    <a:lumOff val="25000"/>
                  </a:schemeClr>
                </a:solidFill>
                <a:ea typeface="Yu Gothic Light" panose="020B0300000000000000" pitchFamily="34" charset="-128"/>
                <a:cs typeface="Times New Roman" panose="02020603050405020304" pitchFamily="18" charset="0"/>
              </a:rPr>
              <a:t>permettre l’automatisation </a:t>
            </a:r>
            <a:r>
              <a:rPr lang="fr-FR" sz="1600" dirty="0">
                <a:solidFill>
                  <a:schemeClr val="tx1">
                    <a:lumMod val="75000"/>
                    <a:lumOff val="25000"/>
                  </a:schemeClr>
                </a:solidFill>
                <a:ea typeface="Yu Gothic Light" panose="020B0300000000000000" pitchFamily="34" charset="-128"/>
                <a:cs typeface="Times New Roman" panose="02020603050405020304" pitchFamily="18" charset="0"/>
              </a:rPr>
              <a:t>de leur exécution sur des </a:t>
            </a:r>
            <a:r>
              <a:rPr lang="fr-FR" sz="1600" b="1" dirty="0">
                <a:solidFill>
                  <a:schemeClr val="tx1">
                    <a:lumMod val="75000"/>
                    <a:lumOff val="25000"/>
                  </a:schemeClr>
                </a:solidFill>
                <a:ea typeface="Yu Gothic Light" panose="020B0300000000000000" pitchFamily="34" charset="-128"/>
                <a:cs typeface="Times New Roman" panose="02020603050405020304" pitchFamily="18" charset="0"/>
              </a:rPr>
              <a:t>données rafraichies</a:t>
            </a:r>
            <a:r>
              <a:rPr lang="fr-FR" sz="1600" dirty="0">
                <a:solidFill>
                  <a:schemeClr val="tx1">
                    <a:lumMod val="75000"/>
                    <a:lumOff val="25000"/>
                  </a:schemeClr>
                </a:solidFill>
                <a:ea typeface="Yu Gothic Light" panose="020B0300000000000000" pitchFamily="34" charset="-128"/>
                <a:cs typeface="Times New Roman" panose="02020603050405020304" pitchFamily="18" charset="0"/>
              </a:rPr>
              <a:t>.</a:t>
            </a:r>
          </a:p>
        </p:txBody>
      </p:sp>
      <p:grpSp>
        <p:nvGrpSpPr>
          <p:cNvPr id="26" name="Groupe 25"/>
          <p:cNvGrpSpPr/>
          <p:nvPr/>
        </p:nvGrpSpPr>
        <p:grpSpPr>
          <a:xfrm>
            <a:off x="1315139" y="2231135"/>
            <a:ext cx="3593027" cy="2270076"/>
            <a:chOff x="1934734" y="2607598"/>
            <a:chExt cx="4790703" cy="3026768"/>
          </a:xfrm>
        </p:grpSpPr>
        <p:pic>
          <p:nvPicPr>
            <p:cNvPr id="27" name="Image 26"/>
            <p:cNvPicPr>
              <a:picLocks noChangeAspect="1"/>
            </p:cNvPicPr>
            <p:nvPr/>
          </p:nvPicPr>
          <p:blipFill>
            <a:blip r:embed="rId9"/>
            <a:stretch>
              <a:fillRect/>
            </a:stretch>
          </p:blipFill>
          <p:spPr>
            <a:xfrm>
              <a:off x="5481745" y="2695839"/>
              <a:ext cx="1243692" cy="2938527"/>
            </a:xfrm>
            <a:prstGeom prst="rect">
              <a:avLst/>
            </a:prstGeom>
          </p:spPr>
        </p:pic>
        <p:pic>
          <p:nvPicPr>
            <p:cNvPr id="28" name="Image 27"/>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934734" y="2607598"/>
              <a:ext cx="1697904" cy="2940771"/>
            </a:xfrm>
            <a:prstGeom prst="rect">
              <a:avLst/>
            </a:prstGeom>
          </p:spPr>
        </p:pic>
      </p:grpSp>
      <p:pic>
        <p:nvPicPr>
          <p:cNvPr id="29" name="Image 28"/>
          <p:cNvPicPr>
            <a:picLocks noChangeAspect="1"/>
          </p:cNvPicPr>
          <p:nvPr/>
        </p:nvPicPr>
        <p:blipFill>
          <a:blip r:embed="rId11"/>
          <a:stretch>
            <a:fillRect/>
          </a:stretch>
        </p:blipFill>
        <p:spPr>
          <a:xfrm>
            <a:off x="6998199" y="5218465"/>
            <a:ext cx="1691986" cy="698627"/>
          </a:xfrm>
          <a:prstGeom prst="rect">
            <a:avLst/>
          </a:prstGeom>
        </p:spPr>
      </p:pic>
    </p:spTree>
    <p:extLst>
      <p:ext uri="{BB962C8B-B14F-4D97-AF65-F5344CB8AC3E}">
        <p14:creationId xmlns:p14="http://schemas.microsoft.com/office/powerpoint/2010/main" val="495207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re 46"/>
          <p:cNvSpPr>
            <a:spLocks noGrp="1"/>
          </p:cNvSpPr>
          <p:nvPr>
            <p:ph type="title"/>
          </p:nvPr>
        </p:nvSpPr>
        <p:spPr>
          <a:xfrm>
            <a:off x="67759" y="138778"/>
            <a:ext cx="4284966" cy="542700"/>
          </a:xfrm>
        </p:spPr>
        <p:txBody>
          <a:bodyPr/>
          <a:lstStyle/>
          <a:p>
            <a:r>
              <a:rPr lang="fr-FR" sz="1500" dirty="0">
                <a:latin typeface="+mn-lt"/>
              </a:rPr>
              <a:t>Passage par la Data Factory</a:t>
            </a:r>
          </a:p>
        </p:txBody>
      </p:sp>
      <p:sp>
        <p:nvSpPr>
          <p:cNvPr id="48" name="Espace réservé du texte 47"/>
          <p:cNvSpPr>
            <a:spLocks noGrp="1"/>
          </p:cNvSpPr>
          <p:nvPr>
            <p:ph type="body" sz="quarter" idx="13"/>
          </p:nvPr>
        </p:nvSpPr>
        <p:spPr/>
        <p:txBody>
          <a:bodyPr/>
          <a:lstStyle/>
          <a:p>
            <a:endParaRPr lang="fr-FR" b="1" dirty="0"/>
          </a:p>
        </p:txBody>
      </p:sp>
      <p:sp>
        <p:nvSpPr>
          <p:cNvPr id="50" name="Espace réservé du texte 11"/>
          <p:cNvSpPr txBox="1">
            <a:spLocks/>
          </p:cNvSpPr>
          <p:nvPr/>
        </p:nvSpPr>
        <p:spPr>
          <a:xfrm>
            <a:off x="6593482" y="1953938"/>
            <a:ext cx="2455916" cy="3888969"/>
          </a:xfrm>
          <a:prstGeom prst="rect">
            <a:avLst/>
          </a:prstGeom>
        </p:spPr>
        <p:txBody>
          <a:bodyPr vert="horz" lIns="68580" tIns="34290" rIns="68580" bIns="34290" rtlCol="0" anchor="t">
            <a:normAutofit/>
          </a:bodyPr>
          <a:lstStyle>
            <a:defPPr>
              <a:defRPr lang="fr-FR"/>
            </a:defPPr>
            <a:lvl1pPr marL="0" algn="ctr" defTabSz="914400" rtl="0" eaLnBrk="1" latinLnBrk="0" hangingPunct="1">
              <a:defRPr sz="1050" kern="1200">
                <a:solidFill>
                  <a:schemeClr val="bg2">
                    <a:lumMod val="25000"/>
                  </a:schemeClr>
                </a:solidFill>
                <a:latin typeface="+mn-lt"/>
                <a:ea typeface="+mn-ea"/>
                <a:cs typeface="+mn-cs"/>
              </a:defRPr>
            </a:lvl1pPr>
            <a:lvl2pPr marL="457200" indent="0" algn="l" defTabSz="914400" rtl="0" eaLnBrk="1" latinLnBrk="0" hangingPunct="1">
              <a:buNone/>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4313" indent="-214313" algn="l">
              <a:buFont typeface="Arial" panose="020B0604020202020204" pitchFamily="34" charset="0"/>
              <a:buChar char="•"/>
            </a:pPr>
            <a:endParaRPr lang="fr-FR" dirty="0">
              <a:solidFill>
                <a:schemeClr val="bg1"/>
              </a:solidFill>
            </a:endParaRPr>
          </a:p>
        </p:txBody>
      </p:sp>
      <p:sp>
        <p:nvSpPr>
          <p:cNvPr id="51" name="ZoneTexte 50"/>
          <p:cNvSpPr txBox="1"/>
          <p:nvPr/>
        </p:nvSpPr>
        <p:spPr>
          <a:xfrm>
            <a:off x="6553404" y="1460730"/>
            <a:ext cx="2495994" cy="415498"/>
          </a:xfrm>
          <a:prstGeom prst="rect">
            <a:avLst/>
          </a:prstGeom>
          <a:noFill/>
        </p:spPr>
        <p:txBody>
          <a:bodyPr wrap="square" rtlCol="0">
            <a:spAutoFit/>
          </a:bodyPr>
          <a:lstStyle/>
          <a:p>
            <a:r>
              <a:rPr lang="fr-FR" sz="1050" b="1" dirty="0">
                <a:solidFill>
                  <a:schemeClr val="bg1"/>
                </a:solidFill>
                <a:latin typeface="Calibri" panose="020F0502020204030204" pitchFamily="34" charset="0"/>
              </a:rPr>
              <a:t>Notes pour la mise en œuvre (explication animation, images, effets…) :</a:t>
            </a:r>
          </a:p>
        </p:txBody>
      </p:sp>
      <p:grpSp>
        <p:nvGrpSpPr>
          <p:cNvPr id="72" name="Groupe 71"/>
          <p:cNvGrpSpPr/>
          <p:nvPr/>
        </p:nvGrpSpPr>
        <p:grpSpPr>
          <a:xfrm>
            <a:off x="559081" y="1597264"/>
            <a:ext cx="5299520" cy="414060"/>
            <a:chOff x="745442" y="986685"/>
            <a:chExt cx="7066026" cy="552080"/>
          </a:xfrm>
        </p:grpSpPr>
        <p:grpSp>
          <p:nvGrpSpPr>
            <p:cNvPr id="73" name="Groupe 72"/>
            <p:cNvGrpSpPr/>
            <p:nvPr/>
          </p:nvGrpSpPr>
          <p:grpSpPr>
            <a:xfrm>
              <a:off x="745442" y="986685"/>
              <a:ext cx="7066026" cy="552080"/>
              <a:chOff x="2691257" y="529120"/>
              <a:chExt cx="7066026" cy="552080"/>
            </a:xfrm>
          </p:grpSpPr>
          <p:sp>
            <p:nvSpPr>
              <p:cNvPr id="79" name="Pentagone 78"/>
              <p:cNvSpPr/>
              <p:nvPr/>
            </p:nvSpPr>
            <p:spPr>
              <a:xfrm>
                <a:off x="2691257" y="667723"/>
                <a:ext cx="7066026" cy="28800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0" name="Ellipse 79"/>
              <p:cNvSpPr/>
              <p:nvPr/>
            </p:nvSpPr>
            <p:spPr>
              <a:xfrm>
                <a:off x="5381632" y="529121"/>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1" name="Ellipse 80"/>
              <p:cNvSpPr/>
              <p:nvPr/>
            </p:nvSpPr>
            <p:spPr>
              <a:xfrm>
                <a:off x="4264756"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2" name="Ellipse 81"/>
              <p:cNvSpPr/>
              <p:nvPr/>
            </p:nvSpPr>
            <p:spPr>
              <a:xfrm>
                <a:off x="3147880"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3" name="Ellipse 82"/>
              <p:cNvSpPr/>
              <p:nvPr/>
            </p:nvSpPr>
            <p:spPr>
              <a:xfrm>
                <a:off x="6498508" y="529122"/>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nvGrpSpPr>
              <p:cNvPr id="84" name="Groupe 83"/>
              <p:cNvGrpSpPr/>
              <p:nvPr/>
            </p:nvGrpSpPr>
            <p:grpSpPr>
              <a:xfrm>
                <a:off x="8732261" y="529120"/>
                <a:ext cx="551453" cy="549030"/>
                <a:chOff x="9401004" y="529120"/>
                <a:chExt cx="551453" cy="549030"/>
              </a:xfrm>
            </p:grpSpPr>
            <p:sp>
              <p:nvSpPr>
                <p:cNvPr id="86" name="Ellipse 85"/>
                <p:cNvSpPr/>
                <p:nvPr/>
              </p:nvSpPr>
              <p:spPr>
                <a:xfrm>
                  <a:off x="9401004" y="529120"/>
                  <a:ext cx="551453" cy="549030"/>
                </a:xfrm>
                <a:prstGeom prst="ellipse">
                  <a:avLst/>
                </a:prstGeom>
                <a:solidFill>
                  <a:schemeClr val="bg1"/>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87" name="Image 86"/>
                <p:cNvPicPr>
                  <a:picLocks noChangeAspect="1"/>
                </p:cNvPicPr>
                <p:nvPr/>
              </p:nvPicPr>
              <p:blipFill>
                <a:blip r:embed="rId2"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9554466" y="667723"/>
                  <a:ext cx="288000" cy="288000"/>
                </a:xfrm>
                <a:prstGeom prst="rect">
                  <a:avLst/>
                </a:prstGeom>
              </p:spPr>
            </p:pic>
          </p:grpSp>
          <p:sp>
            <p:nvSpPr>
              <p:cNvPr id="85" name="Ellipse 84"/>
              <p:cNvSpPr/>
              <p:nvPr/>
            </p:nvSpPr>
            <p:spPr>
              <a:xfrm>
                <a:off x="7615384" y="532170"/>
                <a:ext cx="551453" cy="549030"/>
              </a:xfrm>
              <a:prstGeom prst="ellipse">
                <a:avLst/>
              </a:prstGeom>
              <a:solidFill>
                <a:schemeClr val="accent6"/>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grpSp>
        <p:pic>
          <p:nvPicPr>
            <p:cNvPr id="74" name="Image 73"/>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443731" y="1100614"/>
              <a:ext cx="327273" cy="327273"/>
            </a:xfrm>
            <a:prstGeom prst="rect">
              <a:avLst/>
            </a:prstGeom>
          </p:spPr>
        </p:pic>
        <p:pic>
          <p:nvPicPr>
            <p:cNvPr id="75" name="Image 74"/>
            <p:cNvPicPr>
              <a:picLocks noChangeAspect="1"/>
            </p:cNvPicPr>
            <p:nvPr/>
          </p:nvPicPr>
          <p:blipFill>
            <a:blip r:embed="rId4" cstate="email">
              <a:duotone>
                <a:schemeClr val="accent3">
                  <a:shade val="45000"/>
                  <a:satMod val="135000"/>
                </a:schemeClr>
                <a:prstClr val="white"/>
              </a:duotone>
              <a:extLst>
                <a:ext uri="{28A0092B-C50C-407E-A947-70E740481C1C}">
                  <a14:useLocalDpi xmlns:a14="http://schemas.microsoft.com/office/drawing/2010/main"/>
                </a:ext>
              </a:extLst>
            </a:blip>
            <a:stretch>
              <a:fillRect/>
            </a:stretch>
          </p:blipFill>
          <p:spPr>
            <a:xfrm>
              <a:off x="3544243" y="1090534"/>
              <a:ext cx="360000" cy="360000"/>
            </a:xfrm>
            <a:prstGeom prst="rect">
              <a:avLst/>
            </a:prstGeom>
          </p:spPr>
        </p:pic>
        <p:pic>
          <p:nvPicPr>
            <p:cNvPr id="76" name="Image 75"/>
            <p:cNvPicPr>
              <a:picLocks noChangeAspect="1"/>
            </p:cNvPicPr>
            <p:nvPr/>
          </p:nvPicPr>
          <p:blipFill>
            <a:blip r:embed="rId5" cstate="print">
              <a:lum bright="70000" contrast="-70000"/>
              <a:extLst>
                <a:ext uri="{BEBA8EAE-BF5A-486C-A8C5-ECC9F3942E4B}">
                  <a14:imgProps xmlns:a14="http://schemas.microsoft.com/office/drawing/2010/main">
                    <a14:imgLayer r:embed="rId6">
                      <a14:imgEffect>
                        <a14:artisticPhotocopy/>
                      </a14:imgEffect>
                    </a14:imgLayer>
                  </a14:imgProps>
                </a:ext>
                <a:ext uri="{28A0092B-C50C-407E-A947-70E740481C1C}">
                  <a14:useLocalDpi xmlns:a14="http://schemas.microsoft.com/office/drawing/2010/main" val="0"/>
                </a:ext>
              </a:extLst>
            </a:blip>
            <a:stretch>
              <a:fillRect/>
            </a:stretch>
          </p:blipFill>
          <p:spPr>
            <a:xfrm flipH="1">
              <a:off x="5803634" y="1115767"/>
              <a:ext cx="297521" cy="297521"/>
            </a:xfrm>
            <a:prstGeom prst="rect">
              <a:avLst/>
            </a:prstGeom>
          </p:spPr>
        </p:pic>
        <p:pic>
          <p:nvPicPr>
            <p:cNvPr id="77" name="Image 76"/>
            <p:cNvPicPr>
              <a:picLocks noChangeAspect="1"/>
            </p:cNvPicPr>
            <p:nvPr/>
          </p:nvPicPr>
          <p:blipFill>
            <a:blip r:embed="rId7"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4651461" y="1079779"/>
              <a:ext cx="360000" cy="360000"/>
            </a:xfrm>
            <a:prstGeom prst="rect">
              <a:avLst/>
            </a:prstGeom>
          </p:spPr>
        </p:pic>
        <p:pic>
          <p:nvPicPr>
            <p:cNvPr id="78" name="Image 77"/>
            <p:cNvPicPr>
              <a:picLocks noChangeAspect="1"/>
            </p:cNvPicPr>
            <p:nvPr/>
          </p:nvPicPr>
          <p:blipFill>
            <a:blip r:embed="rId8" cstate="print">
              <a:lum bright="70000" contrast="-70000"/>
              <a:extLst>
                <a:ext uri="{28A0092B-C50C-407E-A947-70E740481C1C}">
                  <a14:useLocalDpi xmlns:a14="http://schemas.microsoft.com/office/drawing/2010/main" val="0"/>
                </a:ext>
              </a:extLst>
            </a:blip>
            <a:stretch>
              <a:fillRect/>
            </a:stretch>
          </p:blipFill>
          <p:spPr>
            <a:xfrm>
              <a:off x="1301883" y="1097935"/>
              <a:ext cx="360000" cy="360000"/>
            </a:xfrm>
            <a:prstGeom prst="rect">
              <a:avLst/>
            </a:prstGeom>
          </p:spPr>
        </p:pic>
      </p:grpSp>
      <p:sp>
        <p:nvSpPr>
          <p:cNvPr id="44" name="Rectangle 43"/>
          <p:cNvSpPr/>
          <p:nvPr/>
        </p:nvSpPr>
        <p:spPr>
          <a:xfrm>
            <a:off x="-102784" y="4607150"/>
            <a:ext cx="6733413" cy="1782860"/>
          </a:xfrm>
          <a:prstGeom prst="rect">
            <a:avLst/>
          </a:prstGeom>
        </p:spPr>
        <p:txBody>
          <a:bodyPr wrap="square">
            <a:spAutoFit/>
          </a:bodyPr>
          <a:lstStyle/>
          <a:p>
            <a:pPr algn="ctr">
              <a:lnSpc>
                <a:spcPct val="107000"/>
              </a:lnSpc>
              <a:spcAft>
                <a:spcPts val="600"/>
              </a:spcAft>
            </a:pPr>
            <a:r>
              <a:rPr lang="fr-FR" sz="1400" dirty="0">
                <a:solidFill>
                  <a:schemeClr val="tx1">
                    <a:lumMod val="75000"/>
                    <a:lumOff val="25000"/>
                  </a:schemeClr>
                </a:solidFill>
                <a:ea typeface="Yu Gothic Light" panose="020B0300000000000000" pitchFamily="34" charset="-128"/>
                <a:cs typeface="Times New Roman" panose="02020603050405020304" pitchFamily="18" charset="0"/>
              </a:rPr>
              <a:t>Il m’indique que </a:t>
            </a:r>
            <a:r>
              <a:rPr lang="fr-FR" sz="1400" b="1" dirty="0">
                <a:solidFill>
                  <a:schemeClr val="tx1">
                    <a:lumMod val="75000"/>
                    <a:lumOff val="25000"/>
                  </a:schemeClr>
                </a:solidFill>
                <a:ea typeface="Yu Gothic Light" panose="020B0300000000000000" pitchFamily="34" charset="-128"/>
                <a:cs typeface="Times New Roman" panose="02020603050405020304" pitchFamily="18" charset="0"/>
              </a:rPr>
              <a:t>c’est la Data Factory qui va prendre en charge ces travaux </a:t>
            </a:r>
            <a:br>
              <a:rPr lang="fr-FR" sz="1400" dirty="0">
                <a:solidFill>
                  <a:schemeClr val="tx1">
                    <a:lumMod val="75000"/>
                    <a:lumOff val="25000"/>
                  </a:schemeClr>
                </a:solidFill>
                <a:ea typeface="Yu Gothic Light" panose="020B0300000000000000" pitchFamily="34" charset="-128"/>
                <a:cs typeface="Times New Roman" panose="02020603050405020304" pitchFamily="18" charset="0"/>
              </a:rPr>
            </a:br>
            <a:r>
              <a:rPr lang="fr-FR" sz="1400" dirty="0">
                <a:solidFill>
                  <a:schemeClr val="tx1">
                    <a:lumMod val="75000"/>
                    <a:lumOff val="25000"/>
                  </a:schemeClr>
                </a:solidFill>
                <a:ea typeface="Yu Gothic Light" panose="020B0300000000000000" pitchFamily="34" charset="-128"/>
                <a:cs typeface="Times New Roman" panose="02020603050405020304" pitchFamily="18" charset="0"/>
              </a:rPr>
              <a:t>d’industrialisation et mettre en conformité mon travail avec les exigences de production.</a:t>
            </a:r>
          </a:p>
          <a:p>
            <a:pPr algn="ctr">
              <a:lnSpc>
                <a:spcPct val="107000"/>
              </a:lnSpc>
              <a:spcAft>
                <a:spcPts val="600"/>
              </a:spcAft>
            </a:pPr>
            <a:r>
              <a:rPr lang="fr-FR" sz="1400" dirty="0">
                <a:solidFill>
                  <a:schemeClr val="tx1">
                    <a:lumMod val="75000"/>
                    <a:lumOff val="25000"/>
                  </a:schemeClr>
                </a:solidFill>
                <a:ea typeface="Yu Gothic Light" panose="020B0300000000000000" pitchFamily="34" charset="-128"/>
                <a:cs typeface="Times New Roman" panose="02020603050405020304" pitchFamily="18" charset="0"/>
              </a:rPr>
              <a:t>Ce chantier vise à intégrer complétement mon travail à la chaîne opérationnelle du SI.</a:t>
            </a:r>
            <a:br>
              <a:rPr lang="fr-FR" sz="1400" dirty="0">
                <a:solidFill>
                  <a:schemeClr val="tx1">
                    <a:lumMod val="75000"/>
                    <a:lumOff val="25000"/>
                  </a:schemeClr>
                </a:solidFill>
                <a:ea typeface="Yu Gothic Light" panose="020B0300000000000000" pitchFamily="34" charset="-128"/>
                <a:cs typeface="Times New Roman" panose="02020603050405020304" pitchFamily="18" charset="0"/>
              </a:rPr>
            </a:br>
            <a:r>
              <a:rPr lang="fr-FR" sz="1400" dirty="0">
                <a:solidFill>
                  <a:schemeClr val="tx1">
                    <a:lumMod val="75000"/>
                    <a:lumOff val="25000"/>
                  </a:schemeClr>
                </a:solidFill>
                <a:ea typeface="Yu Gothic Light" panose="020B0300000000000000" pitchFamily="34" charset="-128"/>
                <a:cs typeface="Times New Roman" panose="02020603050405020304" pitchFamily="18" charset="0"/>
              </a:rPr>
              <a:t>Il me précise que cela peut donc</a:t>
            </a:r>
            <a:r>
              <a:rPr lang="fr-FR" sz="1400" b="1" dirty="0">
                <a:solidFill>
                  <a:schemeClr val="tx1">
                    <a:lumMod val="75000"/>
                    <a:lumOff val="25000"/>
                  </a:schemeClr>
                </a:solidFill>
                <a:ea typeface="Yu Gothic Light" panose="020B0300000000000000" pitchFamily="34" charset="-128"/>
                <a:cs typeface="Times New Roman" panose="02020603050405020304" pitchFamily="18" charset="0"/>
              </a:rPr>
              <a:t> nécessiter un délai plus long que l’expérimentation.</a:t>
            </a:r>
          </a:p>
        </p:txBody>
      </p:sp>
      <p:grpSp>
        <p:nvGrpSpPr>
          <p:cNvPr id="26" name="Groupe 25"/>
          <p:cNvGrpSpPr/>
          <p:nvPr/>
        </p:nvGrpSpPr>
        <p:grpSpPr>
          <a:xfrm>
            <a:off x="1315139" y="2231135"/>
            <a:ext cx="3593027" cy="2270076"/>
            <a:chOff x="1934734" y="2607598"/>
            <a:chExt cx="4790703" cy="3026768"/>
          </a:xfrm>
        </p:grpSpPr>
        <p:pic>
          <p:nvPicPr>
            <p:cNvPr id="27" name="Image 26"/>
            <p:cNvPicPr>
              <a:picLocks noChangeAspect="1"/>
            </p:cNvPicPr>
            <p:nvPr/>
          </p:nvPicPr>
          <p:blipFill>
            <a:blip r:embed="rId9"/>
            <a:stretch>
              <a:fillRect/>
            </a:stretch>
          </p:blipFill>
          <p:spPr>
            <a:xfrm>
              <a:off x="5481745" y="2695839"/>
              <a:ext cx="1243692" cy="2938527"/>
            </a:xfrm>
            <a:prstGeom prst="rect">
              <a:avLst/>
            </a:prstGeom>
          </p:spPr>
        </p:pic>
        <p:pic>
          <p:nvPicPr>
            <p:cNvPr id="28" name="Image 27"/>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934734" y="2607598"/>
              <a:ext cx="1697904" cy="2940771"/>
            </a:xfrm>
            <a:prstGeom prst="rect">
              <a:avLst/>
            </a:prstGeom>
          </p:spPr>
        </p:pic>
      </p:grpSp>
      <p:pic>
        <p:nvPicPr>
          <p:cNvPr id="29" name="Image 28"/>
          <p:cNvPicPr>
            <a:picLocks noChangeAspect="1"/>
          </p:cNvPicPr>
          <p:nvPr/>
        </p:nvPicPr>
        <p:blipFill>
          <a:blip r:embed="rId11"/>
          <a:stretch>
            <a:fillRect/>
          </a:stretch>
        </p:blipFill>
        <p:spPr>
          <a:xfrm>
            <a:off x="6998199" y="5218465"/>
            <a:ext cx="1691986" cy="698627"/>
          </a:xfrm>
          <a:prstGeom prst="rect">
            <a:avLst/>
          </a:prstGeom>
        </p:spPr>
      </p:pic>
    </p:spTree>
    <p:extLst>
      <p:ext uri="{BB962C8B-B14F-4D97-AF65-F5344CB8AC3E}">
        <p14:creationId xmlns:p14="http://schemas.microsoft.com/office/powerpoint/2010/main" val="18400053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C09963-907A-104D-2A5A-CE4E33B23828}"/>
              </a:ext>
            </a:extLst>
          </p:cNvPr>
          <p:cNvSpPr>
            <a:spLocks noGrp="1"/>
          </p:cNvSpPr>
          <p:nvPr>
            <p:ph type="title"/>
          </p:nvPr>
        </p:nvSpPr>
        <p:spPr/>
        <p:txBody>
          <a:bodyPr/>
          <a:lstStyle/>
          <a:p>
            <a:r>
              <a:rPr lang="fr-FR" dirty="0"/>
              <a:t>Les 4 dimensions</a:t>
            </a:r>
          </a:p>
        </p:txBody>
      </p:sp>
      <p:sp>
        <p:nvSpPr>
          <p:cNvPr id="3" name="Espace réservé du contenu 2">
            <a:extLst>
              <a:ext uri="{FF2B5EF4-FFF2-40B4-BE49-F238E27FC236}">
                <a16:creationId xmlns:a16="http://schemas.microsoft.com/office/drawing/2014/main" id="{C6DF6A77-BA5C-E50F-DCBA-E12E834ED32A}"/>
              </a:ext>
            </a:extLst>
          </p:cNvPr>
          <p:cNvSpPr>
            <a:spLocks noGrp="1"/>
          </p:cNvSpPr>
          <p:nvPr>
            <p:ph idx="1"/>
          </p:nvPr>
        </p:nvSpPr>
        <p:spPr/>
        <p:txBody>
          <a:bodyPr/>
          <a:lstStyle/>
          <a:p>
            <a:r>
              <a:rPr lang="fr-FR" dirty="0"/>
              <a:t>La gestion des données possède quatre dimensions principales :</a:t>
            </a:r>
          </a:p>
          <a:p>
            <a:pPr lvl="1"/>
            <a:r>
              <a:rPr lang="fr-FR" dirty="0"/>
              <a:t>La disponibilité des données</a:t>
            </a:r>
          </a:p>
          <a:p>
            <a:pPr lvl="1"/>
            <a:r>
              <a:rPr lang="fr-FR" dirty="0"/>
              <a:t>L’utilisabilité des données</a:t>
            </a:r>
          </a:p>
          <a:p>
            <a:pPr lvl="1"/>
            <a:r>
              <a:rPr lang="fr-FR" dirty="0"/>
              <a:t>L’intégrité des données</a:t>
            </a:r>
          </a:p>
          <a:p>
            <a:pPr lvl="1"/>
            <a:r>
              <a:rPr lang="fr-FR" dirty="0"/>
              <a:t>La sécurité des données</a:t>
            </a:r>
          </a:p>
        </p:txBody>
      </p:sp>
    </p:spTree>
    <p:extLst>
      <p:ext uri="{BB962C8B-B14F-4D97-AF65-F5344CB8AC3E}">
        <p14:creationId xmlns:p14="http://schemas.microsoft.com/office/powerpoint/2010/main" val="39325085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BAB247-AE91-30CE-0D5F-E344C8C77C48}"/>
              </a:ext>
            </a:extLst>
          </p:cNvPr>
          <p:cNvSpPr>
            <a:spLocks noGrp="1"/>
          </p:cNvSpPr>
          <p:nvPr>
            <p:ph type="title"/>
          </p:nvPr>
        </p:nvSpPr>
        <p:spPr/>
        <p:txBody>
          <a:bodyPr/>
          <a:lstStyle/>
          <a:p>
            <a:r>
              <a:rPr lang="fr-FR" dirty="0"/>
              <a:t>La disponibilité</a:t>
            </a:r>
          </a:p>
        </p:txBody>
      </p:sp>
      <p:sp>
        <p:nvSpPr>
          <p:cNvPr id="3" name="Espace réservé du contenu 2">
            <a:extLst>
              <a:ext uri="{FF2B5EF4-FFF2-40B4-BE49-F238E27FC236}">
                <a16:creationId xmlns:a16="http://schemas.microsoft.com/office/drawing/2014/main" id="{B7C8E5FD-D66E-6EC0-2244-CC9E81EC720D}"/>
              </a:ext>
            </a:extLst>
          </p:cNvPr>
          <p:cNvSpPr>
            <a:spLocks noGrp="1"/>
          </p:cNvSpPr>
          <p:nvPr>
            <p:ph idx="1"/>
          </p:nvPr>
        </p:nvSpPr>
        <p:spPr/>
        <p:txBody>
          <a:bodyPr/>
          <a:lstStyle/>
          <a:p>
            <a:r>
              <a:rPr lang="fr-FR" dirty="0"/>
              <a:t>Cela concerne leur sauvegarde, leur stockage, leur mise à jour, leur diffusion et de leur partage au sein de l'entreprise, tout en gérant et sécurisant les accès des différents utilisateurs et profils</a:t>
            </a:r>
          </a:p>
        </p:txBody>
      </p:sp>
    </p:spTree>
    <p:extLst>
      <p:ext uri="{BB962C8B-B14F-4D97-AF65-F5344CB8AC3E}">
        <p14:creationId xmlns:p14="http://schemas.microsoft.com/office/powerpoint/2010/main" val="1723836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DCF93A-0BB1-7997-0F7A-94338E06A618}"/>
              </a:ext>
            </a:extLst>
          </p:cNvPr>
          <p:cNvSpPr>
            <a:spLocks noGrp="1"/>
          </p:cNvSpPr>
          <p:nvPr>
            <p:ph type="title"/>
          </p:nvPr>
        </p:nvSpPr>
        <p:spPr/>
        <p:txBody>
          <a:bodyPr/>
          <a:lstStyle/>
          <a:p>
            <a:r>
              <a:rPr lang="fr-FR" dirty="0"/>
              <a:t>L’utilisabilité</a:t>
            </a:r>
          </a:p>
        </p:txBody>
      </p:sp>
      <p:sp>
        <p:nvSpPr>
          <p:cNvPr id="3" name="Espace réservé du contenu 2">
            <a:extLst>
              <a:ext uri="{FF2B5EF4-FFF2-40B4-BE49-F238E27FC236}">
                <a16:creationId xmlns:a16="http://schemas.microsoft.com/office/drawing/2014/main" id="{99A75CBA-EE58-75E8-BDAB-9C26086FE445}"/>
              </a:ext>
            </a:extLst>
          </p:cNvPr>
          <p:cNvSpPr>
            <a:spLocks noGrp="1"/>
          </p:cNvSpPr>
          <p:nvPr>
            <p:ph idx="1"/>
          </p:nvPr>
        </p:nvSpPr>
        <p:spPr/>
        <p:txBody>
          <a:bodyPr/>
          <a:lstStyle/>
          <a:p>
            <a:r>
              <a:rPr lang="fr-FR" dirty="0"/>
              <a:t>E</a:t>
            </a:r>
            <a:r>
              <a:rPr lang="fr-FR"/>
              <a:t>lle </a:t>
            </a:r>
            <a:r>
              <a:rPr lang="fr-FR" dirty="0"/>
              <a:t>doit veiller à ce que les données soient à jour, cohérentes, et facile d'accès pour les utilisateurs et usages définis dans l'entreprise</a:t>
            </a:r>
          </a:p>
        </p:txBody>
      </p:sp>
    </p:spTree>
    <p:extLst>
      <p:ext uri="{BB962C8B-B14F-4D97-AF65-F5344CB8AC3E}">
        <p14:creationId xmlns:p14="http://schemas.microsoft.com/office/powerpoint/2010/main" val="4085287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6D1291-C697-482B-3AB8-A224AB256B37}"/>
              </a:ext>
            </a:extLst>
          </p:cNvPr>
          <p:cNvSpPr>
            <a:spLocks noGrp="1"/>
          </p:cNvSpPr>
          <p:nvPr>
            <p:ph type="title"/>
          </p:nvPr>
        </p:nvSpPr>
        <p:spPr/>
        <p:txBody>
          <a:bodyPr/>
          <a:lstStyle/>
          <a:p>
            <a:r>
              <a:rPr lang="fr-FR" dirty="0"/>
              <a:t>L’intégrité</a:t>
            </a:r>
          </a:p>
        </p:txBody>
      </p:sp>
      <p:sp>
        <p:nvSpPr>
          <p:cNvPr id="3" name="Espace réservé du contenu 2">
            <a:extLst>
              <a:ext uri="{FF2B5EF4-FFF2-40B4-BE49-F238E27FC236}">
                <a16:creationId xmlns:a16="http://schemas.microsoft.com/office/drawing/2014/main" id="{2CCDB93B-A198-4DDA-D7F2-66F44496054A}"/>
              </a:ext>
            </a:extLst>
          </p:cNvPr>
          <p:cNvSpPr>
            <a:spLocks noGrp="1"/>
          </p:cNvSpPr>
          <p:nvPr>
            <p:ph idx="1"/>
          </p:nvPr>
        </p:nvSpPr>
        <p:spPr/>
        <p:txBody>
          <a:bodyPr/>
          <a:lstStyle/>
          <a:p>
            <a:r>
              <a:rPr lang="fr-FR" dirty="0"/>
              <a:t>Les données doivent être sécurisées de telle sorte à ce qu'elles soient cohérentes, fiables, pertinentes et valides</a:t>
            </a:r>
          </a:p>
        </p:txBody>
      </p:sp>
    </p:spTree>
    <p:extLst>
      <p:ext uri="{BB962C8B-B14F-4D97-AF65-F5344CB8AC3E}">
        <p14:creationId xmlns:p14="http://schemas.microsoft.com/office/powerpoint/2010/main" val="3635542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5613D4-C94B-25FC-210E-360363796354}"/>
              </a:ext>
            </a:extLst>
          </p:cNvPr>
          <p:cNvSpPr>
            <a:spLocks noGrp="1"/>
          </p:cNvSpPr>
          <p:nvPr>
            <p:ph type="title"/>
          </p:nvPr>
        </p:nvSpPr>
        <p:spPr/>
        <p:txBody>
          <a:bodyPr/>
          <a:lstStyle/>
          <a:p>
            <a:r>
              <a:rPr lang="fr-FR" dirty="0"/>
              <a:t>La sécurité</a:t>
            </a:r>
          </a:p>
        </p:txBody>
      </p:sp>
      <p:sp>
        <p:nvSpPr>
          <p:cNvPr id="3" name="Espace réservé du contenu 2">
            <a:extLst>
              <a:ext uri="{FF2B5EF4-FFF2-40B4-BE49-F238E27FC236}">
                <a16:creationId xmlns:a16="http://schemas.microsoft.com/office/drawing/2014/main" id="{4F372042-04DD-DCCA-53AE-73016AE5B1A0}"/>
              </a:ext>
            </a:extLst>
          </p:cNvPr>
          <p:cNvSpPr>
            <a:spLocks noGrp="1"/>
          </p:cNvSpPr>
          <p:nvPr>
            <p:ph idx="1"/>
          </p:nvPr>
        </p:nvSpPr>
        <p:spPr/>
        <p:txBody>
          <a:bodyPr/>
          <a:lstStyle/>
          <a:p>
            <a:r>
              <a:rPr lang="fr-FR"/>
              <a:t>Cela </a:t>
            </a:r>
            <a:r>
              <a:rPr lang="fr-FR" dirty="0"/>
              <a:t>implique de mettre en place une politique de sécurisation des informations de l’entreprise et de ses clients, et doit permettre d’assurer la continuité des trois notions précédentes.</a:t>
            </a:r>
          </a:p>
        </p:txBody>
      </p:sp>
    </p:spTree>
    <p:extLst>
      <p:ext uri="{BB962C8B-B14F-4D97-AF65-F5344CB8AC3E}">
        <p14:creationId xmlns:p14="http://schemas.microsoft.com/office/powerpoint/2010/main" val="3382404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4DEA07-75FC-DC19-5A7B-75ACFE0512B6}"/>
              </a:ext>
            </a:extLst>
          </p:cNvPr>
          <p:cNvSpPr>
            <a:spLocks noGrp="1"/>
          </p:cNvSpPr>
          <p:nvPr>
            <p:ph type="title"/>
          </p:nvPr>
        </p:nvSpPr>
        <p:spPr/>
        <p:txBody>
          <a:bodyPr/>
          <a:lstStyle/>
          <a:p>
            <a:r>
              <a:rPr lang="fr-FR" dirty="0"/>
              <a:t>Domaines de compétence</a:t>
            </a:r>
          </a:p>
        </p:txBody>
      </p:sp>
      <p:sp>
        <p:nvSpPr>
          <p:cNvPr id="3" name="Espace réservé du contenu 2">
            <a:extLst>
              <a:ext uri="{FF2B5EF4-FFF2-40B4-BE49-F238E27FC236}">
                <a16:creationId xmlns:a16="http://schemas.microsoft.com/office/drawing/2014/main" id="{9387F90B-1A8E-C7C6-9DCC-3F1002FDDBAE}"/>
              </a:ext>
            </a:extLst>
          </p:cNvPr>
          <p:cNvSpPr>
            <a:spLocks noGrp="1"/>
          </p:cNvSpPr>
          <p:nvPr>
            <p:ph idx="1"/>
          </p:nvPr>
        </p:nvSpPr>
        <p:spPr/>
        <p:txBody>
          <a:bodyPr/>
          <a:lstStyle/>
          <a:p>
            <a:r>
              <a:rPr lang="fr-FR" dirty="0"/>
              <a:t>L'interaction se produit à travers les processus de gouvernance des données</a:t>
            </a:r>
          </a:p>
          <a:p>
            <a:pPr lvl="1"/>
            <a:r>
              <a:rPr lang="fr-FR" dirty="0"/>
              <a:t>La gouvernance des données est reconnue comme la connaissance coordinatrice</a:t>
            </a:r>
          </a:p>
          <a:p>
            <a:pPr lvl="1"/>
            <a:r>
              <a:rPr lang="fr-FR" dirty="0"/>
              <a:t>Les processus et les ressources de la DG sont exploités à travers les connaissances</a:t>
            </a:r>
          </a:p>
          <a:p>
            <a:pPr lvl="1"/>
            <a:r>
              <a:rPr lang="fr-FR" dirty="0"/>
              <a:t>Les rôles et responsabilités communs peuvent être exploités à travers les domaines</a:t>
            </a:r>
          </a:p>
          <a:p>
            <a:pPr lvl="1"/>
            <a:endParaRPr lang="fr-FR" dirty="0"/>
          </a:p>
        </p:txBody>
      </p:sp>
    </p:spTree>
    <p:extLst>
      <p:ext uri="{BB962C8B-B14F-4D97-AF65-F5344CB8AC3E}">
        <p14:creationId xmlns:p14="http://schemas.microsoft.com/office/powerpoint/2010/main" val="15305774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583B26-A826-694E-77C7-94A5EBFC1427}"/>
              </a:ext>
            </a:extLst>
          </p:cNvPr>
          <p:cNvSpPr>
            <a:spLocks noGrp="1"/>
          </p:cNvSpPr>
          <p:nvPr>
            <p:ph type="title"/>
          </p:nvPr>
        </p:nvSpPr>
        <p:spPr/>
        <p:txBody>
          <a:bodyPr/>
          <a:lstStyle/>
          <a:p>
            <a:r>
              <a:rPr lang="fr-FR" dirty="0"/>
              <a:t>Exemples</a:t>
            </a:r>
          </a:p>
        </p:txBody>
      </p:sp>
      <p:sp>
        <p:nvSpPr>
          <p:cNvPr id="3" name="Espace réservé du contenu 2">
            <a:extLst>
              <a:ext uri="{FF2B5EF4-FFF2-40B4-BE49-F238E27FC236}">
                <a16:creationId xmlns:a16="http://schemas.microsoft.com/office/drawing/2014/main" id="{464BD72F-9B5B-0159-2C9C-A6049F60A4EC}"/>
              </a:ext>
            </a:extLst>
          </p:cNvPr>
          <p:cNvSpPr>
            <a:spLocks noGrp="1"/>
          </p:cNvSpPr>
          <p:nvPr>
            <p:ph idx="1"/>
          </p:nvPr>
        </p:nvSpPr>
        <p:spPr/>
        <p:txBody>
          <a:bodyPr/>
          <a:lstStyle/>
          <a:p>
            <a:r>
              <a:rPr lang="fr-FR" dirty="0"/>
              <a:t>Gouvernance des données de référence et de référence :</a:t>
            </a:r>
          </a:p>
          <a:p>
            <a:pPr lvl="1"/>
            <a:r>
              <a:rPr lang="fr-FR" dirty="0"/>
              <a:t>Détermination des systèmes/données d'enregistrement</a:t>
            </a:r>
          </a:p>
          <a:p>
            <a:pPr lvl="1"/>
            <a:r>
              <a:rPr lang="fr-FR" dirty="0"/>
              <a:t>Détermination et gestion des règles métier</a:t>
            </a:r>
          </a:p>
          <a:p>
            <a:pPr lvl="1"/>
            <a:r>
              <a:rPr lang="fr-FR" dirty="0"/>
              <a:t>Gestion des exceptions</a:t>
            </a:r>
          </a:p>
          <a:p>
            <a:pPr lvl="1"/>
            <a:r>
              <a:rPr lang="fr-FR" dirty="0"/>
              <a:t>Métriques</a:t>
            </a:r>
          </a:p>
          <a:p>
            <a:pPr lvl="1"/>
            <a:r>
              <a:rPr lang="fr-FR" dirty="0"/>
              <a:t>Réglementations gouvernementales</a:t>
            </a:r>
          </a:p>
          <a:p>
            <a:pPr lvl="1"/>
            <a:r>
              <a:rPr lang="fr-FR" dirty="0"/>
              <a:t>Normes de l'industrie</a:t>
            </a:r>
          </a:p>
        </p:txBody>
      </p:sp>
    </p:spTree>
    <p:extLst>
      <p:ext uri="{BB962C8B-B14F-4D97-AF65-F5344CB8AC3E}">
        <p14:creationId xmlns:p14="http://schemas.microsoft.com/office/powerpoint/2010/main" val="42235771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7B145A-54AD-19BD-60ED-7680889F4AC6}"/>
              </a:ext>
            </a:extLst>
          </p:cNvPr>
          <p:cNvSpPr>
            <a:spLocks noGrp="1"/>
          </p:cNvSpPr>
          <p:nvPr>
            <p:ph type="title"/>
          </p:nvPr>
        </p:nvSpPr>
        <p:spPr/>
        <p:txBody>
          <a:bodyPr/>
          <a:lstStyle/>
          <a:p>
            <a:r>
              <a:rPr lang="fr-FR" dirty="0"/>
              <a:t>Exemple de Gouvernance</a:t>
            </a:r>
          </a:p>
        </p:txBody>
      </p:sp>
      <p:pic>
        <p:nvPicPr>
          <p:cNvPr id="4" name="Picture 4">
            <a:extLst>
              <a:ext uri="{FF2B5EF4-FFF2-40B4-BE49-F238E27FC236}">
                <a16:creationId xmlns:a16="http://schemas.microsoft.com/office/drawing/2014/main" id="{1D24C807-7EA0-988D-3B2B-B89F8A1C696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8212" y="1412875"/>
            <a:ext cx="7108526" cy="5040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46116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9DEC91-FE65-5830-8155-F3ABA2C5B476}"/>
              </a:ext>
            </a:extLst>
          </p:cNvPr>
          <p:cNvSpPr>
            <a:spLocks noGrp="1"/>
          </p:cNvSpPr>
          <p:nvPr>
            <p:ph type="title"/>
          </p:nvPr>
        </p:nvSpPr>
        <p:spPr/>
        <p:txBody>
          <a:bodyPr/>
          <a:lstStyle/>
          <a:p>
            <a:r>
              <a:rPr lang="fr-FR" dirty="0"/>
              <a:t>TP</a:t>
            </a:r>
          </a:p>
        </p:txBody>
      </p:sp>
      <p:sp>
        <p:nvSpPr>
          <p:cNvPr id="3" name="Espace réservé du contenu 2">
            <a:extLst>
              <a:ext uri="{FF2B5EF4-FFF2-40B4-BE49-F238E27FC236}">
                <a16:creationId xmlns:a16="http://schemas.microsoft.com/office/drawing/2014/main" id="{48FEE096-7DB1-CEAD-34DF-6F5880D478CC}"/>
              </a:ext>
            </a:extLst>
          </p:cNvPr>
          <p:cNvSpPr>
            <a:spLocks noGrp="1"/>
          </p:cNvSpPr>
          <p:nvPr>
            <p:ph idx="1"/>
          </p:nvPr>
        </p:nvSpPr>
        <p:spPr/>
        <p:txBody>
          <a:bodyPr/>
          <a:lstStyle/>
          <a:p>
            <a:r>
              <a:rPr lang="fr-FR" dirty="0"/>
              <a:t>Décrire la gouvernance actuelle de votre entreprise</a:t>
            </a:r>
          </a:p>
          <a:p>
            <a:pPr lvl="1"/>
            <a:r>
              <a:rPr lang="fr-FR" dirty="0"/>
              <a:t>Adapter les termes de gouvernance de ce chapitre vers votre entreprise</a:t>
            </a:r>
          </a:p>
          <a:p>
            <a:r>
              <a:rPr lang="fr-FR" dirty="0"/>
              <a:t>Quel poste de gouvernance de </a:t>
            </a:r>
            <a:r>
              <a:rPr lang="fr-FR"/>
              <a:t>la data avec </a:t>
            </a:r>
            <a:r>
              <a:rPr lang="fr-FR" dirty="0"/>
              <a:t>vous actuellement ?</a:t>
            </a:r>
          </a:p>
          <a:p>
            <a:r>
              <a:rPr lang="fr-FR" dirty="0"/>
              <a:t>Quel poste faudrait-il créer rapidement</a:t>
            </a:r>
          </a:p>
        </p:txBody>
      </p:sp>
    </p:spTree>
    <p:extLst>
      <p:ext uri="{BB962C8B-B14F-4D97-AF65-F5344CB8AC3E}">
        <p14:creationId xmlns:p14="http://schemas.microsoft.com/office/powerpoint/2010/main" val="3334820870"/>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3657</TotalTime>
  <Words>1024</Words>
  <Application>Microsoft Office PowerPoint</Application>
  <PresentationFormat>Affichage à l'écran (4:3)</PresentationFormat>
  <Paragraphs>94</Paragraphs>
  <Slides>24</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24</vt:i4>
      </vt:variant>
    </vt:vector>
  </HeadingPairs>
  <TitlesOfParts>
    <vt:vector size="30" baseType="lpstr">
      <vt:lpstr>Yu Gothic Light</vt:lpstr>
      <vt:lpstr>Arial</vt:lpstr>
      <vt:lpstr>Calibri</vt:lpstr>
      <vt:lpstr>Monotype Sorts</vt:lpstr>
      <vt:lpstr>Times New Roman</vt:lpstr>
      <vt:lpstr>cvc</vt:lpstr>
      <vt:lpstr>Présentation PowerPoint</vt:lpstr>
      <vt:lpstr>Concept essentiel</vt:lpstr>
      <vt:lpstr>Wikipedia</vt:lpstr>
      <vt:lpstr>Organisation data-centric</vt:lpstr>
      <vt:lpstr>Gouvernance</vt:lpstr>
      <vt:lpstr>L’équipe DataLab – la photo de famille ! </vt:lpstr>
      <vt:lpstr>L’équipe DataLab – le Data Scientist </vt:lpstr>
      <vt:lpstr>L’équipe DataLab – le Data Steward </vt:lpstr>
      <vt:lpstr>L’équipe DataLab – le Data Engineer </vt:lpstr>
      <vt:lpstr>L’équipe DataLab – le Data Engineer </vt:lpstr>
      <vt:lpstr>L’équipe DataLab – le Chief Data Management Officer  </vt:lpstr>
      <vt:lpstr>Faciliter l’instruction de ma demande</vt:lpstr>
      <vt:lpstr>Bilan et industrialisation</vt:lpstr>
      <vt:lpstr>La demande d’industrialisation</vt:lpstr>
      <vt:lpstr>Passage par la Data Factory</vt:lpstr>
      <vt:lpstr>Les 4 dimensions</vt:lpstr>
      <vt:lpstr>La disponibilité</vt:lpstr>
      <vt:lpstr>L’utilisabilité</vt:lpstr>
      <vt:lpstr>L’intégrité</vt:lpstr>
      <vt:lpstr>La sécurité</vt:lpstr>
      <vt:lpstr>Domaines de compétence</vt:lpstr>
      <vt:lpstr>Exemples</vt:lpstr>
      <vt:lpstr>Exemple de Gouvernance</vt:lpstr>
      <vt:lpstr>TP</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244</cp:revision>
  <dcterms:created xsi:type="dcterms:W3CDTF">2000-04-10T19:33:12Z</dcterms:created>
  <dcterms:modified xsi:type="dcterms:W3CDTF">2026-01-07T12:51:41Z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